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104"/>
  </p:notesMasterIdLst>
  <p:handoutMasterIdLst>
    <p:handoutMasterId r:id="rId105"/>
  </p:handoutMasterIdLst>
  <p:sldIdLst>
    <p:sldId id="256" r:id="rId5"/>
    <p:sldId id="434" r:id="rId6"/>
    <p:sldId id="584" r:id="rId7"/>
    <p:sldId id="655" r:id="rId8"/>
    <p:sldId id="436" r:id="rId9"/>
    <p:sldId id="656" r:id="rId10"/>
    <p:sldId id="664" r:id="rId11"/>
    <p:sldId id="665" r:id="rId12"/>
    <p:sldId id="671" r:id="rId13"/>
    <p:sldId id="672" r:id="rId14"/>
    <p:sldId id="673" r:id="rId15"/>
    <p:sldId id="674" r:id="rId16"/>
    <p:sldId id="657" r:id="rId17"/>
    <p:sldId id="666" r:id="rId18"/>
    <p:sldId id="667" r:id="rId19"/>
    <p:sldId id="668" r:id="rId20"/>
    <p:sldId id="669" r:id="rId21"/>
    <p:sldId id="682" r:id="rId22"/>
    <p:sldId id="670" r:id="rId23"/>
    <p:sldId id="658" r:id="rId24"/>
    <p:sldId id="675" r:id="rId25"/>
    <p:sldId id="676" r:id="rId26"/>
    <p:sldId id="677" r:id="rId27"/>
    <p:sldId id="661" r:id="rId28"/>
    <p:sldId id="680" r:id="rId29"/>
    <p:sldId id="678" r:id="rId30"/>
    <p:sldId id="662" r:id="rId31"/>
    <p:sldId id="679" r:id="rId32"/>
    <p:sldId id="681" r:id="rId33"/>
    <p:sldId id="606" r:id="rId34"/>
    <p:sldId id="624" r:id="rId35"/>
    <p:sldId id="607" r:id="rId36"/>
    <p:sldId id="608" r:id="rId37"/>
    <p:sldId id="625" r:id="rId38"/>
    <p:sldId id="626" r:id="rId39"/>
    <p:sldId id="609" r:id="rId40"/>
    <p:sldId id="610" r:id="rId41"/>
    <p:sldId id="611" r:id="rId42"/>
    <p:sldId id="612" r:id="rId43"/>
    <p:sldId id="613" r:id="rId44"/>
    <p:sldId id="614" r:id="rId45"/>
    <p:sldId id="615" r:id="rId46"/>
    <p:sldId id="616" r:id="rId47"/>
    <p:sldId id="617" r:id="rId48"/>
    <p:sldId id="618" r:id="rId49"/>
    <p:sldId id="619" r:id="rId50"/>
    <p:sldId id="439" r:id="rId51"/>
    <p:sldId id="536" r:id="rId52"/>
    <p:sldId id="538" r:id="rId53"/>
    <p:sldId id="539" r:id="rId54"/>
    <p:sldId id="586" r:id="rId55"/>
    <p:sldId id="638" r:id="rId56"/>
    <p:sldId id="587" r:id="rId57"/>
    <p:sldId id="598" r:id="rId58"/>
    <p:sldId id="603" r:id="rId59"/>
    <p:sldId id="601" r:id="rId60"/>
    <p:sldId id="600" r:id="rId61"/>
    <p:sldId id="588" r:id="rId62"/>
    <p:sldId id="604" r:id="rId63"/>
    <p:sldId id="605" r:id="rId64"/>
    <p:sldId id="589" r:id="rId65"/>
    <p:sldId id="621" r:id="rId66"/>
    <p:sldId id="590" r:id="rId67"/>
    <p:sldId id="627" r:id="rId68"/>
    <p:sldId id="628" r:id="rId69"/>
    <p:sldId id="643" r:id="rId70"/>
    <p:sldId id="644" r:id="rId71"/>
    <p:sldId id="645" r:id="rId72"/>
    <p:sldId id="633" r:id="rId73"/>
    <p:sldId id="634" r:id="rId74"/>
    <p:sldId id="632" r:id="rId75"/>
    <p:sldId id="635" r:id="rId76"/>
    <p:sldId id="646" r:id="rId77"/>
    <p:sldId id="647" r:id="rId78"/>
    <p:sldId id="648" r:id="rId79"/>
    <p:sldId id="649" r:id="rId80"/>
    <p:sldId id="620" r:id="rId81"/>
    <p:sldId id="591" r:id="rId82"/>
    <p:sldId id="592" r:id="rId83"/>
    <p:sldId id="639" r:id="rId84"/>
    <p:sldId id="640" r:id="rId85"/>
    <p:sldId id="641" r:id="rId86"/>
    <p:sldId id="593" r:id="rId87"/>
    <p:sldId id="636" r:id="rId88"/>
    <p:sldId id="637" r:id="rId89"/>
    <p:sldId id="650" r:id="rId90"/>
    <p:sldId id="594" r:id="rId91"/>
    <p:sldId id="595" r:id="rId92"/>
    <p:sldId id="596" r:id="rId93"/>
    <p:sldId id="631" r:id="rId94"/>
    <p:sldId id="652" r:id="rId95"/>
    <p:sldId id="653" r:id="rId96"/>
    <p:sldId id="651" r:id="rId97"/>
    <p:sldId id="654" r:id="rId98"/>
    <p:sldId id="630" r:id="rId99"/>
    <p:sldId id="623" r:id="rId100"/>
    <p:sldId id="597" r:id="rId101"/>
    <p:sldId id="585" r:id="rId102"/>
    <p:sldId id="300" r:id="rId10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28" autoAdjust="0"/>
    <p:restoredTop sz="94660"/>
  </p:normalViewPr>
  <p:slideViewPr>
    <p:cSldViewPr>
      <p:cViewPr varScale="1">
        <p:scale>
          <a:sx n="80" d="100"/>
          <a:sy n="80" d="100"/>
        </p:scale>
        <p:origin x="76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viewProps" Target="viewProps.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theme" Target="theme/theme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tableStyles" Target="tableStyle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microsoft.com/office/2016/11/relationships/changesInfo" Target="changesInfos/changesInfo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Deepak S Sakkari Assistant Professor( CSE)" userId="6d73bcb8-5d92-40b8-9132-40f6303b79fc" providerId="ADAL" clId="{6A6CE88C-C1CC-4F3A-B486-05240001B6BF}"/>
    <pc:docChg chg="undo custSel delSld modSld modMainMaster">
      <pc:chgData name="Dr. Deepak S Sakkari Assistant Professor( CSE)" userId="6d73bcb8-5d92-40b8-9132-40f6303b79fc" providerId="ADAL" clId="{6A6CE88C-C1CC-4F3A-B486-05240001B6BF}" dt="2020-08-16T18:15:17.333" v="987" actId="1038"/>
      <pc:docMkLst>
        <pc:docMk/>
      </pc:docMkLst>
      <pc:sldChg chg="modSp">
        <pc:chgData name="Dr. Deepak S Sakkari Assistant Professor( CSE)" userId="6d73bcb8-5d92-40b8-9132-40f6303b79fc" providerId="ADAL" clId="{6A6CE88C-C1CC-4F3A-B486-05240001B6BF}" dt="2020-08-16T17:23:01.850" v="61" actId="404"/>
        <pc:sldMkLst>
          <pc:docMk/>
          <pc:sldMk cId="644196155" sldId="257"/>
        </pc:sldMkLst>
        <pc:spChg chg="mod">
          <ac:chgData name="Dr. Deepak S Sakkari Assistant Professor( CSE)" userId="6d73bcb8-5d92-40b8-9132-40f6303b79fc" providerId="ADAL" clId="{6A6CE88C-C1CC-4F3A-B486-05240001B6BF}" dt="2020-08-16T17:23:01.850" v="61" actId="404"/>
          <ac:spMkLst>
            <pc:docMk/>
            <pc:sldMk cId="644196155" sldId="257"/>
            <ac:spMk id="3" creationId="{00000000-0000-0000-0000-000000000000}"/>
          </ac:spMkLst>
        </pc:spChg>
      </pc:sldChg>
      <pc:sldChg chg="modSp mod">
        <pc:chgData name="Dr. Deepak S Sakkari Assistant Professor( CSE)" userId="6d73bcb8-5d92-40b8-9132-40f6303b79fc" providerId="ADAL" clId="{6A6CE88C-C1CC-4F3A-B486-05240001B6BF}" dt="2020-08-16T17:29:27.503" v="93" actId="948"/>
        <pc:sldMkLst>
          <pc:docMk/>
          <pc:sldMk cId="799294713" sldId="258"/>
        </pc:sldMkLst>
        <pc:spChg chg="mod">
          <ac:chgData name="Dr. Deepak S Sakkari Assistant Professor( CSE)" userId="6d73bcb8-5d92-40b8-9132-40f6303b79fc" providerId="ADAL" clId="{6A6CE88C-C1CC-4F3A-B486-05240001B6BF}" dt="2020-08-16T17:29:27.503" v="93" actId="948"/>
          <ac:spMkLst>
            <pc:docMk/>
            <pc:sldMk cId="799294713" sldId="258"/>
            <ac:spMk id="3" creationId="{00000000-0000-0000-0000-000000000000}"/>
          </ac:spMkLst>
        </pc:spChg>
      </pc:sldChg>
      <pc:sldChg chg="modSp del mod">
        <pc:chgData name="Dr. Deepak S Sakkari Assistant Professor( CSE)" userId="6d73bcb8-5d92-40b8-9132-40f6303b79fc" providerId="ADAL" clId="{6A6CE88C-C1CC-4F3A-B486-05240001B6BF}" dt="2020-08-16T17:29:41.157" v="94" actId="2696"/>
        <pc:sldMkLst>
          <pc:docMk/>
          <pc:sldMk cId="2963534272" sldId="259"/>
        </pc:sldMkLst>
        <pc:spChg chg="mod">
          <ac:chgData name="Dr. Deepak S Sakkari Assistant Professor( CSE)" userId="6d73bcb8-5d92-40b8-9132-40f6303b79fc" providerId="ADAL" clId="{6A6CE88C-C1CC-4F3A-B486-05240001B6BF}" dt="2020-08-16T17:28:28.561" v="87" actId="21"/>
          <ac:spMkLst>
            <pc:docMk/>
            <pc:sldMk cId="2963534272" sldId="259"/>
            <ac:spMk id="3" creationId="{00000000-0000-0000-0000-000000000000}"/>
          </ac:spMkLst>
        </pc:spChg>
      </pc:sldChg>
      <pc:sldChg chg="modSp mod">
        <pc:chgData name="Dr. Deepak S Sakkari Assistant Professor( CSE)" userId="6d73bcb8-5d92-40b8-9132-40f6303b79fc" providerId="ADAL" clId="{6A6CE88C-C1CC-4F3A-B486-05240001B6BF}" dt="2020-08-16T17:30:03.381" v="98" actId="20577"/>
        <pc:sldMkLst>
          <pc:docMk/>
          <pc:sldMk cId="3981172752" sldId="260"/>
        </pc:sldMkLst>
        <pc:spChg chg="mod">
          <ac:chgData name="Dr. Deepak S Sakkari Assistant Professor( CSE)" userId="6d73bcb8-5d92-40b8-9132-40f6303b79fc" providerId="ADAL" clId="{6A6CE88C-C1CC-4F3A-B486-05240001B6BF}" dt="2020-08-16T17:30:03.381" v="98" actId="20577"/>
          <ac:spMkLst>
            <pc:docMk/>
            <pc:sldMk cId="3981172752" sldId="260"/>
            <ac:spMk id="3" creationId="{00000000-0000-0000-0000-000000000000}"/>
          </ac:spMkLst>
        </pc:spChg>
      </pc:sldChg>
      <pc:sldChg chg="modSp del">
        <pc:chgData name="Dr. Deepak S Sakkari Assistant Professor( CSE)" userId="6d73bcb8-5d92-40b8-9132-40f6303b79fc" providerId="ADAL" clId="{6A6CE88C-C1CC-4F3A-B486-05240001B6BF}" dt="2020-08-16T17:30:44.627" v="99" actId="2696"/>
        <pc:sldMkLst>
          <pc:docMk/>
          <pc:sldMk cId="3009021097" sldId="261"/>
        </pc:sldMkLst>
        <pc:spChg chg="mod">
          <ac:chgData name="Dr. Deepak S Sakkari Assistant Professor( CSE)" userId="6d73bcb8-5d92-40b8-9132-40f6303b79fc" providerId="ADAL" clId="{6A6CE88C-C1CC-4F3A-B486-05240001B6BF}" dt="2020-08-16T17:24:40.253" v="69" actId="404"/>
          <ac:spMkLst>
            <pc:docMk/>
            <pc:sldMk cId="3009021097" sldId="261"/>
            <ac:spMk id="3" creationId="{00000000-0000-0000-0000-000000000000}"/>
          </ac:spMkLst>
        </pc:spChg>
      </pc:sldChg>
      <pc:sldChg chg="modSp">
        <pc:chgData name="Dr. Deepak S Sakkari Assistant Professor( CSE)" userId="6d73bcb8-5d92-40b8-9132-40f6303b79fc" providerId="ADAL" clId="{6A6CE88C-C1CC-4F3A-B486-05240001B6BF}" dt="2020-08-16T17:24:56.926" v="72" actId="404"/>
        <pc:sldMkLst>
          <pc:docMk/>
          <pc:sldMk cId="1345660431" sldId="262"/>
        </pc:sldMkLst>
        <pc:spChg chg="mod">
          <ac:chgData name="Dr. Deepak S Sakkari Assistant Professor( CSE)" userId="6d73bcb8-5d92-40b8-9132-40f6303b79fc" providerId="ADAL" clId="{6A6CE88C-C1CC-4F3A-B486-05240001B6BF}" dt="2020-08-16T17:24:56.926" v="72" actId="404"/>
          <ac:spMkLst>
            <pc:docMk/>
            <pc:sldMk cId="1345660431" sldId="262"/>
            <ac:spMk id="3" creationId="{00000000-0000-0000-0000-000000000000}"/>
          </ac:spMkLst>
        </pc:spChg>
      </pc:sldChg>
      <pc:sldChg chg="modSp mod">
        <pc:chgData name="Dr. Deepak S Sakkari Assistant Professor( CSE)" userId="6d73bcb8-5d92-40b8-9132-40f6303b79fc" providerId="ADAL" clId="{6A6CE88C-C1CC-4F3A-B486-05240001B6BF}" dt="2020-08-16T17:32:48.352" v="105" actId="20577"/>
        <pc:sldMkLst>
          <pc:docMk/>
          <pc:sldMk cId="2264661524" sldId="263"/>
        </pc:sldMkLst>
        <pc:spChg chg="mod">
          <ac:chgData name="Dr. Deepak S Sakkari Assistant Professor( CSE)" userId="6d73bcb8-5d92-40b8-9132-40f6303b79fc" providerId="ADAL" clId="{6A6CE88C-C1CC-4F3A-B486-05240001B6BF}" dt="2020-08-16T17:32:48.352" v="105" actId="20577"/>
          <ac:spMkLst>
            <pc:docMk/>
            <pc:sldMk cId="2264661524" sldId="263"/>
            <ac:spMk id="3" creationId="{00000000-0000-0000-0000-000000000000}"/>
          </ac:spMkLst>
        </pc:spChg>
      </pc:sldChg>
      <pc:sldChg chg="modSp mod">
        <pc:chgData name="Dr. Deepak S Sakkari Assistant Professor( CSE)" userId="6d73bcb8-5d92-40b8-9132-40f6303b79fc" providerId="ADAL" clId="{6A6CE88C-C1CC-4F3A-B486-05240001B6BF}" dt="2020-08-16T17:33:55.233" v="118" actId="20577"/>
        <pc:sldMkLst>
          <pc:docMk/>
          <pc:sldMk cId="2700791281" sldId="264"/>
        </pc:sldMkLst>
        <pc:spChg chg="mod">
          <ac:chgData name="Dr. Deepak S Sakkari Assistant Professor( CSE)" userId="6d73bcb8-5d92-40b8-9132-40f6303b79fc" providerId="ADAL" clId="{6A6CE88C-C1CC-4F3A-B486-05240001B6BF}" dt="2020-08-16T17:33:55.233" v="118" actId="20577"/>
          <ac:spMkLst>
            <pc:docMk/>
            <pc:sldMk cId="2700791281" sldId="264"/>
            <ac:spMk id="3" creationId="{00000000-0000-0000-0000-000000000000}"/>
          </ac:spMkLst>
        </pc:spChg>
      </pc:sldChg>
      <pc:sldChg chg="modSp del">
        <pc:chgData name="Dr. Deepak S Sakkari Assistant Professor( CSE)" userId="6d73bcb8-5d92-40b8-9132-40f6303b79fc" providerId="ADAL" clId="{6A6CE88C-C1CC-4F3A-B486-05240001B6BF}" dt="2020-08-16T17:34:31.051" v="119" actId="2696"/>
        <pc:sldMkLst>
          <pc:docMk/>
          <pc:sldMk cId="656789598" sldId="265"/>
        </pc:sldMkLst>
        <pc:spChg chg="mod">
          <ac:chgData name="Dr. Deepak S Sakkari Assistant Professor( CSE)" userId="6d73bcb8-5d92-40b8-9132-40f6303b79fc" providerId="ADAL" clId="{6A6CE88C-C1CC-4F3A-B486-05240001B6BF}" dt="2020-08-16T17:33:11.076" v="108" actId="404"/>
          <ac:spMkLst>
            <pc:docMk/>
            <pc:sldMk cId="656789598" sldId="265"/>
            <ac:spMk id="3" creationId="{00000000-0000-0000-0000-000000000000}"/>
          </ac:spMkLst>
        </pc:spChg>
      </pc:sldChg>
      <pc:sldChg chg="modSp">
        <pc:chgData name="Dr. Deepak S Sakkari Assistant Professor( CSE)" userId="6d73bcb8-5d92-40b8-9132-40f6303b79fc" providerId="ADAL" clId="{6A6CE88C-C1CC-4F3A-B486-05240001B6BF}" dt="2020-08-16T17:34:51.629" v="123" actId="1076"/>
        <pc:sldMkLst>
          <pc:docMk/>
          <pc:sldMk cId="1334666043" sldId="266"/>
        </pc:sldMkLst>
        <pc:spChg chg="mod">
          <ac:chgData name="Dr. Deepak S Sakkari Assistant Professor( CSE)" userId="6d73bcb8-5d92-40b8-9132-40f6303b79fc" providerId="ADAL" clId="{6A6CE88C-C1CC-4F3A-B486-05240001B6BF}" dt="2020-08-16T17:34:45.323" v="122" actId="404"/>
          <ac:spMkLst>
            <pc:docMk/>
            <pc:sldMk cId="1334666043" sldId="266"/>
            <ac:spMk id="7" creationId="{00000000-0000-0000-0000-000000000000}"/>
          </ac:spMkLst>
        </pc:spChg>
        <pc:picChg chg="mod">
          <ac:chgData name="Dr. Deepak S Sakkari Assistant Professor( CSE)" userId="6d73bcb8-5d92-40b8-9132-40f6303b79fc" providerId="ADAL" clId="{6A6CE88C-C1CC-4F3A-B486-05240001B6BF}" dt="2020-08-16T17:34:51.629" v="123" actId="1076"/>
          <ac:picMkLst>
            <pc:docMk/>
            <pc:sldMk cId="1334666043" sldId="266"/>
            <ac:picMk id="1025" creationId="{00000000-0000-0000-0000-000000000000}"/>
          </ac:picMkLst>
        </pc:picChg>
      </pc:sldChg>
      <pc:sldChg chg="modSp mod">
        <pc:chgData name="Dr. Deepak S Sakkari Assistant Professor( CSE)" userId="6d73bcb8-5d92-40b8-9132-40f6303b79fc" providerId="ADAL" clId="{6A6CE88C-C1CC-4F3A-B486-05240001B6BF}" dt="2020-08-16T17:41:22.280" v="339" actId="1076"/>
        <pc:sldMkLst>
          <pc:docMk/>
          <pc:sldMk cId="3898763255" sldId="267"/>
        </pc:sldMkLst>
        <pc:graphicFrameChg chg="mod modGraphic">
          <ac:chgData name="Dr. Deepak S Sakkari Assistant Professor( CSE)" userId="6d73bcb8-5d92-40b8-9132-40f6303b79fc" providerId="ADAL" clId="{6A6CE88C-C1CC-4F3A-B486-05240001B6BF}" dt="2020-08-16T17:41:22.280" v="339" actId="1076"/>
          <ac:graphicFrameMkLst>
            <pc:docMk/>
            <pc:sldMk cId="3898763255" sldId="267"/>
            <ac:graphicFrameMk id="5" creationId="{00000000-0000-0000-0000-000000000000}"/>
          </ac:graphicFrameMkLst>
        </pc:graphicFrameChg>
      </pc:sldChg>
      <pc:sldChg chg="modSp">
        <pc:chgData name="Dr. Deepak S Sakkari Assistant Professor( CSE)" userId="6d73bcb8-5d92-40b8-9132-40f6303b79fc" providerId="ADAL" clId="{6A6CE88C-C1CC-4F3A-B486-05240001B6BF}" dt="2020-08-16T17:41:32.429" v="342" actId="404"/>
        <pc:sldMkLst>
          <pc:docMk/>
          <pc:sldMk cId="201611570" sldId="268"/>
        </pc:sldMkLst>
        <pc:spChg chg="mod">
          <ac:chgData name="Dr. Deepak S Sakkari Assistant Professor( CSE)" userId="6d73bcb8-5d92-40b8-9132-40f6303b79fc" providerId="ADAL" clId="{6A6CE88C-C1CC-4F3A-B486-05240001B6BF}" dt="2020-08-16T17:41:32.429" v="342" actId="404"/>
          <ac:spMkLst>
            <pc:docMk/>
            <pc:sldMk cId="201611570" sldId="268"/>
            <ac:spMk id="3" creationId="{00000000-0000-0000-0000-000000000000}"/>
          </ac:spMkLst>
        </pc:spChg>
      </pc:sldChg>
      <pc:sldChg chg="modSp">
        <pc:chgData name="Dr. Deepak S Sakkari Assistant Professor( CSE)" userId="6d73bcb8-5d92-40b8-9132-40f6303b79fc" providerId="ADAL" clId="{6A6CE88C-C1CC-4F3A-B486-05240001B6BF}" dt="2020-08-16T17:41:50.936" v="345" actId="404"/>
        <pc:sldMkLst>
          <pc:docMk/>
          <pc:sldMk cId="3824667293" sldId="269"/>
        </pc:sldMkLst>
        <pc:spChg chg="mod">
          <ac:chgData name="Dr. Deepak S Sakkari Assistant Professor( CSE)" userId="6d73bcb8-5d92-40b8-9132-40f6303b79fc" providerId="ADAL" clId="{6A6CE88C-C1CC-4F3A-B486-05240001B6BF}" dt="2020-08-16T17:41:50.936" v="345" actId="404"/>
          <ac:spMkLst>
            <pc:docMk/>
            <pc:sldMk cId="3824667293" sldId="269"/>
            <ac:spMk id="3" creationId="{00000000-0000-0000-0000-000000000000}"/>
          </ac:spMkLst>
        </pc:spChg>
      </pc:sldChg>
      <pc:sldChg chg="modSp">
        <pc:chgData name="Dr. Deepak S Sakkari Assistant Professor( CSE)" userId="6d73bcb8-5d92-40b8-9132-40f6303b79fc" providerId="ADAL" clId="{6A6CE88C-C1CC-4F3A-B486-05240001B6BF}" dt="2020-08-16T18:15:17.333" v="987" actId="1038"/>
        <pc:sldMkLst>
          <pc:docMk/>
          <pc:sldMk cId="2570284336" sldId="270"/>
        </pc:sldMkLst>
        <pc:spChg chg="mod">
          <ac:chgData name="Dr. Deepak S Sakkari Assistant Professor( CSE)" userId="6d73bcb8-5d92-40b8-9132-40f6303b79fc" providerId="ADAL" clId="{6A6CE88C-C1CC-4F3A-B486-05240001B6BF}" dt="2020-08-16T17:42:42.286" v="352"/>
          <ac:spMkLst>
            <pc:docMk/>
            <pc:sldMk cId="2570284336" sldId="270"/>
            <ac:spMk id="2" creationId="{00000000-0000-0000-0000-000000000000}"/>
          </ac:spMkLst>
        </pc:spChg>
        <pc:picChg chg="mod">
          <ac:chgData name="Dr. Deepak S Sakkari Assistant Professor( CSE)" userId="6d73bcb8-5d92-40b8-9132-40f6303b79fc" providerId="ADAL" clId="{6A6CE88C-C1CC-4F3A-B486-05240001B6BF}" dt="2020-08-16T18:15:17.333" v="987" actId="1038"/>
          <ac:picMkLst>
            <pc:docMk/>
            <pc:sldMk cId="2570284336" sldId="270"/>
            <ac:picMk id="9" creationId="{00000000-0000-0000-0000-000000000000}"/>
          </ac:picMkLst>
        </pc:picChg>
      </pc:sldChg>
      <pc:sldChg chg="modSp">
        <pc:chgData name="Dr. Deepak S Sakkari Assistant Professor( CSE)" userId="6d73bcb8-5d92-40b8-9132-40f6303b79fc" providerId="ADAL" clId="{6A6CE88C-C1CC-4F3A-B486-05240001B6BF}" dt="2020-08-16T17:44:40.982" v="376" actId="255"/>
        <pc:sldMkLst>
          <pc:docMk/>
          <pc:sldMk cId="564986561" sldId="271"/>
        </pc:sldMkLst>
        <pc:spChg chg="mod">
          <ac:chgData name="Dr. Deepak S Sakkari Assistant Professor( CSE)" userId="6d73bcb8-5d92-40b8-9132-40f6303b79fc" providerId="ADAL" clId="{6A6CE88C-C1CC-4F3A-B486-05240001B6BF}" dt="2020-08-16T17:44:40.982" v="376" actId="255"/>
          <ac:spMkLst>
            <pc:docMk/>
            <pc:sldMk cId="564986561" sldId="271"/>
            <ac:spMk id="3" creationId="{00000000-0000-0000-0000-000000000000}"/>
          </ac:spMkLst>
        </pc:spChg>
      </pc:sldChg>
      <pc:sldChg chg="modSp">
        <pc:chgData name="Dr. Deepak S Sakkari Assistant Professor( CSE)" userId="6d73bcb8-5d92-40b8-9132-40f6303b79fc" providerId="ADAL" clId="{6A6CE88C-C1CC-4F3A-B486-05240001B6BF}" dt="2020-08-16T17:42:04.443" v="348" actId="404"/>
        <pc:sldMkLst>
          <pc:docMk/>
          <pc:sldMk cId="1620829824" sldId="272"/>
        </pc:sldMkLst>
        <pc:spChg chg="mod">
          <ac:chgData name="Dr. Deepak S Sakkari Assistant Professor( CSE)" userId="6d73bcb8-5d92-40b8-9132-40f6303b79fc" providerId="ADAL" clId="{6A6CE88C-C1CC-4F3A-B486-05240001B6BF}" dt="2020-08-16T17:42:04.443" v="348" actId="404"/>
          <ac:spMkLst>
            <pc:docMk/>
            <pc:sldMk cId="1620829824" sldId="272"/>
            <ac:spMk id="3" creationId="{00000000-0000-0000-0000-000000000000}"/>
          </ac:spMkLst>
        </pc:spChg>
      </pc:sldChg>
      <pc:sldChg chg="modSp">
        <pc:chgData name="Dr. Deepak S Sakkari Assistant Professor( CSE)" userId="6d73bcb8-5d92-40b8-9132-40f6303b79fc" providerId="ADAL" clId="{6A6CE88C-C1CC-4F3A-B486-05240001B6BF}" dt="2020-08-16T17:43:54.672" v="373" actId="1036"/>
        <pc:sldMkLst>
          <pc:docMk/>
          <pc:sldMk cId="1806056552" sldId="273"/>
        </pc:sldMkLst>
        <pc:spChg chg="mod">
          <ac:chgData name="Dr. Deepak S Sakkari Assistant Professor( CSE)" userId="6d73bcb8-5d92-40b8-9132-40f6303b79fc" providerId="ADAL" clId="{6A6CE88C-C1CC-4F3A-B486-05240001B6BF}" dt="2020-08-16T17:43:54.672" v="373" actId="1036"/>
          <ac:spMkLst>
            <pc:docMk/>
            <pc:sldMk cId="1806056552" sldId="273"/>
            <ac:spMk id="3" creationId="{00000000-0000-0000-0000-000000000000}"/>
          </ac:spMkLst>
        </pc:spChg>
      </pc:sldChg>
      <pc:sldChg chg="modSp">
        <pc:chgData name="Dr. Deepak S Sakkari Assistant Professor( CSE)" userId="6d73bcb8-5d92-40b8-9132-40f6303b79fc" providerId="ADAL" clId="{6A6CE88C-C1CC-4F3A-B486-05240001B6BF}" dt="2020-08-16T17:43:06.513" v="365" actId="1035"/>
        <pc:sldMkLst>
          <pc:docMk/>
          <pc:sldMk cId="3262299342" sldId="274"/>
        </pc:sldMkLst>
        <pc:spChg chg="mod">
          <ac:chgData name="Dr. Deepak S Sakkari Assistant Professor( CSE)" userId="6d73bcb8-5d92-40b8-9132-40f6303b79fc" providerId="ADAL" clId="{6A6CE88C-C1CC-4F3A-B486-05240001B6BF}" dt="2020-08-16T17:43:06.513" v="365" actId="1035"/>
          <ac:spMkLst>
            <pc:docMk/>
            <pc:sldMk cId="3262299342" sldId="274"/>
            <ac:spMk id="3" creationId="{00000000-0000-0000-0000-000000000000}"/>
          </ac:spMkLst>
        </pc:spChg>
      </pc:sldChg>
      <pc:sldChg chg="del">
        <pc:chgData name="Dr. Deepak S Sakkari Assistant Professor( CSE)" userId="6d73bcb8-5d92-40b8-9132-40f6303b79fc" providerId="ADAL" clId="{6A6CE88C-C1CC-4F3A-B486-05240001B6BF}" dt="2020-08-16T17:43:28.398" v="366" actId="2696"/>
        <pc:sldMkLst>
          <pc:docMk/>
          <pc:sldMk cId="719903367" sldId="275"/>
        </pc:sldMkLst>
      </pc:sldChg>
      <pc:sldChg chg="modSp">
        <pc:chgData name="Dr. Deepak S Sakkari Assistant Professor( CSE)" userId="6d73bcb8-5d92-40b8-9132-40f6303b79fc" providerId="ADAL" clId="{6A6CE88C-C1CC-4F3A-B486-05240001B6BF}" dt="2020-08-16T17:44:51.369" v="378" actId="404"/>
        <pc:sldMkLst>
          <pc:docMk/>
          <pc:sldMk cId="1089540773" sldId="276"/>
        </pc:sldMkLst>
        <pc:spChg chg="mod">
          <ac:chgData name="Dr. Deepak S Sakkari Assistant Professor( CSE)" userId="6d73bcb8-5d92-40b8-9132-40f6303b79fc" providerId="ADAL" clId="{6A6CE88C-C1CC-4F3A-B486-05240001B6BF}" dt="2020-08-16T17:44:51.369" v="378" actId="404"/>
          <ac:spMkLst>
            <pc:docMk/>
            <pc:sldMk cId="1089540773" sldId="276"/>
            <ac:spMk id="3" creationId="{00000000-0000-0000-0000-000000000000}"/>
          </ac:spMkLst>
        </pc:spChg>
      </pc:sldChg>
      <pc:sldChg chg="modSp">
        <pc:chgData name="Dr. Deepak S Sakkari Assistant Professor( CSE)" userId="6d73bcb8-5d92-40b8-9132-40f6303b79fc" providerId="ADAL" clId="{6A6CE88C-C1CC-4F3A-B486-05240001B6BF}" dt="2020-08-16T17:45:07.183" v="381" actId="404"/>
        <pc:sldMkLst>
          <pc:docMk/>
          <pc:sldMk cId="2289095124" sldId="277"/>
        </pc:sldMkLst>
        <pc:spChg chg="mod">
          <ac:chgData name="Dr. Deepak S Sakkari Assistant Professor( CSE)" userId="6d73bcb8-5d92-40b8-9132-40f6303b79fc" providerId="ADAL" clId="{6A6CE88C-C1CC-4F3A-B486-05240001B6BF}" dt="2020-08-16T17:45:07.183" v="381" actId="404"/>
          <ac:spMkLst>
            <pc:docMk/>
            <pc:sldMk cId="2289095124" sldId="277"/>
            <ac:spMk id="3" creationId="{00000000-0000-0000-0000-000000000000}"/>
          </ac:spMkLst>
        </pc:spChg>
      </pc:sldChg>
      <pc:sldChg chg="modSp">
        <pc:chgData name="Dr. Deepak S Sakkari Assistant Professor( CSE)" userId="6d73bcb8-5d92-40b8-9132-40f6303b79fc" providerId="ADAL" clId="{6A6CE88C-C1CC-4F3A-B486-05240001B6BF}" dt="2020-08-16T17:45:42.725" v="502" actId="1076"/>
        <pc:sldMkLst>
          <pc:docMk/>
          <pc:sldMk cId="627609005" sldId="278"/>
        </pc:sldMkLst>
        <pc:picChg chg="mod">
          <ac:chgData name="Dr. Deepak S Sakkari Assistant Professor( CSE)" userId="6d73bcb8-5d92-40b8-9132-40f6303b79fc" providerId="ADAL" clId="{6A6CE88C-C1CC-4F3A-B486-05240001B6BF}" dt="2020-08-16T17:45:42.725" v="502" actId="1076"/>
          <ac:picMkLst>
            <pc:docMk/>
            <pc:sldMk cId="627609005" sldId="278"/>
            <ac:picMk id="2053" creationId="{00000000-0000-0000-0000-000000000000}"/>
          </ac:picMkLst>
        </pc:picChg>
      </pc:sldChg>
      <pc:sldChg chg="modSp mod">
        <pc:chgData name="Dr. Deepak S Sakkari Assistant Professor( CSE)" userId="6d73bcb8-5d92-40b8-9132-40f6303b79fc" providerId="ADAL" clId="{6A6CE88C-C1CC-4F3A-B486-05240001B6BF}" dt="2020-08-16T17:46:51.247" v="511" actId="20577"/>
        <pc:sldMkLst>
          <pc:docMk/>
          <pc:sldMk cId="3001868645" sldId="279"/>
        </pc:sldMkLst>
        <pc:spChg chg="mod">
          <ac:chgData name="Dr. Deepak S Sakkari Assistant Professor( CSE)" userId="6d73bcb8-5d92-40b8-9132-40f6303b79fc" providerId="ADAL" clId="{6A6CE88C-C1CC-4F3A-B486-05240001B6BF}" dt="2020-08-16T17:46:51.247" v="511" actId="20577"/>
          <ac:spMkLst>
            <pc:docMk/>
            <pc:sldMk cId="3001868645" sldId="279"/>
            <ac:spMk id="5" creationId="{00000000-0000-0000-0000-000000000000}"/>
          </ac:spMkLst>
        </pc:spChg>
        <pc:picChg chg="mod">
          <ac:chgData name="Dr. Deepak S Sakkari Assistant Professor( CSE)" userId="6d73bcb8-5d92-40b8-9132-40f6303b79fc" providerId="ADAL" clId="{6A6CE88C-C1CC-4F3A-B486-05240001B6BF}" dt="2020-08-16T17:46:47.816" v="510" actId="1076"/>
          <ac:picMkLst>
            <pc:docMk/>
            <pc:sldMk cId="3001868645" sldId="279"/>
            <ac:picMk id="3075" creationId="{00000000-0000-0000-0000-000000000000}"/>
          </ac:picMkLst>
        </pc:picChg>
      </pc:sldChg>
      <pc:sldChg chg="modSp mod">
        <pc:chgData name="Dr. Deepak S Sakkari Assistant Professor( CSE)" userId="6d73bcb8-5d92-40b8-9132-40f6303b79fc" providerId="ADAL" clId="{6A6CE88C-C1CC-4F3A-B486-05240001B6BF}" dt="2020-08-16T17:49:31.679" v="532" actId="1037"/>
        <pc:sldMkLst>
          <pc:docMk/>
          <pc:sldMk cId="3359797835" sldId="280"/>
        </pc:sldMkLst>
        <pc:spChg chg="mod">
          <ac:chgData name="Dr. Deepak S Sakkari Assistant Professor( CSE)" userId="6d73bcb8-5d92-40b8-9132-40f6303b79fc" providerId="ADAL" clId="{6A6CE88C-C1CC-4F3A-B486-05240001B6BF}" dt="2020-08-16T17:49:21.636" v="529" actId="948"/>
          <ac:spMkLst>
            <pc:docMk/>
            <pc:sldMk cId="3359797835" sldId="280"/>
            <ac:spMk id="5" creationId="{00000000-0000-0000-0000-000000000000}"/>
          </ac:spMkLst>
        </pc:spChg>
        <pc:picChg chg="mod">
          <ac:chgData name="Dr. Deepak S Sakkari Assistant Professor( CSE)" userId="6d73bcb8-5d92-40b8-9132-40f6303b79fc" providerId="ADAL" clId="{6A6CE88C-C1CC-4F3A-B486-05240001B6BF}" dt="2020-08-16T17:49:31.679" v="532" actId="1037"/>
          <ac:picMkLst>
            <pc:docMk/>
            <pc:sldMk cId="3359797835" sldId="280"/>
            <ac:picMk id="4099" creationId="{00000000-0000-0000-0000-000000000000}"/>
          </ac:picMkLst>
        </pc:picChg>
      </pc:sldChg>
      <pc:sldChg chg="modSp mod">
        <pc:chgData name="Dr. Deepak S Sakkari Assistant Professor( CSE)" userId="6d73bcb8-5d92-40b8-9132-40f6303b79fc" providerId="ADAL" clId="{6A6CE88C-C1CC-4F3A-B486-05240001B6BF}" dt="2020-08-16T17:50:36.290" v="541" actId="1076"/>
        <pc:sldMkLst>
          <pc:docMk/>
          <pc:sldMk cId="3154839297" sldId="281"/>
        </pc:sldMkLst>
        <pc:spChg chg="mod">
          <ac:chgData name="Dr. Deepak S Sakkari Assistant Professor( CSE)" userId="6d73bcb8-5d92-40b8-9132-40f6303b79fc" providerId="ADAL" clId="{6A6CE88C-C1CC-4F3A-B486-05240001B6BF}" dt="2020-08-16T17:50:31.162" v="540" actId="404"/>
          <ac:spMkLst>
            <pc:docMk/>
            <pc:sldMk cId="3154839297" sldId="281"/>
            <ac:spMk id="5" creationId="{00000000-0000-0000-0000-000000000000}"/>
          </ac:spMkLst>
        </pc:spChg>
        <pc:picChg chg="mod">
          <ac:chgData name="Dr. Deepak S Sakkari Assistant Professor( CSE)" userId="6d73bcb8-5d92-40b8-9132-40f6303b79fc" providerId="ADAL" clId="{6A6CE88C-C1CC-4F3A-B486-05240001B6BF}" dt="2020-08-16T17:50:36.290" v="541" actId="1076"/>
          <ac:picMkLst>
            <pc:docMk/>
            <pc:sldMk cId="3154839297" sldId="281"/>
            <ac:picMk id="5123" creationId="{00000000-0000-0000-0000-000000000000}"/>
          </ac:picMkLst>
        </pc:picChg>
      </pc:sldChg>
      <pc:sldChg chg="modSp mod">
        <pc:chgData name="Dr. Deepak S Sakkari Assistant Professor( CSE)" userId="6d73bcb8-5d92-40b8-9132-40f6303b79fc" providerId="ADAL" clId="{6A6CE88C-C1CC-4F3A-B486-05240001B6BF}" dt="2020-08-16T17:51:15.441" v="573" actId="1076"/>
        <pc:sldMkLst>
          <pc:docMk/>
          <pc:sldMk cId="513573365" sldId="282"/>
        </pc:sldMkLst>
        <pc:spChg chg="mod">
          <ac:chgData name="Dr. Deepak S Sakkari Assistant Professor( CSE)" userId="6d73bcb8-5d92-40b8-9132-40f6303b79fc" providerId="ADAL" clId="{6A6CE88C-C1CC-4F3A-B486-05240001B6BF}" dt="2020-08-16T17:50:54.056" v="545" actId="20577"/>
          <ac:spMkLst>
            <pc:docMk/>
            <pc:sldMk cId="513573365" sldId="282"/>
            <ac:spMk id="5" creationId="{00000000-0000-0000-0000-000000000000}"/>
          </ac:spMkLst>
        </pc:spChg>
        <pc:picChg chg="mod">
          <ac:chgData name="Dr. Deepak S Sakkari Assistant Professor( CSE)" userId="6d73bcb8-5d92-40b8-9132-40f6303b79fc" providerId="ADAL" clId="{6A6CE88C-C1CC-4F3A-B486-05240001B6BF}" dt="2020-08-16T17:51:15.441" v="573" actId="1076"/>
          <ac:picMkLst>
            <pc:docMk/>
            <pc:sldMk cId="513573365" sldId="282"/>
            <ac:picMk id="6146" creationId="{00000000-0000-0000-0000-000000000000}"/>
          </ac:picMkLst>
        </pc:picChg>
      </pc:sldChg>
      <pc:sldChg chg="modSp mod">
        <pc:chgData name="Dr. Deepak S Sakkari Assistant Professor( CSE)" userId="6d73bcb8-5d92-40b8-9132-40f6303b79fc" providerId="ADAL" clId="{6A6CE88C-C1CC-4F3A-B486-05240001B6BF}" dt="2020-08-16T17:51:53.933" v="580" actId="1076"/>
        <pc:sldMkLst>
          <pc:docMk/>
          <pc:sldMk cId="2125104488" sldId="283"/>
        </pc:sldMkLst>
        <pc:spChg chg="mod">
          <ac:chgData name="Dr. Deepak S Sakkari Assistant Professor( CSE)" userId="6d73bcb8-5d92-40b8-9132-40f6303b79fc" providerId="ADAL" clId="{6A6CE88C-C1CC-4F3A-B486-05240001B6BF}" dt="2020-08-16T17:51:32.939" v="576" actId="404"/>
          <ac:spMkLst>
            <pc:docMk/>
            <pc:sldMk cId="2125104488" sldId="283"/>
            <ac:spMk id="5" creationId="{00000000-0000-0000-0000-000000000000}"/>
          </ac:spMkLst>
        </pc:spChg>
        <pc:picChg chg="mod">
          <ac:chgData name="Dr. Deepak S Sakkari Assistant Professor( CSE)" userId="6d73bcb8-5d92-40b8-9132-40f6303b79fc" providerId="ADAL" clId="{6A6CE88C-C1CC-4F3A-B486-05240001B6BF}" dt="2020-08-16T17:51:53.933" v="580" actId="1076"/>
          <ac:picMkLst>
            <pc:docMk/>
            <pc:sldMk cId="2125104488" sldId="283"/>
            <ac:picMk id="7170" creationId="{00000000-0000-0000-0000-000000000000}"/>
          </ac:picMkLst>
        </pc:picChg>
      </pc:sldChg>
      <pc:sldChg chg="modSp mod">
        <pc:chgData name="Dr. Deepak S Sakkari Assistant Professor( CSE)" userId="6d73bcb8-5d92-40b8-9132-40f6303b79fc" providerId="ADAL" clId="{6A6CE88C-C1CC-4F3A-B486-05240001B6BF}" dt="2020-08-16T17:52:28.860" v="587" actId="1076"/>
        <pc:sldMkLst>
          <pc:docMk/>
          <pc:sldMk cId="3076381061" sldId="284"/>
        </pc:sldMkLst>
        <pc:spChg chg="mod">
          <ac:chgData name="Dr. Deepak S Sakkari Assistant Professor( CSE)" userId="6d73bcb8-5d92-40b8-9132-40f6303b79fc" providerId="ADAL" clId="{6A6CE88C-C1CC-4F3A-B486-05240001B6BF}" dt="2020-08-16T17:52:16.492" v="584" actId="403"/>
          <ac:spMkLst>
            <pc:docMk/>
            <pc:sldMk cId="3076381061" sldId="284"/>
            <ac:spMk id="5" creationId="{00000000-0000-0000-0000-000000000000}"/>
          </ac:spMkLst>
        </pc:spChg>
        <pc:picChg chg="mod">
          <ac:chgData name="Dr. Deepak S Sakkari Assistant Professor( CSE)" userId="6d73bcb8-5d92-40b8-9132-40f6303b79fc" providerId="ADAL" clId="{6A6CE88C-C1CC-4F3A-B486-05240001B6BF}" dt="2020-08-16T17:52:28.860" v="587" actId="1076"/>
          <ac:picMkLst>
            <pc:docMk/>
            <pc:sldMk cId="3076381061" sldId="284"/>
            <ac:picMk id="8195" creationId="{00000000-0000-0000-0000-000000000000}"/>
          </ac:picMkLst>
        </pc:picChg>
      </pc:sldChg>
      <pc:sldChg chg="modSp mod">
        <pc:chgData name="Dr. Deepak S Sakkari Assistant Professor( CSE)" userId="6d73bcb8-5d92-40b8-9132-40f6303b79fc" providerId="ADAL" clId="{6A6CE88C-C1CC-4F3A-B486-05240001B6BF}" dt="2020-08-16T17:53:37.561" v="631" actId="1076"/>
        <pc:sldMkLst>
          <pc:docMk/>
          <pc:sldMk cId="769505814" sldId="285"/>
        </pc:sldMkLst>
        <pc:spChg chg="mod">
          <ac:chgData name="Dr. Deepak S Sakkari Assistant Professor( CSE)" userId="6d73bcb8-5d92-40b8-9132-40f6303b79fc" providerId="ADAL" clId="{6A6CE88C-C1CC-4F3A-B486-05240001B6BF}" dt="2020-08-16T17:53:22.212" v="596" actId="20577"/>
          <ac:spMkLst>
            <pc:docMk/>
            <pc:sldMk cId="769505814" sldId="285"/>
            <ac:spMk id="5" creationId="{00000000-0000-0000-0000-000000000000}"/>
          </ac:spMkLst>
        </pc:spChg>
        <pc:picChg chg="mod">
          <ac:chgData name="Dr. Deepak S Sakkari Assistant Professor( CSE)" userId="6d73bcb8-5d92-40b8-9132-40f6303b79fc" providerId="ADAL" clId="{6A6CE88C-C1CC-4F3A-B486-05240001B6BF}" dt="2020-08-16T17:53:37.561" v="631" actId="1076"/>
          <ac:picMkLst>
            <pc:docMk/>
            <pc:sldMk cId="769505814" sldId="285"/>
            <ac:picMk id="9219" creationId="{00000000-0000-0000-0000-000000000000}"/>
          </ac:picMkLst>
        </pc:picChg>
      </pc:sldChg>
      <pc:sldChg chg="modSp mod">
        <pc:chgData name="Dr. Deepak S Sakkari Assistant Professor( CSE)" userId="6d73bcb8-5d92-40b8-9132-40f6303b79fc" providerId="ADAL" clId="{6A6CE88C-C1CC-4F3A-B486-05240001B6BF}" dt="2020-08-16T17:52:49.759" v="592" actId="1076"/>
        <pc:sldMkLst>
          <pc:docMk/>
          <pc:sldMk cId="3602984361" sldId="286"/>
        </pc:sldMkLst>
        <pc:spChg chg="mod">
          <ac:chgData name="Dr. Deepak S Sakkari Assistant Professor( CSE)" userId="6d73bcb8-5d92-40b8-9132-40f6303b79fc" providerId="ADAL" clId="{6A6CE88C-C1CC-4F3A-B486-05240001B6BF}" dt="2020-08-16T17:52:45.065" v="591" actId="404"/>
          <ac:spMkLst>
            <pc:docMk/>
            <pc:sldMk cId="3602984361" sldId="286"/>
            <ac:spMk id="5" creationId="{00000000-0000-0000-0000-000000000000}"/>
          </ac:spMkLst>
        </pc:spChg>
        <pc:picChg chg="mod">
          <ac:chgData name="Dr. Deepak S Sakkari Assistant Professor( CSE)" userId="6d73bcb8-5d92-40b8-9132-40f6303b79fc" providerId="ADAL" clId="{6A6CE88C-C1CC-4F3A-B486-05240001B6BF}" dt="2020-08-16T17:52:49.759" v="592" actId="1076"/>
          <ac:picMkLst>
            <pc:docMk/>
            <pc:sldMk cId="3602984361" sldId="286"/>
            <ac:picMk id="9218" creationId="{00000000-0000-0000-0000-000000000000}"/>
          </ac:picMkLst>
        </pc:picChg>
      </pc:sldChg>
      <pc:sldChg chg="modSp mod">
        <pc:chgData name="Dr. Deepak S Sakkari Assistant Professor( CSE)" userId="6d73bcb8-5d92-40b8-9132-40f6303b79fc" providerId="ADAL" clId="{6A6CE88C-C1CC-4F3A-B486-05240001B6BF}" dt="2020-08-16T17:54:29.167" v="657" actId="1036"/>
        <pc:sldMkLst>
          <pc:docMk/>
          <pc:sldMk cId="2829986162" sldId="287"/>
        </pc:sldMkLst>
        <pc:spChg chg="mod">
          <ac:chgData name="Dr. Deepak S Sakkari Assistant Professor( CSE)" userId="6d73bcb8-5d92-40b8-9132-40f6303b79fc" providerId="ADAL" clId="{6A6CE88C-C1CC-4F3A-B486-05240001B6BF}" dt="2020-08-16T17:54:13.453" v="653" actId="6549"/>
          <ac:spMkLst>
            <pc:docMk/>
            <pc:sldMk cId="2829986162" sldId="287"/>
            <ac:spMk id="5" creationId="{00000000-0000-0000-0000-000000000000}"/>
          </ac:spMkLst>
        </pc:spChg>
        <pc:picChg chg="mod">
          <ac:chgData name="Dr. Deepak S Sakkari Assistant Professor( CSE)" userId="6d73bcb8-5d92-40b8-9132-40f6303b79fc" providerId="ADAL" clId="{6A6CE88C-C1CC-4F3A-B486-05240001B6BF}" dt="2020-08-16T17:54:29.167" v="657" actId="1036"/>
          <ac:picMkLst>
            <pc:docMk/>
            <pc:sldMk cId="2829986162" sldId="287"/>
            <ac:picMk id="10242" creationId="{00000000-0000-0000-0000-000000000000}"/>
          </ac:picMkLst>
        </pc:picChg>
      </pc:sldChg>
      <pc:sldChg chg="modSp mod">
        <pc:chgData name="Dr. Deepak S Sakkari Assistant Professor( CSE)" userId="6d73bcb8-5d92-40b8-9132-40f6303b79fc" providerId="ADAL" clId="{6A6CE88C-C1CC-4F3A-B486-05240001B6BF}" dt="2020-08-16T17:55:23.973" v="666" actId="1076"/>
        <pc:sldMkLst>
          <pc:docMk/>
          <pc:sldMk cId="1866790028" sldId="288"/>
        </pc:sldMkLst>
        <pc:spChg chg="mod">
          <ac:chgData name="Dr. Deepak S Sakkari Assistant Professor( CSE)" userId="6d73bcb8-5d92-40b8-9132-40f6303b79fc" providerId="ADAL" clId="{6A6CE88C-C1CC-4F3A-B486-05240001B6BF}" dt="2020-08-16T17:55:16.732" v="665" actId="6549"/>
          <ac:spMkLst>
            <pc:docMk/>
            <pc:sldMk cId="1866790028" sldId="288"/>
            <ac:spMk id="5" creationId="{00000000-0000-0000-0000-000000000000}"/>
          </ac:spMkLst>
        </pc:spChg>
        <pc:picChg chg="mod">
          <ac:chgData name="Dr. Deepak S Sakkari Assistant Professor( CSE)" userId="6d73bcb8-5d92-40b8-9132-40f6303b79fc" providerId="ADAL" clId="{6A6CE88C-C1CC-4F3A-B486-05240001B6BF}" dt="2020-08-16T17:55:23.973" v="666" actId="1076"/>
          <ac:picMkLst>
            <pc:docMk/>
            <pc:sldMk cId="1866790028" sldId="288"/>
            <ac:picMk id="11266" creationId="{00000000-0000-0000-0000-000000000000}"/>
          </ac:picMkLst>
        </pc:picChg>
      </pc:sldChg>
      <pc:sldChg chg="addSp modSp mod">
        <pc:chgData name="Dr. Deepak S Sakkari Assistant Professor( CSE)" userId="6d73bcb8-5d92-40b8-9132-40f6303b79fc" providerId="ADAL" clId="{6A6CE88C-C1CC-4F3A-B486-05240001B6BF}" dt="2020-08-16T17:58:28.723" v="747" actId="1035"/>
        <pc:sldMkLst>
          <pc:docMk/>
          <pc:sldMk cId="3266059444" sldId="289"/>
        </pc:sldMkLst>
        <pc:spChg chg="mod">
          <ac:chgData name="Dr. Deepak S Sakkari Assistant Professor( CSE)" userId="6d73bcb8-5d92-40b8-9132-40f6303b79fc" providerId="ADAL" clId="{6A6CE88C-C1CC-4F3A-B486-05240001B6BF}" dt="2020-08-16T17:57:17.871" v="672" actId="255"/>
          <ac:spMkLst>
            <pc:docMk/>
            <pc:sldMk cId="3266059444" sldId="289"/>
            <ac:spMk id="2" creationId="{00000000-0000-0000-0000-000000000000}"/>
          </ac:spMkLst>
        </pc:spChg>
        <pc:spChg chg="mod">
          <ac:chgData name="Dr. Deepak S Sakkari Assistant Professor( CSE)" userId="6d73bcb8-5d92-40b8-9132-40f6303b79fc" providerId="ADAL" clId="{6A6CE88C-C1CC-4F3A-B486-05240001B6BF}" dt="2020-08-16T17:57:45.493" v="677" actId="20577"/>
          <ac:spMkLst>
            <pc:docMk/>
            <pc:sldMk cId="3266059444" sldId="289"/>
            <ac:spMk id="3" creationId="{00000000-0000-0000-0000-000000000000}"/>
          </ac:spMkLst>
        </pc:spChg>
        <pc:picChg chg="add mod">
          <ac:chgData name="Dr. Deepak S Sakkari Assistant Professor( CSE)" userId="6d73bcb8-5d92-40b8-9132-40f6303b79fc" providerId="ADAL" clId="{6A6CE88C-C1CC-4F3A-B486-05240001B6BF}" dt="2020-08-16T17:58:28.723" v="747" actId="1035"/>
          <ac:picMkLst>
            <pc:docMk/>
            <pc:sldMk cId="3266059444" sldId="289"/>
            <ac:picMk id="7" creationId="{4226936F-2BC6-4083-B1A0-1A7E7C42EC5D}"/>
          </ac:picMkLst>
        </pc:picChg>
      </pc:sldChg>
      <pc:sldChg chg="del">
        <pc:chgData name="Dr. Deepak S Sakkari Assistant Professor( CSE)" userId="6d73bcb8-5d92-40b8-9132-40f6303b79fc" providerId="ADAL" clId="{6A6CE88C-C1CC-4F3A-B486-05240001B6BF}" dt="2020-08-16T17:58:42.160" v="748" actId="2696"/>
        <pc:sldMkLst>
          <pc:docMk/>
          <pc:sldMk cId="2059104741" sldId="290"/>
        </pc:sldMkLst>
      </pc:sldChg>
      <pc:sldChg chg="modSp mod">
        <pc:chgData name="Dr. Deepak S Sakkari Assistant Professor( CSE)" userId="6d73bcb8-5d92-40b8-9132-40f6303b79fc" providerId="ADAL" clId="{6A6CE88C-C1CC-4F3A-B486-05240001B6BF}" dt="2020-08-16T17:59:20.322" v="754" actId="1076"/>
        <pc:sldMkLst>
          <pc:docMk/>
          <pc:sldMk cId="3191863920" sldId="291"/>
        </pc:sldMkLst>
        <pc:spChg chg="mod">
          <ac:chgData name="Dr. Deepak S Sakkari Assistant Professor( CSE)" userId="6d73bcb8-5d92-40b8-9132-40f6303b79fc" providerId="ADAL" clId="{6A6CE88C-C1CC-4F3A-B486-05240001B6BF}" dt="2020-08-16T17:59:11.977" v="753" actId="404"/>
          <ac:spMkLst>
            <pc:docMk/>
            <pc:sldMk cId="3191863920" sldId="291"/>
            <ac:spMk id="3" creationId="{00000000-0000-0000-0000-000000000000}"/>
          </ac:spMkLst>
        </pc:spChg>
        <pc:picChg chg="mod">
          <ac:chgData name="Dr. Deepak S Sakkari Assistant Professor( CSE)" userId="6d73bcb8-5d92-40b8-9132-40f6303b79fc" providerId="ADAL" clId="{6A6CE88C-C1CC-4F3A-B486-05240001B6BF}" dt="2020-08-16T17:59:20.322" v="754" actId="1076"/>
          <ac:picMkLst>
            <pc:docMk/>
            <pc:sldMk cId="3191863920" sldId="291"/>
            <ac:picMk id="13314" creationId="{00000000-0000-0000-0000-000000000000}"/>
          </ac:picMkLst>
        </pc:picChg>
      </pc:sldChg>
      <pc:sldChg chg="modSp mod">
        <pc:chgData name="Dr. Deepak S Sakkari Assistant Professor( CSE)" userId="6d73bcb8-5d92-40b8-9132-40f6303b79fc" providerId="ADAL" clId="{6A6CE88C-C1CC-4F3A-B486-05240001B6BF}" dt="2020-08-16T18:10:50.782" v="804" actId="255"/>
        <pc:sldMkLst>
          <pc:docMk/>
          <pc:sldMk cId="2904947208" sldId="292"/>
        </pc:sldMkLst>
        <pc:spChg chg="mod">
          <ac:chgData name="Dr. Deepak S Sakkari Assistant Professor( CSE)" userId="6d73bcb8-5d92-40b8-9132-40f6303b79fc" providerId="ADAL" clId="{6A6CE88C-C1CC-4F3A-B486-05240001B6BF}" dt="2020-08-16T18:10:50.782" v="804" actId="255"/>
          <ac:spMkLst>
            <pc:docMk/>
            <pc:sldMk cId="2904947208" sldId="292"/>
            <ac:spMk id="3" creationId="{00000000-0000-0000-0000-000000000000}"/>
          </ac:spMkLst>
        </pc:spChg>
      </pc:sldChg>
      <pc:sldChg chg="modSp mod">
        <pc:chgData name="Dr. Deepak S Sakkari Assistant Professor( CSE)" userId="6d73bcb8-5d92-40b8-9132-40f6303b79fc" providerId="ADAL" clId="{6A6CE88C-C1CC-4F3A-B486-05240001B6BF}" dt="2020-08-16T18:01:00.044" v="771" actId="1076"/>
        <pc:sldMkLst>
          <pc:docMk/>
          <pc:sldMk cId="1145221943" sldId="293"/>
        </pc:sldMkLst>
        <pc:spChg chg="mod">
          <ac:chgData name="Dr. Deepak S Sakkari Assistant Professor( CSE)" userId="6d73bcb8-5d92-40b8-9132-40f6303b79fc" providerId="ADAL" clId="{6A6CE88C-C1CC-4F3A-B486-05240001B6BF}" dt="2020-08-16T18:00:50.359" v="769" actId="948"/>
          <ac:spMkLst>
            <pc:docMk/>
            <pc:sldMk cId="1145221943" sldId="293"/>
            <ac:spMk id="3" creationId="{00000000-0000-0000-0000-000000000000}"/>
          </ac:spMkLst>
        </pc:spChg>
        <pc:picChg chg="mod">
          <ac:chgData name="Dr. Deepak S Sakkari Assistant Professor( CSE)" userId="6d73bcb8-5d92-40b8-9132-40f6303b79fc" providerId="ADAL" clId="{6A6CE88C-C1CC-4F3A-B486-05240001B6BF}" dt="2020-08-16T18:00:54.771" v="770" actId="1076"/>
          <ac:picMkLst>
            <pc:docMk/>
            <pc:sldMk cId="1145221943" sldId="293"/>
            <ac:picMk id="14338" creationId="{00000000-0000-0000-0000-000000000000}"/>
          </ac:picMkLst>
        </pc:picChg>
        <pc:picChg chg="mod">
          <ac:chgData name="Dr. Deepak S Sakkari Assistant Professor( CSE)" userId="6d73bcb8-5d92-40b8-9132-40f6303b79fc" providerId="ADAL" clId="{6A6CE88C-C1CC-4F3A-B486-05240001B6BF}" dt="2020-08-16T18:01:00.044" v="771" actId="1076"/>
          <ac:picMkLst>
            <pc:docMk/>
            <pc:sldMk cId="1145221943" sldId="293"/>
            <ac:picMk id="14340" creationId="{00000000-0000-0000-0000-000000000000}"/>
          </ac:picMkLst>
        </pc:picChg>
      </pc:sldChg>
      <pc:sldChg chg="modSp mod">
        <pc:chgData name="Dr. Deepak S Sakkari Assistant Professor( CSE)" userId="6d73bcb8-5d92-40b8-9132-40f6303b79fc" providerId="ADAL" clId="{6A6CE88C-C1CC-4F3A-B486-05240001B6BF}" dt="2020-08-16T18:09:57.766" v="796" actId="313"/>
        <pc:sldMkLst>
          <pc:docMk/>
          <pc:sldMk cId="1457111660" sldId="294"/>
        </pc:sldMkLst>
        <pc:spChg chg="mod">
          <ac:chgData name="Dr. Deepak S Sakkari Assistant Professor( CSE)" userId="6d73bcb8-5d92-40b8-9132-40f6303b79fc" providerId="ADAL" clId="{6A6CE88C-C1CC-4F3A-B486-05240001B6BF}" dt="2020-08-16T18:09:57.766" v="796" actId="313"/>
          <ac:spMkLst>
            <pc:docMk/>
            <pc:sldMk cId="1457111660" sldId="294"/>
            <ac:spMk id="3" creationId="{00000000-0000-0000-0000-000000000000}"/>
          </ac:spMkLst>
        </pc:spChg>
      </pc:sldChg>
      <pc:sldChg chg="del">
        <pc:chgData name="Dr. Deepak S Sakkari Assistant Professor( CSE)" userId="6d73bcb8-5d92-40b8-9132-40f6303b79fc" providerId="ADAL" clId="{6A6CE88C-C1CC-4F3A-B486-05240001B6BF}" dt="2020-08-16T18:11:20.117" v="805" actId="2696"/>
        <pc:sldMkLst>
          <pc:docMk/>
          <pc:sldMk cId="3110987420" sldId="295"/>
        </pc:sldMkLst>
      </pc:sldChg>
      <pc:sldChg chg="modSp mod">
        <pc:chgData name="Dr. Deepak S Sakkari Assistant Professor( CSE)" userId="6d73bcb8-5d92-40b8-9132-40f6303b79fc" providerId="ADAL" clId="{6A6CE88C-C1CC-4F3A-B486-05240001B6BF}" dt="2020-08-16T18:11:54.808" v="811" actId="404"/>
        <pc:sldMkLst>
          <pc:docMk/>
          <pc:sldMk cId="2011300504" sldId="296"/>
        </pc:sldMkLst>
        <pc:spChg chg="mod">
          <ac:chgData name="Dr. Deepak S Sakkari Assistant Professor( CSE)" userId="6d73bcb8-5d92-40b8-9132-40f6303b79fc" providerId="ADAL" clId="{6A6CE88C-C1CC-4F3A-B486-05240001B6BF}" dt="2020-08-16T18:11:54.808" v="811" actId="404"/>
          <ac:spMkLst>
            <pc:docMk/>
            <pc:sldMk cId="2011300504" sldId="296"/>
            <ac:spMk id="3" creationId="{00000000-0000-0000-0000-000000000000}"/>
          </ac:spMkLst>
        </pc:spChg>
      </pc:sldChg>
      <pc:sldChg chg="modSp del mod">
        <pc:chgData name="Dr. Deepak S Sakkari Assistant Professor( CSE)" userId="6d73bcb8-5d92-40b8-9132-40f6303b79fc" providerId="ADAL" clId="{6A6CE88C-C1CC-4F3A-B486-05240001B6BF}" dt="2020-08-16T18:12:16.452" v="813" actId="2696"/>
        <pc:sldMkLst>
          <pc:docMk/>
          <pc:sldMk cId="422380363" sldId="297"/>
        </pc:sldMkLst>
        <pc:spChg chg="mod">
          <ac:chgData name="Dr. Deepak S Sakkari Assistant Professor( CSE)" userId="6d73bcb8-5d92-40b8-9132-40f6303b79fc" providerId="ADAL" clId="{6A6CE88C-C1CC-4F3A-B486-05240001B6BF}" dt="2020-08-16T18:11:47.295" v="808" actId="21"/>
          <ac:spMkLst>
            <pc:docMk/>
            <pc:sldMk cId="422380363" sldId="297"/>
            <ac:spMk id="3" creationId="{00000000-0000-0000-0000-000000000000}"/>
          </ac:spMkLst>
        </pc:spChg>
        <pc:picChg chg="mod">
          <ac:chgData name="Dr. Deepak S Sakkari Assistant Professor( CSE)" userId="6d73bcb8-5d92-40b8-9132-40f6303b79fc" providerId="ADAL" clId="{6A6CE88C-C1CC-4F3A-B486-05240001B6BF}" dt="2020-08-16T18:12:10.728" v="812" actId="1076"/>
          <ac:picMkLst>
            <pc:docMk/>
            <pc:sldMk cId="422380363" sldId="297"/>
            <ac:picMk id="15363" creationId="{00000000-0000-0000-0000-000000000000}"/>
          </ac:picMkLst>
        </pc:picChg>
      </pc:sldChg>
      <pc:sldChg chg="modSp mod">
        <pc:chgData name="Dr. Deepak S Sakkari Assistant Professor( CSE)" userId="6d73bcb8-5d92-40b8-9132-40f6303b79fc" providerId="ADAL" clId="{6A6CE88C-C1CC-4F3A-B486-05240001B6BF}" dt="2020-08-16T18:12:35.971" v="818" actId="20577"/>
        <pc:sldMkLst>
          <pc:docMk/>
          <pc:sldMk cId="761635623" sldId="298"/>
        </pc:sldMkLst>
        <pc:spChg chg="mod">
          <ac:chgData name="Dr. Deepak S Sakkari Assistant Professor( CSE)" userId="6d73bcb8-5d92-40b8-9132-40f6303b79fc" providerId="ADAL" clId="{6A6CE88C-C1CC-4F3A-B486-05240001B6BF}" dt="2020-08-16T18:12:35.971" v="818" actId="20577"/>
          <ac:spMkLst>
            <pc:docMk/>
            <pc:sldMk cId="761635623" sldId="298"/>
            <ac:spMk id="3" creationId="{00000000-0000-0000-0000-000000000000}"/>
          </ac:spMkLst>
        </pc:spChg>
      </pc:sldChg>
      <pc:sldChg chg="modSp">
        <pc:chgData name="Dr. Deepak S Sakkari Assistant Professor( CSE)" userId="6d73bcb8-5d92-40b8-9132-40f6303b79fc" providerId="ADAL" clId="{6A6CE88C-C1CC-4F3A-B486-05240001B6BF}" dt="2020-08-16T18:13:08.143" v="858" actId="1035"/>
        <pc:sldMkLst>
          <pc:docMk/>
          <pc:sldMk cId="2659602100" sldId="299"/>
        </pc:sldMkLst>
        <pc:picChg chg="mod">
          <ac:chgData name="Dr. Deepak S Sakkari Assistant Professor( CSE)" userId="6d73bcb8-5d92-40b8-9132-40f6303b79fc" providerId="ADAL" clId="{6A6CE88C-C1CC-4F3A-B486-05240001B6BF}" dt="2020-08-16T18:13:08.143" v="858" actId="1035"/>
          <ac:picMkLst>
            <pc:docMk/>
            <pc:sldMk cId="2659602100" sldId="299"/>
            <ac:picMk id="16387" creationId="{00000000-0000-0000-0000-000000000000}"/>
          </ac:picMkLst>
        </pc:picChg>
      </pc:sldChg>
      <pc:sldChg chg="modSp">
        <pc:chgData name="Dr. Deepak S Sakkari Assistant Professor( CSE)" userId="6d73bcb8-5d92-40b8-9132-40f6303b79fc" providerId="ADAL" clId="{6A6CE88C-C1CC-4F3A-B486-05240001B6BF}" dt="2020-08-16T18:14:25.007" v="975" actId="732"/>
        <pc:sldMkLst>
          <pc:docMk/>
          <pc:sldMk cId="1639119821" sldId="300"/>
        </pc:sldMkLst>
        <pc:picChg chg="mod">
          <ac:chgData name="Dr. Deepak S Sakkari Assistant Professor( CSE)" userId="6d73bcb8-5d92-40b8-9132-40f6303b79fc" providerId="ADAL" clId="{6A6CE88C-C1CC-4F3A-B486-05240001B6BF}" dt="2020-08-16T18:14:25.007" v="975" actId="732"/>
          <ac:picMkLst>
            <pc:docMk/>
            <pc:sldMk cId="1639119821" sldId="300"/>
            <ac:picMk id="17410" creationId="{00000000-0000-0000-0000-000000000000}"/>
          </ac:picMkLst>
        </pc:picChg>
      </pc:sldChg>
      <pc:sldMasterChg chg="addSp delSp modSp mod modSldLayout">
        <pc:chgData name="Dr. Deepak S Sakkari Assistant Professor( CSE)" userId="6d73bcb8-5d92-40b8-9132-40f6303b79fc" providerId="ADAL" clId="{6A6CE88C-C1CC-4F3A-B486-05240001B6BF}" dt="2020-08-16T17:22:17.156" v="59" actId="2711"/>
        <pc:sldMasterMkLst>
          <pc:docMk/>
          <pc:sldMasterMk cId="2257922174" sldId="2147483684"/>
        </pc:sldMasterMkLst>
        <pc:spChg chg="del">
          <ac:chgData name="Dr. Deepak S Sakkari Assistant Professor( CSE)" userId="6d73bcb8-5d92-40b8-9132-40f6303b79fc" providerId="ADAL" clId="{6A6CE88C-C1CC-4F3A-B486-05240001B6BF}" dt="2020-08-16T17:18:55.997" v="14" actId="478"/>
          <ac:spMkLst>
            <pc:docMk/>
            <pc:sldMasterMk cId="2257922174" sldId="2147483684"/>
            <ac:spMk id="7" creationId="{00000000-0000-0000-0000-000000000000}"/>
          </ac:spMkLst>
        </pc:spChg>
        <pc:spChg chg="mod">
          <ac:chgData name="Dr. Deepak S Sakkari Assistant Professor( CSE)" userId="6d73bcb8-5d92-40b8-9132-40f6303b79fc" providerId="ADAL" clId="{6A6CE88C-C1CC-4F3A-B486-05240001B6BF}" dt="2020-08-16T17:22:09.695" v="58"/>
          <ac:spMkLst>
            <pc:docMk/>
            <pc:sldMasterMk cId="2257922174" sldId="2147483684"/>
            <ac:spMk id="1026" creationId="{00000000-0000-0000-0000-000000000000}"/>
          </ac:spMkLst>
        </pc:spChg>
        <pc:spChg chg="mod">
          <ac:chgData name="Dr. Deepak S Sakkari Assistant Professor( CSE)" userId="6d73bcb8-5d92-40b8-9132-40f6303b79fc" providerId="ADAL" clId="{6A6CE88C-C1CC-4F3A-B486-05240001B6BF}" dt="2020-08-16T17:22:17.156" v="59" actId="2711"/>
          <ac:spMkLst>
            <pc:docMk/>
            <pc:sldMasterMk cId="2257922174" sldId="2147483684"/>
            <ac:spMk id="1027" creationId="{00000000-0000-0000-0000-000000000000}"/>
          </ac:spMkLst>
        </pc:spChg>
        <pc:picChg chg="add">
          <ac:chgData name="Dr. Deepak S Sakkari Assistant Professor( CSE)" userId="6d73bcb8-5d92-40b8-9132-40f6303b79fc" providerId="ADAL" clId="{6A6CE88C-C1CC-4F3A-B486-05240001B6BF}" dt="2020-08-16T17:18:50.359" v="13" actId="22"/>
          <ac:picMkLst>
            <pc:docMk/>
            <pc:sldMasterMk cId="2257922174" sldId="2147483684"/>
            <ac:picMk id="2" creationId="{D556AC99-D25B-44D7-B4D4-56DFBA9A948D}"/>
          </ac:picMkLst>
        </pc:picChg>
        <pc:cxnChg chg="add mod">
          <ac:chgData name="Dr. Deepak S Sakkari Assistant Professor( CSE)" userId="6d73bcb8-5d92-40b8-9132-40f6303b79fc" providerId="ADAL" clId="{6A6CE88C-C1CC-4F3A-B486-05240001B6BF}" dt="2020-08-16T17:20:46.450" v="41" actId="692"/>
          <ac:cxnSpMkLst>
            <pc:docMk/>
            <pc:sldMasterMk cId="2257922174" sldId="2147483684"/>
            <ac:cxnSpMk id="9" creationId="{3B5F36A5-15D8-4D7C-9B1D-11E3C685F0D5}"/>
          </ac:cxnSpMkLst>
        </pc:cxnChg>
        <pc:sldLayoutChg chg="addSp modSp mod">
          <pc:chgData name="Dr. Deepak S Sakkari Assistant Professor( CSE)" userId="6d73bcb8-5d92-40b8-9132-40f6303b79fc" providerId="ADAL" clId="{6A6CE88C-C1CC-4F3A-B486-05240001B6BF}" dt="2020-08-16T17:18:26.126" v="12" actId="1036"/>
          <pc:sldLayoutMkLst>
            <pc:docMk/>
            <pc:sldMasterMk cId="2257922174" sldId="2147483684"/>
            <pc:sldLayoutMk cId="3379957623" sldId="2147483685"/>
          </pc:sldLayoutMkLst>
          <pc:picChg chg="add mod">
            <ac:chgData name="Dr. Deepak S Sakkari Assistant Professor( CSE)" userId="6d73bcb8-5d92-40b8-9132-40f6303b79fc" providerId="ADAL" clId="{6A6CE88C-C1CC-4F3A-B486-05240001B6BF}" dt="2020-08-16T17:18:26.126" v="12" actId="1036"/>
            <ac:picMkLst>
              <pc:docMk/>
              <pc:sldMasterMk cId="2257922174" sldId="2147483684"/>
              <pc:sldLayoutMk cId="3379957623" sldId="2147483685"/>
              <ac:picMk id="8" creationId="{EE652140-DF33-42B2-90EF-9E9B8553CD93}"/>
            </ac:picMkLst>
          </pc:picChg>
        </pc:sldLayoutChg>
      </pc:sldMasterChg>
    </pc:docChg>
  </pc:docChgLst>
  <pc:docChgLst>
    <pc:chgData name="Ashishika Singh" userId="2c5215269e6e15b9" providerId="LiveId" clId="{7EFFCCAC-AC97-40B9-BB19-E54196DF870C}"/>
    <pc:docChg chg="modSld">
      <pc:chgData name="Ashishika Singh" userId="2c5215269e6e15b9" providerId="LiveId" clId="{7EFFCCAC-AC97-40B9-BB19-E54196DF870C}" dt="2024-02-07T05:06:48.533" v="0" actId="20577"/>
      <pc:docMkLst>
        <pc:docMk/>
      </pc:docMkLst>
      <pc:sldChg chg="modSp mod">
        <pc:chgData name="Ashishika Singh" userId="2c5215269e6e15b9" providerId="LiveId" clId="{7EFFCCAC-AC97-40B9-BB19-E54196DF870C}" dt="2024-02-07T05:06:48.533" v="0" actId="20577"/>
        <pc:sldMkLst>
          <pc:docMk/>
          <pc:sldMk cId="48459217" sldId="544"/>
        </pc:sldMkLst>
        <pc:spChg chg="mod">
          <ac:chgData name="Ashishika Singh" userId="2c5215269e6e15b9" providerId="LiveId" clId="{7EFFCCAC-AC97-40B9-BB19-E54196DF870C}" dt="2024-02-07T05:06:48.533" v="0" actId="20577"/>
          <ac:spMkLst>
            <pc:docMk/>
            <pc:sldMk cId="48459217" sldId="544"/>
            <ac:spMk id="8"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0C24494-34C8-4B85-95EC-EFB8BC02FE7F}" type="datetimeFigureOut">
              <a:rPr lang="en-US" smtClean="0"/>
              <a:t>9/22/2025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BD0F90C-8AF4-4E3E-8FFD-30D2A3D6204D}" type="slidenum">
              <a:rPr lang="en-US" smtClean="0"/>
              <a:t>‹#›</a:t>
            </a:fld>
            <a:endParaRPr lang="en-US"/>
          </a:p>
        </p:txBody>
      </p:sp>
    </p:spTree>
    <p:extLst>
      <p:ext uri="{BB962C8B-B14F-4D97-AF65-F5344CB8AC3E}">
        <p14:creationId xmlns:p14="http://schemas.microsoft.com/office/powerpoint/2010/main" val="330180529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6911B5A-781F-4560-A1CC-D59FB8C1A7F6}" type="datetimeFigureOut">
              <a:rPr lang="en-US" smtClean="0"/>
              <a:t>9/22/2025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24ADE7-A6F4-4046-A847-5DCBEEEA65FB}" type="slidenum">
              <a:rPr lang="en-US" smtClean="0"/>
              <a:t>‹#›</a:t>
            </a:fld>
            <a:endParaRPr lang="en-US"/>
          </a:p>
        </p:txBody>
      </p:sp>
    </p:spTree>
    <p:extLst>
      <p:ext uri="{BB962C8B-B14F-4D97-AF65-F5344CB8AC3E}">
        <p14:creationId xmlns:p14="http://schemas.microsoft.com/office/powerpoint/2010/main" val="2677811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24ADE7-A6F4-4046-A847-5DCBEEEA65FB}" type="slidenum">
              <a:rPr lang="en-US" smtClean="0"/>
              <a:t>1</a:t>
            </a:fld>
            <a:endParaRPr lang="en-US"/>
          </a:p>
        </p:txBody>
      </p:sp>
    </p:spTree>
    <p:extLst>
      <p:ext uri="{BB962C8B-B14F-4D97-AF65-F5344CB8AC3E}">
        <p14:creationId xmlns:p14="http://schemas.microsoft.com/office/powerpoint/2010/main" val="21879802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2961D096-7E3B-4901-842A-409E8605E423}" type="datetime1">
              <a:rPr lang="en-US" smtClean="0"/>
              <a:t>9/22/2025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EE652140-DF33-42B2-90EF-9E9B8553CD9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79957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3715BC48-F514-41A9-A06B-89726FEA9A41}" type="datetime1">
              <a:rPr lang="en-US" smtClean="0"/>
              <a:t>9/22/2025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52276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279382B1-A318-4E25-8B63-3F37CB0D7274}" type="datetime1">
              <a:rPr lang="en-US" smtClean="0"/>
              <a:t>9/22/2025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6071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9AD08C1B-89CC-4E1C-BEAF-FABC3A03FD30}" type="datetime1">
              <a:rPr lang="en-US" smtClean="0"/>
              <a:t>9/22/2025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149585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F9680425-9698-4DA0-B543-89E03CD4FF44}" type="datetime1">
              <a:rPr lang="en-US" smtClean="0"/>
              <a:t>9/22/2025</a:t>
            </a:fld>
            <a:endParaRPr lang="en-US"/>
          </a:p>
        </p:txBody>
      </p:sp>
      <p:sp>
        <p:nvSpPr>
          <p:cNvPr id="8" name="Footer Placeholder 4"/>
          <p:cNvSpPr>
            <a:spLocks noGrp="1"/>
          </p:cNvSpPr>
          <p:nvPr>
            <p:ph type="ftr" sz="quarter" idx="11"/>
          </p:nvPr>
        </p:nvSpPr>
        <p:spPr/>
        <p:txBody>
          <a:bodyPr/>
          <a:lstStyle>
            <a:lvl1pPr>
              <a:defRPr/>
            </a:lvl1pPr>
          </a:lstStyle>
          <a:p>
            <a:r>
              <a:rPr lang="en-US"/>
              <a:t>CSE2024 NoSQL Databases</a:t>
            </a:r>
          </a:p>
        </p:txBody>
      </p:sp>
      <p:sp>
        <p:nvSpPr>
          <p:cNvPr id="9"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055612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ADDF3898-51C9-42CA-AFF7-14A768C26905}" type="datetime1">
              <a:rPr lang="en-US" smtClean="0"/>
              <a:t>9/22/2025</a:t>
            </a:fld>
            <a:endParaRPr lang="en-US"/>
          </a:p>
        </p:txBody>
      </p:sp>
      <p:sp>
        <p:nvSpPr>
          <p:cNvPr id="4" name="Footer Placeholder 4"/>
          <p:cNvSpPr>
            <a:spLocks noGrp="1"/>
          </p:cNvSpPr>
          <p:nvPr>
            <p:ph type="ftr" sz="quarter" idx="11"/>
          </p:nvPr>
        </p:nvSpPr>
        <p:spPr/>
        <p:txBody>
          <a:bodyPr/>
          <a:lstStyle>
            <a:lvl1pPr>
              <a:defRPr/>
            </a:lvl1pPr>
          </a:lstStyle>
          <a:p>
            <a:r>
              <a:rPr lang="en-US"/>
              <a:t>CSE2024 NoSQL Databases</a:t>
            </a:r>
          </a:p>
        </p:txBody>
      </p:sp>
      <p:sp>
        <p:nvSpPr>
          <p:cNvPr id="5"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2166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7C9E076F-7826-4434-B030-EF730E273267}" type="datetime1">
              <a:rPr lang="en-US" smtClean="0"/>
              <a:t>9/22/2025</a:t>
            </a:fld>
            <a:endParaRPr lang="en-US"/>
          </a:p>
        </p:txBody>
      </p:sp>
      <p:sp>
        <p:nvSpPr>
          <p:cNvPr id="3" name="Footer Placeholder 4"/>
          <p:cNvSpPr>
            <a:spLocks noGrp="1"/>
          </p:cNvSpPr>
          <p:nvPr>
            <p:ph type="ftr" sz="quarter" idx="11"/>
          </p:nvPr>
        </p:nvSpPr>
        <p:spPr/>
        <p:txBody>
          <a:bodyPr/>
          <a:lstStyle>
            <a:lvl1pPr>
              <a:defRPr/>
            </a:lvl1pPr>
          </a:lstStyle>
          <a:p>
            <a:r>
              <a:rPr lang="en-US"/>
              <a:t>CSE2024 NoSQL Databases</a:t>
            </a:r>
          </a:p>
        </p:txBody>
      </p:sp>
      <p:sp>
        <p:nvSpPr>
          <p:cNvPr id="4"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07572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2A09F549-E219-413D-B622-4D983791557B}" type="datetime1">
              <a:rPr lang="en-US" smtClean="0"/>
              <a:t>9/22/2025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87676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58942CD6-7FAF-40A4-81AA-297C9A9B6773}" type="datetime1">
              <a:rPr lang="en-US" smtClean="0"/>
              <a:t>9/22/2025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242432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66938856-79CA-49AF-934C-26554E0FC8D3}" type="datetime1">
              <a:rPr lang="en-US" smtClean="0"/>
              <a:t>9/22/2025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844776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ACC4072-E3E6-4B98-A2C1-5BEC13CB7DE0}" type="datetime1">
              <a:rPr lang="en-US" smtClean="0"/>
              <a:t>9/22/2025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26411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306878"/>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110762"/>
            <a:ext cx="8229600" cy="4680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EE2650-6778-464F-AABC-7C744B7A5C3B}" type="datetime1">
              <a:rPr lang="en-US" smtClean="0"/>
              <a:t>9/22/2025</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CSE2024 NoSQL Databases</a:t>
            </a:r>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fld id="{B6F15528-21DE-4FAA-801E-634DDDAF4B2B}" type="slidenum">
              <a:rPr lang="en-US" smtClean="0"/>
              <a:pPr/>
              <a:t>‹#›</a:t>
            </a:fld>
            <a:endParaRPr lang="en-US"/>
          </a:p>
        </p:txBody>
      </p:sp>
      <p:pic>
        <p:nvPicPr>
          <p:cNvPr id="2" name="Picture 1">
            <a:extLst>
              <a:ext uri="{FF2B5EF4-FFF2-40B4-BE49-F238E27FC236}">
                <a16:creationId xmlns:a16="http://schemas.microsoft.com/office/drawing/2014/main" id="{D556AC99-D25B-44D7-B4D4-56DFBA9A948D}"/>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 name="Straight Connector 8">
            <a:extLst>
              <a:ext uri="{FF2B5EF4-FFF2-40B4-BE49-F238E27FC236}">
                <a16:creationId xmlns:a16="http://schemas.microsoft.com/office/drawing/2014/main" id="{3B5F36A5-15D8-4D7C-9B1D-11E3C685F0D5}"/>
              </a:ext>
            </a:extLst>
          </p:cNvPr>
          <p:cNvCxnSpPr>
            <a:cxnSpLocks/>
          </p:cNvCxnSpPr>
          <p:nvPr userDrawn="1"/>
        </p:nvCxnSpPr>
        <p:spPr>
          <a:xfrm>
            <a:off x="72000" y="1066800"/>
            <a:ext cx="9000000" cy="0"/>
          </a:xfrm>
          <a:prstGeom prst="line">
            <a:avLst/>
          </a:prstGeom>
          <a:ln w="50800" cmpd="thinThick">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2217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rtl="0" eaLnBrk="1" fontAlgn="base" hangingPunct="1">
        <a:spcBef>
          <a:spcPct val="0"/>
        </a:spcBef>
        <a:spcAft>
          <a:spcPct val="0"/>
        </a:spcAft>
        <a:defRPr sz="2800" b="1" kern="1200">
          <a:solidFill>
            <a:schemeClr val="tx1"/>
          </a:solidFill>
          <a:latin typeface="Bookman Old Style" panose="02050604050505020204" pitchFamily="18" charset="0"/>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brainkart.com/subject/Web-Technology_169/"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static.googleusercontent.com/media/research.google.com/en/archive/bigtable-osdi06.pdf" TargetMode="Externa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6E4517-6C23-48B3-9024-02BD16E6294C}"/>
              </a:ext>
            </a:extLst>
          </p:cNvPr>
          <p:cNvPicPr>
            <a:picLocks noChangeAspect="1"/>
          </p:cNvPicPr>
          <p:nvPr/>
        </p:nvPicPr>
        <p:blipFill>
          <a:blip r:embed="rId3"/>
          <a:stretch>
            <a:fillRect/>
          </a:stretch>
        </p:blipFill>
        <p:spPr>
          <a:xfrm>
            <a:off x="0" y="0"/>
            <a:ext cx="9144000" cy="6858000"/>
          </a:xfrm>
          <a:prstGeom prst="rect">
            <a:avLst/>
          </a:prstGeom>
        </p:spPr>
      </p:pic>
      <p:pic>
        <p:nvPicPr>
          <p:cNvPr id="7" name="Graphic 6">
            <a:extLst>
              <a:ext uri="{FF2B5EF4-FFF2-40B4-BE49-F238E27FC236}">
                <a16:creationId xmlns:a16="http://schemas.microsoft.com/office/drawing/2014/main" id="{D99F73C4-29F8-4839-BE55-95316471138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xmlns="" r:embed="rId5"/>
              </a:ext>
            </a:extLst>
          </a:blip>
          <a:stretch>
            <a:fillRect/>
          </a:stretch>
        </p:blipFill>
        <p:spPr>
          <a:xfrm>
            <a:off x="682460" y="0"/>
            <a:ext cx="7779079" cy="1309350"/>
          </a:xfrm>
          <a:prstGeom prst="rect">
            <a:avLst/>
          </a:prstGeom>
        </p:spPr>
      </p:pic>
      <p:sp>
        <p:nvSpPr>
          <p:cNvPr id="9" name="Title 1">
            <a:extLst>
              <a:ext uri="{FF2B5EF4-FFF2-40B4-BE49-F238E27FC236}">
                <a16:creationId xmlns:a16="http://schemas.microsoft.com/office/drawing/2014/main" id="{95994CEF-AC9F-45F1-B856-7E13245F08BF}"/>
              </a:ext>
            </a:extLst>
          </p:cNvPr>
          <p:cNvSpPr txBox="1">
            <a:spLocks/>
          </p:cNvSpPr>
          <p:nvPr/>
        </p:nvSpPr>
        <p:spPr bwMode="auto">
          <a:xfrm>
            <a:off x="0" y="1329546"/>
            <a:ext cx="9144000" cy="1219200"/>
          </a:xfrm>
          <a:prstGeom prst="rect">
            <a:avLst/>
          </a:prstGeom>
          <a:noFill/>
          <a:ln w="12700">
            <a:noFill/>
            <a:miter lim="800000"/>
            <a:headEnd/>
            <a:tailEnd/>
          </a:ln>
        </p:spPr>
        <p:txBody>
          <a:bodyPr vert="horz" wrap="none" lIns="63500" tIns="25400" rIns="63500" bIns="25400" numCol="1" anchor="t" anchorCtr="0" compatLnSpc="1">
            <a:prstTxWarp prst="textNoShape">
              <a:avLst/>
            </a:prstTxWarp>
            <a:noAutofit/>
          </a:bodyPr>
          <a:lstStyle>
            <a:defPPr>
              <a:defRPr lang="en-US"/>
            </a:defPPr>
            <a:lvl1pPr algn="ctr" eaLnBrk="0" fontAlgn="base" hangingPunct="0">
              <a:lnSpc>
                <a:spcPct val="120000"/>
              </a:lnSpc>
              <a:spcBef>
                <a:spcPct val="0"/>
              </a:spcBef>
              <a:spcAft>
                <a:spcPct val="0"/>
              </a:spcAft>
              <a:defRPr sz="2400" b="1">
                <a:latin typeface="Bookman Old Style" panose="02050604050505020204" pitchFamily="18" charset="0"/>
                <a:ea typeface="+mj-ea"/>
                <a:cs typeface="+mj-cs"/>
              </a:defRPr>
            </a:lvl1pPr>
            <a:lvl2pPr eaLnBrk="0" fontAlgn="base" hangingPunct="0">
              <a:lnSpc>
                <a:spcPct val="87000"/>
              </a:lnSpc>
              <a:spcBef>
                <a:spcPct val="0"/>
              </a:spcBef>
              <a:spcAft>
                <a:spcPct val="0"/>
              </a:spcAft>
              <a:defRPr b="1">
                <a:solidFill>
                  <a:schemeClr val="tx2"/>
                </a:solidFill>
                <a:latin typeface="Arial" charset="0"/>
              </a:defRPr>
            </a:lvl2pPr>
            <a:lvl3pPr eaLnBrk="0" fontAlgn="base" hangingPunct="0">
              <a:lnSpc>
                <a:spcPct val="87000"/>
              </a:lnSpc>
              <a:spcBef>
                <a:spcPct val="0"/>
              </a:spcBef>
              <a:spcAft>
                <a:spcPct val="0"/>
              </a:spcAft>
              <a:defRPr b="1">
                <a:solidFill>
                  <a:schemeClr val="tx2"/>
                </a:solidFill>
                <a:latin typeface="Arial" charset="0"/>
              </a:defRPr>
            </a:lvl3pPr>
            <a:lvl4pPr eaLnBrk="0" fontAlgn="base" hangingPunct="0">
              <a:lnSpc>
                <a:spcPct val="87000"/>
              </a:lnSpc>
              <a:spcBef>
                <a:spcPct val="0"/>
              </a:spcBef>
              <a:spcAft>
                <a:spcPct val="0"/>
              </a:spcAft>
              <a:defRPr b="1">
                <a:solidFill>
                  <a:schemeClr val="tx2"/>
                </a:solidFill>
                <a:latin typeface="Arial" charset="0"/>
              </a:defRPr>
            </a:lvl4pPr>
            <a:lvl5pPr eaLnBrk="0" fontAlgn="base" hangingPunct="0">
              <a:lnSpc>
                <a:spcPct val="87000"/>
              </a:lnSpc>
              <a:spcBef>
                <a:spcPct val="0"/>
              </a:spcBef>
              <a:spcAft>
                <a:spcPct val="0"/>
              </a:spcAft>
              <a:defRPr b="1">
                <a:solidFill>
                  <a:schemeClr val="tx2"/>
                </a:solidFill>
                <a:latin typeface="Arial" charset="0"/>
              </a:defRPr>
            </a:lvl5pPr>
            <a:lvl6pPr marL="342900" eaLnBrk="0" fontAlgn="base" hangingPunct="0">
              <a:lnSpc>
                <a:spcPct val="87000"/>
              </a:lnSpc>
              <a:spcBef>
                <a:spcPct val="0"/>
              </a:spcBef>
              <a:spcAft>
                <a:spcPct val="0"/>
              </a:spcAft>
              <a:defRPr b="1">
                <a:solidFill>
                  <a:schemeClr val="tx2"/>
                </a:solidFill>
                <a:latin typeface="Arial" charset="0"/>
              </a:defRPr>
            </a:lvl6pPr>
            <a:lvl7pPr marL="685800" eaLnBrk="0" fontAlgn="base" hangingPunct="0">
              <a:lnSpc>
                <a:spcPct val="87000"/>
              </a:lnSpc>
              <a:spcBef>
                <a:spcPct val="0"/>
              </a:spcBef>
              <a:spcAft>
                <a:spcPct val="0"/>
              </a:spcAft>
              <a:defRPr b="1">
                <a:solidFill>
                  <a:schemeClr val="tx2"/>
                </a:solidFill>
                <a:latin typeface="Arial" charset="0"/>
              </a:defRPr>
            </a:lvl7pPr>
            <a:lvl8pPr marL="1028700" eaLnBrk="0" fontAlgn="base" hangingPunct="0">
              <a:lnSpc>
                <a:spcPct val="87000"/>
              </a:lnSpc>
              <a:spcBef>
                <a:spcPct val="0"/>
              </a:spcBef>
              <a:spcAft>
                <a:spcPct val="0"/>
              </a:spcAft>
              <a:defRPr b="1">
                <a:solidFill>
                  <a:schemeClr val="tx2"/>
                </a:solidFill>
                <a:latin typeface="Arial" charset="0"/>
              </a:defRPr>
            </a:lvl8pPr>
            <a:lvl9pPr marL="1371600" eaLnBrk="0" fontAlgn="base" hangingPunct="0">
              <a:lnSpc>
                <a:spcPct val="87000"/>
              </a:lnSpc>
              <a:spcBef>
                <a:spcPct val="0"/>
              </a:spcBef>
              <a:spcAft>
                <a:spcPct val="0"/>
              </a:spcAft>
              <a:defRPr b="1">
                <a:solidFill>
                  <a:schemeClr val="tx2"/>
                </a:solidFill>
                <a:latin typeface="Arial" charset="0"/>
              </a:defRPr>
            </a:lvl9pPr>
          </a:lstStyle>
          <a:p>
            <a:r>
              <a:rPr lang="en-IN" sz="2800" dirty="0">
                <a:hlinkClick r:id="rId6">
                  <a:extLst>
                    <a:ext uri="{A12FA001-AC4F-418D-AE19-62706E023703}">
                      <ahyp:hlinkClr xmlns:ahyp="http://schemas.microsoft.com/office/drawing/2018/hyperlinkcolor" xmlns="" val="tx"/>
                    </a:ext>
                  </a:extLst>
                </a:hlinkClick>
              </a:rPr>
              <a:t>NoSQL </a:t>
            </a:r>
            <a:r>
              <a:rPr lang="en-IN" sz="2800" dirty="0" smtClean="0">
                <a:hlinkClick r:id="rId6">
                  <a:extLst>
                    <a:ext uri="{A12FA001-AC4F-418D-AE19-62706E023703}">
                      <ahyp:hlinkClr xmlns:ahyp="http://schemas.microsoft.com/office/drawing/2018/hyperlinkcolor" xmlns="" val="tx"/>
                    </a:ext>
                  </a:extLst>
                </a:hlinkClick>
              </a:rPr>
              <a:t>Data Management</a:t>
            </a:r>
            <a:endParaRPr lang="en-IN" sz="2800" dirty="0">
              <a:hlinkClick r:id="rId6">
                <a:extLst>
                  <a:ext uri="{A12FA001-AC4F-418D-AE19-62706E023703}">
                    <ahyp:hlinkClr xmlns:ahyp="http://schemas.microsoft.com/office/drawing/2018/hyperlinkcolor" xmlns="" val="tx"/>
                  </a:ext>
                </a:extLst>
              </a:hlinkClick>
            </a:endParaRPr>
          </a:p>
          <a:p>
            <a:r>
              <a:rPr lang="en-IN" dirty="0"/>
              <a:t/>
            </a:r>
            <a:br>
              <a:rPr lang="en-IN" dirty="0"/>
            </a:br>
            <a:endParaRPr lang="en-IN" dirty="0"/>
          </a:p>
        </p:txBody>
      </p:sp>
      <p:sp>
        <p:nvSpPr>
          <p:cNvPr id="11" name="Subtitle 2">
            <a:extLst>
              <a:ext uri="{FF2B5EF4-FFF2-40B4-BE49-F238E27FC236}">
                <a16:creationId xmlns:a16="http://schemas.microsoft.com/office/drawing/2014/main" id="{767D772C-CE7C-4E6F-8FFF-BDAD62483336}"/>
              </a:ext>
            </a:extLst>
          </p:cNvPr>
          <p:cNvSpPr txBox="1">
            <a:spLocks/>
          </p:cNvSpPr>
          <p:nvPr/>
        </p:nvSpPr>
        <p:spPr bwMode="auto">
          <a:xfrm>
            <a:off x="706474" y="5613718"/>
            <a:ext cx="7772400" cy="899624"/>
          </a:xfrm>
          <a:prstGeom prst="rect">
            <a:avLst/>
          </a:prstGeom>
          <a:noFill/>
          <a:ln w="12700">
            <a:noFill/>
            <a:miter lim="800000"/>
            <a:headEnd/>
            <a:tailEnd/>
          </a:ln>
        </p:spPr>
        <p:txBody>
          <a:bodyPr vert="horz" wrap="square" lIns="63500" tIns="25400" rIns="63500" bIns="25400" numCol="1" anchor="t" anchorCtr="0" compatLnSpc="1">
            <a:prstTxWarp prst="textNoShape">
              <a:avLst/>
            </a:prstTxWarp>
            <a:normAutofit fontScale="92500" lnSpcReduction="20000"/>
          </a:bodyPr>
          <a:lstStyle>
            <a:lvl1pPr marL="152400" indent="-152400" algn="l" rtl="0" eaLnBrk="0" fontAlgn="base" hangingPunct="0">
              <a:lnSpc>
                <a:spcPct val="75000"/>
              </a:lnSpc>
              <a:spcBef>
                <a:spcPct val="65000"/>
              </a:spcBef>
              <a:spcAft>
                <a:spcPct val="0"/>
              </a:spcAft>
              <a:buSzPct val="100000"/>
              <a:buFont typeface="Arial" charset="0"/>
              <a:buChar char="•"/>
              <a:defRPr sz="1800" b="1">
                <a:solidFill>
                  <a:schemeClr val="tx1"/>
                </a:solidFill>
                <a:latin typeface="Bookman Old Style" panose="02050604050505020204" pitchFamily="18" charset="0"/>
                <a:ea typeface="+mn-ea"/>
                <a:cs typeface="+mn-cs"/>
              </a:defRPr>
            </a:lvl1pPr>
            <a:lvl2pPr marL="514350" indent="-142875" algn="l" rtl="0" eaLnBrk="0" fontAlgn="base" hangingPunct="0">
              <a:lnSpc>
                <a:spcPct val="85000"/>
              </a:lnSpc>
              <a:spcBef>
                <a:spcPct val="40000"/>
              </a:spcBef>
              <a:spcAft>
                <a:spcPct val="0"/>
              </a:spcAft>
              <a:buSzPct val="100000"/>
              <a:buFont typeface="Courier New" pitchFamily="49" charset="0"/>
              <a:buChar char="o"/>
              <a:defRPr sz="1800" b="1">
                <a:solidFill>
                  <a:schemeClr val="tx1"/>
                </a:solidFill>
                <a:latin typeface="Bookman Old Style" panose="02050604050505020204" pitchFamily="18" charset="0"/>
              </a:defRPr>
            </a:lvl2pPr>
            <a:lvl3pPr marL="942975" indent="-257175" algn="l" rtl="0" eaLnBrk="0" fontAlgn="base" hangingPunct="0">
              <a:lnSpc>
                <a:spcPct val="85000"/>
              </a:lnSpc>
              <a:spcBef>
                <a:spcPct val="40000"/>
              </a:spcBef>
              <a:spcAft>
                <a:spcPct val="0"/>
              </a:spcAft>
              <a:buSzPct val="100000"/>
              <a:buFont typeface="Wingdings" pitchFamily="2" charset="2"/>
              <a:buChar char="Ø"/>
              <a:defRPr sz="1800" b="1">
                <a:solidFill>
                  <a:schemeClr val="tx1"/>
                </a:solidFill>
                <a:latin typeface="Bookman Old Style" panose="02050604050505020204" pitchFamily="18" charset="0"/>
              </a:defRPr>
            </a:lvl3pPr>
            <a:lvl4pPr marL="12858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4pPr>
            <a:lvl5pPr marL="16287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5pPr>
            <a:lvl6pPr marL="1971675" indent="-257175" algn="l" rtl="0" fontAlgn="base">
              <a:spcBef>
                <a:spcPct val="20000"/>
              </a:spcBef>
              <a:spcAft>
                <a:spcPct val="0"/>
              </a:spcAft>
              <a:buChar char="»"/>
              <a:defRPr sz="1500">
                <a:solidFill>
                  <a:schemeClr val="tx1"/>
                </a:solidFill>
                <a:latin typeface="Times New Roman" charset="0"/>
              </a:defRPr>
            </a:lvl6pPr>
            <a:lvl7pPr marL="2314575" indent="-257175" algn="l" rtl="0" fontAlgn="base">
              <a:spcBef>
                <a:spcPct val="20000"/>
              </a:spcBef>
              <a:spcAft>
                <a:spcPct val="0"/>
              </a:spcAft>
              <a:buChar char="»"/>
              <a:defRPr sz="1500">
                <a:solidFill>
                  <a:schemeClr val="tx1"/>
                </a:solidFill>
                <a:latin typeface="Times New Roman" charset="0"/>
              </a:defRPr>
            </a:lvl7pPr>
            <a:lvl8pPr marL="2657475" indent="-257175" algn="l" rtl="0" fontAlgn="base">
              <a:spcBef>
                <a:spcPct val="20000"/>
              </a:spcBef>
              <a:spcAft>
                <a:spcPct val="0"/>
              </a:spcAft>
              <a:buChar char="»"/>
              <a:defRPr sz="1500">
                <a:solidFill>
                  <a:schemeClr val="tx1"/>
                </a:solidFill>
                <a:latin typeface="Times New Roman" charset="0"/>
              </a:defRPr>
            </a:lvl8pPr>
            <a:lvl9pPr marL="3000375" indent="-257175" algn="l" rtl="0" fontAlgn="base">
              <a:spcBef>
                <a:spcPct val="20000"/>
              </a:spcBef>
              <a:spcAft>
                <a:spcPct val="0"/>
              </a:spcAft>
              <a:buChar char="»"/>
              <a:defRPr sz="1500">
                <a:solidFill>
                  <a:schemeClr val="tx1"/>
                </a:solidFill>
                <a:latin typeface="Times New Roman" charset="0"/>
              </a:defRPr>
            </a:lvl9pPr>
          </a:lstStyle>
          <a:p>
            <a:pPr marL="0" indent="0" algn="ctr">
              <a:lnSpc>
                <a:spcPct val="120000"/>
              </a:lnSpc>
              <a:spcBef>
                <a:spcPts val="0"/>
              </a:spcBef>
              <a:buNone/>
            </a:pPr>
            <a:r>
              <a:rPr lang="en-IN" sz="2000" kern="0" dirty="0"/>
              <a:t>Department of Computer Science Engineering</a:t>
            </a:r>
          </a:p>
          <a:p>
            <a:pPr marL="0" indent="0" algn="ctr">
              <a:lnSpc>
                <a:spcPct val="120000"/>
              </a:lnSpc>
              <a:spcBef>
                <a:spcPts val="0"/>
              </a:spcBef>
              <a:buNone/>
            </a:pPr>
            <a:r>
              <a:rPr lang="en-IN" sz="3600" kern="0" dirty="0"/>
              <a:t>School of Engineering</a:t>
            </a:r>
          </a:p>
        </p:txBody>
      </p:sp>
    </p:spTree>
    <p:extLst>
      <p:ext uri="{BB962C8B-B14F-4D97-AF65-F5344CB8AC3E}">
        <p14:creationId xmlns:p14="http://schemas.microsoft.com/office/powerpoint/2010/main" val="34709109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Module </a:t>
            </a:r>
            <a:r>
              <a:rPr lang="en-GB" dirty="0"/>
              <a:t>2</a:t>
            </a:r>
            <a:r>
              <a:rPr lang="en-GB" dirty="0" smtClean="0"/>
              <a:t> </a:t>
            </a:r>
            <a:r>
              <a:rPr lang="en-GB" dirty="0"/>
              <a:t>: </a:t>
            </a:r>
            <a:r>
              <a:rPr lang="en-US" dirty="0"/>
              <a:t>Distributed Data Systems and Consistency Models</a:t>
            </a:r>
            <a:endParaRPr lang="en-IN" dirty="0"/>
          </a:p>
        </p:txBody>
      </p:sp>
      <p:sp>
        <p:nvSpPr>
          <p:cNvPr id="3" name="Content Placeholder 2"/>
          <p:cNvSpPr>
            <a:spLocks noGrp="1"/>
          </p:cNvSpPr>
          <p:nvPr>
            <p:ph idx="1"/>
          </p:nvPr>
        </p:nvSpPr>
        <p:spPr>
          <a:xfrm>
            <a:off x="457200" y="1110762"/>
            <a:ext cx="8229600" cy="4909038"/>
          </a:xfrm>
        </p:spPr>
        <p:txBody>
          <a:bodyPr/>
          <a:lstStyle/>
          <a:p>
            <a:pPr algn="just"/>
            <a:r>
              <a:rPr lang="en-US" sz="1800" b="1" dirty="0"/>
              <a:t>Distributed Data Systems and Consistency Models </a:t>
            </a:r>
            <a:r>
              <a:rPr lang="en-IN" sz="1800" b="1" dirty="0" smtClean="0"/>
              <a:t>Distribution Models</a:t>
            </a:r>
            <a:r>
              <a:rPr lang="en-IN" sz="2000" b="1" dirty="0" smtClean="0"/>
              <a:t>:</a:t>
            </a:r>
            <a:r>
              <a:rPr lang="en-IN" sz="2000" dirty="0" smtClean="0"/>
              <a:t> </a:t>
            </a:r>
            <a:r>
              <a:rPr lang="en-IN" sz="2000" dirty="0"/>
              <a:t>Single Server, </a:t>
            </a:r>
            <a:r>
              <a:rPr lang="en-IN" sz="2000" dirty="0" err="1"/>
              <a:t>Sharding</a:t>
            </a:r>
            <a:r>
              <a:rPr lang="en-IN" sz="2000" dirty="0"/>
              <a:t>, Master-Slave Replication, Peer-to-Peer Replication, Combining </a:t>
            </a:r>
            <a:r>
              <a:rPr lang="en-IN" sz="2000" dirty="0" err="1"/>
              <a:t>Sharding</a:t>
            </a:r>
            <a:r>
              <a:rPr lang="en-IN" sz="2000" dirty="0"/>
              <a:t> and Replication Consistency, Update Consistency, Read Consistency, Relaxing Consistency, The CAP Theorem, Relaxing Durability, Quorums. Version Stamps, Business and System Transactions, Version Stamps on Multiple Nodes.</a:t>
            </a:r>
            <a:r>
              <a:rPr lang="en-IN" sz="1800" dirty="0"/>
              <a:t>		</a:t>
            </a:r>
          </a:p>
        </p:txBody>
      </p:sp>
      <p:sp>
        <p:nvSpPr>
          <p:cNvPr id="4" name="Footer Placeholder 3"/>
          <p:cNvSpPr>
            <a:spLocks noGrp="1"/>
          </p:cNvSpPr>
          <p:nvPr>
            <p:ph type="ftr" sz="quarter" idx="11"/>
          </p:nvPr>
        </p:nvSpPr>
        <p:spPr/>
        <p:txBody>
          <a:bodyPr/>
          <a:lstStyle/>
          <a:p>
            <a:r>
              <a:rPr lang="en-US" dirty="0" smtClean="0"/>
              <a:t>CSE3513 </a:t>
            </a:r>
            <a:r>
              <a:rPr lang="en-US" dirty="0"/>
              <a:t>NoSQL </a:t>
            </a:r>
            <a:r>
              <a:rPr lang="en-US" dirty="0" smtClean="0"/>
              <a:t>Data Management</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097264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F683C38-AC44-03AD-5D55-732744AFCB83}"/>
              </a:ext>
            </a:extLst>
          </p:cNvPr>
          <p:cNvSpPr>
            <a:spLocks noGrp="1"/>
          </p:cNvSpPr>
          <p:nvPr>
            <p:ph type="ftr" sz="quarter" idx="11"/>
          </p:nvPr>
        </p:nvSpPr>
        <p:spPr/>
        <p:txBody>
          <a:bodyPr/>
          <a:lstStyle/>
          <a:p>
            <a:r>
              <a:rPr lang="en-US" dirty="0"/>
              <a:t>CSE3513 NoSQL Data Management</a:t>
            </a:r>
          </a:p>
        </p:txBody>
      </p:sp>
      <p:sp>
        <p:nvSpPr>
          <p:cNvPr id="3" name="Slide Number Placeholder 2">
            <a:extLst>
              <a:ext uri="{FF2B5EF4-FFF2-40B4-BE49-F238E27FC236}">
                <a16:creationId xmlns:a16="http://schemas.microsoft.com/office/drawing/2014/main" id="{667DFAE2-9551-73A5-D73B-0A79D0E09258}"/>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4" name="TextBox 3">
            <a:extLst>
              <a:ext uri="{FF2B5EF4-FFF2-40B4-BE49-F238E27FC236}">
                <a16:creationId xmlns:a16="http://schemas.microsoft.com/office/drawing/2014/main" id="{8804667C-97E7-CFA4-9E93-D6BF82DA6FF3}"/>
              </a:ext>
            </a:extLst>
          </p:cNvPr>
          <p:cNvSpPr txBox="1"/>
          <p:nvPr/>
        </p:nvSpPr>
        <p:spPr>
          <a:xfrm>
            <a:off x="3390900" y="304800"/>
            <a:ext cx="2362200" cy="830997"/>
          </a:xfrm>
          <a:prstGeom prst="rect">
            <a:avLst/>
          </a:prstGeom>
          <a:noFill/>
        </p:spPr>
        <p:txBody>
          <a:bodyPr wrap="square" rtlCol="0">
            <a:spAutoFit/>
          </a:bodyPr>
          <a:lstStyle/>
          <a:p>
            <a:pPr algn="ctr"/>
            <a:r>
              <a:rPr lang="en-US" sz="2400" b="1" dirty="0" smtClean="0"/>
              <a:t>Session Summary</a:t>
            </a:r>
            <a:endParaRPr lang="en-IN" sz="2400" b="1" dirty="0"/>
          </a:p>
        </p:txBody>
      </p:sp>
      <p:sp>
        <p:nvSpPr>
          <p:cNvPr id="5" name="TextBox 4">
            <a:extLst>
              <a:ext uri="{FF2B5EF4-FFF2-40B4-BE49-F238E27FC236}">
                <a16:creationId xmlns:a16="http://schemas.microsoft.com/office/drawing/2014/main" id="{F78F9BFB-874F-26A1-7D38-3F1D596EFE31}"/>
              </a:ext>
            </a:extLst>
          </p:cNvPr>
          <p:cNvSpPr txBox="1"/>
          <p:nvPr/>
        </p:nvSpPr>
        <p:spPr>
          <a:xfrm>
            <a:off x="533400" y="1207665"/>
            <a:ext cx="7924800" cy="5355312"/>
          </a:xfrm>
          <a:prstGeom prst="rect">
            <a:avLst/>
          </a:prstGeom>
          <a:noFill/>
        </p:spPr>
        <p:txBody>
          <a:bodyPr wrap="square" rtlCol="0">
            <a:spAutoFit/>
          </a:bodyPr>
          <a:lstStyle/>
          <a:p>
            <a:r>
              <a:rPr lang="en-IN" b="1" dirty="0"/>
              <a:t>Topics </a:t>
            </a:r>
          </a:p>
          <a:p>
            <a:pPr marL="285750" indent="-285750">
              <a:buFont typeface="Arial" panose="020B0604020202020204" pitchFamily="34" charset="0"/>
              <a:buChar char="•"/>
            </a:pPr>
            <a:r>
              <a:rPr lang="en-IN" dirty="0" smtClean="0"/>
              <a:t>Distribution Models, Consistency Models</a:t>
            </a:r>
            <a:endParaRPr lang="en-IN" dirty="0"/>
          </a:p>
          <a:p>
            <a:pPr marL="285750" indent="-285750">
              <a:buFont typeface="Arial" panose="020B0604020202020204" pitchFamily="34" charset="0"/>
              <a:buChar char="•"/>
            </a:pPr>
            <a:r>
              <a:rPr lang="en-GB" dirty="0" smtClean="0"/>
              <a:t>Coordination &amp; Agreement Techniques</a:t>
            </a:r>
            <a:endParaRPr lang="en-GB" dirty="0"/>
          </a:p>
          <a:p>
            <a:pPr marL="285750" indent="-285750">
              <a:buFont typeface="Arial" panose="020B0604020202020204" pitchFamily="34" charset="0"/>
              <a:buChar char="•"/>
            </a:pPr>
            <a:r>
              <a:rPr lang="en-GB" dirty="0" smtClean="0"/>
              <a:t>BASE</a:t>
            </a:r>
            <a:endParaRPr lang="en-GB" dirty="0"/>
          </a:p>
          <a:p>
            <a:pPr marL="285750" indent="-285750">
              <a:buFont typeface="Arial" panose="020B0604020202020204" pitchFamily="34" charset="0"/>
              <a:buChar char="•"/>
            </a:pPr>
            <a:r>
              <a:rPr lang="en-GB" dirty="0" smtClean="0"/>
              <a:t>CAP-Theorem, Version Stamps, Transactions, Quorums</a:t>
            </a:r>
            <a:endParaRPr lang="en-GB" dirty="0"/>
          </a:p>
          <a:p>
            <a:endParaRPr lang="en-GB" dirty="0"/>
          </a:p>
          <a:p>
            <a:r>
              <a:rPr lang="en-GB" b="1" dirty="0"/>
              <a:t>Learning Outcomes (LOs)</a:t>
            </a:r>
          </a:p>
          <a:p>
            <a:r>
              <a:rPr lang="en-GB" b="1" dirty="0"/>
              <a:t>LO1</a:t>
            </a:r>
            <a:r>
              <a:rPr lang="en-GB" dirty="0"/>
              <a:t>: </a:t>
            </a:r>
            <a:r>
              <a:rPr lang="en-US" b="1" dirty="0"/>
              <a:t>Explain</a:t>
            </a:r>
            <a:r>
              <a:rPr lang="en-US" dirty="0"/>
              <a:t> the different distribution models (single server, </a:t>
            </a:r>
            <a:r>
              <a:rPr lang="en-US" dirty="0" err="1"/>
              <a:t>sharding</a:t>
            </a:r>
            <a:r>
              <a:rPr lang="en-US" dirty="0"/>
              <a:t>, replication techniques) </a:t>
            </a:r>
            <a:endParaRPr lang="en-GB" dirty="0"/>
          </a:p>
          <a:p>
            <a:r>
              <a:rPr lang="en-GB" b="1" dirty="0"/>
              <a:t>LO2</a:t>
            </a:r>
            <a:r>
              <a:rPr lang="en-GB" dirty="0"/>
              <a:t>: </a:t>
            </a:r>
            <a:r>
              <a:rPr lang="en-US" b="1" dirty="0"/>
              <a:t>Differentiate</a:t>
            </a:r>
            <a:r>
              <a:rPr lang="en-US" dirty="0"/>
              <a:t> between update consistency, read consistency, and relaxed consistency models, and </a:t>
            </a:r>
            <a:r>
              <a:rPr lang="en-US" b="1" dirty="0"/>
              <a:t>analyze</a:t>
            </a:r>
            <a:r>
              <a:rPr lang="en-US" dirty="0"/>
              <a:t> how the CAP theorem influences distributed database design. </a:t>
            </a:r>
            <a:endParaRPr lang="en-US" dirty="0" smtClean="0"/>
          </a:p>
          <a:p>
            <a:r>
              <a:rPr lang="en-GB" b="1" dirty="0" smtClean="0"/>
              <a:t>LO3</a:t>
            </a:r>
            <a:r>
              <a:rPr lang="en-GB" b="1" dirty="0"/>
              <a:t>: </a:t>
            </a:r>
            <a:r>
              <a:rPr lang="en-US" b="1" dirty="0"/>
              <a:t>Apply</a:t>
            </a:r>
            <a:r>
              <a:rPr lang="en-US" dirty="0"/>
              <a:t> concepts of durability relaxation, quorum-based approaches, and version stamps to ensure reliability and fault tolerance in distributed data systems. </a:t>
            </a:r>
            <a:endParaRPr lang="en-US" dirty="0" smtClean="0"/>
          </a:p>
          <a:p>
            <a:r>
              <a:rPr lang="en-GB" b="1" dirty="0" smtClean="0"/>
              <a:t>LO4</a:t>
            </a:r>
            <a:r>
              <a:rPr lang="en-GB" b="1" dirty="0"/>
              <a:t>: </a:t>
            </a:r>
            <a:r>
              <a:rPr lang="en-US" b="1" dirty="0"/>
              <a:t>Integrate</a:t>
            </a:r>
            <a:r>
              <a:rPr lang="en-US" dirty="0"/>
              <a:t> business and system transaction requirements with version stamping across multiple nodes to </a:t>
            </a:r>
            <a:r>
              <a:rPr lang="en-US" b="1" dirty="0"/>
              <a:t>design</a:t>
            </a:r>
            <a:r>
              <a:rPr lang="en-US" dirty="0"/>
              <a:t> scalable and consistent distributed architectures.</a:t>
            </a:r>
            <a:endParaRPr lang="en-GB" dirty="0"/>
          </a:p>
          <a:p>
            <a:endParaRPr lang="en-IN" dirty="0"/>
          </a:p>
        </p:txBody>
      </p:sp>
    </p:spTree>
    <p:extLst>
      <p:ext uri="{BB962C8B-B14F-4D97-AF65-F5344CB8AC3E}">
        <p14:creationId xmlns:p14="http://schemas.microsoft.com/office/powerpoint/2010/main" val="17783455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CSE2024 NoSQL Databases</a:t>
            </a:r>
            <a:endParaRPr lang="en-US"/>
          </a:p>
        </p:txBody>
      </p:sp>
      <p:sp>
        <p:nvSpPr>
          <p:cNvPr id="3" name="Slide Number Placeholder 2"/>
          <p:cNvSpPr>
            <a:spLocks noGrp="1"/>
          </p:cNvSpPr>
          <p:nvPr>
            <p:ph type="sldNum" sz="quarter" idx="12"/>
          </p:nvPr>
        </p:nvSpPr>
        <p:spPr/>
        <p:txBody>
          <a:bodyPr/>
          <a:lstStyle/>
          <a:p>
            <a:fld id="{B6F15528-21DE-4FAA-801E-634DDDAF4B2B}" type="slidenum">
              <a:rPr lang="en-US" smtClean="0"/>
              <a:pPr/>
              <a:t>4</a:t>
            </a:fld>
            <a:endParaRPr lang="en-US"/>
          </a:p>
        </p:txBody>
      </p:sp>
      <p:sp>
        <p:nvSpPr>
          <p:cNvPr id="4" name="Rectangle 3"/>
          <p:cNvSpPr/>
          <p:nvPr/>
        </p:nvSpPr>
        <p:spPr>
          <a:xfrm>
            <a:off x="1752600" y="2590800"/>
            <a:ext cx="5943600" cy="1200329"/>
          </a:xfrm>
          <a:prstGeom prst="rect">
            <a:avLst/>
          </a:prstGeom>
        </p:spPr>
        <p:txBody>
          <a:bodyPr wrap="square">
            <a:spAutoFit/>
          </a:bodyPr>
          <a:lstStyle/>
          <a:p>
            <a:r>
              <a:rPr lang="en-US" sz="3600" b="1" dirty="0"/>
              <a:t>Distributed Data Systems and Consistency Models</a:t>
            </a:r>
            <a:endParaRPr lang="en-IN" sz="3600" b="1" dirty="0"/>
          </a:p>
        </p:txBody>
      </p:sp>
    </p:spTree>
    <p:extLst>
      <p:ext uri="{BB962C8B-B14F-4D97-AF65-F5344CB8AC3E}">
        <p14:creationId xmlns:p14="http://schemas.microsoft.com/office/powerpoint/2010/main" val="9169432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323713"/>
          </a:xfrm>
          <a:prstGeom prst="rect">
            <a:avLst/>
          </a:prstGeom>
          <a:noFill/>
        </p:spPr>
        <p:txBody>
          <a:bodyPr wrap="square" rtlCol="0">
            <a:spAutoFit/>
          </a:bodyPr>
          <a:lstStyle/>
          <a:p>
            <a:pPr algn="just"/>
            <a:r>
              <a:rPr lang="en-US" b="1" dirty="0"/>
              <a:t>What is </a:t>
            </a:r>
            <a:r>
              <a:rPr lang="en-US" b="1" dirty="0" smtClean="0"/>
              <a:t>a Distributed System</a:t>
            </a:r>
            <a:r>
              <a:rPr lang="en-US" b="1" dirty="0" smtClean="0"/>
              <a:t>?</a:t>
            </a:r>
          </a:p>
          <a:p>
            <a:pPr algn="just"/>
            <a:endParaRPr lang="en-US" b="1" dirty="0"/>
          </a:p>
          <a:p>
            <a:pPr algn="just"/>
            <a:r>
              <a:rPr lang="en-US" b="1" dirty="0"/>
              <a:t>Distributed Data Systems</a:t>
            </a:r>
            <a:r>
              <a:rPr lang="en-US" dirty="0"/>
              <a:t> – databases and storage systems that manage data across multiple servers or locations</a:t>
            </a:r>
            <a:r>
              <a:rPr lang="en-US" dirty="0" smtClean="0"/>
              <a:t>.</a:t>
            </a:r>
          </a:p>
          <a:p>
            <a:pPr algn="just"/>
            <a:r>
              <a:rPr lang="en-IN" altLang="en-US" dirty="0">
                <a:ea typeface="Aptos" pitchFamily="34" charset="0"/>
                <a:cs typeface="Times New Roman" panose="02020603050405020304" pitchFamily="18" charset="0"/>
              </a:rPr>
              <a:t>Modern 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endParaRPr lang="en-US" sz="2200" b="1" dirty="0"/>
          </a:p>
          <a:p>
            <a:pPr algn="just">
              <a:lnSpc>
                <a:spcPct val="150000"/>
              </a:lnSpc>
            </a:pPr>
            <a:r>
              <a:rPr lang="en-GB" sz="2200" dirty="0"/>
              <a:t> </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
        <p:nvSpPr>
          <p:cNvPr id="7" name="Rectangle 6"/>
          <p:cNvSpPr/>
          <p:nvPr/>
        </p:nvSpPr>
        <p:spPr>
          <a:xfrm>
            <a:off x="1257300" y="2971800"/>
            <a:ext cx="6629400" cy="3139321"/>
          </a:xfrm>
          <a:prstGeom prst="rect">
            <a:avLst/>
          </a:prstGeom>
        </p:spPr>
        <p:txBody>
          <a:bodyPr wrap="square">
            <a:spAutoFit/>
          </a:bodyPr>
          <a:lstStyle/>
          <a:p>
            <a:r>
              <a:rPr lang="en-IN" dirty="0"/>
              <a:t> </a:t>
            </a:r>
            <a:r>
              <a:rPr lang="en-IN" dirty="0" smtClean="0"/>
              <a:t>                           ┌─────────────────┐</a:t>
            </a:r>
            <a:endParaRPr lang="en-IN" dirty="0"/>
          </a:p>
          <a:p>
            <a:r>
              <a:rPr lang="en-IN" dirty="0"/>
              <a:t>               </a:t>
            </a:r>
            <a:r>
              <a:rPr lang="en-IN" dirty="0" smtClean="0"/>
              <a:t>             │             User </a:t>
            </a:r>
            <a:r>
              <a:rPr lang="en-IN" dirty="0"/>
              <a:t>Request  </a:t>
            </a:r>
            <a:r>
              <a:rPr lang="en-IN" dirty="0" smtClean="0"/>
              <a:t>          │</a:t>
            </a:r>
            <a:endParaRPr lang="en-IN" dirty="0"/>
          </a:p>
          <a:p>
            <a:r>
              <a:rPr lang="en-IN" dirty="0"/>
              <a:t>             </a:t>
            </a:r>
            <a:r>
              <a:rPr lang="en-IN" dirty="0" smtClean="0"/>
              <a:t>               └───────┬─────────┘</a:t>
            </a:r>
            <a:endParaRPr lang="en-IN" dirty="0"/>
          </a:p>
          <a:p>
            <a:r>
              <a:rPr lang="en-IN" dirty="0"/>
              <a:t>                        </a:t>
            </a:r>
            <a:r>
              <a:rPr lang="en-IN" dirty="0" smtClean="0"/>
              <a:t>                               │</a:t>
            </a:r>
            <a:endParaRPr lang="en-IN" dirty="0"/>
          </a:p>
          <a:p>
            <a:r>
              <a:rPr lang="en-IN" dirty="0"/>
              <a:t>        ┌───────────────┼────────────────┐</a:t>
            </a:r>
          </a:p>
          <a:p>
            <a:r>
              <a:rPr lang="en-IN" dirty="0"/>
              <a:t>        │            </a:t>
            </a:r>
            <a:r>
              <a:rPr lang="en-IN" dirty="0" smtClean="0"/>
              <a:t>                                </a:t>
            </a:r>
            <a:r>
              <a:rPr lang="en-IN" dirty="0"/>
              <a:t>│              </a:t>
            </a:r>
            <a:r>
              <a:rPr lang="en-IN" dirty="0" smtClean="0"/>
              <a:t>                                 </a:t>
            </a:r>
            <a:r>
              <a:rPr lang="en-IN" dirty="0"/>
              <a:t>│</a:t>
            </a:r>
          </a:p>
          <a:p>
            <a:r>
              <a:rPr lang="en-IN" dirty="0"/>
              <a:t>        ▼              </a:t>
            </a:r>
            <a:r>
              <a:rPr lang="en-IN" dirty="0" smtClean="0"/>
              <a:t>                             </a:t>
            </a:r>
            <a:r>
              <a:rPr lang="en-IN" dirty="0"/>
              <a:t>▼               </a:t>
            </a:r>
            <a:r>
              <a:rPr lang="en-IN" dirty="0" smtClean="0"/>
              <a:t>                               ▼</a:t>
            </a:r>
            <a:endParaRPr lang="en-IN" dirty="0"/>
          </a:p>
          <a:p>
            <a:r>
              <a:rPr lang="en-IN" dirty="0"/>
              <a:t>   ┌───────────┐   ┌───────────┐   ┌───────────┐</a:t>
            </a:r>
          </a:p>
          <a:p>
            <a:r>
              <a:rPr lang="en-IN" dirty="0"/>
              <a:t>   │   Node A  </a:t>
            </a:r>
            <a:r>
              <a:rPr lang="en-IN" dirty="0" smtClean="0"/>
              <a:t>             │    │   </a:t>
            </a:r>
            <a:r>
              <a:rPr lang="en-IN" dirty="0"/>
              <a:t>Node B  </a:t>
            </a:r>
            <a:r>
              <a:rPr lang="en-IN" dirty="0" smtClean="0"/>
              <a:t>             │   │   </a:t>
            </a:r>
            <a:r>
              <a:rPr lang="en-IN" dirty="0"/>
              <a:t>Node C </a:t>
            </a:r>
            <a:r>
              <a:rPr lang="en-IN" dirty="0" smtClean="0"/>
              <a:t>              │</a:t>
            </a:r>
            <a:endParaRPr lang="en-IN" dirty="0"/>
          </a:p>
          <a:p>
            <a:r>
              <a:rPr lang="en-IN" dirty="0"/>
              <a:t>   │ (Shard 1) </a:t>
            </a:r>
            <a:r>
              <a:rPr lang="en-IN" dirty="0" smtClean="0"/>
              <a:t>            │    │ </a:t>
            </a:r>
            <a:r>
              <a:rPr lang="en-IN" dirty="0"/>
              <a:t>(Replica</a:t>
            </a:r>
            <a:r>
              <a:rPr lang="en-IN" dirty="0" smtClean="0"/>
              <a:t>)             </a:t>
            </a:r>
            <a:r>
              <a:rPr lang="en-IN" dirty="0"/>
              <a:t>│  </a:t>
            </a:r>
            <a:r>
              <a:rPr lang="en-IN" dirty="0" smtClean="0"/>
              <a:t> │  (</a:t>
            </a:r>
            <a:r>
              <a:rPr lang="en-IN" dirty="0"/>
              <a:t>Shard 2) </a:t>
            </a:r>
            <a:r>
              <a:rPr lang="en-IN" dirty="0" smtClean="0"/>
              <a:t>           │</a:t>
            </a:r>
            <a:endParaRPr lang="en-IN" dirty="0"/>
          </a:p>
          <a:p>
            <a:r>
              <a:rPr lang="en-IN" dirty="0"/>
              <a:t>   └───────────┘   └───────────┘   └───────────┘</a:t>
            </a:r>
          </a:p>
        </p:txBody>
      </p:sp>
    </p:spTree>
    <p:extLst>
      <p:ext uri="{BB962C8B-B14F-4D97-AF65-F5344CB8AC3E}">
        <p14:creationId xmlns:p14="http://schemas.microsoft.com/office/powerpoint/2010/main" val="338368211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139047"/>
          </a:xfrm>
          <a:prstGeom prst="rect">
            <a:avLst/>
          </a:prstGeom>
          <a:noFill/>
        </p:spPr>
        <p:txBody>
          <a:bodyPr wrap="square" rtlCol="0">
            <a:spAutoFit/>
          </a:bodyPr>
          <a:lstStyle/>
          <a:p>
            <a:pPr algn="just"/>
            <a:r>
              <a:rPr lang="en-US" sz="2200" b="1" dirty="0" smtClean="0"/>
              <a:t>Why distribution is needed?</a:t>
            </a:r>
            <a:endParaRPr lang="en-US" sz="2200" b="1" dirty="0"/>
          </a:p>
          <a:p>
            <a:pPr algn="just"/>
            <a:r>
              <a:rPr lang="en-IN" altLang="en-US" dirty="0" smtClean="0">
                <a:ea typeface="Aptos" pitchFamily="34" charset="0"/>
                <a:cs typeface="Times New Roman" panose="02020603050405020304" pitchFamily="18" charset="0"/>
              </a:rPr>
              <a:t>Modern </a:t>
            </a:r>
            <a:r>
              <a:rPr lang="en-IN" altLang="en-US" dirty="0">
                <a:ea typeface="Aptos" pitchFamily="34" charset="0"/>
                <a:cs typeface="Times New Roman" panose="02020603050405020304" pitchFamily="18" charset="0"/>
              </a:rPr>
              <a:t>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r>
              <a:rPr lang="en-US" altLang="en-US" sz="2000" dirty="0">
                <a:ea typeface="Aptos" pitchFamily="34" charset="0"/>
                <a:cs typeface="Times New Roman" panose="02020603050405020304" pitchFamily="18" charset="0"/>
              </a:rPr>
              <a:t>Single Server can’t handle this data.</a:t>
            </a:r>
          </a:p>
          <a:p>
            <a:pPr algn="just"/>
            <a:r>
              <a:rPr lang="en-IN" altLang="en-US" sz="2000" dirty="0">
                <a:ea typeface="Aptos" pitchFamily="34" charset="0"/>
                <a:cs typeface="Times New Roman" panose="02020603050405020304" pitchFamily="18" charset="0"/>
              </a:rPr>
              <a:t>NoSQL databases (MongoDB, Cassandra, </a:t>
            </a:r>
            <a:r>
              <a:rPr lang="en-IN" altLang="en-US" sz="2000" dirty="0" err="1">
                <a:ea typeface="Aptos" pitchFamily="34" charset="0"/>
                <a:cs typeface="Times New Roman" panose="02020603050405020304" pitchFamily="18" charset="0"/>
              </a:rPr>
              <a:t>Couchbase</a:t>
            </a:r>
            <a:r>
              <a:rPr lang="en-IN" altLang="en-US" sz="2000" dirty="0">
                <a:ea typeface="Aptos" pitchFamily="34" charset="0"/>
                <a:cs typeface="Times New Roman" panose="02020603050405020304" pitchFamily="18" charset="0"/>
              </a:rPr>
              <a:t>, </a:t>
            </a:r>
            <a:r>
              <a:rPr lang="en-IN" altLang="en-US" sz="2000" dirty="0" err="1">
                <a:ea typeface="Aptos" pitchFamily="34" charset="0"/>
                <a:cs typeface="Times New Roman" panose="02020603050405020304" pitchFamily="18" charset="0"/>
              </a:rPr>
              <a:t>DynamoDB</a:t>
            </a:r>
            <a:r>
              <a:rPr lang="en-IN" altLang="en-US" sz="2000" dirty="0">
                <a:ea typeface="Aptos" pitchFamily="34" charset="0"/>
                <a:cs typeface="Times New Roman" panose="02020603050405020304" pitchFamily="18" charset="0"/>
              </a:rPr>
              <a:t>, etc.) are often distributed for scalability and fault tolerance</a:t>
            </a:r>
            <a:r>
              <a:rPr lang="en-IN" altLang="en-US" dirty="0">
                <a:ea typeface="Aptos" pitchFamily="34" charset="0"/>
                <a:cs typeface="Times New Roman" panose="02020603050405020304" pitchFamily="18" charset="0"/>
              </a:rPr>
              <a:t>.</a:t>
            </a: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Tree>
    <p:extLst>
      <p:ext uri="{BB962C8B-B14F-4D97-AF65-F5344CB8AC3E}">
        <p14:creationId xmlns:p14="http://schemas.microsoft.com/office/powerpoint/2010/main" val="168886322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724370"/>
          </a:xfrm>
          <a:prstGeom prst="rect">
            <a:avLst/>
          </a:prstGeom>
          <a:noFill/>
        </p:spPr>
        <p:txBody>
          <a:bodyPr wrap="square" rtlCol="0">
            <a:spAutoFit/>
          </a:bodyPr>
          <a:lstStyle/>
          <a:p>
            <a:pPr marL="457200" indent="-457200" algn="just">
              <a:buAutoNum type="arabicPeriod"/>
            </a:pPr>
            <a:r>
              <a:rPr lang="en-US" sz="2200" b="1" dirty="0" smtClean="0"/>
              <a:t>Data is stored in multiple machines.</a:t>
            </a:r>
          </a:p>
          <a:p>
            <a:pPr marL="342900" indent="-342900" algn="just">
              <a:buAutoNum type="arabicPeriod"/>
            </a:pPr>
            <a:r>
              <a:rPr lang="en-US" altLang="en-US" sz="2200" b="1" dirty="0" smtClean="0">
                <a:ea typeface="Aptos" pitchFamily="34" charset="0"/>
                <a:cs typeface="Times New Roman" panose="02020603050405020304" pitchFamily="18" charset="0"/>
              </a:rPr>
              <a:t>  Nodes communicate over a network</a:t>
            </a:r>
          </a:p>
          <a:p>
            <a:pPr marL="342900" indent="-342900" algn="just">
              <a:buAutoNum type="arabicPeriod"/>
            </a:pPr>
            <a:r>
              <a:rPr lang="en-US" altLang="en-US" sz="2200" b="1" dirty="0">
                <a:ea typeface="Aptos" pitchFamily="34" charset="0"/>
                <a:cs typeface="Times New Roman" panose="02020603050405020304" pitchFamily="18" charset="0"/>
              </a:rPr>
              <a:t> </a:t>
            </a:r>
            <a:r>
              <a:rPr lang="en-US" altLang="en-US" sz="2200" b="1" dirty="0" smtClean="0">
                <a:ea typeface="Aptos" pitchFamily="34" charset="0"/>
                <a:cs typeface="Times New Roman" panose="02020603050405020304" pitchFamily="18" charset="0"/>
              </a:rPr>
              <a:t> Users see it as one logical database</a:t>
            </a:r>
          </a:p>
          <a:p>
            <a:pPr algn="just"/>
            <a:r>
              <a:rPr lang="en-US" altLang="en-US" sz="2200" b="1" dirty="0" smtClean="0">
                <a:ea typeface="Aptos" pitchFamily="34" charset="0"/>
                <a:cs typeface="Times New Roman" panose="02020603050405020304" pitchFamily="18" charset="0"/>
              </a:rPr>
              <a:t>Example:</a:t>
            </a:r>
          </a:p>
          <a:p>
            <a:pPr algn="just"/>
            <a:r>
              <a:rPr lang="en-US" altLang="en-US" b="1" dirty="0" smtClean="0">
                <a:ea typeface="Aptos" pitchFamily="34" charset="0"/>
                <a:cs typeface="Times New Roman" panose="02020603050405020304" pitchFamily="18" charset="0"/>
              </a:rPr>
              <a:t>Facebook</a:t>
            </a:r>
            <a:r>
              <a:rPr lang="en-US" altLang="en-US" dirty="0" smtClean="0">
                <a:ea typeface="Aptos" pitchFamily="34" charset="0"/>
                <a:cs typeface="Times New Roman" panose="02020603050405020304" pitchFamily="18" charset="0"/>
              </a:rPr>
              <a:t> : Your profile data is stored in one server, photos in another, messages in another --- all linked together.</a:t>
            </a:r>
          </a:p>
          <a:p>
            <a:pPr algn="just"/>
            <a:endParaRPr lang="en-US" altLang="en-US" dirty="0">
              <a:ea typeface="Aptos" pitchFamily="34" charset="0"/>
              <a:cs typeface="Times New Roman" panose="02020603050405020304" pitchFamily="18" charset="0"/>
            </a:endParaRPr>
          </a:p>
          <a:p>
            <a:pPr algn="just"/>
            <a:r>
              <a:rPr lang="en-US" altLang="en-US" b="1" dirty="0" smtClean="0">
                <a:ea typeface="Aptos" pitchFamily="34" charset="0"/>
                <a:cs typeface="Times New Roman" panose="02020603050405020304" pitchFamily="18" charset="0"/>
              </a:rPr>
              <a:t>Why NoSQL uses distributed systems ? </a:t>
            </a:r>
          </a:p>
          <a:p>
            <a:pPr algn="just"/>
            <a:endParaRPr lang="en-US" altLang="en-US" b="1" dirty="0" smtClean="0">
              <a:ea typeface="Aptos" pitchFamily="34" charset="0"/>
              <a:cs typeface="Times New Roman" panose="02020603050405020304" pitchFamily="18" charset="0"/>
            </a:endParaRPr>
          </a:p>
          <a:p>
            <a:pPr>
              <a:defRPr/>
            </a:pPr>
            <a:r>
              <a:rPr lang="en-IN" b="1" dirty="0"/>
              <a:t>Scalability</a:t>
            </a:r>
            <a:r>
              <a:rPr lang="en-IN" dirty="0"/>
              <a:t> – Handle billions of records by adding more machines.</a:t>
            </a:r>
          </a:p>
          <a:p>
            <a:pPr>
              <a:defRPr/>
            </a:pPr>
            <a:r>
              <a:rPr lang="en-IN" b="1" dirty="0"/>
              <a:t>Fault Tolerance</a:t>
            </a:r>
            <a:r>
              <a:rPr lang="en-IN" dirty="0"/>
              <a:t> – If one machine fails, others still serve data.</a:t>
            </a:r>
          </a:p>
          <a:p>
            <a:pPr>
              <a:defRPr/>
            </a:pPr>
            <a:r>
              <a:rPr lang="en-IN" b="1" dirty="0"/>
              <a:t>High Availability</a:t>
            </a:r>
            <a:r>
              <a:rPr lang="en-IN" dirty="0"/>
              <a:t> – Users can access data anytime, from anywhere.</a:t>
            </a:r>
          </a:p>
          <a:p>
            <a:pPr>
              <a:defRPr/>
            </a:pPr>
            <a:r>
              <a:rPr lang="en-IN" b="1" dirty="0"/>
              <a:t>Low Latency</a:t>
            </a:r>
            <a:r>
              <a:rPr lang="en-IN" dirty="0"/>
              <a:t> – Data stored close to where it’s used.</a:t>
            </a:r>
          </a:p>
          <a:p>
            <a:pPr algn="just"/>
            <a:endParaRPr lang="en-IN" altLang="en-US" b="1" dirty="0">
              <a:ea typeface="Aptos"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a:t>
            </a:fld>
            <a:endParaRPr lang="en-US"/>
          </a:p>
        </p:txBody>
      </p:sp>
      <p:sp>
        <p:nvSpPr>
          <p:cNvPr id="5" name="TextBox 4"/>
          <p:cNvSpPr txBox="1"/>
          <p:nvPr/>
        </p:nvSpPr>
        <p:spPr>
          <a:xfrm>
            <a:off x="228601" y="381000"/>
            <a:ext cx="2362200" cy="523220"/>
          </a:xfrm>
          <a:prstGeom prst="rect">
            <a:avLst/>
          </a:prstGeom>
          <a:noFill/>
        </p:spPr>
        <p:txBody>
          <a:bodyPr wrap="square" rtlCol="0">
            <a:spAutoFit/>
          </a:bodyPr>
          <a:lstStyle/>
          <a:p>
            <a:pPr algn="ctr"/>
            <a:r>
              <a:rPr lang="en-US" sz="2800" dirty="0" smtClean="0"/>
              <a:t>Key Features</a:t>
            </a:r>
            <a:endParaRPr lang="en-IN" sz="2800" dirty="0"/>
          </a:p>
        </p:txBody>
      </p:sp>
    </p:spTree>
    <p:extLst>
      <p:ext uri="{BB962C8B-B14F-4D97-AF65-F5344CB8AC3E}">
        <p14:creationId xmlns:p14="http://schemas.microsoft.com/office/powerpoint/2010/main" val="5553530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55230"/>
          </a:xfrm>
          <a:prstGeom prst="rect">
            <a:avLst/>
          </a:prstGeom>
          <a:noFill/>
        </p:spPr>
        <p:txBody>
          <a:bodyPr wrap="square" rtlCol="0">
            <a:spAutoFit/>
          </a:bodyPr>
          <a:lstStyle/>
          <a:p>
            <a:pPr marL="457200" indent="-457200" algn="just">
              <a:buAutoNum type="arabicPeriod"/>
            </a:pPr>
            <a:r>
              <a:rPr lang="en-US" sz="2000" b="1" dirty="0" smtClean="0"/>
              <a:t>Data Duplication – Copies of the same data exists on multiple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Network Delays – Updates take time to reach all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Conflicts – What if two users update the same record at the   </a:t>
            </a:r>
          </a:p>
          <a:p>
            <a:pPr algn="just"/>
            <a:r>
              <a:rPr lang="en-US" altLang="en-US" sz="2000" b="1" dirty="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       same time.</a:t>
            </a:r>
          </a:p>
          <a:p>
            <a:pPr marL="457200" indent="-457200" algn="just">
              <a:buAutoNum type="arabicPeriod" startAt="4"/>
            </a:pPr>
            <a:r>
              <a:rPr lang="en-US" altLang="en-US" sz="2000" b="1" dirty="0" smtClean="0">
                <a:ea typeface="Aptos" pitchFamily="34" charset="0"/>
                <a:cs typeface="Times New Roman" panose="02020603050405020304" pitchFamily="18" charset="0"/>
              </a:rPr>
              <a:t>CAP Theorem – </a:t>
            </a:r>
          </a:p>
          <a:p>
            <a:pPr algn="just"/>
            <a:endParaRPr lang="en-US" altLang="en-US" sz="2200" b="1" dirty="0" smtClean="0">
              <a:ea typeface="Aptos" pitchFamily="34" charset="0"/>
              <a:cs typeface="Times New Roman" panose="02020603050405020304" pitchFamily="18" charset="0"/>
            </a:endParaRPr>
          </a:p>
          <a:p>
            <a:pPr algn="just"/>
            <a:r>
              <a:rPr lang="en-IN" b="1" kern="100" dirty="0" smtClean="0">
                <a:ea typeface="Aptos" panose="020B0004020202020204" pitchFamily="34" charset="0"/>
                <a:cs typeface="Times New Roman" panose="02020603050405020304" pitchFamily="18" charset="0"/>
              </a:rPr>
              <a:t>In </a:t>
            </a:r>
            <a:r>
              <a:rPr lang="en-IN" b="1" kern="100" dirty="0">
                <a:ea typeface="Aptos" panose="020B0004020202020204" pitchFamily="34" charset="0"/>
                <a:cs typeface="Times New Roman" panose="02020603050405020304" pitchFamily="18" charset="0"/>
              </a:rPr>
              <a:t>a distributed system, you can only guarantee two of the following at the same time: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Consistency (C)</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Availability (A)</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Partition Tolerance (P</a:t>
            </a:r>
            <a:r>
              <a:rPr lang="en-IN" b="1" kern="100" dirty="0" smtClean="0">
                <a:ea typeface="Aptos" panose="020B0004020202020204" pitchFamily="34" charset="0"/>
                <a:cs typeface="Times New Roman" panose="02020603050405020304" pitchFamily="18" charset="0"/>
              </a:rPr>
              <a:t>)  :  </a:t>
            </a:r>
            <a:r>
              <a:rPr lang="en-US" dirty="0" smtClean="0"/>
              <a:t>The </a:t>
            </a:r>
            <a:r>
              <a:rPr lang="en-US" dirty="0"/>
              <a:t>system will continue to operate and process requests even if a network failure causes a communication breakdown, or "partition," between different nodes or parts of the system</a:t>
            </a:r>
            <a:r>
              <a:rPr lang="en-US" dirty="0"/>
              <a:t>.</a:t>
            </a:r>
            <a:endParaRPr lang="en-IN" b="1" kern="100" dirty="0">
              <a:ea typeface="Aptos" panose="020B0004020202020204"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spTree>
    <p:extLst>
      <p:ext uri="{BB962C8B-B14F-4D97-AF65-F5344CB8AC3E}">
        <p14:creationId xmlns:p14="http://schemas.microsoft.com/office/powerpoint/2010/main" val="26160329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253746"/>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Consistency </a:t>
            </a:r>
            <a:r>
              <a:rPr lang="en-IN" sz="1600" b="1" kern="100" dirty="0">
                <a:ea typeface="Aptos" panose="020B0004020202020204" pitchFamily="34" charset="0"/>
                <a:cs typeface="Times New Roman" panose="02020603050405020304" pitchFamily="18" charset="0"/>
              </a:rPr>
              <a:t>(C</a:t>
            </a:r>
            <a:r>
              <a:rPr lang="en-IN" sz="1600" b="1" kern="100" dirty="0" smtClean="0">
                <a:ea typeface="Aptos" panose="020B0004020202020204" pitchFamily="34" charset="0"/>
                <a:cs typeface="Times New Roman" panose="02020603050405020304" pitchFamily="18" charset="0"/>
              </a:rPr>
              <a:t>) : </a:t>
            </a:r>
            <a:r>
              <a:rPr lang="en-US" sz="1600" dirty="0"/>
              <a:t>Every read gets the </a:t>
            </a:r>
            <a:r>
              <a:rPr lang="en-US" sz="1600" b="1" dirty="0"/>
              <a:t>latest, correct data</a:t>
            </a:r>
            <a:r>
              <a:rPr lang="en-US" sz="1600" dirty="0"/>
              <a:t> (same across all nodes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After you write (update data), </a:t>
            </a:r>
            <a:r>
              <a:rPr lang="en-US" sz="1600" b="1" dirty="0"/>
              <a:t>all nodes</a:t>
            </a:r>
            <a:r>
              <a:rPr lang="en-US" sz="1600" dirty="0"/>
              <a:t> must agree before confirming success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Systems prioritizing </a:t>
            </a:r>
            <a:r>
              <a:rPr lang="en-US" sz="1600" b="1" dirty="0"/>
              <a:t>Consistency</a:t>
            </a:r>
            <a:r>
              <a:rPr lang="en-US" sz="1600" dirty="0"/>
              <a:t> may delay responses but never show wrong balances.</a:t>
            </a:r>
            <a:endParaRPr lang="en-IN" sz="1600" b="1" kern="100" dirty="0">
              <a:ea typeface="Aptos" panose="020B0004020202020204" pitchFamily="34" charset="0"/>
              <a:cs typeface="Times New Roman" panose="02020603050405020304" pitchFamily="18" charset="0"/>
            </a:endParaRPr>
          </a:p>
          <a:p>
            <a:pPr algn="just">
              <a:lnSpc>
                <a:spcPct val="150000"/>
              </a:lnSpc>
            </a:pPr>
            <a:r>
              <a:rPr lang="en-IN" dirty="0"/>
              <a:t>Example</a:t>
            </a:r>
            <a:r>
              <a:rPr lang="en-IN" dirty="0" smtClean="0"/>
              <a:t>:</a:t>
            </a:r>
          </a:p>
          <a:p>
            <a:pPr algn="just">
              <a:lnSpc>
                <a:spcPct val="150000"/>
              </a:lnSpc>
            </a:pPr>
            <a:r>
              <a:rPr lang="en-US" dirty="0"/>
              <a:t>You transfer ₹1000 from Account A to Account B</a:t>
            </a:r>
            <a:r>
              <a:rPr lang="en-US" dirty="0" smtClean="0"/>
              <a:t>.</a:t>
            </a:r>
          </a:p>
          <a:p>
            <a:pPr algn="just">
              <a:lnSpc>
                <a:spcPct val="150000"/>
              </a:lnSpc>
            </a:pPr>
            <a:r>
              <a:rPr lang="en-US" dirty="0"/>
              <a:t>Once confirmed, </a:t>
            </a:r>
            <a:r>
              <a:rPr lang="en-US" b="1" dirty="0"/>
              <a:t>no matter which ATM or branch you check</a:t>
            </a:r>
            <a:r>
              <a:rPr lang="en-US" dirty="0"/>
              <a:t>, your balance is updated immediately</a:t>
            </a:r>
            <a:r>
              <a:rPr lang="en-US" dirty="0" smtClean="0"/>
              <a:t>.</a:t>
            </a:r>
          </a:p>
          <a:p>
            <a:pPr algn="just">
              <a:lnSpc>
                <a:spcPct val="150000"/>
              </a:lnSpc>
            </a:pPr>
            <a:r>
              <a:rPr lang="en-US" dirty="0"/>
              <a:t>Systems prioritizing </a:t>
            </a:r>
            <a:r>
              <a:rPr lang="en-US" b="1" dirty="0"/>
              <a:t>Consistency</a:t>
            </a:r>
            <a:r>
              <a:rPr lang="en-US" dirty="0"/>
              <a:t> may delay responses but never show wrong balances.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105831"/>
            <a:ext cx="3918284" cy="4343400"/>
          </a:xfrm>
          <a:prstGeom prst="rect">
            <a:avLst/>
          </a:prstGeom>
        </p:spPr>
      </p:pic>
    </p:spTree>
    <p:extLst>
      <p:ext uri="{BB962C8B-B14F-4D97-AF65-F5344CB8AC3E}">
        <p14:creationId xmlns:p14="http://schemas.microsoft.com/office/powerpoint/2010/main" val="11447452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6041654"/>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Availability </a:t>
            </a:r>
            <a:r>
              <a:rPr lang="en-IN" sz="1600" b="1" kern="100" dirty="0">
                <a:ea typeface="Aptos" panose="020B0004020202020204" pitchFamily="34" charset="0"/>
                <a:cs typeface="Times New Roman" panose="02020603050405020304" pitchFamily="18" charset="0"/>
              </a:rPr>
              <a:t>(A</a:t>
            </a:r>
            <a:r>
              <a:rPr lang="en-IN" sz="1600" b="1" kern="100" dirty="0" smtClean="0">
                <a:ea typeface="Aptos" panose="020B0004020202020204" pitchFamily="34" charset="0"/>
                <a:cs typeface="Times New Roman" panose="02020603050405020304" pitchFamily="18" charset="0"/>
              </a:rPr>
              <a:t>): </a:t>
            </a:r>
            <a:r>
              <a:rPr lang="en-US" sz="1600" dirty="0"/>
              <a:t>Every request gets a response, even if it may not be the latest</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dirty="0"/>
              <a:t>Each node responds with the data it has, even if it’s slightly outdated</a:t>
            </a:r>
            <a:r>
              <a:rPr lang="en-US"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dirty="0"/>
              <a:t>Fast responses, but sometimes stale or inconsistent data.</a:t>
            </a:r>
            <a:endParaRPr lang="en-IN" b="1" kern="100" dirty="0">
              <a:ea typeface="Aptos" panose="020B0004020202020204" pitchFamily="34" charset="0"/>
              <a:cs typeface="Times New Roman" panose="02020603050405020304" pitchFamily="18" charset="0"/>
            </a:endParaRPr>
          </a:p>
          <a:p>
            <a:pPr algn="just">
              <a:lnSpc>
                <a:spcPct val="150000"/>
              </a:lnSpc>
            </a:pPr>
            <a:r>
              <a:rPr lang="en-IN" sz="1600" dirty="0"/>
              <a:t>Example</a:t>
            </a:r>
            <a:r>
              <a:rPr lang="en-IN" sz="1600" dirty="0" smtClean="0"/>
              <a:t>:</a:t>
            </a:r>
          </a:p>
          <a:p>
            <a:pPr algn="just">
              <a:lnSpc>
                <a:spcPct val="150000"/>
              </a:lnSpc>
            </a:pPr>
            <a:r>
              <a:rPr lang="en-US" sz="1600" dirty="0"/>
              <a:t>In an </a:t>
            </a:r>
            <a:r>
              <a:rPr lang="en-US" sz="1600" b="1" dirty="0"/>
              <a:t>e-commerce site</a:t>
            </a:r>
            <a:r>
              <a:rPr lang="en-US" sz="1600" dirty="0"/>
              <a:t>, two users try to buy the last item</a:t>
            </a:r>
            <a:r>
              <a:rPr lang="en-US" sz="1600" dirty="0" smtClean="0"/>
              <a:t>.</a:t>
            </a:r>
          </a:p>
          <a:p>
            <a:pPr algn="just">
              <a:lnSpc>
                <a:spcPct val="150000"/>
              </a:lnSpc>
            </a:pPr>
            <a:r>
              <a:rPr lang="en-US" sz="1600" dirty="0"/>
              <a:t>System </a:t>
            </a:r>
            <a:r>
              <a:rPr lang="en-US" sz="1600" b="1" dirty="0"/>
              <a:t>allows both to purchase</a:t>
            </a:r>
            <a:r>
              <a:rPr lang="en-US" sz="1600" dirty="0"/>
              <a:t> (both get a response), but inventory may show negative temporarily</a:t>
            </a:r>
            <a:r>
              <a:rPr lang="en-US" sz="1600" dirty="0" smtClean="0"/>
              <a:t>.</a:t>
            </a:r>
          </a:p>
          <a:p>
            <a:pPr algn="just">
              <a:lnSpc>
                <a:spcPct val="150000"/>
              </a:lnSpc>
            </a:pPr>
            <a:r>
              <a:rPr lang="en-US" sz="1600" dirty="0"/>
              <a:t>Prioritizes </a:t>
            </a:r>
            <a:r>
              <a:rPr lang="en-US" sz="1600" b="1" dirty="0"/>
              <a:t>Availability</a:t>
            </a:r>
            <a:r>
              <a:rPr lang="en-US" sz="1600" dirty="0"/>
              <a:t> over strict correctness.</a:t>
            </a:r>
            <a:endParaRPr lang="en-US" sz="1600" dirty="0" smtClean="0"/>
          </a:p>
          <a:p>
            <a:pPr algn="just">
              <a:lnSpc>
                <a:spcPct val="150000"/>
              </a:lnSpc>
            </a:pP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10572498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6291979"/>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Partition Tolerance (P): </a:t>
            </a:r>
            <a:r>
              <a:rPr lang="en-US" sz="1600" dirty="0"/>
              <a:t>The system continues to work even if </a:t>
            </a:r>
            <a:r>
              <a:rPr lang="en-US" sz="1600" b="1" dirty="0"/>
              <a:t>network breaks</a:t>
            </a:r>
            <a:r>
              <a:rPr lang="en-US" sz="1600" dirty="0"/>
              <a:t> and nodes can’t communicate</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b="1" dirty="0" smtClean="0"/>
              <a:t>Partition</a:t>
            </a:r>
            <a:r>
              <a:rPr lang="en-US" sz="1600" dirty="0" smtClean="0"/>
              <a:t>: Part of a distributed System.</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The cluster splits into “partitions” and each part keeps working independently</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You must choose between </a:t>
            </a:r>
            <a:r>
              <a:rPr lang="en-US" sz="1600" b="1" dirty="0"/>
              <a:t>Consistency</a:t>
            </a:r>
            <a:r>
              <a:rPr lang="en-US" sz="1600" dirty="0"/>
              <a:t> or </a:t>
            </a:r>
            <a:r>
              <a:rPr lang="en-US" sz="1600" b="1" dirty="0"/>
              <a:t>Availability</a:t>
            </a:r>
            <a:r>
              <a:rPr lang="en-US" sz="1600" dirty="0"/>
              <a:t> during the partition.</a:t>
            </a:r>
            <a:endParaRPr lang="en-US" sz="1600" dirty="0" smtClean="0"/>
          </a:p>
          <a:p>
            <a:pPr algn="just">
              <a:lnSpc>
                <a:spcPct val="150000"/>
              </a:lnSpc>
            </a:pPr>
            <a:r>
              <a:rPr lang="en-IN" sz="1600" dirty="0" smtClean="0"/>
              <a:t>Example:</a:t>
            </a:r>
          </a:p>
          <a:p>
            <a:pPr algn="just">
              <a:lnSpc>
                <a:spcPct val="150000"/>
              </a:lnSpc>
            </a:pPr>
            <a:r>
              <a:rPr lang="en-US" sz="1600" dirty="0"/>
              <a:t>A </a:t>
            </a:r>
            <a:r>
              <a:rPr lang="en-US" sz="1600" b="1" dirty="0"/>
              <a:t>global social network</a:t>
            </a:r>
            <a:r>
              <a:rPr lang="en-US" sz="1600" dirty="0"/>
              <a:t> (like Facebook) with servers in India and the US</a:t>
            </a:r>
            <a:r>
              <a:rPr lang="en-US" sz="1600" dirty="0" smtClean="0"/>
              <a:t>.</a:t>
            </a:r>
          </a:p>
          <a:p>
            <a:pPr algn="just">
              <a:lnSpc>
                <a:spcPct val="150000"/>
              </a:lnSpc>
            </a:pPr>
            <a:r>
              <a:rPr lang="en-US" sz="1600" dirty="0"/>
              <a:t>If the link between them breaks, users in India can still post, and users in the US can still post — but they won’t see each other’s updates until the partition is fixed.</a:t>
            </a: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34117776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2600712"/>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algn="just">
              <a:lnSpc>
                <a:spcPct val="150000"/>
              </a:lnSpc>
            </a:pPr>
            <a:r>
              <a:rPr lang="en-US" sz="1600" dirty="0"/>
              <a:t>Each distributed system can </a:t>
            </a:r>
            <a:r>
              <a:rPr lang="en-US" sz="1600" b="1" dirty="0"/>
              <a:t>choose only two guarantees</a:t>
            </a:r>
            <a:r>
              <a:rPr lang="en-US" sz="1600" dirty="0" smtClean="0"/>
              <a:t>:</a:t>
            </a:r>
          </a:p>
          <a:p>
            <a:pPr marL="342900" indent="-342900" algn="just">
              <a:lnSpc>
                <a:spcPct val="150000"/>
              </a:lnSpc>
              <a:buAutoNum type="arabicPeriod"/>
            </a:pPr>
            <a:r>
              <a:rPr lang="en-US" sz="1600" b="1" dirty="0" smtClean="0"/>
              <a:t>CA</a:t>
            </a:r>
            <a:r>
              <a:rPr lang="en-US" sz="1600" dirty="0" smtClean="0"/>
              <a:t> </a:t>
            </a:r>
            <a:r>
              <a:rPr lang="en-US" sz="1600" dirty="0"/>
              <a:t>→ Consistency + Availability (possible only in single-node or non-partitioned systems</a:t>
            </a:r>
            <a:r>
              <a:rPr lang="en-US" sz="1600" dirty="0" smtClean="0"/>
              <a:t>).</a:t>
            </a:r>
          </a:p>
          <a:p>
            <a:pPr marL="342900" indent="-342900" algn="just">
              <a:lnSpc>
                <a:spcPct val="150000"/>
              </a:lnSpc>
              <a:buAutoNum type="arabicPeriod"/>
            </a:pPr>
            <a:r>
              <a:rPr lang="en-IN" sz="1600" b="1" dirty="0"/>
              <a:t>CP</a:t>
            </a:r>
            <a:r>
              <a:rPr lang="en-IN" sz="1600" dirty="0"/>
              <a:t> → Consistency + Partition tolerance</a:t>
            </a:r>
            <a:r>
              <a:rPr lang="en-IN" sz="1600" dirty="0" smtClean="0"/>
              <a:t>.</a:t>
            </a:r>
          </a:p>
          <a:p>
            <a:pPr marL="342900" indent="-342900" algn="just">
              <a:lnSpc>
                <a:spcPct val="150000"/>
              </a:lnSpc>
              <a:buAutoNum type="arabicPeriod"/>
            </a:pPr>
            <a:r>
              <a:rPr lang="en-IN" sz="1600" b="1" dirty="0"/>
              <a:t>AP</a:t>
            </a:r>
            <a:r>
              <a:rPr lang="en-IN" sz="1600" dirty="0"/>
              <a:t> → Availability + Partition tolerance.</a:t>
            </a:r>
            <a:endParaRPr lang="en-GB" sz="16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12</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84332945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dirty="0" smtClean="0"/>
              <a:t>1. </a:t>
            </a:r>
            <a:r>
              <a:rPr lang="en-US" b="1" dirty="0" smtClean="0"/>
              <a:t>Single Server (centralized): </a:t>
            </a:r>
          </a:p>
          <a:p>
            <a:pPr algn="just"/>
            <a:r>
              <a:rPr lang="en-US" dirty="0"/>
              <a:t>All data is stored in a single server. Clients directly connect to this one server</a:t>
            </a:r>
            <a:r>
              <a:rPr lang="en-US" dirty="0" smtClean="0"/>
              <a:t>.</a:t>
            </a:r>
          </a:p>
          <a:p>
            <a:pPr algn="just"/>
            <a:r>
              <a:rPr lang="en-US" b="1" dirty="0"/>
              <a:t>Advantages:</a:t>
            </a:r>
            <a:endParaRPr lang="en-US" dirty="0"/>
          </a:p>
          <a:p>
            <a:pPr algn="just"/>
            <a:r>
              <a:rPr lang="en-US" dirty="0"/>
              <a:t>Simple to design and manage.</a:t>
            </a:r>
          </a:p>
          <a:p>
            <a:pPr algn="just"/>
            <a:r>
              <a:rPr lang="en-US" dirty="0"/>
              <a:t>Strong consistency (only one copy of data).</a:t>
            </a:r>
          </a:p>
          <a:p>
            <a:pPr algn="just"/>
            <a:r>
              <a:rPr lang="en-US" b="1" dirty="0"/>
              <a:t>Limitations:</a:t>
            </a:r>
            <a:endParaRPr lang="en-US" dirty="0"/>
          </a:p>
          <a:p>
            <a:pPr algn="just"/>
            <a:r>
              <a:rPr lang="en-US" dirty="0"/>
              <a:t>Not scalable for large datasets or high traffic.</a:t>
            </a:r>
          </a:p>
          <a:p>
            <a:pPr algn="just"/>
            <a:r>
              <a:rPr lang="en-US" dirty="0"/>
              <a:t>Single point of failure (if the server goes down, the system is unavailable).</a:t>
            </a:r>
          </a:p>
          <a:p>
            <a:pPr algn="just"/>
            <a:r>
              <a:rPr lang="en-US" b="1" dirty="0" smtClean="0"/>
              <a:t>Example</a:t>
            </a:r>
            <a:r>
              <a:rPr lang="en-US" b="1" dirty="0"/>
              <a:t>:</a:t>
            </a:r>
            <a:r>
              <a:rPr lang="en-US" dirty="0"/>
              <a:t> Small websites or applications with limited users.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13</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10479896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dirty="0"/>
              <a:t>2</a:t>
            </a:r>
            <a:r>
              <a:rPr lang="en-US" dirty="0" smtClean="0"/>
              <a:t>. </a:t>
            </a:r>
            <a:r>
              <a:rPr lang="en-IN" b="1" dirty="0" err="1"/>
              <a:t>Sharding</a:t>
            </a:r>
            <a:r>
              <a:rPr lang="en-IN" b="1" dirty="0"/>
              <a:t> (Horizontal Partitioning</a:t>
            </a:r>
            <a:r>
              <a:rPr lang="en-IN" b="1" dirty="0" smtClean="0"/>
              <a:t>):</a:t>
            </a:r>
            <a:endParaRPr lang="en-US" b="1" dirty="0" smtClean="0"/>
          </a:p>
          <a:p>
            <a:pPr algn="just"/>
            <a:r>
              <a:rPr lang="en-US" dirty="0"/>
              <a:t>The dataset is split into </a:t>
            </a:r>
            <a:r>
              <a:rPr lang="en-US" b="1" dirty="0"/>
              <a:t>partitions (shards)</a:t>
            </a:r>
            <a:r>
              <a:rPr lang="en-US" dirty="0"/>
              <a:t>, and each shard is stored on a different </a:t>
            </a:r>
            <a:r>
              <a:rPr lang="en-US" dirty="0" smtClean="0"/>
              <a:t>server.</a:t>
            </a:r>
          </a:p>
          <a:p>
            <a:pPr algn="just"/>
            <a:r>
              <a:rPr lang="en-US" b="1" dirty="0"/>
              <a:t>Advantages:</a:t>
            </a:r>
            <a:endParaRPr lang="en-US" dirty="0"/>
          </a:p>
          <a:p>
            <a:pPr algn="just"/>
            <a:r>
              <a:rPr lang="en-US" dirty="0"/>
              <a:t>Improves scalability (data spread across multiple machines</a:t>
            </a:r>
            <a:r>
              <a:rPr lang="en-US" dirty="0" smtClean="0"/>
              <a:t>).</a:t>
            </a:r>
            <a:endParaRPr lang="en-US" dirty="0"/>
          </a:p>
          <a:p>
            <a:pPr algn="just"/>
            <a:r>
              <a:rPr lang="en-US" dirty="0"/>
              <a:t>Balances load by distributing queries</a:t>
            </a:r>
            <a:r>
              <a:rPr lang="en-US" dirty="0" smtClean="0"/>
              <a:t>.</a:t>
            </a:r>
            <a:endParaRPr lang="en-US" dirty="0"/>
          </a:p>
          <a:p>
            <a:pPr algn="just"/>
            <a:r>
              <a:rPr lang="en-US" b="1" dirty="0"/>
              <a:t>Limitations:</a:t>
            </a:r>
            <a:endParaRPr lang="en-US" dirty="0"/>
          </a:p>
          <a:p>
            <a:pPr algn="just"/>
            <a:r>
              <a:rPr lang="en-US" dirty="0"/>
              <a:t>Complex to manage queries (must know which shard has the data</a:t>
            </a:r>
            <a:r>
              <a:rPr lang="en-US" dirty="0" smtClean="0"/>
              <a:t>).</a:t>
            </a:r>
            <a:endParaRPr lang="en-US" dirty="0"/>
          </a:p>
          <a:p>
            <a:pPr algn="just"/>
            <a:r>
              <a:rPr lang="en-US" dirty="0"/>
              <a:t>Rebalancing is required if shards grow unevenly</a:t>
            </a:r>
            <a:r>
              <a:rPr lang="en-US" dirty="0" smtClean="0"/>
              <a:t>.</a:t>
            </a:r>
          </a:p>
          <a:p>
            <a:pPr algn="just"/>
            <a:r>
              <a:rPr lang="en-US" b="1" dirty="0" smtClean="0"/>
              <a:t>Example</a:t>
            </a:r>
            <a:r>
              <a:rPr lang="en-US" b="1" dirty="0"/>
              <a:t>:</a:t>
            </a:r>
            <a:r>
              <a:rPr lang="en-US" dirty="0"/>
              <a:t> </a:t>
            </a:r>
            <a:r>
              <a:rPr lang="en-IN" dirty="0"/>
              <a:t>MongoDB, Cassandra use </a:t>
            </a:r>
            <a:r>
              <a:rPr lang="en-IN" dirty="0" err="1"/>
              <a:t>sharding</a:t>
            </a:r>
            <a:r>
              <a:rPr lang="en-IN" dirty="0"/>
              <a:t> for handling massive datasets.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14</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81215339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970318"/>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r>
              <a:rPr lang="en-US" dirty="0"/>
              <a:t>One server acts as the </a:t>
            </a:r>
            <a:r>
              <a:rPr lang="en-US" b="1" dirty="0"/>
              <a:t>Master</a:t>
            </a:r>
            <a:r>
              <a:rPr lang="en-US" dirty="0"/>
              <a:t> (handles writes) and multiple </a:t>
            </a:r>
            <a:r>
              <a:rPr lang="en-US" b="1" dirty="0"/>
              <a:t>Slaves</a:t>
            </a:r>
            <a:r>
              <a:rPr lang="en-US" dirty="0"/>
              <a:t> replicate the data (handle reads</a:t>
            </a:r>
            <a:r>
              <a:rPr lang="en-US" dirty="0" smtClean="0"/>
              <a:t>).</a:t>
            </a:r>
          </a:p>
          <a:p>
            <a:pPr algn="just"/>
            <a:r>
              <a:rPr lang="en-US" b="1" dirty="0" smtClean="0"/>
              <a:t>Advantages</a:t>
            </a:r>
            <a:r>
              <a:rPr lang="en-US" b="1" dirty="0"/>
              <a:t>:</a:t>
            </a:r>
            <a:endParaRPr lang="en-US" dirty="0"/>
          </a:p>
          <a:p>
            <a:pPr algn="just"/>
            <a:r>
              <a:rPr lang="en-US" dirty="0"/>
              <a:t>Increases read performance (slaves serve read queries</a:t>
            </a:r>
            <a:r>
              <a:rPr lang="en-US" dirty="0" smtClean="0"/>
              <a:t>).</a:t>
            </a:r>
          </a:p>
          <a:p>
            <a:pPr algn="just"/>
            <a:r>
              <a:rPr lang="en-IN" dirty="0"/>
              <a:t>Provides redundancy and backup</a:t>
            </a:r>
            <a:r>
              <a:rPr lang="en-IN" dirty="0" smtClean="0"/>
              <a:t>.</a:t>
            </a:r>
          </a:p>
          <a:p>
            <a:pPr algn="just"/>
            <a:r>
              <a:rPr lang="en-US" b="1" dirty="0" smtClean="0"/>
              <a:t>Limitations</a:t>
            </a:r>
            <a:r>
              <a:rPr lang="en-US" b="1" dirty="0"/>
              <a:t>:</a:t>
            </a:r>
            <a:endParaRPr lang="en-US" dirty="0"/>
          </a:p>
          <a:p>
            <a:pPr algn="just"/>
            <a:r>
              <a:rPr lang="en-US" dirty="0"/>
              <a:t>Master is a single point of failure</a:t>
            </a:r>
            <a:r>
              <a:rPr lang="en-US" dirty="0" smtClean="0"/>
              <a:t>.</a:t>
            </a:r>
          </a:p>
          <a:p>
            <a:pPr algn="just"/>
            <a:r>
              <a:rPr lang="en-US" dirty="0"/>
              <a:t>Data is eventually consistent between master and slaves (slight delay</a:t>
            </a:r>
            <a:r>
              <a:rPr lang="en-US" dirty="0" smtClean="0"/>
              <a:t>).</a:t>
            </a:r>
          </a:p>
          <a:p>
            <a:pPr algn="just"/>
            <a:r>
              <a:rPr lang="en-US" b="1" dirty="0" smtClean="0"/>
              <a:t>Example</a:t>
            </a:r>
            <a:r>
              <a:rPr lang="en-US" b="1" dirty="0"/>
              <a:t>:</a:t>
            </a:r>
            <a:r>
              <a:rPr lang="en-US" dirty="0"/>
              <a:t> </a:t>
            </a:r>
            <a:r>
              <a:rPr lang="fr-FR" dirty="0"/>
              <a:t>MySQL </a:t>
            </a:r>
            <a:r>
              <a:rPr lang="fr-FR" dirty="0" err="1"/>
              <a:t>replication</a:t>
            </a:r>
            <a:r>
              <a:rPr lang="fr-FR" dirty="0"/>
              <a:t>, PostgreSQL </a:t>
            </a:r>
            <a:r>
              <a:rPr lang="fr-FR" dirty="0" err="1"/>
              <a:t>replication</a:t>
            </a:r>
            <a:r>
              <a:rPr lang="fr-FR" dirty="0"/>
              <a:t>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15</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68885872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416320"/>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r>
              <a:rPr lang="en-US" dirty="0"/>
              <a:t>Every node acts as both a </a:t>
            </a:r>
            <a:r>
              <a:rPr lang="en-US" b="1" dirty="0"/>
              <a:t>reader and writer</a:t>
            </a:r>
            <a:r>
              <a:rPr lang="en-US" dirty="0"/>
              <a:t>. Updates are propagated among peers</a:t>
            </a:r>
            <a:r>
              <a:rPr lang="en-US" dirty="0" smtClean="0"/>
              <a:t>.</a:t>
            </a:r>
          </a:p>
          <a:p>
            <a:pPr algn="just"/>
            <a:r>
              <a:rPr lang="en-US" b="1" dirty="0" smtClean="0"/>
              <a:t>Advantages</a:t>
            </a:r>
            <a:r>
              <a:rPr lang="en-US" b="1" dirty="0"/>
              <a:t>:</a:t>
            </a:r>
            <a:endParaRPr lang="en-US" dirty="0"/>
          </a:p>
          <a:p>
            <a:pPr algn="just"/>
            <a:r>
              <a:rPr lang="en-US" dirty="0"/>
              <a:t>No single point of failure</a:t>
            </a:r>
            <a:r>
              <a:rPr lang="en-US" dirty="0" smtClean="0"/>
              <a:t>.</a:t>
            </a:r>
          </a:p>
          <a:p>
            <a:pPr algn="just"/>
            <a:r>
              <a:rPr lang="en-US" dirty="0"/>
              <a:t>Good fault tolerance and scalability</a:t>
            </a:r>
            <a:r>
              <a:rPr lang="en-US" dirty="0" smtClean="0"/>
              <a:t>.</a:t>
            </a:r>
          </a:p>
          <a:p>
            <a:pPr algn="just"/>
            <a:r>
              <a:rPr lang="en-US" b="1" dirty="0" smtClean="0"/>
              <a:t>Limitations</a:t>
            </a:r>
            <a:r>
              <a:rPr lang="en-US" b="1" dirty="0"/>
              <a:t>:</a:t>
            </a:r>
            <a:endParaRPr lang="en-US" dirty="0"/>
          </a:p>
          <a:p>
            <a:pPr algn="just"/>
            <a:r>
              <a:rPr lang="en-US" dirty="0"/>
              <a:t>Conflict resolution is complex (two peers may update the same record differently</a:t>
            </a:r>
            <a:r>
              <a:rPr lang="en-US" dirty="0" smtClean="0"/>
              <a:t>).</a:t>
            </a:r>
          </a:p>
          <a:p>
            <a:pPr algn="just"/>
            <a:r>
              <a:rPr lang="en-US" b="1" dirty="0" smtClean="0"/>
              <a:t>Example</a:t>
            </a:r>
            <a:r>
              <a:rPr lang="en-US" b="1" dirty="0"/>
              <a:t>:</a:t>
            </a:r>
            <a:r>
              <a:rPr lang="en-US" dirty="0"/>
              <a:t> </a:t>
            </a:r>
            <a:r>
              <a:rPr lang="en-IN" dirty="0" err="1"/>
              <a:t>CouchDB</a:t>
            </a:r>
            <a:r>
              <a:rPr lang="en-IN" dirty="0"/>
              <a:t>, </a:t>
            </a:r>
            <a:r>
              <a:rPr lang="en-IN" dirty="0" err="1"/>
              <a:t>DynamoDB</a:t>
            </a:r>
            <a:r>
              <a:rPr lang="en-IN" dirty="0"/>
              <a:t>, Cassandra (multi-master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16</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80801808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693319"/>
          </a:xfrm>
          <a:prstGeom prst="rect">
            <a:avLst/>
          </a:prstGeom>
          <a:noFill/>
        </p:spPr>
        <p:txBody>
          <a:bodyPr wrap="square" rtlCol="0">
            <a:spAutoFit/>
          </a:bodyPr>
          <a:lstStyle/>
          <a:p>
            <a:pPr algn="just"/>
            <a:r>
              <a:rPr lang="en-US" dirty="0" smtClean="0"/>
              <a:t>5. </a:t>
            </a:r>
            <a:r>
              <a:rPr lang="en-IN" b="1" dirty="0" smtClean="0"/>
              <a:t>Combining </a:t>
            </a:r>
            <a:r>
              <a:rPr lang="en-IN" b="1" dirty="0" err="1" smtClean="0"/>
              <a:t>Sharding</a:t>
            </a:r>
            <a:r>
              <a:rPr lang="en-IN" b="1" dirty="0" smtClean="0"/>
              <a:t> + Replication:</a:t>
            </a:r>
            <a:endParaRPr lang="en-US" b="1" dirty="0" smtClean="0"/>
          </a:p>
          <a:p>
            <a:pPr algn="just"/>
            <a:r>
              <a:rPr lang="en-US" dirty="0"/>
              <a:t>Each shard (partition) is </a:t>
            </a:r>
            <a:r>
              <a:rPr lang="en-US" b="1" dirty="0"/>
              <a:t>replicated</a:t>
            </a:r>
            <a:r>
              <a:rPr lang="en-US" dirty="0"/>
              <a:t> across multiple nodes</a:t>
            </a:r>
            <a:r>
              <a:rPr lang="en-US" dirty="0" smtClean="0"/>
              <a:t>.</a:t>
            </a:r>
          </a:p>
          <a:p>
            <a:pPr algn="just"/>
            <a:r>
              <a:rPr lang="en-US" b="1" dirty="0" smtClean="0"/>
              <a:t>Advantages</a:t>
            </a:r>
            <a:r>
              <a:rPr lang="en-US" b="1" dirty="0"/>
              <a:t>:</a:t>
            </a:r>
            <a:endParaRPr lang="en-US" dirty="0"/>
          </a:p>
          <a:p>
            <a:pPr algn="just"/>
            <a:r>
              <a:rPr lang="en-IN" dirty="0"/>
              <a:t>Scalability (due to </a:t>
            </a:r>
            <a:r>
              <a:rPr lang="en-IN" dirty="0" err="1"/>
              <a:t>sharding</a:t>
            </a:r>
            <a:r>
              <a:rPr lang="en-IN" dirty="0" smtClean="0"/>
              <a:t>).</a:t>
            </a:r>
          </a:p>
          <a:p>
            <a:pPr algn="just"/>
            <a:r>
              <a:rPr lang="en-US" dirty="0"/>
              <a:t>Fault tolerance &amp; high availability (due to replication</a:t>
            </a:r>
            <a:r>
              <a:rPr lang="en-US" dirty="0" smtClean="0"/>
              <a:t>).</a:t>
            </a:r>
          </a:p>
          <a:p>
            <a:pPr algn="just"/>
            <a:r>
              <a:rPr lang="en-US" b="1" dirty="0" smtClean="0"/>
              <a:t>Limitations</a:t>
            </a:r>
            <a:r>
              <a:rPr lang="en-US" b="1" dirty="0"/>
              <a:t>:</a:t>
            </a:r>
            <a:endParaRPr lang="en-US" dirty="0"/>
          </a:p>
          <a:p>
            <a:pPr algn="just"/>
            <a:r>
              <a:rPr lang="en-US" dirty="0"/>
              <a:t>Higher complexity in system design</a:t>
            </a:r>
            <a:r>
              <a:rPr lang="en-US" dirty="0" smtClean="0"/>
              <a:t>.</a:t>
            </a:r>
          </a:p>
          <a:p>
            <a:pPr algn="just"/>
            <a:r>
              <a:rPr lang="en-US" dirty="0"/>
              <a:t>Requires sophisticated coordination between shards and replicas</a:t>
            </a:r>
            <a:r>
              <a:rPr lang="en-US" dirty="0" smtClean="0"/>
              <a:t>.</a:t>
            </a:r>
          </a:p>
          <a:p>
            <a:pPr algn="just"/>
            <a:r>
              <a:rPr lang="en-US" b="1" dirty="0" smtClean="0"/>
              <a:t>Example</a:t>
            </a:r>
            <a:r>
              <a:rPr lang="en-US" b="1" dirty="0"/>
              <a:t>:</a:t>
            </a:r>
            <a:r>
              <a:rPr lang="en-US" dirty="0"/>
              <a:t> </a:t>
            </a:r>
            <a:r>
              <a:rPr lang="en-IN" dirty="0"/>
              <a:t>Google Spanner, </a:t>
            </a:r>
            <a:r>
              <a:rPr lang="en-IN" dirty="0" err="1"/>
              <a:t>HBase</a:t>
            </a:r>
            <a:r>
              <a:rPr lang="en-IN" dirty="0"/>
              <a:t>, modern distributed SQL databases.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17</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41336482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585323"/>
          </a:xfrm>
          <a:prstGeom prst="rect">
            <a:avLst/>
          </a:prstGeom>
          <a:noFill/>
        </p:spPr>
        <p:txBody>
          <a:bodyPr wrap="square" rtlCol="0">
            <a:spAutoFit/>
          </a:bodyPr>
          <a:lstStyle/>
          <a:p>
            <a:pPr algn="just"/>
            <a:r>
              <a:rPr lang="en-US" dirty="0" smtClean="0"/>
              <a:t>1. </a:t>
            </a:r>
            <a:r>
              <a:rPr lang="en-US" b="1" dirty="0" smtClean="0"/>
              <a:t>Single Server (centralized): </a:t>
            </a:r>
          </a:p>
          <a:p>
            <a:pPr algn="just"/>
            <a:r>
              <a:rPr lang="en-US" dirty="0"/>
              <a:t>All data is stored in a single server. Clients directly connect to this one server</a:t>
            </a:r>
            <a:r>
              <a:rPr lang="en-US" dirty="0" smtClean="0"/>
              <a:t>.</a:t>
            </a:r>
          </a:p>
          <a:p>
            <a:pPr algn="just"/>
            <a:r>
              <a:rPr lang="en-US" b="1" dirty="0"/>
              <a:t>Advantages:</a:t>
            </a:r>
            <a:endParaRPr lang="en-US" dirty="0"/>
          </a:p>
          <a:p>
            <a:pPr algn="just"/>
            <a:r>
              <a:rPr lang="en-US" dirty="0"/>
              <a:t>Simple to design and manage.</a:t>
            </a:r>
          </a:p>
          <a:p>
            <a:pPr algn="just"/>
            <a:r>
              <a:rPr lang="en-US" dirty="0"/>
              <a:t>Strong consistency (only one copy of data).</a:t>
            </a:r>
          </a:p>
          <a:p>
            <a:pPr algn="just"/>
            <a:r>
              <a:rPr lang="en-US" b="1" dirty="0"/>
              <a:t>Limitations:</a:t>
            </a:r>
            <a:endParaRPr lang="en-US" dirty="0"/>
          </a:p>
          <a:p>
            <a:pPr algn="just"/>
            <a:r>
              <a:rPr lang="en-US" dirty="0"/>
              <a:t>Not scalable for large datasets or high traffic.</a:t>
            </a:r>
          </a:p>
          <a:p>
            <a:pPr algn="just"/>
            <a:r>
              <a:rPr lang="en-US" dirty="0"/>
              <a:t>Single point of failure (if the server goes down, the system is unavailable).</a:t>
            </a:r>
          </a:p>
          <a:p>
            <a:pPr algn="just"/>
            <a:r>
              <a:rPr lang="en-US" b="1" dirty="0" smtClean="0"/>
              <a:t>Example</a:t>
            </a:r>
            <a:r>
              <a:rPr lang="en-US" b="1" dirty="0"/>
              <a:t>:</a:t>
            </a:r>
            <a:r>
              <a:rPr lang="en-US" dirty="0"/>
              <a:t> Small websites or applications with limited users.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18</a:t>
            </a:fld>
            <a:endParaRPr lang="en-US"/>
          </a:p>
        </p:txBody>
      </p:sp>
      <p:sp>
        <p:nvSpPr>
          <p:cNvPr id="5" name="TextBox 4"/>
          <p:cNvSpPr txBox="1"/>
          <p:nvPr/>
        </p:nvSpPr>
        <p:spPr>
          <a:xfrm>
            <a:off x="-4011" y="303451"/>
            <a:ext cx="7772400" cy="523220"/>
          </a:xfrm>
          <a:prstGeom prst="rect">
            <a:avLst/>
          </a:prstGeom>
          <a:noFill/>
        </p:spPr>
        <p:txBody>
          <a:bodyPr wrap="square" rtlCol="0">
            <a:spAutoFit/>
          </a:bodyPr>
          <a:lstStyle/>
          <a:p>
            <a:pPr algn="ctr"/>
            <a:r>
              <a:rPr lang="en-US" sz="2800" dirty="0" smtClean="0"/>
              <a:t>Distribution </a:t>
            </a:r>
            <a:r>
              <a:rPr lang="en-US" sz="2800" dirty="0" smtClean="0"/>
              <a:t>Models : Single Server (centralized)</a:t>
            </a:r>
            <a:endParaRPr lang="en-IN" sz="2800" dirty="0"/>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19600" y="3892252"/>
            <a:ext cx="4572000" cy="2203748"/>
          </a:xfrm>
          <a:prstGeom prst="rect">
            <a:avLst/>
          </a:prstGeom>
        </p:spPr>
      </p:pic>
    </p:spTree>
    <p:extLst>
      <p:ext uri="{BB962C8B-B14F-4D97-AF65-F5344CB8AC3E}">
        <p14:creationId xmlns:p14="http://schemas.microsoft.com/office/powerpoint/2010/main" val="26746311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2062103"/>
          </a:xfrm>
          <a:prstGeom prst="rect">
            <a:avLst/>
          </a:prstGeom>
          <a:noFill/>
        </p:spPr>
        <p:txBody>
          <a:bodyPr wrap="square" rtlCol="0">
            <a:spAutoFit/>
          </a:bodyPr>
          <a:lstStyle/>
          <a:p>
            <a:pPr algn="just"/>
            <a:r>
              <a:rPr lang="en-US" sz="2000" b="1" dirty="0" smtClean="0"/>
              <a:t>Summary</a:t>
            </a:r>
            <a:r>
              <a:rPr lang="en-US" dirty="0" smtClean="0"/>
              <a:t> </a:t>
            </a:r>
            <a:r>
              <a:rPr lang="en-IN" b="1" dirty="0" smtClean="0"/>
              <a:t>:</a:t>
            </a:r>
            <a:endParaRPr lang="en-US" b="1" dirty="0" smtClean="0"/>
          </a:p>
          <a:p>
            <a:pPr algn="just"/>
            <a:r>
              <a:rPr lang="en-US" b="1" dirty="0"/>
              <a:t>Single server</a:t>
            </a:r>
            <a:r>
              <a:rPr lang="en-US" dirty="0"/>
              <a:t> → simplest, but limited</a:t>
            </a:r>
            <a:r>
              <a:rPr lang="en-US" dirty="0" smtClean="0"/>
              <a:t>.</a:t>
            </a:r>
          </a:p>
          <a:p>
            <a:pPr algn="just"/>
            <a:r>
              <a:rPr lang="en-IN" b="1" dirty="0" err="1"/>
              <a:t>Sharding</a:t>
            </a:r>
            <a:r>
              <a:rPr lang="en-IN" dirty="0"/>
              <a:t> → scales horizontally</a:t>
            </a:r>
            <a:r>
              <a:rPr lang="en-IN" dirty="0" smtClean="0"/>
              <a:t>.</a:t>
            </a:r>
          </a:p>
          <a:p>
            <a:pPr algn="just"/>
            <a:r>
              <a:rPr lang="en-US" b="1" dirty="0"/>
              <a:t>Replication</a:t>
            </a:r>
            <a:r>
              <a:rPr lang="en-US" dirty="0"/>
              <a:t> → improves availability and fault tolerance</a:t>
            </a:r>
            <a:r>
              <a:rPr lang="en-US" dirty="0" smtClean="0"/>
              <a:t>.</a:t>
            </a:r>
          </a:p>
          <a:p>
            <a:pPr algn="just"/>
            <a:r>
              <a:rPr lang="en-US" b="1" dirty="0" err="1"/>
              <a:t>Sharding</a:t>
            </a:r>
            <a:r>
              <a:rPr lang="en-US" b="1" dirty="0"/>
              <a:t> + Replication</a:t>
            </a:r>
            <a:r>
              <a:rPr lang="en-US" dirty="0"/>
              <a:t> → combines the best of both worlds.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19</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21392159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3810000" cy="2308324"/>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a:t>Update Consistency </a:t>
            </a:r>
            <a:endParaRPr lang="en-IN" sz="2400" dirty="0" smtClean="0"/>
          </a:p>
          <a:p>
            <a:pPr marL="342900" indent="-342900" algn="just">
              <a:buFont typeface="Wingdings" panose="05000000000000000000" pitchFamily="2" charset="2"/>
              <a:buChar char="§"/>
            </a:pPr>
            <a:r>
              <a:rPr lang="en-IN" sz="2400" dirty="0"/>
              <a:t>Read Consistency </a:t>
            </a:r>
            <a:endParaRPr lang="en-IN" sz="2400" dirty="0" smtClean="0"/>
          </a:p>
          <a:p>
            <a:pPr marL="342900" indent="-342900" algn="just">
              <a:buFont typeface="Wingdings" panose="05000000000000000000" pitchFamily="2" charset="2"/>
              <a:buChar char="§"/>
            </a:pPr>
            <a:r>
              <a:rPr lang="en-IN" sz="2400" dirty="0"/>
              <a:t>Relaxing Consistency </a:t>
            </a:r>
            <a:endParaRPr lang="en-IN" sz="2400" dirty="0" smtClean="0"/>
          </a:p>
          <a:p>
            <a:pPr marL="342900" indent="-342900" algn="just">
              <a:buFont typeface="Wingdings" panose="05000000000000000000" pitchFamily="2" charset="2"/>
              <a:buChar char="§"/>
            </a:pPr>
            <a:r>
              <a:rPr lang="en-US" sz="2400" dirty="0"/>
              <a:t>Real-world examples (bank transfers, e-commerce inventory). </a:t>
            </a:r>
            <a:endParaRPr lang="en-GB" sz="24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20</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066800"/>
            <a:ext cx="4495800" cy="5181600"/>
          </a:xfrm>
          <a:prstGeom prst="rect">
            <a:avLst/>
          </a:prstGeom>
        </p:spPr>
      </p:pic>
    </p:spTree>
    <p:extLst>
      <p:ext uri="{BB962C8B-B14F-4D97-AF65-F5344CB8AC3E}">
        <p14:creationId xmlns:p14="http://schemas.microsoft.com/office/powerpoint/2010/main" val="6174374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IN" sz="2000" b="1" dirty="0"/>
              <a:t>Update </a:t>
            </a:r>
            <a:r>
              <a:rPr lang="en-IN" sz="2000" b="1" dirty="0" smtClean="0"/>
              <a:t>Consistency</a:t>
            </a:r>
            <a:r>
              <a:rPr lang="en-IN" sz="2000" dirty="0" smtClean="0"/>
              <a:t>: </a:t>
            </a:r>
            <a:r>
              <a:rPr lang="en-US" sz="2000" dirty="0"/>
              <a:t>Once a write (update) is completed, all replicas in the system eventually reflect the </a:t>
            </a:r>
            <a:r>
              <a:rPr lang="en-US" sz="2000" b="1" dirty="0"/>
              <a:t>same final value</a:t>
            </a:r>
            <a:r>
              <a:rPr lang="en-US" sz="2000" dirty="0" smtClean="0"/>
              <a:t>.</a:t>
            </a:r>
          </a:p>
          <a:p>
            <a:pPr marL="342900" indent="-342900" algn="just">
              <a:buFont typeface="Wingdings" panose="05000000000000000000" pitchFamily="2" charset="2"/>
              <a:buChar char="§"/>
            </a:pPr>
            <a:r>
              <a:rPr lang="en-US" sz="2000" b="1" dirty="0"/>
              <a:t>Guarantee:</a:t>
            </a:r>
            <a:r>
              <a:rPr lang="en-US" sz="2000" dirty="0"/>
              <a:t> All replicas converge to the same state after the updates</a:t>
            </a:r>
            <a:r>
              <a:rPr lang="en-US" sz="2000" dirty="0" smtClean="0"/>
              <a:t>.</a:t>
            </a:r>
          </a:p>
          <a:p>
            <a:pPr marL="342900" indent="-342900" algn="just">
              <a:buFont typeface="Wingdings" panose="05000000000000000000" pitchFamily="2" charset="2"/>
              <a:buChar char="§"/>
            </a:pPr>
            <a:r>
              <a:rPr lang="en-US" sz="2000" b="1" dirty="0"/>
              <a:t>Focus:</a:t>
            </a:r>
            <a:r>
              <a:rPr lang="en-US" sz="2000" dirty="0"/>
              <a:t> The correctness of </a:t>
            </a:r>
            <a:r>
              <a:rPr lang="en-US" sz="2000" b="1" dirty="0"/>
              <a:t>write operations</a:t>
            </a:r>
            <a:r>
              <a:rPr lang="en-US" sz="2000" dirty="0" smtClean="0"/>
              <a:t>.</a:t>
            </a:r>
          </a:p>
          <a:p>
            <a:pPr marL="342900" indent="-342900" algn="just">
              <a:buFont typeface="Wingdings" panose="05000000000000000000" pitchFamily="2" charset="2"/>
              <a:buChar char="§"/>
            </a:pPr>
            <a:r>
              <a:rPr lang="en-IN" sz="2000" dirty="0"/>
              <a:t>Example (Bank Transfer</a:t>
            </a:r>
            <a:r>
              <a:rPr lang="en-IN" sz="2000" dirty="0" smtClean="0"/>
              <a:t>):</a:t>
            </a:r>
          </a:p>
          <a:p>
            <a:pPr marL="342900" indent="-342900" algn="just">
              <a:buFont typeface="Wingdings" panose="05000000000000000000" pitchFamily="2" charset="2"/>
              <a:buChar char="§"/>
            </a:pPr>
            <a:r>
              <a:rPr lang="en-US" sz="2000" dirty="0"/>
              <a:t>You transfer ₹1000 from Account A to Account B</a:t>
            </a:r>
            <a:r>
              <a:rPr lang="en-US" sz="2000" dirty="0" smtClean="0"/>
              <a:t>.</a:t>
            </a:r>
          </a:p>
          <a:p>
            <a:pPr marL="342900" indent="-342900" algn="just">
              <a:buFont typeface="Wingdings" panose="05000000000000000000" pitchFamily="2" charset="2"/>
              <a:buChar char="§"/>
            </a:pPr>
            <a:r>
              <a:rPr lang="en-US" sz="2000" dirty="0"/>
              <a:t>Even if network delays occur, eventually </a:t>
            </a:r>
            <a:r>
              <a:rPr lang="en-US" sz="2000" b="1" dirty="0"/>
              <a:t>both accounts will show the correct balances</a:t>
            </a:r>
            <a:r>
              <a:rPr lang="en-US" sz="2000" dirty="0" smtClean="0"/>
              <a:t>.</a:t>
            </a:r>
          </a:p>
          <a:p>
            <a:pPr marL="342900" indent="-342900" algn="just">
              <a:buFont typeface="Wingdings" panose="05000000000000000000" pitchFamily="2" charset="2"/>
              <a:buChar char="§"/>
            </a:pPr>
            <a:r>
              <a:rPr lang="en-US" sz="2000" dirty="0"/>
              <a:t>Once updates are propagated, </a:t>
            </a:r>
            <a:r>
              <a:rPr lang="en-US" sz="2000" b="1" dirty="0"/>
              <a:t>no ATM or branch will show conflicting balances</a:t>
            </a:r>
            <a:r>
              <a:rPr lang="en-US" sz="2000" dirty="0"/>
              <a:t>.</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91405337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078313"/>
          </a:xfrm>
          <a:prstGeom prst="rect">
            <a:avLst/>
          </a:prstGeom>
          <a:noFill/>
        </p:spPr>
        <p:txBody>
          <a:bodyPr wrap="square" rtlCol="0">
            <a:spAutoFit/>
          </a:bodyPr>
          <a:lstStyle/>
          <a:p>
            <a:pPr marL="342900" indent="-342900" algn="just">
              <a:buFont typeface="Wingdings" panose="05000000000000000000" pitchFamily="2" charset="2"/>
              <a:buChar char="§"/>
            </a:pPr>
            <a:r>
              <a:rPr lang="en-IN"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marL="342900" indent="-342900" algn="just">
              <a:buFont typeface="Wingdings" panose="05000000000000000000" pitchFamily="2" charset="2"/>
              <a:buChar char="§"/>
            </a:pPr>
            <a:r>
              <a:rPr lang="en-IN" dirty="0"/>
              <a:t>Levels</a:t>
            </a:r>
            <a:r>
              <a:rPr lang="en-IN" dirty="0" smtClean="0"/>
              <a:t>:</a:t>
            </a:r>
          </a:p>
          <a:p>
            <a:pPr algn="just"/>
            <a:r>
              <a:rPr lang="en-US" b="1" dirty="0"/>
              <a:t>Strong Consistency:</a:t>
            </a:r>
            <a:r>
              <a:rPr lang="en-US" dirty="0"/>
              <a:t> Every read returns the </a:t>
            </a:r>
            <a:r>
              <a:rPr lang="en-US" b="1" dirty="0"/>
              <a:t>most recent </a:t>
            </a:r>
            <a:r>
              <a:rPr lang="en-US" b="1" dirty="0" err="1"/>
              <a:t>write</a:t>
            </a:r>
            <a:r>
              <a:rPr lang="en-US" dirty="0" err="1"/>
              <a:t>.All</a:t>
            </a:r>
            <a:r>
              <a:rPr lang="en-US" dirty="0"/>
              <a:t> replicas converge to the same state after the updates</a:t>
            </a:r>
            <a:r>
              <a:rPr lang="en-US" dirty="0" smtClean="0"/>
              <a:t>.</a:t>
            </a:r>
          </a:p>
          <a:p>
            <a:pPr algn="just"/>
            <a:r>
              <a:rPr lang="en-US" b="1" dirty="0"/>
              <a:t>Eventual Consistency:</a:t>
            </a:r>
            <a:r>
              <a:rPr lang="en-US" dirty="0"/>
              <a:t> Reads may return stale data, but eventually converge to the latest value</a:t>
            </a:r>
            <a:r>
              <a:rPr lang="en-US" dirty="0" smtClean="0"/>
              <a:t>.</a:t>
            </a:r>
          </a:p>
          <a:p>
            <a:pPr algn="just"/>
            <a:r>
              <a:rPr lang="en-US" b="1" dirty="0"/>
              <a:t>Causal Consistency:</a:t>
            </a:r>
            <a:r>
              <a:rPr lang="en-US" dirty="0"/>
              <a:t> Reads respect the cause-effect order of operations</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Last item in stock → User A buys it</a:t>
            </a:r>
            <a:r>
              <a:rPr lang="en-US" dirty="0" smtClean="0"/>
              <a:t>.</a:t>
            </a:r>
          </a:p>
          <a:p>
            <a:pPr marL="342900" indent="-342900" algn="just">
              <a:buFont typeface="Wingdings" panose="05000000000000000000" pitchFamily="2" charset="2"/>
              <a:buChar char="§"/>
            </a:pPr>
            <a:r>
              <a:rPr lang="en-US" dirty="0"/>
              <a:t>With </a:t>
            </a:r>
            <a:r>
              <a:rPr lang="en-US" b="1" dirty="0"/>
              <a:t>Strong Consistency</a:t>
            </a:r>
            <a:r>
              <a:rPr lang="en-US" dirty="0"/>
              <a:t>, when User B checks inventory, it immediately shows "Out of Stock</a:t>
            </a:r>
            <a:r>
              <a:rPr lang="en-US" dirty="0" smtClean="0"/>
              <a:t>".</a:t>
            </a:r>
          </a:p>
          <a:p>
            <a:pPr marL="342900" indent="-342900" algn="just">
              <a:buFont typeface="Wingdings" panose="05000000000000000000" pitchFamily="2" charset="2"/>
              <a:buChar char="§"/>
            </a:pPr>
            <a:r>
              <a:rPr lang="en-US" dirty="0"/>
              <a:t>With </a:t>
            </a:r>
            <a:r>
              <a:rPr lang="en-US" b="1" dirty="0"/>
              <a:t>Eventual Consistency</a:t>
            </a:r>
            <a:r>
              <a:rPr lang="en-US" dirty="0"/>
              <a:t>, User B might still see "1 item available" for a short while, even though it’s sold out.</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152279856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078313"/>
          </a:xfrm>
          <a:prstGeom prst="rect">
            <a:avLst/>
          </a:prstGeom>
          <a:noFill/>
        </p:spPr>
        <p:txBody>
          <a:bodyPr wrap="square" rtlCol="0">
            <a:spAutoFit/>
          </a:bodyPr>
          <a:lstStyle/>
          <a:p>
            <a:pPr marL="342900" indent="-342900" algn="just">
              <a:buFont typeface="Wingdings" panose="05000000000000000000" pitchFamily="2" charset="2"/>
              <a:buChar char="§"/>
            </a:pPr>
            <a:r>
              <a:rPr lang="en-IN" b="1" dirty="0" smtClean="0"/>
              <a:t>Relaxing Consistency</a:t>
            </a:r>
            <a:r>
              <a:rPr lang="en-IN" dirty="0" smtClean="0"/>
              <a:t>: </a:t>
            </a:r>
            <a:r>
              <a:rPr lang="en-US" dirty="0"/>
              <a:t>Sacrificing strict consistency rules to improve </a:t>
            </a:r>
            <a:r>
              <a:rPr lang="en-US" b="1" dirty="0"/>
              <a:t>performance, availability, and scalability</a:t>
            </a:r>
            <a:r>
              <a:rPr lang="en-US" dirty="0" smtClean="0"/>
              <a:t>.</a:t>
            </a:r>
          </a:p>
          <a:p>
            <a:pPr marL="342900" indent="-342900" algn="just">
              <a:buFont typeface="Wingdings" panose="05000000000000000000" pitchFamily="2" charset="2"/>
              <a:buChar char="§"/>
            </a:pPr>
            <a:r>
              <a:rPr lang="en-US" b="1" dirty="0"/>
              <a:t>Why?</a:t>
            </a:r>
            <a:r>
              <a:rPr lang="en-US" dirty="0"/>
              <a:t> Because in large distributed systems, always enforcing strict consistency is costly</a:t>
            </a:r>
            <a:r>
              <a:rPr lang="en-US" dirty="0" smtClean="0"/>
              <a:t>.</a:t>
            </a:r>
          </a:p>
          <a:p>
            <a:pPr marL="342900" indent="-342900" algn="just">
              <a:buFont typeface="Wingdings" panose="05000000000000000000" pitchFamily="2" charset="2"/>
              <a:buChar char="§"/>
            </a:pPr>
            <a:r>
              <a:rPr lang="en-US" b="1" dirty="0"/>
              <a:t>Approach:</a:t>
            </a:r>
            <a:r>
              <a:rPr lang="en-US" dirty="0"/>
              <a:t> Allowing temporary inconsistencies that resolve later</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Shopping Cart Service (Amazon, Flipkart</a:t>
            </a:r>
            <a:r>
              <a:rPr lang="en-US" dirty="0" smtClean="0"/>
              <a:t>):</a:t>
            </a:r>
          </a:p>
          <a:p>
            <a:pPr algn="just"/>
            <a:r>
              <a:rPr lang="en-US" dirty="0" smtClean="0"/>
              <a:t>       When </a:t>
            </a:r>
            <a:r>
              <a:rPr lang="en-US" dirty="0"/>
              <a:t>you add items to cart, different servers </a:t>
            </a:r>
            <a:endParaRPr lang="en-US" dirty="0" smtClean="0"/>
          </a:p>
          <a:p>
            <a:pPr algn="just"/>
            <a:r>
              <a:rPr lang="en-US" dirty="0"/>
              <a:t> </a:t>
            </a:r>
            <a:r>
              <a:rPr lang="en-US" dirty="0" smtClean="0"/>
              <a:t>      may </a:t>
            </a:r>
            <a:r>
              <a:rPr lang="en-US" dirty="0"/>
              <a:t>not synchronize immediately</a:t>
            </a:r>
            <a:r>
              <a:rPr lang="en-US" dirty="0" smtClean="0"/>
              <a:t>.</a:t>
            </a:r>
          </a:p>
          <a:p>
            <a:pPr algn="just"/>
            <a:r>
              <a:rPr lang="en-US" dirty="0" smtClean="0"/>
              <a:t>       Relaxed </a:t>
            </a:r>
            <a:r>
              <a:rPr lang="en-US" dirty="0"/>
              <a:t>consistency ensures that you can still </a:t>
            </a:r>
            <a:endParaRPr lang="en-US" dirty="0" smtClean="0"/>
          </a:p>
          <a:p>
            <a:pPr algn="just"/>
            <a:r>
              <a:rPr lang="en-US" dirty="0"/>
              <a:t> </a:t>
            </a:r>
            <a:r>
              <a:rPr lang="en-US" dirty="0" smtClean="0"/>
              <a:t>      add/view </a:t>
            </a:r>
            <a:r>
              <a:rPr lang="en-US" dirty="0"/>
              <a:t>items smoothly, even if updates </a:t>
            </a:r>
            <a:endParaRPr lang="en-US" dirty="0" smtClean="0"/>
          </a:p>
          <a:p>
            <a:pPr algn="just"/>
            <a:r>
              <a:rPr lang="en-US" dirty="0"/>
              <a:t> </a:t>
            </a:r>
            <a:r>
              <a:rPr lang="en-US" dirty="0" smtClean="0"/>
              <a:t>      take </a:t>
            </a:r>
            <a:r>
              <a:rPr lang="en-US" dirty="0"/>
              <a:t>a second or two to sync across regions</a:t>
            </a:r>
            <a:r>
              <a:rPr lang="en-US" dirty="0" smtClean="0"/>
              <a:t>.</a:t>
            </a:r>
          </a:p>
          <a:p>
            <a:pPr marL="342900" indent="-342900" algn="just">
              <a:buFont typeface="Wingdings" panose="05000000000000000000" pitchFamily="2" charset="2"/>
              <a:buChar char="§"/>
            </a:pPr>
            <a:r>
              <a:rPr lang="en-IN" dirty="0"/>
              <a:t>Social Media Likes (Facebook/Instagram</a:t>
            </a:r>
            <a:r>
              <a:rPr lang="en-IN" dirty="0" smtClean="0"/>
              <a:t>):</a:t>
            </a:r>
          </a:p>
          <a:p>
            <a:pPr algn="just"/>
            <a:r>
              <a:rPr lang="en-US" dirty="0"/>
              <a:t> </a:t>
            </a:r>
            <a:r>
              <a:rPr lang="en-US" dirty="0" smtClean="0"/>
              <a:t>      You </a:t>
            </a:r>
            <a:r>
              <a:rPr lang="en-US" dirty="0"/>
              <a:t>may like a post, but your friend doesn’t </a:t>
            </a:r>
            <a:endParaRPr lang="en-US" dirty="0" smtClean="0"/>
          </a:p>
          <a:p>
            <a:pPr algn="just"/>
            <a:r>
              <a:rPr lang="en-US" dirty="0"/>
              <a:t> </a:t>
            </a:r>
            <a:r>
              <a:rPr lang="en-US" dirty="0" smtClean="0"/>
              <a:t>      see </a:t>
            </a:r>
            <a:r>
              <a:rPr lang="en-US" dirty="0"/>
              <a:t>your like instantly due to relaxed </a:t>
            </a:r>
            <a:endParaRPr lang="en-US" dirty="0" smtClean="0"/>
          </a:p>
          <a:p>
            <a:pPr algn="just"/>
            <a:r>
              <a:rPr lang="en-US" dirty="0"/>
              <a:t> </a:t>
            </a:r>
            <a:r>
              <a:rPr lang="en-US" dirty="0" smtClean="0"/>
              <a:t>      consistency</a:t>
            </a:r>
            <a:r>
              <a:rPr lang="en-US" dirty="0"/>
              <a:t>.</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416427670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16758"/>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a:t>A quorum is a minimum number of votes or acknowledgments required from nodes in a distributed system to consider a read or write operation valid and successful. This mechanism helps ensure consistency and availability in the face of network partitions or node failures. </a:t>
            </a:r>
          </a:p>
          <a:p>
            <a:pPr marL="342900" indent="-342900" algn="just">
              <a:buFont typeface="Wingdings" panose="05000000000000000000" pitchFamily="2" charset="2"/>
              <a:buChar char="§"/>
            </a:pPr>
            <a:r>
              <a:rPr lang="en-US" altLang="en-US" sz="2000" dirty="0" smtClean="0"/>
              <a:t>There </a:t>
            </a:r>
            <a:r>
              <a:rPr lang="en-US" altLang="en-US" sz="2000" dirty="0"/>
              <a:t>are typically two types of quorums used in distributed systems: </a:t>
            </a:r>
          </a:p>
          <a:p>
            <a:pPr marL="342900" indent="-342900" algn="just">
              <a:buFont typeface="Wingdings" panose="05000000000000000000" pitchFamily="2" charset="2"/>
              <a:buChar char="§"/>
            </a:pPr>
            <a:r>
              <a:rPr lang="en-US" altLang="en-US" sz="2000" dirty="0">
                <a:solidFill>
                  <a:schemeClr val="accent2"/>
                </a:solidFill>
              </a:rPr>
              <a:t>Write Quorum (W): </a:t>
            </a:r>
            <a:r>
              <a:rPr lang="en-US" altLang="en-US" sz="2000" dirty="0"/>
              <a:t>The minimum number of replicas that must acknowledge a write operation before it is considered successful. This ensures that the data is sufficiently replicated across the system to maintain consistency. </a:t>
            </a:r>
          </a:p>
          <a:p>
            <a:pPr marL="342900" indent="-342900" algn="just">
              <a:buFont typeface="Wingdings" panose="05000000000000000000" pitchFamily="2" charset="2"/>
              <a:buChar char="§"/>
            </a:pPr>
            <a:r>
              <a:rPr lang="en-US" altLang="en-US" sz="2000" dirty="0">
                <a:solidFill>
                  <a:schemeClr val="accent2"/>
                </a:solidFill>
              </a:rPr>
              <a:t>Read Quorum (R): </a:t>
            </a:r>
            <a:r>
              <a:rPr lang="en-US" altLang="en-US" sz="2000" dirty="0"/>
              <a:t>The minimum number of replicas that must be accessed for a read operation to return a valid result. This ensures that the read operation reflects the most recent write, maintaining consistency from the user’s perspective. </a:t>
            </a:r>
            <a:endParaRPr lang="en-US" altLang="en-US" sz="2000" dirty="0" smtClean="0"/>
          </a:p>
          <a:p>
            <a:pPr marL="342900" indent="-342900" algn="just">
              <a:buFont typeface="Wingdings" panose="05000000000000000000" pitchFamily="2" charset="2"/>
              <a:buChar char="§"/>
            </a:pPr>
            <a:r>
              <a:rPr lang="en-US" sz="2000" dirty="0" smtClean="0"/>
              <a:t>The</a:t>
            </a:r>
            <a:r>
              <a:rPr lang="en-US" altLang="en-US" sz="2000" dirty="0" smtClean="0"/>
              <a:t> </a:t>
            </a:r>
            <a:r>
              <a:rPr lang="en-US" altLang="en-US" sz="2000" dirty="0"/>
              <a:t>relationship between the number of nodes you need to contact for a read (R), those confirming a write (W), and the replication factor (N) can be captured in an inequality: </a:t>
            </a:r>
            <a:r>
              <a:rPr lang="en-US" altLang="en-US" sz="2000" dirty="0">
                <a:solidFill>
                  <a:schemeClr val="accent2"/>
                </a:solidFill>
              </a:rPr>
              <a:t>W&gt;N/2 </a:t>
            </a:r>
            <a:r>
              <a:rPr lang="en-US" altLang="en-US" sz="2000" dirty="0" smtClean="0">
                <a:solidFill>
                  <a:schemeClr val="accent2"/>
                </a:solidFill>
              </a:rPr>
              <a:t>, R+W&gt;N</a:t>
            </a: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Quorums</a:t>
            </a:r>
            <a:endParaRPr lang="en-IN" sz="2800" dirty="0"/>
          </a:p>
        </p:txBody>
      </p:sp>
    </p:spTree>
    <p:extLst>
      <p:ext uri="{BB962C8B-B14F-4D97-AF65-F5344CB8AC3E}">
        <p14:creationId xmlns:p14="http://schemas.microsoft.com/office/powerpoint/2010/main" val="300710541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200329"/>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Business Transactions (application-level)</a:t>
            </a:r>
          </a:p>
          <a:p>
            <a:pPr marL="342900" indent="-342900" algn="just">
              <a:buFont typeface="Wingdings" panose="05000000000000000000" pitchFamily="2" charset="2"/>
              <a:buChar char="§"/>
            </a:pPr>
            <a:r>
              <a:rPr lang="en-US" sz="2400" dirty="0" smtClean="0"/>
              <a:t>System Transactions (database/system-level)</a:t>
            </a:r>
          </a:p>
          <a:p>
            <a:pPr marL="342900" indent="-342900" algn="just">
              <a:buFont typeface="Wingdings" panose="05000000000000000000" pitchFamily="2" charset="2"/>
              <a:buChar char="§"/>
            </a:pPr>
            <a:r>
              <a:rPr lang="en-US" sz="2400" dirty="0" smtClean="0"/>
              <a:t>How transactions interact with consistency</a:t>
            </a:r>
            <a:endParaRPr lang="en-IN" sz="24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Transactions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1495" y="2895600"/>
            <a:ext cx="2197009" cy="1971675"/>
          </a:xfrm>
          <a:prstGeom prst="rect">
            <a:avLst/>
          </a:prstGeom>
        </p:spPr>
      </p:pic>
    </p:spTree>
    <p:extLst>
      <p:ext uri="{BB962C8B-B14F-4D97-AF65-F5344CB8AC3E}">
        <p14:creationId xmlns:p14="http://schemas.microsoft.com/office/powerpoint/2010/main" val="417362529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40120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solidFill>
                  <a:schemeClr val="accent2"/>
                </a:solidFill>
              </a:rPr>
              <a:t>Business </a:t>
            </a:r>
            <a:r>
              <a:rPr lang="en-US" altLang="en-US" sz="2000" dirty="0">
                <a:solidFill>
                  <a:schemeClr val="accent2"/>
                </a:solidFill>
              </a:rPr>
              <a:t>transactions </a:t>
            </a:r>
            <a:r>
              <a:rPr lang="en-US" altLang="en-US" sz="2000" dirty="0"/>
              <a:t>refer to meaningful activities or interactions that occur in the context of a business operation. These transactions typically involve the exchange of goods, services, or information and have a direct impact on the organization's financials or operational processes. </a:t>
            </a:r>
            <a:endParaRPr lang="en-US" altLang="en-US" sz="2000" dirty="0" smtClean="0"/>
          </a:p>
          <a:p>
            <a:pPr marL="342900" indent="-342900" algn="just">
              <a:buFont typeface="Wingdings" panose="05000000000000000000" pitchFamily="2" charset="2"/>
              <a:buChar char="§"/>
            </a:pPr>
            <a:r>
              <a:rPr lang="en-US" altLang="en-US" sz="2000" dirty="0"/>
              <a:t>Examples include sales transactions, purchase orders, inventory management, and customer interactions. </a:t>
            </a:r>
            <a:endParaRPr lang="en-US" altLang="en-US" sz="2000" dirty="0" smtClean="0"/>
          </a:p>
          <a:p>
            <a:pPr marL="342900" indent="-342900" algn="just">
              <a:buFont typeface="Wingdings" panose="05000000000000000000" pitchFamily="2" charset="2"/>
              <a:buChar char="§"/>
            </a:pPr>
            <a:r>
              <a:rPr lang="en-US" altLang="en-US" sz="2000" dirty="0" smtClean="0">
                <a:solidFill>
                  <a:schemeClr val="accent2"/>
                </a:solidFill>
              </a:rPr>
              <a:t>System transactions</a:t>
            </a:r>
            <a:r>
              <a:rPr lang="en-US" altLang="en-US" sz="2000" dirty="0"/>
              <a:t>, on the other hand, refer to the operations performed by a database management system (DBMS) to ensure the integrity and consistency of data during business transactions. </a:t>
            </a:r>
            <a:endParaRPr lang="en-US" altLang="en-US" sz="2000" dirty="0" smtClean="0"/>
          </a:p>
          <a:p>
            <a:pPr marL="342900" indent="-342900" algn="just">
              <a:buFont typeface="Wingdings" panose="05000000000000000000" pitchFamily="2" charset="2"/>
              <a:buChar char="§"/>
            </a:pPr>
            <a:r>
              <a:rPr lang="en-US" altLang="en-US" sz="2000" dirty="0" smtClean="0"/>
              <a:t>These </a:t>
            </a:r>
            <a:r>
              <a:rPr lang="en-US" altLang="en-US" sz="2000" dirty="0"/>
              <a:t>transactions are fundamental to the functioning of the database and follow the ACID (Atomicity, Consistency, Isolation, Durability) properties to guarantee reliable processing.</a:t>
            </a:r>
            <a:endParaRPr lang="en-IN" altLang="en-US" sz="2000" dirty="0"/>
          </a:p>
          <a:p>
            <a:pPr marL="342900" indent="-342900" algn="just">
              <a:buFont typeface="Wingdings" panose="05000000000000000000" pitchFamily="2" charset="2"/>
              <a:buChar char="§"/>
            </a:pPr>
            <a:endParaRPr lang="en-US" altLang="en-US" sz="2000" dirty="0" smtClean="0"/>
          </a:p>
          <a:p>
            <a:pPr marL="342900" indent="-342900" algn="just">
              <a:buFont typeface="Wingdings" panose="05000000000000000000" pitchFamily="2" charset="2"/>
              <a:buChar char="§"/>
            </a:pP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IN" altLang="en-US" sz="2800" dirty="0">
                <a:solidFill>
                  <a:srgbClr val="FF0000"/>
                </a:solidFill>
              </a:rPr>
              <a:t>Business and System Transactions</a:t>
            </a:r>
            <a:endParaRPr lang="en-IN" sz="2800" dirty="0"/>
          </a:p>
        </p:txBody>
      </p:sp>
    </p:spTree>
    <p:extLst>
      <p:ext uri="{BB962C8B-B14F-4D97-AF65-F5344CB8AC3E}">
        <p14:creationId xmlns:p14="http://schemas.microsoft.com/office/powerpoint/2010/main" val="410555803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200329"/>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Purpose of versioning</a:t>
            </a:r>
          </a:p>
          <a:p>
            <a:pPr marL="342900" indent="-342900" algn="just">
              <a:buFont typeface="Wingdings" panose="05000000000000000000" pitchFamily="2" charset="2"/>
              <a:buChar char="§"/>
            </a:pPr>
            <a:r>
              <a:rPr lang="en-US" sz="2400" dirty="0" smtClean="0"/>
              <a:t>Version stamps in multiple nodes</a:t>
            </a:r>
          </a:p>
          <a:p>
            <a:pPr marL="342900" indent="-342900" algn="just">
              <a:buFont typeface="Wingdings" panose="05000000000000000000" pitchFamily="2" charset="2"/>
              <a:buChar char="§"/>
            </a:pPr>
            <a:r>
              <a:rPr lang="en-US" sz="2400" dirty="0" smtClean="0"/>
              <a:t>Conflict resolution</a:t>
            </a:r>
            <a:endParaRPr lang="en-IN" sz="24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27</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Stamps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1495" y="2895600"/>
            <a:ext cx="2197009" cy="1971675"/>
          </a:xfrm>
          <a:prstGeom prst="rect">
            <a:avLst/>
          </a:prstGeom>
        </p:spPr>
      </p:pic>
    </p:spTree>
    <p:extLst>
      <p:ext uri="{BB962C8B-B14F-4D97-AF65-F5344CB8AC3E}">
        <p14:creationId xmlns:p14="http://schemas.microsoft.com/office/powerpoint/2010/main" val="6269552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632311"/>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t>Version </a:t>
            </a:r>
            <a:r>
              <a:rPr lang="en-US" altLang="en-US" sz="2000" dirty="0"/>
              <a:t>stamps on multiple nodes are a crucial mechanism in distributed systems, enabling the tracking and management of data versions across different replicas or nodes. This approach helps maintain consistency, resolve conflicts, and ensure data integrity in environments where concurrent updates may occur. </a:t>
            </a:r>
            <a:endParaRPr lang="en-US" altLang="en-US" sz="2000" dirty="0" smtClean="0"/>
          </a:p>
          <a:p>
            <a:pPr marL="342900" indent="-342900" algn="just">
              <a:buFont typeface="Wingdings" panose="05000000000000000000" pitchFamily="2" charset="2"/>
              <a:buChar char="§"/>
            </a:pPr>
            <a:r>
              <a:rPr lang="en-US" altLang="en-US" sz="2000" dirty="0" smtClean="0"/>
              <a:t>In </a:t>
            </a:r>
            <a:r>
              <a:rPr lang="en-US" altLang="en-US" sz="2000" dirty="0"/>
              <a:t>a distributed system, each node maintains its own version stamp for data items, which can be either </a:t>
            </a:r>
            <a:r>
              <a:rPr lang="en-US" altLang="en-US" sz="2000" dirty="0">
                <a:solidFill>
                  <a:schemeClr val="accent2"/>
                </a:solidFill>
              </a:rPr>
              <a:t>logical timestamps, vector clocks, or physical timestamps. </a:t>
            </a:r>
            <a:endParaRPr lang="en-US" altLang="en-US" sz="2000" dirty="0" smtClean="0">
              <a:solidFill>
                <a:schemeClr val="accent2"/>
              </a:solidFill>
            </a:endParaRPr>
          </a:p>
          <a:p>
            <a:pPr marL="342900" indent="-342900" algn="just">
              <a:buFont typeface="Wingdings" panose="05000000000000000000" pitchFamily="2" charset="2"/>
              <a:buChar char="§"/>
            </a:pPr>
            <a:r>
              <a:rPr lang="en-US" altLang="en-US" sz="2000" dirty="0"/>
              <a:t>When a node performs an update to a data item, it associates the update with its current version stamp. This versioning allows the system to track changes and determine the most recent version of the data across all nodes. </a:t>
            </a:r>
          </a:p>
          <a:p>
            <a:pPr marL="342900" indent="-342900" algn="just">
              <a:buFont typeface="Wingdings" panose="05000000000000000000" pitchFamily="2" charset="2"/>
              <a:buChar char="§"/>
            </a:pPr>
            <a:endParaRPr lang="en-US" altLang="en-US" sz="2000" b="1" dirty="0" smtClean="0">
              <a:solidFill>
                <a:schemeClr val="accent2"/>
              </a:solidFill>
            </a:endParaRPr>
          </a:p>
          <a:p>
            <a:pPr marL="342900" indent="-342900" algn="just">
              <a:buFont typeface="Wingdings" panose="05000000000000000000" pitchFamily="2" charset="2"/>
              <a:buChar char="§"/>
            </a:pPr>
            <a:r>
              <a:rPr lang="en-US" altLang="en-US" sz="2000" b="1" dirty="0" smtClean="0">
                <a:solidFill>
                  <a:schemeClr val="accent2"/>
                </a:solidFill>
              </a:rPr>
              <a:t>Logical </a:t>
            </a:r>
            <a:r>
              <a:rPr lang="en-US" altLang="en-US" sz="2000" b="1" dirty="0">
                <a:solidFill>
                  <a:schemeClr val="accent2"/>
                </a:solidFill>
              </a:rPr>
              <a:t>Timestamps: </a:t>
            </a:r>
            <a:r>
              <a:rPr lang="en-US" altLang="en-US" sz="2000" b="1" dirty="0"/>
              <a:t>Each update is assigned a unique logical timestamp based on the order of operations. If two nodes perform updates concurrently, their timestamps help in determining the sequence of updates</a:t>
            </a:r>
            <a:r>
              <a:rPr lang="en-US" altLang="en-US" sz="1600" b="1" dirty="0"/>
              <a:t>. </a:t>
            </a:r>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smtClean="0"/>
              <a:t>Conflict </a:t>
            </a:r>
            <a:r>
              <a:rPr lang="en-US" sz="2000" dirty="0" smtClean="0"/>
              <a:t>resolution</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a:t>
            </a:r>
            <a:r>
              <a:rPr lang="en-US" sz="2800" dirty="0" smtClean="0"/>
              <a:t>Stamps on Multiple Nodes</a:t>
            </a:r>
            <a:endParaRPr lang="en-IN" sz="2800" dirty="0"/>
          </a:p>
        </p:txBody>
      </p:sp>
    </p:spTree>
    <p:extLst>
      <p:ext uri="{BB962C8B-B14F-4D97-AF65-F5344CB8AC3E}">
        <p14:creationId xmlns:p14="http://schemas.microsoft.com/office/powerpoint/2010/main" val="334994647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862322"/>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b="1" dirty="0">
                <a:solidFill>
                  <a:schemeClr val="accent2"/>
                </a:solidFill>
              </a:rPr>
              <a:t>Vector Clocks: </a:t>
            </a:r>
            <a:r>
              <a:rPr lang="en-US" altLang="en-US" sz="2000" b="1" dirty="0"/>
              <a:t>Each node maintains a vector clock that counts the number of updates it has made and tracks updates from other nodes. When a node updates a data item, it increments its own entry in the vector clock and may also compare its vector with others to resolve conflicts</a:t>
            </a:r>
            <a:endParaRPr lang="en-US" sz="2000" dirty="0" smtClean="0"/>
          </a:p>
          <a:p>
            <a:pPr marL="342900" indent="-342900" algn="just">
              <a:buFont typeface="Wingdings" panose="05000000000000000000" pitchFamily="2" charset="2"/>
              <a:buChar char="§"/>
            </a:pPr>
            <a:r>
              <a:rPr lang="en-US" altLang="en-US" sz="2000" b="1" dirty="0" smtClean="0">
                <a:solidFill>
                  <a:schemeClr val="accent2"/>
                </a:solidFill>
              </a:rPr>
              <a:t>Physical </a:t>
            </a:r>
            <a:r>
              <a:rPr lang="en-US" altLang="en-US" sz="2000" b="1" dirty="0">
                <a:solidFill>
                  <a:schemeClr val="accent2"/>
                </a:solidFill>
              </a:rPr>
              <a:t>Timestamps: </a:t>
            </a:r>
            <a:r>
              <a:rPr lang="en-US" altLang="en-US" sz="2000" b="1" dirty="0"/>
              <a:t>In systems using physical timestamps, each update is time-stamped based on real-time. However, this approach can face challenges related to clock synchronization across nodes.</a:t>
            </a:r>
            <a:endParaRPr lang="en-IN" altLang="en-US" sz="2000" b="1" dirty="0"/>
          </a:p>
          <a:p>
            <a:pPr marL="342900" indent="-342900" algn="just">
              <a:buFont typeface="Wingdings" panose="05000000000000000000" pitchFamily="2" charset="2"/>
              <a:buChar char="§"/>
            </a:pP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a:t>
            </a:r>
            <a:r>
              <a:rPr lang="en-US" sz="2800" dirty="0" smtClean="0"/>
              <a:t>Stamps on Multiple Nodes</a:t>
            </a:r>
            <a:endParaRPr lang="en-IN" sz="2800" dirty="0"/>
          </a:p>
        </p:txBody>
      </p:sp>
    </p:spTree>
    <p:extLst>
      <p:ext uri="{BB962C8B-B14F-4D97-AF65-F5344CB8AC3E}">
        <p14:creationId xmlns:p14="http://schemas.microsoft.com/office/powerpoint/2010/main" val="24898836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Why NoSQL? And History</a:t>
            </a:r>
            <a:endParaRPr lang="en-IN" sz="2400" b="1" dirty="0"/>
          </a:p>
        </p:txBody>
      </p:sp>
      <p:sp>
        <p:nvSpPr>
          <p:cNvPr id="8" name="Rectangle 7"/>
          <p:cNvSpPr/>
          <p:nvPr/>
        </p:nvSpPr>
        <p:spPr>
          <a:xfrm>
            <a:off x="203578" y="1447800"/>
            <a:ext cx="8711821" cy="655564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solidFill>
                  <a:srgbClr val="000000"/>
                </a:solidFill>
              </a:rPr>
              <a:t>The concept of NoSQL databases became popular with Internet giants like </a:t>
            </a:r>
            <a:r>
              <a:rPr lang="en-GB" sz="2000" b="1" dirty="0">
                <a:solidFill>
                  <a:srgbClr val="000000"/>
                </a:solidFill>
              </a:rPr>
              <a:t>Google, Facebook, Amazon, etc. </a:t>
            </a:r>
            <a:r>
              <a:rPr lang="en-GB" sz="2000" dirty="0">
                <a:solidFill>
                  <a:srgbClr val="000000"/>
                </a:solidFill>
              </a:rPr>
              <a:t>who deal with huge volumes of data. The system response time becomes slow when you use RDBMS for massive volumes of data.</a:t>
            </a:r>
          </a:p>
          <a:p>
            <a:pPr marL="342900" indent="-342900" algn="just">
              <a:lnSpc>
                <a:spcPct val="150000"/>
              </a:lnSpc>
              <a:buFont typeface="Arial" panose="020B0604020202020204" pitchFamily="34" charset="0"/>
              <a:buChar char="•"/>
            </a:pPr>
            <a:r>
              <a:rPr lang="en-GB" sz="2000" dirty="0">
                <a:solidFill>
                  <a:srgbClr val="000000"/>
                </a:solidFill>
              </a:rPr>
              <a:t>To resolve this problem, we could “</a:t>
            </a:r>
            <a:r>
              <a:rPr lang="en-GB" sz="2000" b="1" dirty="0">
                <a:solidFill>
                  <a:srgbClr val="000000"/>
                </a:solidFill>
              </a:rPr>
              <a:t>scale up</a:t>
            </a:r>
            <a:r>
              <a:rPr lang="en-GB" sz="2000" dirty="0">
                <a:solidFill>
                  <a:srgbClr val="000000"/>
                </a:solidFill>
              </a:rPr>
              <a:t>” our systems by upgrading our existing hardware. This process is expensive.</a:t>
            </a:r>
          </a:p>
          <a:p>
            <a:pPr marL="342900" indent="-342900" algn="just">
              <a:lnSpc>
                <a:spcPct val="150000"/>
              </a:lnSpc>
              <a:buFont typeface="Arial" panose="020B0604020202020204" pitchFamily="34" charset="0"/>
              <a:buChar char="•"/>
            </a:pPr>
            <a:r>
              <a:rPr lang="en-GB" sz="2000" dirty="0">
                <a:solidFill>
                  <a:srgbClr val="000000"/>
                </a:solidFill>
              </a:rPr>
              <a:t>The alternative for this issue is to distribute database load on multiple hosts whenever the load increases. This method is known as “</a:t>
            </a:r>
            <a:r>
              <a:rPr lang="en-GB" sz="2000" b="1" dirty="0">
                <a:solidFill>
                  <a:srgbClr val="000000"/>
                </a:solidFill>
              </a:rPr>
              <a:t>scaling out</a:t>
            </a:r>
            <a:r>
              <a:rPr lang="en-GB" sz="2000" dirty="0">
                <a:solidFill>
                  <a:srgbClr val="000000"/>
                </a:solidFill>
              </a:rPr>
              <a:t>.”</a:t>
            </a:r>
          </a:p>
          <a:p>
            <a:pPr marL="342900" indent="-342900" algn="just">
              <a:lnSpc>
                <a:spcPct val="150000"/>
              </a:lnSpc>
              <a:buFont typeface="Arial" panose="020B0604020202020204" pitchFamily="34" charset="0"/>
              <a:buChar char="•"/>
            </a:pPr>
            <a:r>
              <a:rPr lang="en-GB" sz="2000" dirty="0">
                <a:solidFill>
                  <a:srgbClr val="000000"/>
                </a:solidFill>
              </a:rPr>
              <a:t>NoSQL database is </a:t>
            </a:r>
            <a:r>
              <a:rPr lang="en-GB" sz="2000" b="1" dirty="0">
                <a:solidFill>
                  <a:srgbClr val="000000"/>
                </a:solidFill>
              </a:rPr>
              <a:t>non-relational,</a:t>
            </a:r>
            <a:r>
              <a:rPr lang="en-GB" sz="2000" dirty="0">
                <a:solidFill>
                  <a:srgbClr val="000000"/>
                </a:solidFill>
              </a:rPr>
              <a:t> so it </a:t>
            </a:r>
            <a:r>
              <a:rPr lang="en-GB" sz="2000" b="1" dirty="0">
                <a:solidFill>
                  <a:srgbClr val="000000"/>
                </a:solidFill>
              </a:rPr>
              <a:t>scales out better than relational databases</a:t>
            </a:r>
            <a:r>
              <a:rPr lang="en-GB" sz="2000" dirty="0">
                <a:solidFill>
                  <a:srgbClr val="000000"/>
                </a:solidFill>
              </a:rPr>
              <a:t> as they are designed with web applications in mind.</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Tree>
    <p:extLst>
      <p:ext uri="{BB962C8B-B14F-4D97-AF65-F5344CB8AC3E}">
        <p14:creationId xmlns:p14="http://schemas.microsoft.com/office/powerpoint/2010/main" val="30591341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Why NoSQL? And History</a:t>
            </a:r>
            <a:endParaRPr lang="en-IN" sz="2400" b="1" dirty="0"/>
          </a:p>
        </p:txBody>
      </p:sp>
      <p:sp>
        <p:nvSpPr>
          <p:cNvPr id="8" name="Rectangle 7"/>
          <p:cNvSpPr/>
          <p:nvPr/>
        </p:nvSpPr>
        <p:spPr>
          <a:xfrm>
            <a:off x="203578" y="1447800"/>
            <a:ext cx="8711821" cy="1938992"/>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0957" y="1190262"/>
            <a:ext cx="8229600" cy="5400675"/>
          </a:xfrm>
          <a:prstGeom prst="rect">
            <a:avLst/>
          </a:prstGeom>
        </p:spPr>
      </p:pic>
    </p:spTree>
    <p:extLst>
      <p:ext uri="{BB962C8B-B14F-4D97-AF65-F5344CB8AC3E}">
        <p14:creationId xmlns:p14="http://schemas.microsoft.com/office/powerpoint/2010/main" val="4075315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Why NoSQL? And History</a:t>
            </a:r>
            <a:endParaRPr lang="en-IN" sz="2400" b="1" dirty="0"/>
          </a:p>
        </p:txBody>
      </p:sp>
      <p:sp>
        <p:nvSpPr>
          <p:cNvPr id="8" name="Rectangle 7"/>
          <p:cNvSpPr/>
          <p:nvPr/>
        </p:nvSpPr>
        <p:spPr>
          <a:xfrm>
            <a:off x="203578" y="1066800"/>
            <a:ext cx="8864221" cy="1477328"/>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pic>
        <p:nvPicPr>
          <p:cNvPr id="6" name="Picture 5"/>
          <p:cNvPicPr>
            <a:picLocks noChangeAspect="1"/>
          </p:cNvPicPr>
          <p:nvPr/>
        </p:nvPicPr>
        <p:blipFill>
          <a:blip r:embed="rId2"/>
          <a:stretch>
            <a:fillRect/>
          </a:stretch>
        </p:blipFill>
        <p:spPr>
          <a:xfrm>
            <a:off x="559558" y="1371600"/>
            <a:ext cx="8355842" cy="4243388"/>
          </a:xfrm>
          <a:prstGeom prst="rect">
            <a:avLst/>
          </a:prstGeom>
        </p:spPr>
      </p:pic>
    </p:spTree>
    <p:extLst>
      <p:ext uri="{BB962C8B-B14F-4D97-AF65-F5344CB8AC3E}">
        <p14:creationId xmlns:p14="http://schemas.microsoft.com/office/powerpoint/2010/main" val="240415595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Why NoSQL? And History</a:t>
            </a:r>
            <a:endParaRPr lang="en-IN" sz="2400" b="1" dirty="0"/>
          </a:p>
        </p:txBody>
      </p:sp>
      <p:sp>
        <p:nvSpPr>
          <p:cNvPr id="8" name="Rectangle 7"/>
          <p:cNvSpPr/>
          <p:nvPr/>
        </p:nvSpPr>
        <p:spPr>
          <a:xfrm>
            <a:off x="203578" y="1066800"/>
            <a:ext cx="8864221"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a:solidFill>
                  <a:srgbClr val="000000"/>
                </a:solidFill>
              </a:rPr>
              <a:t>1998-</a:t>
            </a:r>
            <a:r>
              <a:rPr lang="en-GB" sz="2000" dirty="0">
                <a:solidFill>
                  <a:srgbClr val="000000"/>
                </a:solidFill>
              </a:rPr>
              <a:t> Carlo </a:t>
            </a:r>
            <a:r>
              <a:rPr lang="en-GB" sz="2000" dirty="0" err="1">
                <a:solidFill>
                  <a:srgbClr val="000000"/>
                </a:solidFill>
              </a:rPr>
              <a:t>Strozzi</a:t>
            </a:r>
            <a:r>
              <a:rPr lang="en-GB" sz="2000" dirty="0">
                <a:solidFill>
                  <a:srgbClr val="000000"/>
                </a:solidFill>
              </a:rPr>
              <a:t> use the term NoSQL for his lightweight, open-source relational database</a:t>
            </a:r>
          </a:p>
          <a:p>
            <a:pPr marL="342900" indent="-342900" algn="just">
              <a:lnSpc>
                <a:spcPct val="150000"/>
              </a:lnSpc>
              <a:buFont typeface="Arial" panose="020B0604020202020204" pitchFamily="34" charset="0"/>
              <a:buChar char="•"/>
            </a:pPr>
            <a:r>
              <a:rPr lang="en-GB" sz="2000" b="1" dirty="0">
                <a:solidFill>
                  <a:srgbClr val="000000"/>
                </a:solidFill>
              </a:rPr>
              <a:t>2000</a:t>
            </a:r>
            <a:r>
              <a:rPr lang="en-GB" sz="2000" dirty="0">
                <a:solidFill>
                  <a:srgbClr val="000000"/>
                </a:solidFill>
              </a:rPr>
              <a:t>- Graph database Neo4j is launched</a:t>
            </a:r>
          </a:p>
          <a:p>
            <a:pPr marL="342900" indent="-342900" algn="just">
              <a:lnSpc>
                <a:spcPct val="150000"/>
              </a:lnSpc>
              <a:buFont typeface="Arial" panose="020B0604020202020204" pitchFamily="34" charset="0"/>
              <a:buChar char="•"/>
            </a:pPr>
            <a:r>
              <a:rPr lang="en-GB" sz="2000" b="1" dirty="0">
                <a:solidFill>
                  <a:srgbClr val="000000"/>
                </a:solidFill>
              </a:rPr>
              <a:t>2004</a:t>
            </a:r>
            <a:r>
              <a:rPr lang="en-GB" sz="2000" dirty="0">
                <a:solidFill>
                  <a:srgbClr val="000000"/>
                </a:solidFill>
              </a:rPr>
              <a:t>- Google </a:t>
            </a:r>
            <a:r>
              <a:rPr lang="en-GB" sz="2000" dirty="0" err="1">
                <a:solidFill>
                  <a:srgbClr val="000000"/>
                </a:solidFill>
              </a:rPr>
              <a:t>BigTable</a:t>
            </a:r>
            <a:r>
              <a:rPr lang="en-GB" sz="2000" dirty="0">
                <a:solidFill>
                  <a:srgbClr val="000000"/>
                </a:solidFill>
              </a:rPr>
              <a:t> is launched</a:t>
            </a:r>
          </a:p>
          <a:p>
            <a:pPr marL="342900" indent="-342900" algn="just">
              <a:lnSpc>
                <a:spcPct val="150000"/>
              </a:lnSpc>
              <a:buFont typeface="Arial" panose="020B0604020202020204" pitchFamily="34" charset="0"/>
              <a:buChar char="•"/>
            </a:pPr>
            <a:r>
              <a:rPr lang="en-GB" sz="2000" b="1" dirty="0">
                <a:solidFill>
                  <a:srgbClr val="000000"/>
                </a:solidFill>
              </a:rPr>
              <a:t>2005</a:t>
            </a:r>
            <a:r>
              <a:rPr lang="en-GB" sz="2000" dirty="0">
                <a:solidFill>
                  <a:srgbClr val="000000"/>
                </a:solidFill>
              </a:rPr>
              <a:t>- </a:t>
            </a:r>
            <a:r>
              <a:rPr lang="en-GB" sz="2000" dirty="0" err="1">
                <a:solidFill>
                  <a:srgbClr val="000000"/>
                </a:solidFill>
              </a:rPr>
              <a:t>CouchDB</a:t>
            </a:r>
            <a:r>
              <a:rPr lang="en-GB" sz="2000" dirty="0">
                <a:solidFill>
                  <a:srgbClr val="000000"/>
                </a:solidFill>
              </a:rPr>
              <a:t> is launched</a:t>
            </a:r>
          </a:p>
          <a:p>
            <a:pPr marL="342900" indent="-342900" algn="just">
              <a:lnSpc>
                <a:spcPct val="150000"/>
              </a:lnSpc>
              <a:buFont typeface="Arial" panose="020B0604020202020204" pitchFamily="34" charset="0"/>
              <a:buChar char="•"/>
            </a:pPr>
            <a:r>
              <a:rPr lang="en-GB" sz="2000" b="1" dirty="0">
                <a:solidFill>
                  <a:srgbClr val="000000"/>
                </a:solidFill>
              </a:rPr>
              <a:t>2007</a:t>
            </a:r>
            <a:r>
              <a:rPr lang="en-GB" sz="2000" dirty="0">
                <a:solidFill>
                  <a:srgbClr val="000000"/>
                </a:solidFill>
              </a:rPr>
              <a:t>- The research paper on Amazon Dynamo is released</a:t>
            </a:r>
          </a:p>
          <a:p>
            <a:pPr marL="342900" indent="-342900" algn="just">
              <a:lnSpc>
                <a:spcPct val="150000"/>
              </a:lnSpc>
              <a:buFont typeface="Arial" panose="020B0604020202020204" pitchFamily="34" charset="0"/>
              <a:buChar char="•"/>
            </a:pPr>
            <a:r>
              <a:rPr lang="en-GB" sz="2000" b="1" dirty="0">
                <a:solidFill>
                  <a:srgbClr val="000000"/>
                </a:solidFill>
              </a:rPr>
              <a:t>2008</a:t>
            </a:r>
            <a:r>
              <a:rPr lang="en-GB" sz="2000" dirty="0">
                <a:solidFill>
                  <a:srgbClr val="000000"/>
                </a:solidFill>
              </a:rPr>
              <a:t>- Facebooks open sources the Cassandra project</a:t>
            </a:r>
          </a:p>
          <a:p>
            <a:pPr marL="342900" indent="-342900" algn="just">
              <a:lnSpc>
                <a:spcPct val="150000"/>
              </a:lnSpc>
              <a:buFont typeface="Arial" panose="020B0604020202020204" pitchFamily="34" charset="0"/>
              <a:buChar char="•"/>
            </a:pPr>
            <a:r>
              <a:rPr lang="en-GB" sz="2000" b="1" dirty="0">
                <a:solidFill>
                  <a:srgbClr val="000000"/>
                </a:solidFill>
              </a:rPr>
              <a:t>2009</a:t>
            </a:r>
            <a:r>
              <a:rPr lang="en-GB" sz="2000" dirty="0">
                <a:solidFill>
                  <a:srgbClr val="000000"/>
                </a:solidFill>
              </a:rPr>
              <a:t>- The term NoSQL was reintroduced</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Tree>
    <p:extLst>
      <p:ext uri="{BB962C8B-B14F-4D97-AF65-F5344CB8AC3E}">
        <p14:creationId xmlns:p14="http://schemas.microsoft.com/office/powerpoint/2010/main" val="63754825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The relational model</a:t>
            </a:r>
            <a:endParaRPr lang="en-IN" sz="24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 y="1600200"/>
            <a:ext cx="7121069" cy="3805439"/>
          </a:xfrm>
          <a:prstGeom prst="rect">
            <a:avLst/>
          </a:prstGeom>
        </p:spPr>
      </p:pic>
    </p:spTree>
    <p:extLst>
      <p:ext uri="{BB962C8B-B14F-4D97-AF65-F5344CB8AC3E}">
        <p14:creationId xmlns:p14="http://schemas.microsoft.com/office/powerpoint/2010/main" val="137617532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5" name="TextBox 4"/>
          <p:cNvSpPr txBox="1"/>
          <p:nvPr/>
        </p:nvSpPr>
        <p:spPr>
          <a:xfrm>
            <a:off x="203578" y="373120"/>
            <a:ext cx="5282821" cy="461665"/>
          </a:xfrm>
          <a:prstGeom prst="rect">
            <a:avLst/>
          </a:prstGeom>
          <a:noFill/>
        </p:spPr>
        <p:txBody>
          <a:bodyPr wrap="square" rtlCol="0">
            <a:spAutoFit/>
          </a:bodyPr>
          <a:lstStyle/>
          <a:p>
            <a:r>
              <a:rPr lang="en-US" sz="2400" b="1" dirty="0" smtClean="0">
                <a:solidFill>
                  <a:srgbClr val="121214"/>
                </a:solidFill>
              </a:rPr>
              <a:t>Recent NoSQL database products</a:t>
            </a:r>
            <a:endParaRPr lang="en-IN" sz="2400" b="1"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401900"/>
            <a:ext cx="7924800" cy="4378037"/>
          </a:xfrm>
          <a:prstGeom prst="rect">
            <a:avLst/>
          </a:prstGeom>
        </p:spPr>
      </p:pic>
    </p:spTree>
    <p:extLst>
      <p:ext uri="{BB962C8B-B14F-4D97-AF65-F5344CB8AC3E}">
        <p14:creationId xmlns:p14="http://schemas.microsoft.com/office/powerpoint/2010/main" val="3552769195"/>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Features of NoSQL</a:t>
            </a:r>
            <a:endParaRPr lang="en-IN" sz="2400" b="1" dirty="0"/>
          </a:p>
        </p:txBody>
      </p:sp>
      <p:sp>
        <p:nvSpPr>
          <p:cNvPr id="8" name="Rectangle 7"/>
          <p:cNvSpPr/>
          <p:nvPr/>
        </p:nvSpPr>
        <p:spPr>
          <a:xfrm>
            <a:off x="203578" y="1066800"/>
            <a:ext cx="8864221" cy="4305666"/>
          </a:xfrm>
          <a:prstGeom prst="rect">
            <a:avLst/>
          </a:prstGeom>
        </p:spPr>
        <p:txBody>
          <a:bodyPr wrap="square">
            <a:spAutoFit/>
          </a:bodyPr>
          <a:lstStyle/>
          <a:p>
            <a:pPr algn="just">
              <a:lnSpc>
                <a:spcPct val="200000"/>
              </a:lnSpc>
            </a:pPr>
            <a:r>
              <a:rPr lang="en-GB" sz="2000" b="1" dirty="0">
                <a:solidFill>
                  <a:srgbClr val="FF0000"/>
                </a:solidFill>
              </a:rPr>
              <a:t>Non-relational</a:t>
            </a:r>
          </a:p>
          <a:p>
            <a:pPr marL="342900" indent="-342900" algn="just">
              <a:lnSpc>
                <a:spcPct val="200000"/>
              </a:lnSpc>
              <a:buFont typeface="Arial" panose="020B0604020202020204" pitchFamily="34" charset="0"/>
              <a:buChar char="•"/>
            </a:pPr>
            <a:r>
              <a:rPr lang="en-GB" sz="2000" dirty="0">
                <a:solidFill>
                  <a:srgbClr val="000000"/>
                </a:solidFill>
              </a:rPr>
              <a:t>NoSQL databases never follow the relational model</a:t>
            </a:r>
          </a:p>
          <a:p>
            <a:pPr marL="342900" indent="-342900" algn="just">
              <a:lnSpc>
                <a:spcPct val="200000"/>
              </a:lnSpc>
              <a:buFont typeface="Arial" panose="020B0604020202020204" pitchFamily="34" charset="0"/>
              <a:buChar char="•"/>
            </a:pPr>
            <a:r>
              <a:rPr lang="en-GB" sz="2000" dirty="0">
                <a:solidFill>
                  <a:srgbClr val="000000"/>
                </a:solidFill>
              </a:rPr>
              <a:t>Never provide tables with flat fixed-column records</a:t>
            </a:r>
          </a:p>
          <a:p>
            <a:pPr marL="342900" indent="-342900" algn="just">
              <a:lnSpc>
                <a:spcPct val="200000"/>
              </a:lnSpc>
              <a:buFont typeface="Arial" panose="020B0604020202020204" pitchFamily="34" charset="0"/>
              <a:buChar char="•"/>
            </a:pPr>
            <a:r>
              <a:rPr lang="en-GB" sz="2000" dirty="0">
                <a:solidFill>
                  <a:srgbClr val="000000"/>
                </a:solidFill>
              </a:rPr>
              <a:t>Work with self-contained aggregates</a:t>
            </a:r>
          </a:p>
          <a:p>
            <a:pPr marL="342900" indent="-342900" algn="just">
              <a:lnSpc>
                <a:spcPct val="200000"/>
              </a:lnSpc>
              <a:buFont typeface="Arial" panose="020B0604020202020204" pitchFamily="34" charset="0"/>
              <a:buChar char="•"/>
            </a:pPr>
            <a:r>
              <a:rPr lang="en-GB" sz="2000" dirty="0">
                <a:solidFill>
                  <a:srgbClr val="000000"/>
                </a:solidFill>
              </a:rPr>
              <a:t>Doesn’t require object-relational mapping and data normalization</a:t>
            </a:r>
          </a:p>
          <a:p>
            <a:pPr marL="342900" indent="-342900" algn="just">
              <a:lnSpc>
                <a:spcPct val="200000"/>
              </a:lnSpc>
              <a:buFont typeface="Arial" panose="020B0604020202020204" pitchFamily="34" charset="0"/>
              <a:buChar char="•"/>
            </a:pPr>
            <a:r>
              <a:rPr lang="en-GB" sz="2000" dirty="0">
                <a:solidFill>
                  <a:srgbClr val="000000"/>
                </a:solidFill>
              </a:rPr>
              <a:t>No complex features like query languages, query planners, referential integrity join, ACID</a:t>
            </a:r>
            <a:endParaRPr lang="en-US" sz="2000" dirty="0">
              <a:solidFill>
                <a:srgbClr val="000000"/>
              </a:solidFill>
            </a:endParaRPr>
          </a:p>
        </p:txBody>
      </p:sp>
    </p:spTree>
    <p:extLst>
      <p:ext uri="{BB962C8B-B14F-4D97-AF65-F5344CB8AC3E}">
        <p14:creationId xmlns:p14="http://schemas.microsoft.com/office/powerpoint/2010/main" val="233757367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Features of NoSQL</a:t>
            </a:r>
            <a:endParaRPr lang="en-IN" sz="2400" b="1" dirty="0"/>
          </a:p>
        </p:txBody>
      </p:sp>
      <p:sp>
        <p:nvSpPr>
          <p:cNvPr id="8" name="Rectangle 7"/>
          <p:cNvSpPr/>
          <p:nvPr/>
        </p:nvSpPr>
        <p:spPr>
          <a:xfrm>
            <a:off x="203578" y="1066800"/>
            <a:ext cx="8864221" cy="3939540"/>
          </a:xfrm>
          <a:prstGeom prst="rect">
            <a:avLst/>
          </a:prstGeom>
        </p:spPr>
        <p:txBody>
          <a:bodyPr wrap="square">
            <a:spAutoFit/>
          </a:bodyPr>
          <a:lstStyle/>
          <a:p>
            <a:pPr algn="just">
              <a:lnSpc>
                <a:spcPct val="200000"/>
              </a:lnSpc>
            </a:pPr>
            <a:r>
              <a:rPr lang="en-GB" sz="2000" b="1" dirty="0">
                <a:solidFill>
                  <a:srgbClr val="FF0000"/>
                </a:solidFill>
              </a:rPr>
              <a:t>Schema-free</a:t>
            </a:r>
          </a:p>
          <a:p>
            <a:pPr marL="342900" indent="-342900" algn="just">
              <a:lnSpc>
                <a:spcPct val="150000"/>
              </a:lnSpc>
              <a:buFont typeface="Arial" panose="020B0604020202020204" pitchFamily="34" charset="0"/>
              <a:buChar char="•"/>
            </a:pPr>
            <a:r>
              <a:rPr lang="en-GB" sz="2000" dirty="0">
                <a:solidFill>
                  <a:srgbClr val="000000"/>
                </a:solidFill>
              </a:rPr>
              <a:t>NoSQL databases are either schema-free or have relaxed schemas</a:t>
            </a:r>
          </a:p>
          <a:p>
            <a:pPr marL="342900" indent="-342900" algn="just">
              <a:lnSpc>
                <a:spcPct val="150000"/>
              </a:lnSpc>
              <a:buFont typeface="Arial" panose="020B0604020202020204" pitchFamily="34" charset="0"/>
              <a:buChar char="•"/>
            </a:pPr>
            <a:r>
              <a:rPr lang="en-GB" sz="2000" dirty="0">
                <a:solidFill>
                  <a:srgbClr val="000000"/>
                </a:solidFill>
              </a:rPr>
              <a:t>Do not require any sort of definition of the schema of the data</a:t>
            </a:r>
          </a:p>
          <a:p>
            <a:pPr marL="342900" indent="-342900" algn="just">
              <a:lnSpc>
                <a:spcPct val="150000"/>
              </a:lnSpc>
              <a:buFont typeface="Arial" panose="020B0604020202020204" pitchFamily="34" charset="0"/>
              <a:buChar char="•"/>
            </a:pPr>
            <a:r>
              <a:rPr lang="en-GB" sz="2000" dirty="0">
                <a:solidFill>
                  <a:srgbClr val="000000"/>
                </a:solidFill>
              </a:rPr>
              <a:t>Offers heterogeneous structures of data in the same domain</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pic>
        <p:nvPicPr>
          <p:cNvPr id="6" name="Picture 5"/>
          <p:cNvPicPr>
            <a:picLocks noChangeAspect="1"/>
          </p:cNvPicPr>
          <p:nvPr/>
        </p:nvPicPr>
        <p:blipFill>
          <a:blip r:embed="rId2"/>
          <a:stretch>
            <a:fillRect/>
          </a:stretch>
        </p:blipFill>
        <p:spPr>
          <a:xfrm>
            <a:off x="1562100" y="3276600"/>
            <a:ext cx="7124700" cy="2513651"/>
          </a:xfrm>
          <a:prstGeom prst="rect">
            <a:avLst/>
          </a:prstGeom>
        </p:spPr>
      </p:pic>
    </p:spTree>
    <p:extLst>
      <p:ext uri="{BB962C8B-B14F-4D97-AF65-F5344CB8AC3E}">
        <p14:creationId xmlns:p14="http://schemas.microsoft.com/office/powerpoint/2010/main" val="85352957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Features of NoSQL</a:t>
            </a:r>
            <a:endParaRPr lang="en-IN" sz="2400" b="1" dirty="0"/>
          </a:p>
        </p:txBody>
      </p:sp>
      <p:sp>
        <p:nvSpPr>
          <p:cNvPr id="8" name="Rectangle 7"/>
          <p:cNvSpPr/>
          <p:nvPr/>
        </p:nvSpPr>
        <p:spPr>
          <a:xfrm>
            <a:off x="203578" y="1066800"/>
            <a:ext cx="8864221" cy="5170646"/>
          </a:xfrm>
          <a:prstGeom prst="rect">
            <a:avLst/>
          </a:prstGeom>
        </p:spPr>
        <p:txBody>
          <a:bodyPr wrap="square">
            <a:spAutoFit/>
          </a:bodyPr>
          <a:lstStyle/>
          <a:p>
            <a:pPr algn="just">
              <a:lnSpc>
                <a:spcPct val="200000"/>
              </a:lnSpc>
            </a:pPr>
            <a:r>
              <a:rPr lang="en-GB" sz="2000" b="1" dirty="0">
                <a:solidFill>
                  <a:srgbClr val="FF0000"/>
                </a:solidFill>
              </a:rPr>
              <a:t>Simple API</a:t>
            </a:r>
          </a:p>
          <a:p>
            <a:pPr marL="342900" indent="-342900" algn="just">
              <a:lnSpc>
                <a:spcPct val="200000"/>
              </a:lnSpc>
              <a:buFont typeface="Arial" panose="020B0604020202020204" pitchFamily="34" charset="0"/>
              <a:buChar char="•"/>
            </a:pPr>
            <a:r>
              <a:rPr lang="en-GB" sz="2000" dirty="0"/>
              <a:t>Offer easy-to-use interfaces for storage and querying data provided</a:t>
            </a:r>
          </a:p>
          <a:p>
            <a:pPr marL="342900" indent="-342900" algn="just">
              <a:lnSpc>
                <a:spcPct val="200000"/>
              </a:lnSpc>
              <a:buFont typeface="Arial" panose="020B0604020202020204" pitchFamily="34" charset="0"/>
              <a:buChar char="•"/>
            </a:pPr>
            <a:r>
              <a:rPr lang="en-GB" sz="2000" dirty="0"/>
              <a:t>APIs allow low-level data manipulation and selection methods</a:t>
            </a:r>
          </a:p>
          <a:p>
            <a:pPr marL="342900" indent="-342900" algn="just">
              <a:lnSpc>
                <a:spcPct val="200000"/>
              </a:lnSpc>
              <a:buFont typeface="Arial" panose="020B0604020202020204" pitchFamily="34" charset="0"/>
              <a:buChar char="•"/>
            </a:pPr>
            <a:r>
              <a:rPr lang="en-GB" sz="2000" dirty="0"/>
              <a:t>Text-based protocol  mostly used with </a:t>
            </a:r>
            <a:r>
              <a:rPr lang="en-GB" sz="2000" b="1" dirty="0"/>
              <a:t>HTTP REST with JSON</a:t>
            </a:r>
          </a:p>
          <a:p>
            <a:pPr marL="342900" indent="-342900" algn="just">
              <a:lnSpc>
                <a:spcPct val="200000"/>
              </a:lnSpc>
              <a:buFont typeface="Arial" panose="020B0604020202020204" pitchFamily="34" charset="0"/>
              <a:buChar char="•"/>
            </a:pPr>
            <a:r>
              <a:rPr lang="en-GB" sz="2000" dirty="0"/>
              <a:t>Mostly used no standard-based NoSQL query language</a:t>
            </a:r>
          </a:p>
          <a:p>
            <a:pPr marL="342900" indent="-342900" algn="just">
              <a:lnSpc>
                <a:spcPct val="200000"/>
              </a:lnSpc>
              <a:buFont typeface="Arial" panose="020B0604020202020204" pitchFamily="34" charset="0"/>
              <a:buChar char="•"/>
            </a:pPr>
            <a:r>
              <a:rPr lang="en-GB" sz="2000" dirty="0"/>
              <a:t>Web-enabled databases running as internet-facing services</a:t>
            </a:r>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248441375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Features of NoSQL</a:t>
            </a:r>
            <a:endParaRPr lang="en-IN" sz="2400" b="1" dirty="0"/>
          </a:p>
        </p:txBody>
      </p:sp>
      <p:sp>
        <p:nvSpPr>
          <p:cNvPr id="8" name="Rectangle 7"/>
          <p:cNvSpPr/>
          <p:nvPr/>
        </p:nvSpPr>
        <p:spPr>
          <a:xfrm>
            <a:off x="203578" y="1066800"/>
            <a:ext cx="8864221" cy="3728585"/>
          </a:xfrm>
          <a:prstGeom prst="rect">
            <a:avLst/>
          </a:prstGeom>
        </p:spPr>
        <p:txBody>
          <a:bodyPr wrap="square">
            <a:spAutoFit/>
          </a:bodyPr>
          <a:lstStyle/>
          <a:p>
            <a:pPr algn="just">
              <a:lnSpc>
                <a:spcPct val="150000"/>
              </a:lnSpc>
            </a:pPr>
            <a:r>
              <a:rPr lang="en-GB" sz="2000" b="1" dirty="0">
                <a:solidFill>
                  <a:srgbClr val="FF0000"/>
                </a:solidFill>
              </a:rPr>
              <a:t>Distributed</a:t>
            </a:r>
          </a:p>
          <a:p>
            <a:pPr marL="342900" indent="-342900" algn="just">
              <a:lnSpc>
                <a:spcPct val="150000"/>
              </a:lnSpc>
              <a:buFont typeface="Arial" panose="020B0604020202020204" pitchFamily="34" charset="0"/>
              <a:buChar char="•"/>
            </a:pPr>
            <a:r>
              <a:rPr lang="en-GB" sz="2000" dirty="0"/>
              <a:t>Multiple NoSQL databases can be executed in a distributed fashion</a:t>
            </a:r>
          </a:p>
          <a:p>
            <a:pPr marL="342900" indent="-342900" algn="just">
              <a:lnSpc>
                <a:spcPct val="150000"/>
              </a:lnSpc>
              <a:buFont typeface="Arial" panose="020B0604020202020204" pitchFamily="34" charset="0"/>
              <a:buChar char="•"/>
            </a:pPr>
            <a:r>
              <a:rPr lang="en-GB" sz="2000" dirty="0"/>
              <a:t>Offers auto-scaling and fail-over capabilities</a:t>
            </a:r>
          </a:p>
          <a:p>
            <a:pPr marL="342900" indent="-342900" algn="just">
              <a:lnSpc>
                <a:spcPct val="150000"/>
              </a:lnSpc>
              <a:buFont typeface="Arial" panose="020B0604020202020204" pitchFamily="34" charset="0"/>
              <a:buChar char="•"/>
            </a:pPr>
            <a:r>
              <a:rPr lang="en-GB" sz="2000" dirty="0"/>
              <a:t>Often ACID concept can be sacrificed for scalability and throughput</a:t>
            </a:r>
          </a:p>
          <a:p>
            <a:pPr marL="342900" indent="-342900" algn="just">
              <a:lnSpc>
                <a:spcPct val="150000"/>
              </a:lnSpc>
              <a:buFont typeface="Arial" panose="020B0604020202020204" pitchFamily="34" charset="0"/>
              <a:buChar char="•"/>
            </a:pPr>
            <a:r>
              <a:rPr lang="en-GB" sz="2000" dirty="0"/>
              <a:t>Shared Nothing Architecture. This enables less coordination and higher distribution.</a:t>
            </a:r>
          </a:p>
          <a:p>
            <a:pPr marL="342900" indent="-342900" algn="just">
              <a:lnSpc>
                <a:spcPct val="150000"/>
              </a:lnSpc>
              <a:buFont typeface="Arial" panose="020B0604020202020204" pitchFamily="34" charset="0"/>
              <a:buChar char="•"/>
            </a:pPr>
            <a:endParaRPr lang="en-GB" sz="2000" dirty="0"/>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308601634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Features of NoSQL</a:t>
            </a:r>
            <a:endParaRPr lang="en-IN" sz="2400" b="1" dirty="0"/>
          </a:p>
        </p:txBody>
      </p:sp>
      <p:sp>
        <p:nvSpPr>
          <p:cNvPr id="8" name="Rectangle 7"/>
          <p:cNvSpPr/>
          <p:nvPr/>
        </p:nvSpPr>
        <p:spPr>
          <a:xfrm>
            <a:off x="203578" y="1066800"/>
            <a:ext cx="8864221" cy="958596"/>
          </a:xfrm>
          <a:prstGeom prst="rect">
            <a:avLst/>
          </a:prstGeom>
        </p:spPr>
        <p:txBody>
          <a:bodyPr wrap="square">
            <a:spAutoFit/>
          </a:bodyPr>
          <a:lstStyle/>
          <a:p>
            <a:pPr algn="just">
              <a:lnSpc>
                <a:spcPct val="150000"/>
              </a:lnSpc>
            </a:pPr>
            <a:r>
              <a:rPr lang="en-GB" sz="2000" b="1" dirty="0">
                <a:solidFill>
                  <a:srgbClr val="FF0000"/>
                </a:solidFill>
              </a:rPr>
              <a:t>Distributed</a:t>
            </a:r>
          </a:p>
          <a:p>
            <a:pPr marL="342900" indent="-342900" algn="just">
              <a:lnSpc>
                <a:spcPct val="150000"/>
              </a:lnSpc>
              <a:buFont typeface="Arial" panose="020B0604020202020204" pitchFamily="34" charset="0"/>
              <a:buChar char="•"/>
            </a:pPr>
            <a:endParaRPr lang="en-US" sz="2000" dirty="0"/>
          </a:p>
        </p:txBody>
      </p:sp>
      <p:pic>
        <p:nvPicPr>
          <p:cNvPr id="6" name="Picture 5"/>
          <p:cNvPicPr>
            <a:picLocks noChangeAspect="1"/>
          </p:cNvPicPr>
          <p:nvPr/>
        </p:nvPicPr>
        <p:blipFill>
          <a:blip r:embed="rId2"/>
          <a:stretch>
            <a:fillRect/>
          </a:stretch>
        </p:blipFill>
        <p:spPr>
          <a:xfrm>
            <a:off x="685800" y="1574630"/>
            <a:ext cx="7772400" cy="3606969"/>
          </a:xfrm>
          <a:prstGeom prst="rect">
            <a:avLst/>
          </a:prstGeom>
        </p:spPr>
      </p:pic>
    </p:spTree>
    <p:extLst>
      <p:ext uri="{BB962C8B-B14F-4D97-AF65-F5344CB8AC3E}">
        <p14:creationId xmlns:p14="http://schemas.microsoft.com/office/powerpoint/2010/main" val="275465459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a:solidFill>
                  <a:srgbClr val="121214"/>
                </a:solidFill>
              </a:rPr>
              <a:t>Advantages of NoSQL</a:t>
            </a:r>
            <a:endParaRPr lang="en-IN" sz="2400" b="1" dirty="0"/>
          </a:p>
        </p:txBody>
      </p:sp>
      <p:sp>
        <p:nvSpPr>
          <p:cNvPr id="8" name="Rectangle 7"/>
          <p:cNvSpPr/>
          <p:nvPr/>
        </p:nvSpPr>
        <p:spPr>
          <a:xfrm>
            <a:off x="203578" y="1066800"/>
            <a:ext cx="8864221" cy="5124480"/>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t>Can be used as a </a:t>
            </a:r>
            <a:r>
              <a:rPr lang="en-GB" sz="2000" b="1" dirty="0"/>
              <a:t>Primary or Analytic </a:t>
            </a:r>
            <a:r>
              <a:rPr lang="en-GB" sz="2000" dirty="0"/>
              <a:t>Data Source</a:t>
            </a:r>
          </a:p>
          <a:p>
            <a:pPr marL="342900" indent="-342900" algn="just">
              <a:lnSpc>
                <a:spcPct val="150000"/>
              </a:lnSpc>
              <a:buFont typeface="Arial" panose="020B0604020202020204" pitchFamily="34" charset="0"/>
              <a:buChar char="•"/>
            </a:pPr>
            <a:r>
              <a:rPr lang="en-GB" sz="2000" dirty="0"/>
              <a:t>Big Data Capability</a:t>
            </a:r>
          </a:p>
          <a:p>
            <a:pPr marL="342900" indent="-342900" algn="just">
              <a:lnSpc>
                <a:spcPct val="150000"/>
              </a:lnSpc>
              <a:buFont typeface="Arial" panose="020B0604020202020204" pitchFamily="34" charset="0"/>
              <a:buChar char="•"/>
            </a:pPr>
            <a:r>
              <a:rPr lang="en-GB" sz="2000" dirty="0"/>
              <a:t>No Single Point of Failure</a:t>
            </a:r>
          </a:p>
          <a:p>
            <a:pPr marL="342900" indent="-342900" algn="just">
              <a:lnSpc>
                <a:spcPct val="150000"/>
              </a:lnSpc>
              <a:buFont typeface="Arial" panose="020B0604020202020204" pitchFamily="34" charset="0"/>
              <a:buChar char="•"/>
            </a:pPr>
            <a:r>
              <a:rPr lang="en-GB" sz="2000" dirty="0"/>
              <a:t>Easy Replication</a:t>
            </a:r>
          </a:p>
          <a:p>
            <a:pPr marL="342900" indent="-342900" algn="just">
              <a:lnSpc>
                <a:spcPct val="150000"/>
              </a:lnSpc>
              <a:buFont typeface="Arial" panose="020B0604020202020204" pitchFamily="34" charset="0"/>
              <a:buChar char="•"/>
            </a:pPr>
            <a:r>
              <a:rPr lang="en-GB" sz="2000" dirty="0"/>
              <a:t>No Need for Separate Caching Layer</a:t>
            </a:r>
          </a:p>
          <a:p>
            <a:pPr marL="342900" indent="-342900" algn="just">
              <a:lnSpc>
                <a:spcPct val="150000"/>
              </a:lnSpc>
              <a:buFont typeface="Arial" panose="020B0604020202020204" pitchFamily="34" charset="0"/>
              <a:buChar char="•"/>
            </a:pPr>
            <a:r>
              <a:rPr lang="en-GB" sz="2000" dirty="0"/>
              <a:t>It provides </a:t>
            </a:r>
            <a:r>
              <a:rPr lang="en-GB" sz="2000" b="1" dirty="0"/>
              <a:t>fast performance and horizontal scalability.</a:t>
            </a:r>
          </a:p>
          <a:p>
            <a:pPr marL="342900" indent="-342900" algn="just">
              <a:lnSpc>
                <a:spcPct val="150000"/>
              </a:lnSpc>
              <a:buFont typeface="Arial" panose="020B0604020202020204" pitchFamily="34" charset="0"/>
              <a:buChar char="•"/>
            </a:pPr>
            <a:r>
              <a:rPr lang="en-GB" sz="2000" dirty="0"/>
              <a:t>Can handle structured, semi-structured, and unstructured data with equal effect</a:t>
            </a:r>
          </a:p>
          <a:p>
            <a:pPr marL="342900" indent="-342900" algn="just">
              <a:lnSpc>
                <a:spcPct val="150000"/>
              </a:lnSpc>
              <a:buFont typeface="Arial" panose="020B0604020202020204" pitchFamily="34" charset="0"/>
              <a:buChar char="•"/>
            </a:pPr>
            <a:r>
              <a:rPr lang="en-GB" sz="2000" b="1" dirty="0"/>
              <a:t>Object-oriented programming which is easy to use and flexible</a:t>
            </a:r>
          </a:p>
          <a:p>
            <a:pPr marL="342900" indent="-342900" algn="just">
              <a:lnSpc>
                <a:spcPct val="150000"/>
              </a:lnSpc>
              <a:buFont typeface="Arial" panose="020B0604020202020204" pitchFamily="34" charset="0"/>
              <a:buChar char="•"/>
            </a:pPr>
            <a:r>
              <a:rPr lang="en-GB" b="1" dirty="0"/>
              <a:t>NoSQL databases don’t need a dedicated high-performance server</a:t>
            </a:r>
          </a:p>
          <a:p>
            <a:pPr marL="342900" indent="-342900" algn="just">
              <a:lnSpc>
                <a:spcPct val="150000"/>
              </a:lnSpc>
              <a:buFont typeface="Arial" panose="020B0604020202020204" pitchFamily="34" charset="0"/>
              <a:buChar char="•"/>
            </a:pPr>
            <a:endParaRPr lang="en-US" sz="2000" dirty="0"/>
          </a:p>
        </p:txBody>
      </p:sp>
    </p:spTree>
    <p:extLst>
      <p:ext uri="{BB962C8B-B14F-4D97-AF65-F5344CB8AC3E}">
        <p14:creationId xmlns:p14="http://schemas.microsoft.com/office/powerpoint/2010/main" val="2122475389"/>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a:solidFill>
                  <a:srgbClr val="121214"/>
                </a:solidFill>
              </a:rPr>
              <a:t>Advantages of NoSQL</a:t>
            </a:r>
            <a:endParaRPr lang="en-IN" sz="2400" b="1" dirty="0"/>
          </a:p>
        </p:txBody>
      </p:sp>
      <p:sp>
        <p:nvSpPr>
          <p:cNvPr id="8" name="Rectangle 7"/>
          <p:cNvSpPr/>
          <p:nvPr/>
        </p:nvSpPr>
        <p:spPr>
          <a:xfrm>
            <a:off x="203578" y="1066800"/>
            <a:ext cx="8864221" cy="4247317"/>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t>Support Key Developer Languages and Platforms</a:t>
            </a:r>
          </a:p>
          <a:p>
            <a:pPr marL="342900" indent="-342900" algn="just">
              <a:lnSpc>
                <a:spcPct val="150000"/>
              </a:lnSpc>
              <a:buFont typeface="Arial" panose="020B0604020202020204" pitchFamily="34" charset="0"/>
              <a:buChar char="•"/>
            </a:pPr>
            <a:r>
              <a:rPr lang="en-GB" sz="2000" dirty="0"/>
              <a:t>Simple </a:t>
            </a:r>
            <a:r>
              <a:rPr lang="en-GB" sz="2000" b="1" dirty="0"/>
              <a:t>to implement than using RDBMS</a:t>
            </a:r>
          </a:p>
          <a:p>
            <a:pPr marL="342900" indent="-342900" algn="just">
              <a:lnSpc>
                <a:spcPct val="150000"/>
              </a:lnSpc>
              <a:buFont typeface="Arial" panose="020B0604020202020204" pitchFamily="34" charset="0"/>
              <a:buChar char="•"/>
            </a:pPr>
            <a:r>
              <a:rPr lang="en-GB" sz="2000" dirty="0"/>
              <a:t>It can serve as the primary data source for online applications.</a:t>
            </a:r>
          </a:p>
          <a:p>
            <a:pPr marL="342900" indent="-342900" algn="just">
              <a:lnSpc>
                <a:spcPct val="150000"/>
              </a:lnSpc>
              <a:buFont typeface="Arial" panose="020B0604020202020204" pitchFamily="34" charset="0"/>
              <a:buChar char="•"/>
            </a:pPr>
            <a:r>
              <a:rPr lang="en-GB" sz="2000" b="1" dirty="0"/>
              <a:t>Handles big data which manages data velocity, variety, volume, and complexity</a:t>
            </a:r>
          </a:p>
          <a:p>
            <a:pPr marL="342900" indent="-342900" algn="just">
              <a:lnSpc>
                <a:spcPct val="150000"/>
              </a:lnSpc>
              <a:buFont typeface="Arial" panose="020B0604020202020204" pitchFamily="34" charset="0"/>
              <a:buChar char="•"/>
            </a:pPr>
            <a:r>
              <a:rPr lang="en-GB" sz="2000" dirty="0"/>
              <a:t>Excels at distributed database and multi-data centre operations</a:t>
            </a:r>
          </a:p>
          <a:p>
            <a:pPr marL="342900" indent="-342900" algn="just">
              <a:lnSpc>
                <a:spcPct val="150000"/>
              </a:lnSpc>
              <a:buFont typeface="Arial" panose="020B0604020202020204" pitchFamily="34" charset="0"/>
              <a:buChar char="•"/>
            </a:pPr>
            <a:r>
              <a:rPr lang="en-GB" sz="2000" dirty="0"/>
              <a:t>Eliminates the need for a specific caching layer to store data</a:t>
            </a:r>
          </a:p>
          <a:p>
            <a:pPr marL="342900" indent="-342900" algn="just">
              <a:lnSpc>
                <a:spcPct val="150000"/>
              </a:lnSpc>
              <a:buFont typeface="Arial" panose="020B0604020202020204" pitchFamily="34" charset="0"/>
              <a:buChar char="•"/>
            </a:pPr>
            <a:r>
              <a:rPr lang="en-GB" sz="2000" dirty="0"/>
              <a:t>Offers a flexible schema design that can easily be altered without downtime or service disruption</a:t>
            </a:r>
            <a:endParaRPr lang="en-US" sz="2000" dirty="0"/>
          </a:p>
        </p:txBody>
      </p:sp>
    </p:spTree>
    <p:extLst>
      <p:ext uri="{BB962C8B-B14F-4D97-AF65-F5344CB8AC3E}">
        <p14:creationId xmlns:p14="http://schemas.microsoft.com/office/powerpoint/2010/main" val="283585170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a:solidFill>
                  <a:srgbClr val="121214"/>
                </a:solidFill>
              </a:rPr>
              <a:t>Disadvantages of NoSQL</a:t>
            </a:r>
            <a:endParaRPr lang="en-IN" sz="2400" b="1" dirty="0"/>
          </a:p>
        </p:txBody>
      </p:sp>
      <p:sp>
        <p:nvSpPr>
          <p:cNvPr id="8" name="Rectangle 7"/>
          <p:cNvSpPr/>
          <p:nvPr/>
        </p:nvSpPr>
        <p:spPr>
          <a:xfrm>
            <a:off x="203578" y="1066800"/>
            <a:ext cx="8864221"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t>No standardization rules</a:t>
            </a:r>
          </a:p>
          <a:p>
            <a:pPr marL="342900" indent="-342900" algn="just">
              <a:lnSpc>
                <a:spcPct val="150000"/>
              </a:lnSpc>
              <a:buFont typeface="Arial" panose="020B0604020202020204" pitchFamily="34" charset="0"/>
              <a:buChar char="•"/>
            </a:pPr>
            <a:r>
              <a:rPr lang="en-GB" sz="2000" b="1" dirty="0"/>
              <a:t>Limited query capabilities</a:t>
            </a:r>
          </a:p>
          <a:p>
            <a:pPr marL="342900" indent="-342900" algn="just">
              <a:lnSpc>
                <a:spcPct val="150000"/>
              </a:lnSpc>
              <a:buFont typeface="Arial" panose="020B0604020202020204" pitchFamily="34" charset="0"/>
              <a:buChar char="•"/>
            </a:pPr>
            <a:r>
              <a:rPr lang="en-GB" sz="2000" dirty="0"/>
              <a:t>RDBMS databases and tools are comparatively mature</a:t>
            </a:r>
          </a:p>
          <a:p>
            <a:pPr marL="342900" indent="-342900" algn="just">
              <a:lnSpc>
                <a:spcPct val="150000"/>
              </a:lnSpc>
              <a:buFont typeface="Arial" panose="020B0604020202020204" pitchFamily="34" charset="0"/>
              <a:buChar char="•"/>
            </a:pPr>
            <a:r>
              <a:rPr lang="en-GB" sz="2000" dirty="0"/>
              <a:t>It does not offer any traditional database capabilities, like consistency when multiple transactions are performed simultaneously.</a:t>
            </a:r>
          </a:p>
          <a:p>
            <a:pPr marL="342900" indent="-342900" algn="just">
              <a:lnSpc>
                <a:spcPct val="150000"/>
              </a:lnSpc>
              <a:buFont typeface="Arial" panose="020B0604020202020204" pitchFamily="34" charset="0"/>
              <a:buChar char="•"/>
            </a:pPr>
            <a:r>
              <a:rPr lang="en-GB" sz="2000" dirty="0"/>
              <a:t>When the volume of data increases it is difficult to maintain unique values as keys become difficult</a:t>
            </a:r>
          </a:p>
          <a:p>
            <a:pPr marL="342900" indent="-342900" algn="just">
              <a:lnSpc>
                <a:spcPct val="150000"/>
              </a:lnSpc>
              <a:buFont typeface="Arial" panose="020B0604020202020204" pitchFamily="34" charset="0"/>
              <a:buChar char="•"/>
            </a:pPr>
            <a:r>
              <a:rPr lang="en-GB" sz="2000" b="1" dirty="0"/>
              <a:t>Doesn’t work as well with relational data</a:t>
            </a:r>
          </a:p>
          <a:p>
            <a:pPr marL="342900" indent="-342900" algn="just">
              <a:lnSpc>
                <a:spcPct val="150000"/>
              </a:lnSpc>
              <a:buFont typeface="Arial" panose="020B0604020202020204" pitchFamily="34" charset="0"/>
              <a:buChar char="•"/>
            </a:pPr>
            <a:r>
              <a:rPr lang="en-GB" sz="2000" dirty="0"/>
              <a:t>The learning curve is stiff for new developers</a:t>
            </a:r>
          </a:p>
          <a:p>
            <a:pPr marL="342900" indent="-342900" algn="just">
              <a:lnSpc>
                <a:spcPct val="150000"/>
              </a:lnSpc>
              <a:buFont typeface="Arial" panose="020B0604020202020204" pitchFamily="34" charset="0"/>
              <a:buChar char="•"/>
            </a:pPr>
            <a:r>
              <a:rPr lang="en-GB" sz="2000" dirty="0"/>
              <a:t>Open source options so not so popular for enterprises.</a:t>
            </a:r>
            <a:endParaRPr lang="en-US" sz="2000" dirty="0"/>
          </a:p>
        </p:txBody>
      </p:sp>
    </p:spTree>
    <p:extLst>
      <p:ext uri="{BB962C8B-B14F-4D97-AF65-F5344CB8AC3E}">
        <p14:creationId xmlns:p14="http://schemas.microsoft.com/office/powerpoint/2010/main" val="429354852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a:solidFill>
                  <a:srgbClr val="121214"/>
                </a:solidFill>
              </a:rPr>
              <a:t>Summary of NoSQL</a:t>
            </a:r>
            <a:endParaRPr lang="en-IN" sz="2400" b="1" dirty="0"/>
          </a:p>
        </p:txBody>
      </p:sp>
      <p:sp>
        <p:nvSpPr>
          <p:cNvPr id="8" name="Rectangle 7"/>
          <p:cNvSpPr/>
          <p:nvPr/>
        </p:nvSpPr>
        <p:spPr>
          <a:xfrm>
            <a:off x="203578" y="1066800"/>
            <a:ext cx="8864221"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t>NoSQL is a non-relational DMS, that does </a:t>
            </a:r>
            <a:r>
              <a:rPr lang="en-GB" sz="2000" b="1" dirty="0"/>
              <a:t>not require a fixed schema</a:t>
            </a:r>
            <a:r>
              <a:rPr lang="en-GB" sz="2000" dirty="0"/>
              <a:t>, avoids joins, and is easy to scale</a:t>
            </a:r>
          </a:p>
          <a:p>
            <a:pPr marL="342900" indent="-342900" algn="just">
              <a:lnSpc>
                <a:spcPct val="150000"/>
              </a:lnSpc>
              <a:buFont typeface="Arial" panose="020B0604020202020204" pitchFamily="34" charset="0"/>
              <a:buChar char="•"/>
            </a:pPr>
            <a:r>
              <a:rPr lang="en-GB" sz="2000" dirty="0"/>
              <a:t>The concept of NoSQL databases became popular with Internet giants like </a:t>
            </a:r>
            <a:r>
              <a:rPr lang="en-GB" sz="2000" b="1" dirty="0"/>
              <a:t>Google, Facebook, Amazon, etc</a:t>
            </a:r>
            <a:r>
              <a:rPr lang="en-GB" sz="2000" dirty="0"/>
              <a:t>. who deal with huge volumes of data</a:t>
            </a:r>
          </a:p>
          <a:p>
            <a:pPr marL="342900" indent="-342900" algn="just">
              <a:lnSpc>
                <a:spcPct val="150000"/>
              </a:lnSpc>
              <a:buFont typeface="Arial" panose="020B0604020202020204" pitchFamily="34" charset="0"/>
              <a:buChar char="•"/>
            </a:pPr>
            <a:r>
              <a:rPr lang="en-GB" sz="2000" dirty="0"/>
              <a:t>In the year </a:t>
            </a:r>
            <a:r>
              <a:rPr lang="en-GB" sz="2000" b="1" dirty="0"/>
              <a:t>1998- Carlo </a:t>
            </a:r>
            <a:r>
              <a:rPr lang="en-GB" sz="2000" b="1" dirty="0" err="1"/>
              <a:t>Strozzi</a:t>
            </a:r>
            <a:r>
              <a:rPr lang="en-GB" sz="2000" dirty="0"/>
              <a:t> use the term NoSQL for his lightweight, open-source relational database</a:t>
            </a:r>
          </a:p>
          <a:p>
            <a:pPr marL="342900" indent="-342900" algn="just">
              <a:lnSpc>
                <a:spcPct val="150000"/>
              </a:lnSpc>
              <a:buFont typeface="Arial" panose="020B0604020202020204" pitchFamily="34" charset="0"/>
              <a:buChar char="•"/>
            </a:pPr>
            <a:r>
              <a:rPr lang="en-GB" sz="2000" dirty="0"/>
              <a:t>NoSQL databases never follow the relational model it is either schema-free or has relaxed schemas</a:t>
            </a:r>
          </a:p>
          <a:p>
            <a:pPr marL="342900" indent="-342900" algn="just">
              <a:lnSpc>
                <a:spcPct val="150000"/>
              </a:lnSpc>
              <a:buFont typeface="Arial" panose="020B0604020202020204" pitchFamily="34" charset="0"/>
              <a:buChar char="•"/>
            </a:pPr>
            <a:r>
              <a:rPr lang="en-GB" sz="2000" dirty="0"/>
              <a:t>Four types of NoSQL Database are 1). Key-value Pair Based 2). Column-oriented Graph 3). Graphs based 4). Document-oriented</a:t>
            </a:r>
            <a:endParaRPr lang="en-US" sz="2000" dirty="0"/>
          </a:p>
        </p:txBody>
      </p:sp>
    </p:spTree>
    <p:extLst>
      <p:ext uri="{BB962C8B-B14F-4D97-AF65-F5344CB8AC3E}">
        <p14:creationId xmlns:p14="http://schemas.microsoft.com/office/powerpoint/2010/main" val="242907812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GB" sz="2400" b="1" dirty="0">
                <a:solidFill>
                  <a:srgbClr val="121214"/>
                </a:solidFill>
              </a:rPr>
              <a:t>Summary of NoSQL</a:t>
            </a:r>
            <a:endParaRPr lang="en-IN" sz="2400" b="1" dirty="0"/>
          </a:p>
        </p:txBody>
      </p:sp>
      <p:sp>
        <p:nvSpPr>
          <p:cNvPr id="8" name="Rectangle 7"/>
          <p:cNvSpPr/>
          <p:nvPr/>
        </p:nvSpPr>
        <p:spPr>
          <a:xfrm>
            <a:off x="203578" y="1066800"/>
            <a:ext cx="8864221" cy="3785652"/>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t>NoSQL can handle structured, semi-structured, and unstructured data with equal effect</a:t>
            </a:r>
          </a:p>
          <a:p>
            <a:pPr marL="342900" indent="-342900" algn="just">
              <a:lnSpc>
                <a:spcPct val="150000"/>
              </a:lnSpc>
              <a:buFont typeface="Arial" panose="020B0604020202020204" pitchFamily="34" charset="0"/>
              <a:buChar char="•"/>
            </a:pPr>
            <a:r>
              <a:rPr lang="en-GB" sz="2000" b="1" dirty="0"/>
              <a:t>CAP theorem consists of three words Consistency, Availability, and Partition Tolerance</a:t>
            </a:r>
          </a:p>
          <a:p>
            <a:pPr marL="342900" indent="-342900" algn="just">
              <a:lnSpc>
                <a:spcPct val="150000"/>
              </a:lnSpc>
              <a:buFont typeface="Arial" panose="020B0604020202020204" pitchFamily="34" charset="0"/>
              <a:buChar char="•"/>
            </a:pPr>
            <a:r>
              <a:rPr lang="en-GB" sz="2000" dirty="0"/>
              <a:t>The BASE stands for </a:t>
            </a:r>
            <a:r>
              <a:rPr lang="en-GB" sz="2000" b="1" dirty="0"/>
              <a:t>Basically Available, Soft state, Eventual consistency</a:t>
            </a:r>
          </a:p>
          <a:p>
            <a:pPr marL="342900" indent="-342900" algn="just">
              <a:lnSpc>
                <a:spcPct val="150000"/>
              </a:lnSpc>
              <a:buFont typeface="Arial" panose="020B0604020202020204" pitchFamily="34" charset="0"/>
              <a:buChar char="•"/>
            </a:pPr>
            <a:r>
              <a:rPr lang="en-GB" sz="2000" dirty="0"/>
              <a:t>The term “eventual consistency” means to have copies of data on multiple machines to get high availability and scalability</a:t>
            </a:r>
          </a:p>
          <a:p>
            <a:pPr marL="342900" indent="-342900" algn="just">
              <a:lnSpc>
                <a:spcPct val="150000"/>
              </a:lnSpc>
              <a:buFont typeface="Arial" panose="020B0604020202020204" pitchFamily="34" charset="0"/>
              <a:buChar char="•"/>
            </a:pPr>
            <a:r>
              <a:rPr lang="en-GB" sz="2000" dirty="0"/>
              <a:t>NoSQL offer limited query capabilities</a:t>
            </a:r>
            <a:endParaRPr lang="en-US" sz="2000" dirty="0"/>
          </a:p>
        </p:txBody>
      </p:sp>
    </p:spTree>
    <p:extLst>
      <p:ext uri="{BB962C8B-B14F-4D97-AF65-F5344CB8AC3E}">
        <p14:creationId xmlns:p14="http://schemas.microsoft.com/office/powerpoint/2010/main" val="414522913"/>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631490"/>
          </a:xfrm>
          <a:prstGeom prst="rect">
            <a:avLst/>
          </a:prstGeom>
          <a:noFill/>
        </p:spPr>
        <p:txBody>
          <a:bodyPr wrap="square" rtlCol="0">
            <a:spAutoFit/>
          </a:bodyPr>
          <a:lstStyle/>
          <a:p>
            <a:pPr algn="just">
              <a:lnSpc>
                <a:spcPct val="150000"/>
              </a:lnSpc>
            </a:pPr>
            <a:r>
              <a:rPr lang="en-US" sz="2200" b="1" dirty="0" smtClean="0"/>
              <a:t>Types </a:t>
            </a:r>
            <a:r>
              <a:rPr lang="en-US" sz="2200" b="1" dirty="0"/>
              <a:t>of NoSQL Databases:</a:t>
            </a:r>
          </a:p>
          <a:p>
            <a:pPr marL="342900" indent="-342900" algn="just">
              <a:lnSpc>
                <a:spcPct val="150000"/>
              </a:lnSpc>
              <a:buFont typeface="Arial" panose="020B0604020202020204" pitchFamily="34" charset="0"/>
              <a:buChar char="•"/>
            </a:pPr>
            <a:r>
              <a:rPr lang="en-GB" sz="2200" dirty="0"/>
              <a:t>Key Valued Storage</a:t>
            </a:r>
          </a:p>
          <a:p>
            <a:pPr marL="342900" indent="-342900" algn="just">
              <a:lnSpc>
                <a:spcPct val="150000"/>
              </a:lnSpc>
              <a:buFont typeface="Arial" panose="020B0604020202020204" pitchFamily="34" charset="0"/>
              <a:buChar char="•"/>
            </a:pPr>
            <a:r>
              <a:rPr lang="en-GB" sz="2200" dirty="0"/>
              <a:t>Document Storage</a:t>
            </a:r>
          </a:p>
          <a:p>
            <a:pPr marL="342900" indent="-342900" algn="just">
              <a:lnSpc>
                <a:spcPct val="150000"/>
              </a:lnSpc>
              <a:buFont typeface="Arial" panose="020B0604020202020204" pitchFamily="34" charset="0"/>
              <a:buChar char="•"/>
            </a:pPr>
            <a:r>
              <a:rPr lang="en-GB" sz="2200" dirty="0"/>
              <a:t>Column Storage</a:t>
            </a:r>
          </a:p>
          <a:p>
            <a:pPr marL="342900" indent="-342900" algn="just">
              <a:lnSpc>
                <a:spcPct val="150000"/>
              </a:lnSpc>
              <a:buFont typeface="Arial" panose="020B0604020202020204" pitchFamily="34" charset="0"/>
              <a:buChar char="•"/>
            </a:pPr>
            <a:r>
              <a:rPr lang="en-GB" sz="2200" dirty="0"/>
              <a:t>Graph Storage</a:t>
            </a:r>
            <a:endParaRPr lang="en-US"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Types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4600" y="1396707"/>
            <a:ext cx="2197009" cy="1971675"/>
          </a:xfrm>
          <a:prstGeom prst="rect">
            <a:avLst/>
          </a:prstGeom>
        </p:spPr>
      </p:pic>
    </p:spTree>
    <p:extLst>
      <p:ext uri="{BB962C8B-B14F-4D97-AF65-F5344CB8AC3E}">
        <p14:creationId xmlns:p14="http://schemas.microsoft.com/office/powerpoint/2010/main" val="88476255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solidFill>
                  <a:srgbClr val="000000"/>
                </a:solidFill>
              </a:rPr>
              <a:t>Data is stored in </a:t>
            </a:r>
            <a:r>
              <a:rPr lang="en-GB" sz="2000" b="1" dirty="0">
                <a:solidFill>
                  <a:srgbClr val="000000"/>
                </a:solidFill>
              </a:rPr>
              <a:t>key/value </a:t>
            </a:r>
            <a:r>
              <a:rPr lang="en-GB" sz="2000" dirty="0">
                <a:solidFill>
                  <a:srgbClr val="000000"/>
                </a:solidFill>
              </a:rPr>
              <a:t>pairs. It is designed in such a way to </a:t>
            </a:r>
            <a:r>
              <a:rPr lang="en-GB" sz="2000" b="1" dirty="0">
                <a:solidFill>
                  <a:srgbClr val="00B050"/>
                </a:solidFill>
              </a:rPr>
              <a:t>handle lots of data and heavy load</a:t>
            </a:r>
            <a:r>
              <a:rPr lang="en-GB" sz="2000" dirty="0">
                <a:solidFill>
                  <a:srgbClr val="000000"/>
                </a:solidFill>
              </a:rPr>
              <a:t>.</a:t>
            </a:r>
          </a:p>
          <a:p>
            <a:pPr marL="342900" indent="-342900" algn="just">
              <a:lnSpc>
                <a:spcPct val="150000"/>
              </a:lnSpc>
              <a:buFont typeface="Arial" panose="020B0604020202020204" pitchFamily="34" charset="0"/>
              <a:buChar char="•"/>
            </a:pPr>
            <a:r>
              <a:rPr lang="en-GB" sz="2000" dirty="0">
                <a:solidFill>
                  <a:srgbClr val="000000"/>
                </a:solidFill>
              </a:rPr>
              <a:t>Key-value pair storage databases store data as a hash table where each key is unique, and the value can be a </a:t>
            </a:r>
            <a:r>
              <a:rPr lang="en-GB" sz="2000" b="1" dirty="0">
                <a:solidFill>
                  <a:srgbClr val="000000"/>
                </a:solidFill>
              </a:rPr>
              <a:t>JSON, BLOB(Binary Large Objects), string, etc.</a:t>
            </a:r>
            <a:endParaRPr lang="en-US" sz="2000" b="1"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Key Value Pair Based</a:t>
            </a:r>
            <a:endParaRPr lang="en-IN" sz="2400" b="1" dirty="0"/>
          </a:p>
        </p:txBody>
      </p:sp>
      <p:pic>
        <p:nvPicPr>
          <p:cNvPr id="6" name="Picture 5"/>
          <p:cNvPicPr>
            <a:picLocks noChangeAspect="1"/>
          </p:cNvPicPr>
          <p:nvPr/>
        </p:nvPicPr>
        <p:blipFill rotWithShape="1">
          <a:blip r:embed="rId2"/>
          <a:srcRect l="16618" t="34375" r="47072" b="23959"/>
          <a:stretch/>
        </p:blipFill>
        <p:spPr>
          <a:xfrm>
            <a:off x="4495800" y="3469479"/>
            <a:ext cx="3861180" cy="2240843"/>
          </a:xfrm>
          <a:prstGeom prst="rect">
            <a:avLst/>
          </a:prstGeom>
        </p:spPr>
      </p:pic>
      <p:pic>
        <p:nvPicPr>
          <p:cNvPr id="1026" name="Picture 2" descr="https://www.guru99.com/images/1/101818_0537_NoSQLTutori5.png"/>
          <p:cNvPicPr>
            <a:picLocks noChangeAspect="1" noChangeArrowheads="1"/>
          </p:cNvPicPr>
          <p:nvPr/>
        </p:nvPicPr>
        <p:blipFill rotWithShape="1">
          <a:blip r:embed="rId3">
            <a:extLst>
              <a:ext uri="{28A0092B-C50C-407E-A947-70E740481C1C}">
                <a14:useLocalDpi xmlns:a14="http://schemas.microsoft.com/office/drawing/2010/main" val="0"/>
              </a:ext>
            </a:extLst>
          </a:blip>
          <a:srcRect r="77074"/>
          <a:stretch/>
        </p:blipFill>
        <p:spPr bwMode="auto">
          <a:xfrm>
            <a:off x="1447800" y="3590919"/>
            <a:ext cx="2112575" cy="20662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11265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solidFill>
                  <a:srgbClr val="000000"/>
                </a:solidFill>
              </a:rPr>
              <a:t>Column-oriented databases work on columns and are based </a:t>
            </a:r>
            <a:r>
              <a:rPr lang="en-GB" sz="2000" b="1" dirty="0">
                <a:solidFill>
                  <a:srgbClr val="000000"/>
                </a:solidFill>
              </a:rPr>
              <a:t>on </a:t>
            </a:r>
            <a:r>
              <a:rPr lang="en-GB" sz="2000" b="1" dirty="0" err="1">
                <a:solidFill>
                  <a:srgbClr val="000000"/>
                </a:solidFill>
                <a:hlinkClick r:id="rId2"/>
              </a:rPr>
              <a:t>BigTable</a:t>
            </a:r>
            <a:r>
              <a:rPr lang="en-GB" sz="2000" b="1" dirty="0">
                <a:solidFill>
                  <a:srgbClr val="000000"/>
                </a:solidFill>
                <a:hlinkClick r:id="rId2"/>
              </a:rPr>
              <a:t> paper by Google</a:t>
            </a:r>
            <a:r>
              <a:rPr lang="en-GB" sz="2000" b="1" dirty="0">
                <a:solidFill>
                  <a:srgbClr val="000000"/>
                </a:solidFill>
              </a:rPr>
              <a:t>.</a:t>
            </a:r>
            <a:r>
              <a:rPr lang="en-GB" sz="2000" dirty="0">
                <a:solidFill>
                  <a:srgbClr val="000000"/>
                </a:solidFill>
              </a:rPr>
              <a:t> Every column is treated separately. Values of single-column databases are stored contiguously.</a:t>
            </a:r>
          </a:p>
          <a:p>
            <a:pPr marL="342900" indent="-342900" algn="just">
              <a:lnSpc>
                <a:spcPct val="150000"/>
              </a:lnSpc>
              <a:buFont typeface="Arial" panose="020B0604020202020204" pitchFamily="34" charset="0"/>
              <a:buChar char="•"/>
            </a:pPr>
            <a:r>
              <a:rPr lang="en-GB" sz="2000" dirty="0">
                <a:solidFill>
                  <a:srgbClr val="000000"/>
                </a:solidFill>
              </a:rPr>
              <a:t>Column-based </a:t>
            </a:r>
            <a:r>
              <a:rPr lang="en-GB" sz="2000" b="1" dirty="0">
                <a:solidFill>
                  <a:srgbClr val="000000"/>
                </a:solidFill>
              </a:rPr>
              <a:t>NoSQL databases are widely used to manage data warehouses, business intelligence </a:t>
            </a:r>
            <a:r>
              <a:rPr lang="en-GB" sz="2000" dirty="0">
                <a:solidFill>
                  <a:srgbClr val="000000"/>
                </a:solidFill>
              </a:rPr>
              <a:t>and Library card catalogues.</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Column-based</a:t>
            </a:r>
            <a:endParaRPr lang="en-IN" sz="2400" b="1" dirty="0"/>
          </a:p>
        </p:txBody>
      </p:sp>
      <p:pic>
        <p:nvPicPr>
          <p:cNvPr id="7" name="Picture 6"/>
          <p:cNvPicPr>
            <a:picLocks noChangeAspect="1"/>
          </p:cNvPicPr>
          <p:nvPr/>
        </p:nvPicPr>
        <p:blipFill>
          <a:blip r:embed="rId3"/>
          <a:stretch>
            <a:fillRect/>
          </a:stretch>
        </p:blipFill>
        <p:spPr>
          <a:xfrm>
            <a:off x="3962400" y="3657600"/>
            <a:ext cx="3901622" cy="2010138"/>
          </a:xfrm>
          <a:prstGeom prst="rect">
            <a:avLst/>
          </a:prstGeom>
        </p:spPr>
      </p:pic>
      <p:pic>
        <p:nvPicPr>
          <p:cNvPr id="9" name="Picture 8"/>
          <p:cNvPicPr>
            <a:picLocks noChangeAspect="1"/>
          </p:cNvPicPr>
          <p:nvPr/>
        </p:nvPicPr>
        <p:blipFill>
          <a:blip r:embed="rId4"/>
          <a:stretch>
            <a:fillRect/>
          </a:stretch>
        </p:blipFill>
        <p:spPr>
          <a:xfrm>
            <a:off x="1371600" y="3655635"/>
            <a:ext cx="1676545" cy="2012103"/>
          </a:xfrm>
          <a:prstGeom prst="rect">
            <a:avLst/>
          </a:prstGeom>
        </p:spPr>
      </p:pic>
    </p:spTree>
    <p:extLst>
      <p:ext uri="{BB962C8B-B14F-4D97-AF65-F5344CB8AC3E}">
        <p14:creationId xmlns:p14="http://schemas.microsoft.com/office/powerpoint/2010/main" val="101966105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solidFill>
                  <a:srgbClr val="000000"/>
                </a:solidFill>
              </a:rPr>
              <a:t>Document-Oriented </a:t>
            </a:r>
            <a:r>
              <a:rPr lang="en-GB" sz="2000" b="1" dirty="0">
                <a:solidFill>
                  <a:srgbClr val="000000"/>
                </a:solidFill>
              </a:rPr>
              <a:t>NoSQL DB stores and retrieves data as a key value </a:t>
            </a:r>
            <a:r>
              <a:rPr lang="en-GB" sz="2000" dirty="0">
                <a:solidFill>
                  <a:srgbClr val="000000"/>
                </a:solidFill>
              </a:rPr>
              <a:t>pair but the value part is stored as a document. The document is stored in JSON or XML formats. The value is understood by the DB and can be queried.</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Document-Oriented:</a:t>
            </a:r>
            <a:endParaRPr lang="en-IN" sz="2400" b="1" dirty="0"/>
          </a:p>
        </p:txBody>
      </p:sp>
      <p:pic>
        <p:nvPicPr>
          <p:cNvPr id="7" name="Picture 6"/>
          <p:cNvPicPr>
            <a:picLocks noChangeAspect="1"/>
          </p:cNvPicPr>
          <p:nvPr/>
        </p:nvPicPr>
        <p:blipFill>
          <a:blip r:embed="rId2"/>
          <a:stretch>
            <a:fillRect/>
          </a:stretch>
        </p:blipFill>
        <p:spPr>
          <a:xfrm>
            <a:off x="5120487" y="4267200"/>
            <a:ext cx="4005419" cy="1860598"/>
          </a:xfrm>
          <a:prstGeom prst="rect">
            <a:avLst/>
          </a:prstGeom>
        </p:spPr>
      </p:pic>
      <p:pic>
        <p:nvPicPr>
          <p:cNvPr id="8" name="Content Placeholder 3"/>
          <p:cNvPicPr>
            <a:picLocks noChangeAspect="1"/>
          </p:cNvPicPr>
          <p:nvPr/>
        </p:nvPicPr>
        <p:blipFill>
          <a:blip r:embed="rId3"/>
          <a:stretch>
            <a:fillRect/>
          </a:stretch>
        </p:blipFill>
        <p:spPr>
          <a:xfrm>
            <a:off x="2511350" y="3522981"/>
            <a:ext cx="1981372" cy="2066723"/>
          </a:xfrm>
          <a:prstGeom prst="rect">
            <a:avLst/>
          </a:prstGeom>
        </p:spPr>
      </p:pic>
    </p:spTree>
    <p:extLst>
      <p:ext uri="{BB962C8B-B14F-4D97-AF65-F5344CB8AC3E}">
        <p14:creationId xmlns:p14="http://schemas.microsoft.com/office/powerpoint/2010/main" val="334094268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662815"/>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a:solidFill>
                  <a:srgbClr val="000000"/>
                </a:solidFill>
              </a:rPr>
              <a:t>A graph-type database stores entities as well the relations amongst those entities. </a:t>
            </a:r>
            <a:r>
              <a:rPr lang="en-GB" sz="2000" b="1" dirty="0">
                <a:solidFill>
                  <a:srgbClr val="000000"/>
                </a:solidFill>
              </a:rPr>
              <a:t>The entity is stored as a node with the relationship as edges</a:t>
            </a:r>
            <a:r>
              <a:rPr lang="en-GB" sz="2000" dirty="0">
                <a:solidFill>
                  <a:srgbClr val="000000"/>
                </a:solidFill>
              </a:rPr>
              <a:t>. An edge gives a relationship between nodes. Every node and edge has a unique identifier.</a:t>
            </a:r>
          </a:p>
          <a:p>
            <a:pPr marL="342900" indent="-342900" algn="just">
              <a:lnSpc>
                <a:spcPct val="150000"/>
              </a:lnSpc>
              <a:buFont typeface="Arial" panose="020B0604020202020204" pitchFamily="34" charset="0"/>
              <a:buChar char="•"/>
            </a:pPr>
            <a:r>
              <a:rPr lang="en-GB" dirty="0"/>
              <a:t>Graph base database mostly used for </a:t>
            </a:r>
            <a:r>
              <a:rPr lang="en-GB" b="1" dirty="0"/>
              <a:t>social networks, logistics, spatial data.</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Graph Based</a:t>
            </a:r>
            <a:endParaRPr lang="en-IN" sz="2400" b="1" dirty="0"/>
          </a:p>
        </p:txBody>
      </p:sp>
      <p:pic>
        <p:nvPicPr>
          <p:cNvPr id="7" name="Picture 6"/>
          <p:cNvPicPr>
            <a:picLocks noChangeAspect="1"/>
          </p:cNvPicPr>
          <p:nvPr/>
        </p:nvPicPr>
        <p:blipFill>
          <a:blip r:embed="rId2"/>
          <a:stretch>
            <a:fillRect/>
          </a:stretch>
        </p:blipFill>
        <p:spPr>
          <a:xfrm>
            <a:off x="5748770" y="3581437"/>
            <a:ext cx="3381375" cy="2957477"/>
          </a:xfrm>
          <a:prstGeom prst="rect">
            <a:avLst/>
          </a:prstGeom>
        </p:spPr>
      </p:pic>
      <p:pic>
        <p:nvPicPr>
          <p:cNvPr id="10" name="Picture 6" descr="https://www.guru99.com/images/1/101818_0537_NoSQLTutori5.png"/>
          <p:cNvPicPr>
            <a:picLocks noChangeAspect="1" noChangeArrowheads="1"/>
          </p:cNvPicPr>
          <p:nvPr/>
        </p:nvPicPr>
        <p:blipFill rotWithShape="1">
          <a:blip r:embed="rId3">
            <a:extLst>
              <a:ext uri="{28A0092B-C50C-407E-A947-70E740481C1C}">
                <a14:useLocalDpi xmlns:a14="http://schemas.microsoft.com/office/drawing/2010/main" val="0"/>
              </a:ext>
            </a:extLst>
          </a:blip>
          <a:srcRect l="76829"/>
          <a:stretch/>
        </p:blipFill>
        <p:spPr bwMode="auto">
          <a:xfrm>
            <a:off x="2971800" y="3576297"/>
            <a:ext cx="2339975" cy="25284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479716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655564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a:solidFill>
                  <a:srgbClr val="000000"/>
                </a:solidFill>
              </a:rPr>
              <a:t>Concurrency Control </a:t>
            </a:r>
            <a:r>
              <a:rPr lang="en-GB" sz="2000" dirty="0">
                <a:solidFill>
                  <a:srgbClr val="000000"/>
                </a:solidFill>
              </a:rPr>
              <a:t>in Database Management System is a procedure of </a:t>
            </a:r>
            <a:r>
              <a:rPr lang="en-GB" sz="2000" b="1" dirty="0">
                <a:solidFill>
                  <a:srgbClr val="000000"/>
                </a:solidFill>
              </a:rPr>
              <a:t>managing simultaneous operations </a:t>
            </a:r>
            <a:r>
              <a:rPr lang="en-GB" sz="2000" dirty="0">
                <a:solidFill>
                  <a:srgbClr val="00B050"/>
                </a:solidFill>
              </a:rPr>
              <a:t>without conflicting with each other</a:t>
            </a:r>
            <a:r>
              <a:rPr lang="en-GB" sz="2000" dirty="0">
                <a:solidFill>
                  <a:srgbClr val="000000"/>
                </a:solidFill>
              </a:rPr>
              <a:t>. It ensures that Database transactions are performed concurrently and accurately to produce correct results without violating the data integrity of the respective Database.</a:t>
            </a:r>
          </a:p>
          <a:p>
            <a:pPr marL="342900" indent="-342900" algn="just">
              <a:lnSpc>
                <a:spcPct val="150000"/>
              </a:lnSpc>
              <a:buFont typeface="Arial" panose="020B0604020202020204" pitchFamily="34" charset="0"/>
              <a:buChar char="•"/>
            </a:pPr>
            <a:r>
              <a:rPr lang="en-GB" sz="2000" b="1" dirty="0">
                <a:solidFill>
                  <a:srgbClr val="000000"/>
                </a:solidFill>
              </a:rPr>
              <a:t>Database integration </a:t>
            </a:r>
            <a:r>
              <a:rPr lang="en-GB" sz="2000" dirty="0">
                <a:solidFill>
                  <a:srgbClr val="000000"/>
                </a:solidFill>
              </a:rPr>
              <a:t>is the process used to aggregate information from multiple sources—like social media, sensor data from </a:t>
            </a:r>
            <a:r>
              <a:rPr lang="en-GB" sz="2000" dirty="0" err="1">
                <a:solidFill>
                  <a:srgbClr val="000000"/>
                </a:solidFill>
              </a:rPr>
              <a:t>IoT</a:t>
            </a:r>
            <a:r>
              <a:rPr lang="en-GB" sz="2000" dirty="0">
                <a:solidFill>
                  <a:srgbClr val="000000"/>
                </a:solidFill>
              </a:rPr>
              <a:t>, data warehouses, customer transactions, and more—and share a current, clean version of it across an organization.</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a:solidFill>
                  <a:srgbClr val="121214"/>
                </a:solidFill>
              </a:rPr>
              <a:t>Concurrency and Integration</a:t>
            </a:r>
            <a:endParaRPr lang="en-IN" sz="2400" b="1" dirty="0"/>
          </a:p>
        </p:txBody>
      </p:sp>
    </p:spTree>
    <p:extLst>
      <p:ext uri="{BB962C8B-B14F-4D97-AF65-F5344CB8AC3E}">
        <p14:creationId xmlns:p14="http://schemas.microsoft.com/office/powerpoint/2010/main" val="1442732469"/>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4292221" cy="646330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1600" b="1" dirty="0" smtClean="0">
                <a:solidFill>
                  <a:srgbClr val="000000"/>
                </a:solidFill>
              </a:rPr>
              <a:t>It is the difference </a:t>
            </a:r>
            <a:r>
              <a:rPr lang="en-GB" sz="1600" dirty="0" smtClean="0">
                <a:solidFill>
                  <a:srgbClr val="000000"/>
                </a:solidFill>
              </a:rPr>
              <a:t>between the relational model and the in-memory data structures.</a:t>
            </a:r>
          </a:p>
          <a:p>
            <a:pPr marL="342900" indent="-342900" algn="just">
              <a:lnSpc>
                <a:spcPct val="150000"/>
              </a:lnSpc>
              <a:buFont typeface="Arial" panose="020B0604020202020204" pitchFamily="34" charset="0"/>
              <a:buChar char="•"/>
            </a:pPr>
            <a:r>
              <a:rPr lang="en-US" sz="1600" dirty="0"/>
              <a:t>In particular, the values in a relational tuple have to be simple—they cannot contain any structure, </a:t>
            </a:r>
            <a:r>
              <a:rPr lang="en-US" sz="1600" dirty="0" smtClean="0"/>
              <a:t>such as </a:t>
            </a:r>
            <a:r>
              <a:rPr lang="en-US" sz="1600" dirty="0"/>
              <a:t>a nested record or a list. This limitation isn’t true for in-memory data structures, which can </a:t>
            </a:r>
            <a:r>
              <a:rPr lang="en-US" sz="1600"/>
              <a:t>take </a:t>
            </a:r>
            <a:r>
              <a:rPr lang="en-US" sz="1600" smtClean="0"/>
              <a:t>on much </a:t>
            </a:r>
            <a:r>
              <a:rPr lang="en-US" sz="1600" dirty="0"/>
              <a:t>richer structures than relations.</a:t>
            </a:r>
            <a:endParaRPr lang="en-GB" sz="1600" dirty="0" smtClean="0">
              <a:solidFill>
                <a:srgbClr val="000000"/>
              </a:solidFill>
            </a:endParaRPr>
          </a:p>
          <a:p>
            <a:pPr marL="342900" indent="-342900" algn="just">
              <a:lnSpc>
                <a:spcPct val="150000"/>
              </a:lnSpc>
              <a:buFont typeface="Arial" panose="020B0604020202020204" pitchFamily="34" charset="0"/>
              <a:buChar char="•"/>
            </a:pPr>
            <a:r>
              <a:rPr lang="en-GB" sz="1600" dirty="0" smtClean="0">
                <a:solidFill>
                  <a:srgbClr val="000000"/>
                </a:solidFill>
              </a:rPr>
              <a:t>Example : Relation to Object mapping in java</a:t>
            </a:r>
          </a:p>
          <a:p>
            <a:pPr marL="342900" indent="-342900" algn="just">
              <a:lnSpc>
                <a:spcPct val="150000"/>
              </a:lnSpc>
              <a:buFont typeface="Arial" panose="020B0604020202020204" pitchFamily="34" charset="0"/>
              <a:buChar char="•"/>
            </a:pPr>
            <a:r>
              <a:rPr lang="en-GB" sz="1600" dirty="0" smtClean="0">
                <a:solidFill>
                  <a:srgbClr val="000000"/>
                </a:solidFill>
              </a:rPr>
              <a:t>Solution : ORM - Hibernate</a:t>
            </a:r>
            <a:endParaRPr lang="en-GB" sz="16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5" name="TextBox 4"/>
          <p:cNvSpPr txBox="1"/>
          <p:nvPr/>
        </p:nvSpPr>
        <p:spPr>
          <a:xfrm>
            <a:off x="203579" y="373120"/>
            <a:ext cx="4419600" cy="461665"/>
          </a:xfrm>
          <a:prstGeom prst="rect">
            <a:avLst/>
          </a:prstGeom>
          <a:noFill/>
        </p:spPr>
        <p:txBody>
          <a:bodyPr wrap="square" rtlCol="0">
            <a:spAutoFit/>
          </a:bodyPr>
          <a:lstStyle/>
          <a:p>
            <a:r>
              <a:rPr lang="en-US" sz="2400" b="1" dirty="0" smtClean="0">
                <a:solidFill>
                  <a:srgbClr val="121214"/>
                </a:solidFill>
              </a:rPr>
              <a:t>Impedance Mismatch</a:t>
            </a:r>
            <a:endParaRPr lang="en-IN" sz="24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3179" y="1247585"/>
            <a:ext cx="4258269" cy="4162615"/>
          </a:xfrm>
          <a:prstGeom prst="rect">
            <a:avLst/>
          </a:prstGeom>
        </p:spPr>
      </p:pic>
    </p:spTree>
    <p:extLst>
      <p:ext uri="{BB962C8B-B14F-4D97-AF65-F5344CB8AC3E}">
        <p14:creationId xmlns:p14="http://schemas.microsoft.com/office/powerpoint/2010/main" val="128133471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3785652"/>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Application DB : </a:t>
            </a:r>
            <a:r>
              <a:rPr lang="en-GB" sz="2000" dirty="0" smtClean="0">
                <a:solidFill>
                  <a:srgbClr val="000000"/>
                </a:solidFill>
              </a:rPr>
              <a:t>Structured per app requirements</a:t>
            </a:r>
          </a:p>
          <a:p>
            <a:pPr marL="342900" indent="-342900" algn="just">
              <a:lnSpc>
                <a:spcPct val="150000"/>
              </a:lnSpc>
              <a:buFont typeface="Arial" panose="020B0604020202020204" pitchFamily="34" charset="0"/>
              <a:buChar char="•"/>
            </a:pPr>
            <a:r>
              <a:rPr lang="en-GB" sz="2000" b="1" dirty="0" smtClean="0">
                <a:solidFill>
                  <a:srgbClr val="000000"/>
                </a:solidFill>
              </a:rPr>
              <a:t>Integration DB : </a:t>
            </a:r>
            <a:r>
              <a:rPr lang="en-GB" sz="2000" dirty="0" smtClean="0">
                <a:solidFill>
                  <a:srgbClr val="000000"/>
                </a:solidFill>
              </a:rPr>
              <a:t>Shared among services -&gt; coupling issues</a:t>
            </a:r>
          </a:p>
          <a:p>
            <a:pPr marL="342900" indent="-342900" algn="just">
              <a:lnSpc>
                <a:spcPct val="150000"/>
              </a:lnSpc>
              <a:buFont typeface="Arial" panose="020B0604020202020204" pitchFamily="34" charset="0"/>
              <a:buChar char="•"/>
            </a:pPr>
            <a:r>
              <a:rPr lang="en-GB" sz="2000" b="1" dirty="0" smtClean="0">
                <a:solidFill>
                  <a:srgbClr val="000000"/>
                </a:solidFill>
              </a:rPr>
              <a:t>RDBMS </a:t>
            </a:r>
            <a:r>
              <a:rPr lang="en-GB" sz="2000" dirty="0" smtClean="0">
                <a:solidFill>
                  <a:srgbClr val="000000"/>
                </a:solidFill>
              </a:rPr>
              <a:t>makes both harder due to shared schemas</a:t>
            </a: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Application &amp; Integration Databases</a:t>
            </a:r>
            <a:endParaRPr lang="en-IN" sz="2400" b="1" dirty="0"/>
          </a:p>
        </p:txBody>
      </p:sp>
    </p:spTree>
    <p:extLst>
      <p:ext uri="{BB962C8B-B14F-4D97-AF65-F5344CB8AC3E}">
        <p14:creationId xmlns:p14="http://schemas.microsoft.com/office/powerpoint/2010/main" val="173940533"/>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54</a:t>
            </a:fld>
            <a:endParaRPr lang="en-US"/>
          </a:p>
        </p:txBody>
      </p:sp>
      <p:sp>
        <p:nvSpPr>
          <p:cNvPr id="5" name="TextBox 4"/>
          <p:cNvSpPr txBox="1"/>
          <p:nvPr/>
        </p:nvSpPr>
        <p:spPr>
          <a:xfrm>
            <a:off x="203579" y="507747"/>
            <a:ext cx="6349621" cy="461665"/>
          </a:xfrm>
          <a:prstGeom prst="rect">
            <a:avLst/>
          </a:prstGeom>
          <a:noFill/>
        </p:spPr>
        <p:txBody>
          <a:bodyPr wrap="square" rtlCol="0">
            <a:spAutoFit/>
          </a:bodyPr>
          <a:lstStyle/>
          <a:p>
            <a:r>
              <a:rPr lang="en-US" sz="2400" b="1" dirty="0" smtClean="0">
                <a:solidFill>
                  <a:srgbClr val="121214"/>
                </a:solidFill>
              </a:rPr>
              <a:t>Application Database Design</a:t>
            </a:r>
            <a:endParaRPr lang="en-IN" sz="2400" b="1" dirty="0"/>
          </a:p>
        </p:txBody>
      </p:sp>
      <p:sp>
        <p:nvSpPr>
          <p:cNvPr id="6" name="Rectangle 1"/>
          <p:cNvSpPr>
            <a:spLocks noChangeArrowheads="1"/>
          </p:cNvSpPr>
          <p:nvPr/>
        </p:nvSpPr>
        <p:spPr bwMode="auto">
          <a:xfrm>
            <a:off x="6553200" y="3879314"/>
            <a:ext cx="4572000" cy="1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dirty="0" smtClean="0">
                <a:ln>
                  <a:noFill/>
                </a:ln>
                <a:solidFill>
                  <a:schemeClr val="tx1"/>
                </a:solidFill>
                <a:effectLst/>
                <a:latin typeface="Arial" panose="020B0604020202020204" pitchFamily="34" charset="0"/>
              </a:rPr>
              <a:t>Communication:</a:t>
            </a:r>
          </a:p>
          <a:p>
            <a:pPr marL="0" marR="0" lvl="0" indent="0" algn="l" defTabSz="914400" rtl="0" eaLnBrk="0" fontAlgn="base" latinLnBrk="0" hangingPunct="0">
              <a:lnSpc>
                <a:spcPct val="100000"/>
              </a:lnSpc>
              <a:spcBef>
                <a:spcPct val="0"/>
              </a:spcBef>
              <a:spcAft>
                <a:spcPct val="0"/>
              </a:spcAft>
              <a:buClrTx/>
              <a:buSzTx/>
              <a:tabLst/>
            </a:pPr>
            <a:r>
              <a:rPr kumimoji="0" lang="en-US" altLang="en-US" sz="1500" b="0" i="0" u="none" strike="noStrike" cap="none" normalizeH="0" baseline="0" dirty="0" smtClean="0">
                <a:ln>
                  <a:noFill/>
                </a:ln>
                <a:solidFill>
                  <a:schemeClr val="tx1"/>
                </a:solidFill>
                <a:effectLst/>
                <a:latin typeface="Arial" panose="020B0604020202020204" pitchFamily="34" charset="0"/>
              </a:rPr>
              <a:t> APIs or Event Streams (Kafka, </a:t>
            </a:r>
            <a:r>
              <a:rPr kumimoji="0" lang="en-US" altLang="en-US" sz="1500" b="0" i="0" u="none" strike="noStrike" cap="none" normalizeH="0" baseline="0" dirty="0" err="1" smtClean="0">
                <a:ln>
                  <a:noFill/>
                </a:ln>
                <a:solidFill>
                  <a:schemeClr val="tx1"/>
                </a:solidFill>
                <a:effectLst/>
                <a:latin typeface="Arial" panose="020B0604020202020204" pitchFamily="34" charset="0"/>
              </a:rPr>
              <a:t>RabbitMQ</a:t>
            </a:r>
            <a:r>
              <a:rPr kumimoji="0" lang="en-US" altLang="en-US" sz="1500" b="0" i="0" u="none" strike="noStrike" cap="none" normalizeH="0" baseline="0" dirty="0" smtClean="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5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smtClean="0">
                <a:ln>
                  <a:noFill/>
                </a:ln>
                <a:solidFill>
                  <a:schemeClr val="tx1"/>
                </a:solidFill>
                <a:effectLst/>
                <a:latin typeface="Arial" panose="020B0604020202020204" pitchFamily="34" charset="0"/>
              </a:rPr>
              <a:t>🔸 For example: </a:t>
            </a:r>
            <a:r>
              <a:rPr kumimoji="0" lang="en-US" altLang="en-US" sz="1600" b="0" i="0" u="none" strike="noStrike" cap="none" normalizeH="0" baseline="0" dirty="0" err="1" smtClean="0">
                <a:ln>
                  <a:noFill/>
                </a:ln>
                <a:solidFill>
                  <a:schemeClr val="tx1"/>
                </a:solidFill>
                <a:effectLst/>
                <a:latin typeface="Arial Unicode MS"/>
              </a:rPr>
              <a:t>ShippingService</a:t>
            </a:r>
            <a:r>
              <a:rPr kumimoji="0" lang="en-US" altLang="en-US" sz="1600" b="0" i="0" u="none" strike="noStrike" cap="none" normalizeH="0" baseline="0" dirty="0" smtClean="0">
                <a:ln>
                  <a:noFill/>
                </a:ln>
                <a:solidFill>
                  <a:schemeClr val="tx1"/>
                </a:solidFill>
                <a:effectLst/>
              </a:rPr>
              <a:t> calls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dirty="0"/>
              <a:t> </a:t>
            </a:r>
            <a:r>
              <a:rPr lang="en-US" altLang="en-US" sz="1600" dirty="0" smtClean="0"/>
              <a:t>    </a:t>
            </a:r>
            <a:r>
              <a:rPr kumimoji="0" lang="en-US" altLang="en-US" sz="1600" b="0" i="0" u="none" strike="noStrike" cap="none" normalizeH="0" baseline="0" dirty="0" smtClean="0">
                <a:ln>
                  <a:noFill/>
                </a:ln>
                <a:solidFill>
                  <a:schemeClr val="tx1"/>
                </a:solidFill>
                <a:effectLst/>
              </a:rPr>
              <a:t>  </a:t>
            </a:r>
            <a:r>
              <a:rPr lang="en-US" altLang="en-US" sz="1600" dirty="0" err="1" smtClean="0">
                <a:latin typeface="Arial Unicode MS"/>
              </a:rPr>
              <a:t>Account</a:t>
            </a:r>
            <a:r>
              <a:rPr kumimoji="0" lang="en-US" altLang="en-US" sz="1600" b="0" i="0" u="none" strike="noStrike" cap="none" normalizeH="0" baseline="0" dirty="0" err="1" smtClean="0">
                <a:ln>
                  <a:noFill/>
                </a:ln>
                <a:solidFill>
                  <a:schemeClr val="tx1"/>
                </a:solidFill>
                <a:effectLst/>
                <a:latin typeface="Arial Unicode MS"/>
              </a:rPr>
              <a:t>Service</a:t>
            </a:r>
            <a:r>
              <a:rPr kumimoji="0" lang="en-US" altLang="en-US" sz="1600" b="0" i="0" u="none" strike="noStrike" cap="none" normalizeH="0" baseline="0" dirty="0" smtClean="0">
                <a:ln>
                  <a:noFill/>
                </a:ln>
                <a:solidFill>
                  <a:schemeClr val="tx1"/>
                </a:solidFill>
                <a:effectLst/>
              </a:rPr>
              <a:t> to validate </a:t>
            </a:r>
            <a:r>
              <a:rPr kumimoji="0" lang="en-US" altLang="en-US" sz="1600" b="0" i="0" u="none" strike="noStrike" cap="none" normalizeH="0" baseline="0" dirty="0" err="1" smtClean="0">
                <a:ln>
                  <a:noFill/>
                </a:ln>
                <a:solidFill>
                  <a:schemeClr val="tx1"/>
                </a:solidFill>
                <a:effectLst/>
                <a:latin typeface="Arial Unicode MS"/>
              </a:rPr>
              <a:t>userId</a:t>
            </a:r>
            <a:r>
              <a:rPr kumimoji="0" lang="en-US" altLang="en-US" sz="1600" b="0" i="0" u="none" strike="noStrike" cap="none" normalizeH="0" baseline="0" dirty="0" smtClean="0">
                <a:ln>
                  <a:noFill/>
                </a:ln>
                <a:solidFill>
                  <a:schemeClr val="tx1"/>
                </a:solidFill>
                <a:effectLst/>
              </a:rPr>
              <a:t>.</a:t>
            </a:r>
            <a:endParaRPr kumimoji="0" lang="en-US" altLang="en-US" sz="1600" b="0" i="0" u="none" strike="noStrike" cap="none" normalizeH="0" baseline="0" dirty="0" smtClean="0">
              <a:ln>
                <a:noFill/>
              </a:ln>
              <a:solidFill>
                <a:schemeClr val="tx1"/>
              </a:solidFill>
              <a:effectLst/>
              <a:latin typeface="Arial" panose="020B0604020202020204" pitchFamily="34" charset="0"/>
            </a:endParaRPr>
          </a:p>
        </p:txBody>
      </p:sp>
      <p:pic>
        <p:nvPicPr>
          <p:cNvPr id="7" name="Picture 6">
            <a:extLst>
              <a:ext uri="{FF2B5EF4-FFF2-40B4-BE49-F238E27FC236}">
                <a16:creationId xmlns:a16="http://schemas.microsoft.com/office/drawing/2014/main" id="{9999AAEA-6107-49CE-8ECC-96C735DD5C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579" y="1844287"/>
            <a:ext cx="6197221" cy="3379172"/>
          </a:xfrm>
          <a:prstGeom prst="rect">
            <a:avLst/>
          </a:prstGeom>
        </p:spPr>
      </p:pic>
      <p:sp>
        <p:nvSpPr>
          <p:cNvPr id="8" name="Rectangle 1"/>
          <p:cNvSpPr>
            <a:spLocks noChangeArrowheads="1"/>
          </p:cNvSpPr>
          <p:nvPr/>
        </p:nvSpPr>
        <p:spPr bwMode="auto">
          <a:xfrm>
            <a:off x="4724400" y="1933028"/>
            <a:ext cx="76200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smtClean="0">
                <a:ln>
                  <a:noFill/>
                </a:ln>
                <a:solidFill>
                  <a:schemeClr val="tx1"/>
                </a:solidFill>
                <a:effectLst/>
                <a:latin typeface="Arial" panose="020B0604020202020204" pitchFamily="34" charset="0"/>
              </a:rPr>
              <a:t>owns</a:t>
            </a:r>
          </a:p>
        </p:txBody>
      </p:sp>
      <p:sp>
        <p:nvSpPr>
          <p:cNvPr id="9" name="Rectangle 1"/>
          <p:cNvSpPr>
            <a:spLocks noChangeArrowheads="1"/>
          </p:cNvSpPr>
          <p:nvPr/>
        </p:nvSpPr>
        <p:spPr bwMode="auto">
          <a:xfrm>
            <a:off x="4760495" y="3065921"/>
            <a:ext cx="76200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smtClean="0">
                <a:ln>
                  <a:noFill/>
                </a:ln>
                <a:solidFill>
                  <a:schemeClr val="tx1"/>
                </a:solidFill>
                <a:effectLst/>
                <a:latin typeface="Arial" panose="020B0604020202020204" pitchFamily="34" charset="0"/>
              </a:rPr>
              <a:t>owns</a:t>
            </a:r>
          </a:p>
        </p:txBody>
      </p:sp>
      <p:sp>
        <p:nvSpPr>
          <p:cNvPr id="10" name="Rectangle 1"/>
          <p:cNvSpPr>
            <a:spLocks noChangeArrowheads="1"/>
          </p:cNvSpPr>
          <p:nvPr/>
        </p:nvSpPr>
        <p:spPr bwMode="auto">
          <a:xfrm>
            <a:off x="4724400" y="4287555"/>
            <a:ext cx="76200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smtClean="0">
                <a:ln>
                  <a:noFill/>
                </a:ln>
                <a:solidFill>
                  <a:schemeClr val="tx1"/>
                </a:solidFill>
                <a:effectLst/>
                <a:latin typeface="Arial" panose="020B0604020202020204" pitchFamily="34" charset="0"/>
              </a:rPr>
              <a:t>owns</a:t>
            </a:r>
          </a:p>
        </p:txBody>
      </p:sp>
    </p:spTree>
    <p:extLst>
      <p:ext uri="{BB962C8B-B14F-4D97-AF65-F5344CB8AC3E}">
        <p14:creationId xmlns:p14="http://schemas.microsoft.com/office/powerpoint/2010/main" val="2351646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additive="base">
                                        <p:cTn id="14" dur="500" fill="hold"/>
                                        <p:tgtEl>
                                          <p:spTgt spid="8"/>
                                        </p:tgtEl>
                                        <p:attrNameLst>
                                          <p:attrName>ppt_x</p:attrName>
                                        </p:attrNameLst>
                                      </p:cBhvr>
                                      <p:tavLst>
                                        <p:tav tm="0">
                                          <p:val>
                                            <p:strVal val="#ppt_x"/>
                                          </p:val>
                                        </p:tav>
                                        <p:tav tm="100000">
                                          <p:val>
                                            <p:strVal val="#ppt_x"/>
                                          </p:val>
                                        </p:tav>
                                      </p:tavLst>
                                    </p:anim>
                                    <p:anim calcmode="lin" valueType="num">
                                      <p:cBhvr additive="base">
                                        <p:cTn id="15"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 calcmode="lin" valueType="num">
                                      <p:cBhvr additive="base">
                                        <p:cTn id="20" dur="500" fill="hold"/>
                                        <p:tgtEl>
                                          <p:spTgt spid="9"/>
                                        </p:tgtEl>
                                        <p:attrNameLst>
                                          <p:attrName>ppt_x</p:attrName>
                                        </p:attrNameLst>
                                      </p:cBhvr>
                                      <p:tavLst>
                                        <p:tav tm="0">
                                          <p:val>
                                            <p:strVal val="#ppt_x"/>
                                          </p:val>
                                        </p:tav>
                                        <p:tav tm="100000">
                                          <p:val>
                                            <p:strVal val="#ppt_x"/>
                                          </p:val>
                                        </p:tav>
                                      </p:tavLst>
                                    </p:anim>
                                    <p:anim calcmode="lin" valueType="num">
                                      <p:cBhvr additive="base">
                                        <p:cTn id="21"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500" fill="hold"/>
                                        <p:tgtEl>
                                          <p:spTgt spid="10"/>
                                        </p:tgtEl>
                                        <p:attrNameLst>
                                          <p:attrName>ppt_x</p:attrName>
                                        </p:attrNameLst>
                                      </p:cBhvr>
                                      <p:tavLst>
                                        <p:tav tm="0">
                                          <p:val>
                                            <p:strVal val="#ppt_x"/>
                                          </p:val>
                                        </p:tav>
                                        <p:tav tm="100000">
                                          <p:val>
                                            <p:strVal val="#ppt_x"/>
                                          </p:val>
                                        </p:tav>
                                      </p:tavLst>
                                    </p:anim>
                                    <p:anim calcmode="lin" valueType="num">
                                      <p:cBhvr additive="base">
                                        <p:cTn id="27"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anim calcmode="lin" valueType="num">
                                      <p:cBhvr>
                                        <p:cTn id="33" dur="1000" fill="hold"/>
                                        <p:tgtEl>
                                          <p:spTgt spid="6"/>
                                        </p:tgtEl>
                                        <p:attrNameLst>
                                          <p:attrName>ppt_x</p:attrName>
                                        </p:attrNameLst>
                                      </p:cBhvr>
                                      <p:tavLst>
                                        <p:tav tm="0">
                                          <p:val>
                                            <p:strVal val="#ppt_x"/>
                                          </p:val>
                                        </p:tav>
                                        <p:tav tm="100000">
                                          <p:val>
                                            <p:strVal val="#ppt_x"/>
                                          </p:val>
                                        </p:tav>
                                      </p:tavLst>
                                    </p:anim>
                                    <p:anim calcmode="lin" valueType="num">
                                      <p:cBhvr>
                                        <p:cTn id="3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10"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545AF5-5FF0-4C4D-A344-442BB8E38634}"/>
              </a:ext>
            </a:extLst>
          </p:cNvPr>
          <p:cNvSpPr/>
          <p:nvPr/>
        </p:nvSpPr>
        <p:spPr>
          <a:xfrm>
            <a:off x="3347739" y="857250"/>
            <a:ext cx="2767311" cy="28696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IN" sz="2100" dirty="0"/>
              <a:t>Online Shopping Portal</a:t>
            </a:r>
          </a:p>
        </p:txBody>
      </p:sp>
      <p:sp>
        <p:nvSpPr>
          <p:cNvPr id="3" name="Rectangle 2">
            <a:extLst>
              <a:ext uri="{FF2B5EF4-FFF2-40B4-BE49-F238E27FC236}">
                <a16:creationId xmlns:a16="http://schemas.microsoft.com/office/drawing/2014/main" id="{EEC26AF2-0B96-4CE4-843B-99FD40EF428E}"/>
              </a:ext>
            </a:extLst>
          </p:cNvPr>
          <p:cNvSpPr/>
          <p:nvPr/>
        </p:nvSpPr>
        <p:spPr>
          <a:xfrm>
            <a:off x="6487813" y="2151445"/>
            <a:ext cx="1120994" cy="53741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Order Management</a:t>
            </a:r>
          </a:p>
        </p:txBody>
      </p:sp>
      <p:sp>
        <p:nvSpPr>
          <p:cNvPr id="4" name="Flowchart: Magnetic Disk 3">
            <a:extLst>
              <a:ext uri="{FF2B5EF4-FFF2-40B4-BE49-F238E27FC236}">
                <a16:creationId xmlns:a16="http://schemas.microsoft.com/office/drawing/2014/main" id="{F2EF03C8-799B-4020-824F-2A04D5F2CE1F}"/>
              </a:ext>
            </a:extLst>
          </p:cNvPr>
          <p:cNvSpPr/>
          <p:nvPr/>
        </p:nvSpPr>
        <p:spPr>
          <a:xfrm>
            <a:off x="7642911" y="1889423"/>
            <a:ext cx="867967" cy="415028"/>
          </a:xfrm>
          <a:prstGeom prst="flowChartMagneticDisk">
            <a:avLst/>
          </a:prstGeom>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Database</a:t>
            </a:r>
          </a:p>
        </p:txBody>
      </p:sp>
      <p:sp>
        <p:nvSpPr>
          <p:cNvPr id="5" name="Rectangle 4">
            <a:extLst>
              <a:ext uri="{FF2B5EF4-FFF2-40B4-BE49-F238E27FC236}">
                <a16:creationId xmlns:a16="http://schemas.microsoft.com/office/drawing/2014/main" id="{0952A381-C7F1-46F0-B1C4-E5DBF96AE5EC}"/>
              </a:ext>
            </a:extLst>
          </p:cNvPr>
          <p:cNvSpPr/>
          <p:nvPr/>
        </p:nvSpPr>
        <p:spPr>
          <a:xfrm>
            <a:off x="6521917" y="5036654"/>
            <a:ext cx="1120994" cy="53741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Login Management</a:t>
            </a:r>
          </a:p>
        </p:txBody>
      </p:sp>
      <p:sp>
        <p:nvSpPr>
          <p:cNvPr id="6" name="Flowchart: Magnetic Disk 5">
            <a:extLst>
              <a:ext uri="{FF2B5EF4-FFF2-40B4-BE49-F238E27FC236}">
                <a16:creationId xmlns:a16="http://schemas.microsoft.com/office/drawing/2014/main" id="{B508311A-8BD1-4EF1-AAA7-C641E50BF14B}"/>
              </a:ext>
            </a:extLst>
          </p:cNvPr>
          <p:cNvSpPr/>
          <p:nvPr/>
        </p:nvSpPr>
        <p:spPr>
          <a:xfrm>
            <a:off x="7642911" y="5402534"/>
            <a:ext cx="867967" cy="415028"/>
          </a:xfrm>
          <a:prstGeom prst="flowChartMagneticDisk">
            <a:avLst/>
          </a:prstGeom>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Database</a:t>
            </a:r>
          </a:p>
        </p:txBody>
      </p:sp>
      <p:sp>
        <p:nvSpPr>
          <p:cNvPr id="7" name="Rectangle 6">
            <a:extLst>
              <a:ext uri="{FF2B5EF4-FFF2-40B4-BE49-F238E27FC236}">
                <a16:creationId xmlns:a16="http://schemas.microsoft.com/office/drawing/2014/main" id="{F18225BB-717B-40EB-8532-102802815385}"/>
              </a:ext>
            </a:extLst>
          </p:cNvPr>
          <p:cNvSpPr/>
          <p:nvPr/>
        </p:nvSpPr>
        <p:spPr>
          <a:xfrm>
            <a:off x="6496339" y="3012605"/>
            <a:ext cx="1120994" cy="53741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Account Management</a:t>
            </a:r>
          </a:p>
        </p:txBody>
      </p:sp>
      <p:sp>
        <p:nvSpPr>
          <p:cNvPr id="8" name="Flowchart: Magnetic Disk 7">
            <a:extLst>
              <a:ext uri="{FF2B5EF4-FFF2-40B4-BE49-F238E27FC236}">
                <a16:creationId xmlns:a16="http://schemas.microsoft.com/office/drawing/2014/main" id="{6A7B97CA-89D3-488E-BC2B-6D608FD629F0}"/>
              </a:ext>
            </a:extLst>
          </p:cNvPr>
          <p:cNvSpPr/>
          <p:nvPr/>
        </p:nvSpPr>
        <p:spPr>
          <a:xfrm>
            <a:off x="7642911" y="2763163"/>
            <a:ext cx="867967" cy="415028"/>
          </a:xfrm>
          <a:prstGeom prst="flowChartMagneticDisk">
            <a:avLst/>
          </a:prstGeom>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Database</a:t>
            </a:r>
          </a:p>
        </p:txBody>
      </p:sp>
      <p:sp>
        <p:nvSpPr>
          <p:cNvPr id="9" name="Rectangle 8">
            <a:extLst>
              <a:ext uri="{FF2B5EF4-FFF2-40B4-BE49-F238E27FC236}">
                <a16:creationId xmlns:a16="http://schemas.microsoft.com/office/drawing/2014/main" id="{1C00DDEC-E0E6-4C67-9B0B-AF4D4D324C98}"/>
              </a:ext>
            </a:extLst>
          </p:cNvPr>
          <p:cNvSpPr/>
          <p:nvPr/>
        </p:nvSpPr>
        <p:spPr>
          <a:xfrm>
            <a:off x="6521917" y="4072894"/>
            <a:ext cx="1120994" cy="53741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Payment Management</a:t>
            </a:r>
          </a:p>
        </p:txBody>
      </p:sp>
      <p:sp>
        <p:nvSpPr>
          <p:cNvPr id="10" name="Flowchart: Magnetic Disk 9">
            <a:extLst>
              <a:ext uri="{FF2B5EF4-FFF2-40B4-BE49-F238E27FC236}">
                <a16:creationId xmlns:a16="http://schemas.microsoft.com/office/drawing/2014/main" id="{21E2630B-DD0B-4205-A679-E0D2F2C5EE3C}"/>
              </a:ext>
            </a:extLst>
          </p:cNvPr>
          <p:cNvSpPr/>
          <p:nvPr/>
        </p:nvSpPr>
        <p:spPr>
          <a:xfrm>
            <a:off x="7642911" y="3768940"/>
            <a:ext cx="867967" cy="415028"/>
          </a:xfrm>
          <a:prstGeom prst="flowChartMagneticDisk">
            <a:avLst/>
          </a:prstGeom>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Database</a:t>
            </a:r>
          </a:p>
        </p:txBody>
      </p:sp>
      <p:sp>
        <p:nvSpPr>
          <p:cNvPr id="11" name="Rectangle 10">
            <a:extLst>
              <a:ext uri="{FF2B5EF4-FFF2-40B4-BE49-F238E27FC236}">
                <a16:creationId xmlns:a16="http://schemas.microsoft.com/office/drawing/2014/main" id="{7AC1F5E0-EF36-47FF-AC60-E427A46FD3F7}"/>
              </a:ext>
            </a:extLst>
          </p:cNvPr>
          <p:cNvSpPr/>
          <p:nvPr/>
        </p:nvSpPr>
        <p:spPr>
          <a:xfrm>
            <a:off x="6521917" y="1256742"/>
            <a:ext cx="1120994" cy="53741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Product Management</a:t>
            </a:r>
          </a:p>
        </p:txBody>
      </p:sp>
      <p:sp>
        <p:nvSpPr>
          <p:cNvPr id="12" name="Flowchart: Magnetic Disk 11">
            <a:extLst>
              <a:ext uri="{FF2B5EF4-FFF2-40B4-BE49-F238E27FC236}">
                <a16:creationId xmlns:a16="http://schemas.microsoft.com/office/drawing/2014/main" id="{C8D7794C-3024-46AC-AF86-B8A922AAA9A5}"/>
              </a:ext>
            </a:extLst>
          </p:cNvPr>
          <p:cNvSpPr/>
          <p:nvPr/>
        </p:nvSpPr>
        <p:spPr>
          <a:xfrm>
            <a:off x="7642911" y="1057792"/>
            <a:ext cx="867967" cy="415028"/>
          </a:xfrm>
          <a:prstGeom prst="flowChartMagneticDisk">
            <a:avLst/>
          </a:prstGeom>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1350" dirty="0"/>
              <a:t>Database</a:t>
            </a:r>
          </a:p>
        </p:txBody>
      </p:sp>
      <p:sp>
        <p:nvSpPr>
          <p:cNvPr id="13" name="Rectangle 12">
            <a:extLst>
              <a:ext uri="{FF2B5EF4-FFF2-40B4-BE49-F238E27FC236}">
                <a16:creationId xmlns:a16="http://schemas.microsoft.com/office/drawing/2014/main" id="{4033BFE3-0793-4B59-8978-82C7595CC58A}"/>
              </a:ext>
            </a:extLst>
          </p:cNvPr>
          <p:cNvSpPr/>
          <p:nvPr/>
        </p:nvSpPr>
        <p:spPr>
          <a:xfrm>
            <a:off x="4579619" y="1270336"/>
            <a:ext cx="525780" cy="431732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IN" sz="1350" dirty="0"/>
              <a:t>G</a:t>
            </a:r>
          </a:p>
          <a:p>
            <a:pPr algn="ctr"/>
            <a:r>
              <a:rPr lang="en-IN" sz="1350" dirty="0"/>
              <a:t>A</a:t>
            </a:r>
          </a:p>
          <a:p>
            <a:pPr algn="ctr"/>
            <a:r>
              <a:rPr lang="en-IN" sz="1350" dirty="0"/>
              <a:t>T</a:t>
            </a:r>
          </a:p>
          <a:p>
            <a:pPr algn="ctr"/>
            <a:r>
              <a:rPr lang="en-IN" sz="1350" dirty="0"/>
              <a:t>E</a:t>
            </a:r>
          </a:p>
          <a:p>
            <a:pPr algn="ctr"/>
            <a:r>
              <a:rPr lang="en-IN" sz="1350" dirty="0"/>
              <a:t>W</a:t>
            </a:r>
          </a:p>
          <a:p>
            <a:pPr algn="ctr"/>
            <a:r>
              <a:rPr lang="en-IN" sz="1350" dirty="0"/>
              <a:t>A</a:t>
            </a:r>
          </a:p>
          <a:p>
            <a:pPr algn="ctr"/>
            <a:r>
              <a:rPr lang="en-IN" sz="1350" dirty="0"/>
              <a:t>Y</a:t>
            </a:r>
          </a:p>
        </p:txBody>
      </p:sp>
      <p:sp>
        <p:nvSpPr>
          <p:cNvPr id="14" name="Arrow: Left-Right 13">
            <a:extLst>
              <a:ext uri="{FF2B5EF4-FFF2-40B4-BE49-F238E27FC236}">
                <a16:creationId xmlns:a16="http://schemas.microsoft.com/office/drawing/2014/main" id="{DDE2B45F-2345-4177-9CB8-BD09D86AB64F}"/>
              </a:ext>
            </a:extLst>
          </p:cNvPr>
          <p:cNvSpPr/>
          <p:nvPr/>
        </p:nvSpPr>
        <p:spPr>
          <a:xfrm>
            <a:off x="5113020" y="1472820"/>
            <a:ext cx="1374794" cy="12357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16" name="Arrow: Left-Right 15">
            <a:extLst>
              <a:ext uri="{FF2B5EF4-FFF2-40B4-BE49-F238E27FC236}">
                <a16:creationId xmlns:a16="http://schemas.microsoft.com/office/drawing/2014/main" id="{9200ED17-3F92-4636-9C99-CB49CF0BE0FF}"/>
              </a:ext>
            </a:extLst>
          </p:cNvPr>
          <p:cNvSpPr/>
          <p:nvPr/>
        </p:nvSpPr>
        <p:spPr>
          <a:xfrm>
            <a:off x="5105398" y="2321807"/>
            <a:ext cx="1374794" cy="12357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18" name="Arrow: Left-Right 17">
            <a:extLst>
              <a:ext uri="{FF2B5EF4-FFF2-40B4-BE49-F238E27FC236}">
                <a16:creationId xmlns:a16="http://schemas.microsoft.com/office/drawing/2014/main" id="{AFBAB4C5-62C5-4312-968D-B75E8EB203E9}"/>
              </a:ext>
            </a:extLst>
          </p:cNvPr>
          <p:cNvSpPr/>
          <p:nvPr/>
        </p:nvSpPr>
        <p:spPr>
          <a:xfrm>
            <a:off x="5113020" y="3219528"/>
            <a:ext cx="1374794" cy="12357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20" name="Arrow: Left-Right 19">
            <a:extLst>
              <a:ext uri="{FF2B5EF4-FFF2-40B4-BE49-F238E27FC236}">
                <a16:creationId xmlns:a16="http://schemas.microsoft.com/office/drawing/2014/main" id="{8A064BF5-56D6-406E-B666-49F7FBF52382}"/>
              </a:ext>
            </a:extLst>
          </p:cNvPr>
          <p:cNvSpPr/>
          <p:nvPr/>
        </p:nvSpPr>
        <p:spPr>
          <a:xfrm>
            <a:off x="5126260" y="4310543"/>
            <a:ext cx="1374794" cy="12357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31" name="Arrow: Left-Right 30">
            <a:extLst>
              <a:ext uri="{FF2B5EF4-FFF2-40B4-BE49-F238E27FC236}">
                <a16:creationId xmlns:a16="http://schemas.microsoft.com/office/drawing/2014/main" id="{74C808EB-A026-4D65-9576-BDF360149DFA}"/>
              </a:ext>
            </a:extLst>
          </p:cNvPr>
          <p:cNvSpPr/>
          <p:nvPr/>
        </p:nvSpPr>
        <p:spPr>
          <a:xfrm>
            <a:off x="5113020" y="5243577"/>
            <a:ext cx="1374794" cy="123570"/>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pic>
        <p:nvPicPr>
          <p:cNvPr id="33" name="Picture 2" descr="Mozilla and BrowserStack Partner to Drive Mobile Testing on Real Devices -  The Mozilla Blog">
            <a:extLst>
              <a:ext uri="{FF2B5EF4-FFF2-40B4-BE49-F238E27FC236}">
                <a16:creationId xmlns:a16="http://schemas.microsoft.com/office/drawing/2014/main" id="{E04A87F7-B5D5-4C78-8D87-3379A1EFB7F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6252" y="1794159"/>
            <a:ext cx="1012301" cy="55459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 descr="Top Browsers List In China for November 2019">
            <a:extLst>
              <a:ext uri="{FF2B5EF4-FFF2-40B4-BE49-F238E27FC236}">
                <a16:creationId xmlns:a16="http://schemas.microsoft.com/office/drawing/2014/main" id="{AB07BF7F-097A-48BE-9E9D-6EE9E17277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3535" y="2909704"/>
            <a:ext cx="1118572" cy="784670"/>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0">
            <a:extLst>
              <a:ext uri="{FF2B5EF4-FFF2-40B4-BE49-F238E27FC236}">
                <a16:creationId xmlns:a16="http://schemas.microsoft.com/office/drawing/2014/main" id="{8A523187-C636-49D0-BD7B-C8EBF17363BC}"/>
              </a:ext>
            </a:extLst>
          </p:cNvPr>
          <p:cNvPicPr>
            <a:picLocks noChangeAspect="1"/>
          </p:cNvPicPr>
          <p:nvPr/>
        </p:nvPicPr>
        <p:blipFill>
          <a:blip r:embed="rId2"/>
          <a:stretch>
            <a:fillRect/>
          </a:stretch>
        </p:blipFill>
        <p:spPr>
          <a:xfrm>
            <a:off x="826038" y="4261684"/>
            <a:ext cx="1207294" cy="554594"/>
          </a:xfrm>
          <a:prstGeom prst="rect">
            <a:avLst/>
          </a:prstGeom>
        </p:spPr>
      </p:pic>
      <p:sp>
        <p:nvSpPr>
          <p:cNvPr id="53" name="Arrow: Left-Right 52">
            <a:extLst>
              <a:ext uri="{FF2B5EF4-FFF2-40B4-BE49-F238E27FC236}">
                <a16:creationId xmlns:a16="http://schemas.microsoft.com/office/drawing/2014/main" id="{FA7B8E33-8696-4A9D-A0AA-B7E7FCA1243C}"/>
              </a:ext>
            </a:extLst>
          </p:cNvPr>
          <p:cNvSpPr/>
          <p:nvPr/>
        </p:nvSpPr>
        <p:spPr>
          <a:xfrm>
            <a:off x="2039415" y="1973565"/>
            <a:ext cx="2532582" cy="9526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59" name="Arrow: Left-Right 58">
            <a:extLst>
              <a:ext uri="{FF2B5EF4-FFF2-40B4-BE49-F238E27FC236}">
                <a16:creationId xmlns:a16="http://schemas.microsoft.com/office/drawing/2014/main" id="{AF60F594-C5E7-4BB2-B79E-9FB25B02CFF1}"/>
              </a:ext>
            </a:extLst>
          </p:cNvPr>
          <p:cNvSpPr/>
          <p:nvPr/>
        </p:nvSpPr>
        <p:spPr>
          <a:xfrm>
            <a:off x="2014785" y="3387927"/>
            <a:ext cx="2532582" cy="9526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61" name="Arrow: Left-Right 60">
            <a:extLst>
              <a:ext uri="{FF2B5EF4-FFF2-40B4-BE49-F238E27FC236}">
                <a16:creationId xmlns:a16="http://schemas.microsoft.com/office/drawing/2014/main" id="{CB46D46F-487F-4CA2-BE11-91DB58490238}"/>
              </a:ext>
            </a:extLst>
          </p:cNvPr>
          <p:cNvSpPr/>
          <p:nvPr/>
        </p:nvSpPr>
        <p:spPr>
          <a:xfrm>
            <a:off x="2001996" y="4492493"/>
            <a:ext cx="2532582" cy="9526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15" name="Rectangle 14"/>
          <p:cNvSpPr/>
          <p:nvPr/>
        </p:nvSpPr>
        <p:spPr>
          <a:xfrm>
            <a:off x="228600" y="388929"/>
            <a:ext cx="3217997" cy="369332"/>
          </a:xfrm>
          <a:prstGeom prst="rect">
            <a:avLst/>
          </a:prstGeom>
        </p:spPr>
        <p:txBody>
          <a:bodyPr wrap="none">
            <a:spAutoFit/>
          </a:bodyPr>
          <a:lstStyle/>
          <a:p>
            <a:r>
              <a:rPr lang="en-US" b="1" dirty="0">
                <a:solidFill>
                  <a:srgbClr val="121214"/>
                </a:solidFill>
              </a:rPr>
              <a:t>Application Database Design</a:t>
            </a:r>
            <a:endParaRPr lang="en-IN" b="1" dirty="0"/>
          </a:p>
        </p:txBody>
      </p:sp>
    </p:spTree>
    <p:extLst>
      <p:ext uri="{BB962C8B-B14F-4D97-AF65-F5344CB8AC3E}">
        <p14:creationId xmlns:p14="http://schemas.microsoft.com/office/powerpoint/2010/main" val="22248212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E8A4F01B-263E-4158-AE54-FEC00808AE18}"/>
              </a:ext>
            </a:extLst>
          </p:cNvPr>
          <p:cNvSpPr/>
          <p:nvPr/>
        </p:nvSpPr>
        <p:spPr>
          <a:xfrm>
            <a:off x="2766060" y="1415567"/>
            <a:ext cx="4725116" cy="4389120"/>
          </a:xfrm>
          <a:prstGeom prst="rect">
            <a:avLst/>
          </a:prstGeom>
          <a:solidFill>
            <a:schemeClr val="accent3">
              <a:lumMod val="60000"/>
              <a:lumOff val="40000"/>
            </a:schemeClr>
          </a:solidFill>
          <a:ln w="28575">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N" sz="1350" dirty="0"/>
          </a:p>
        </p:txBody>
      </p:sp>
      <p:sp>
        <p:nvSpPr>
          <p:cNvPr id="5" name="Rectangle 4">
            <a:extLst>
              <a:ext uri="{FF2B5EF4-FFF2-40B4-BE49-F238E27FC236}">
                <a16:creationId xmlns:a16="http://schemas.microsoft.com/office/drawing/2014/main" id="{62D7D2EE-573C-4F11-9835-B74D044E6D64}"/>
              </a:ext>
            </a:extLst>
          </p:cNvPr>
          <p:cNvSpPr/>
          <p:nvPr/>
        </p:nvSpPr>
        <p:spPr>
          <a:xfrm>
            <a:off x="4369120" y="1632737"/>
            <a:ext cx="1908094" cy="3954780"/>
          </a:xfrm>
          <a:prstGeom prst="rect">
            <a:avLst/>
          </a:prstGeom>
          <a:solidFill>
            <a:schemeClr val="bg2">
              <a:lumMod val="90000"/>
            </a:schemeClr>
          </a:solidFill>
          <a:ln w="28575">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N" sz="1350" dirty="0"/>
          </a:p>
        </p:txBody>
      </p:sp>
      <p:sp>
        <p:nvSpPr>
          <p:cNvPr id="6" name="Rectangle 5">
            <a:extLst>
              <a:ext uri="{FF2B5EF4-FFF2-40B4-BE49-F238E27FC236}">
                <a16:creationId xmlns:a16="http://schemas.microsoft.com/office/drawing/2014/main" id="{9B5F0F40-107E-4B62-8D25-79C2025FB457}"/>
              </a:ext>
            </a:extLst>
          </p:cNvPr>
          <p:cNvSpPr/>
          <p:nvPr/>
        </p:nvSpPr>
        <p:spPr>
          <a:xfrm>
            <a:off x="4560571" y="4820016"/>
            <a:ext cx="1564481" cy="516139"/>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Order Management</a:t>
            </a:r>
          </a:p>
        </p:txBody>
      </p:sp>
      <p:sp>
        <p:nvSpPr>
          <p:cNvPr id="10" name="Rectangle 9">
            <a:extLst>
              <a:ext uri="{FF2B5EF4-FFF2-40B4-BE49-F238E27FC236}">
                <a16:creationId xmlns:a16="http://schemas.microsoft.com/office/drawing/2014/main" id="{1D591E4E-B2AE-4C23-A0F7-C882365D5A5A}"/>
              </a:ext>
            </a:extLst>
          </p:cNvPr>
          <p:cNvSpPr/>
          <p:nvPr/>
        </p:nvSpPr>
        <p:spPr>
          <a:xfrm>
            <a:off x="4560571" y="4144821"/>
            <a:ext cx="1564481" cy="523270"/>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Login Management</a:t>
            </a:r>
          </a:p>
        </p:txBody>
      </p:sp>
      <p:sp>
        <p:nvSpPr>
          <p:cNvPr id="12" name="Rectangle 11">
            <a:extLst>
              <a:ext uri="{FF2B5EF4-FFF2-40B4-BE49-F238E27FC236}">
                <a16:creationId xmlns:a16="http://schemas.microsoft.com/office/drawing/2014/main" id="{B1F84F03-16F7-4B5D-B7F9-85818FA62E28}"/>
              </a:ext>
            </a:extLst>
          </p:cNvPr>
          <p:cNvSpPr/>
          <p:nvPr/>
        </p:nvSpPr>
        <p:spPr>
          <a:xfrm>
            <a:off x="4560571" y="3381328"/>
            <a:ext cx="1564481" cy="61156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Payment Management</a:t>
            </a:r>
          </a:p>
        </p:txBody>
      </p:sp>
      <p:sp>
        <p:nvSpPr>
          <p:cNvPr id="14" name="Flowchart: Magnetic Disk 13">
            <a:extLst>
              <a:ext uri="{FF2B5EF4-FFF2-40B4-BE49-F238E27FC236}">
                <a16:creationId xmlns:a16="http://schemas.microsoft.com/office/drawing/2014/main" id="{17321F43-DFD4-4EE9-B44D-F265E4984F2D}"/>
              </a:ext>
            </a:extLst>
          </p:cNvPr>
          <p:cNvSpPr/>
          <p:nvPr/>
        </p:nvSpPr>
        <p:spPr>
          <a:xfrm>
            <a:off x="7754070" y="1927618"/>
            <a:ext cx="1333261" cy="3186875"/>
          </a:xfrm>
          <a:prstGeom prst="flowChartMagneticDisk">
            <a:avLst/>
          </a:prstGeom>
          <a:solidFill>
            <a:schemeClr val="accent3">
              <a:lumMod val="60000"/>
              <a:lumOff val="40000"/>
            </a:schemeClr>
          </a:solidFill>
          <a:ln w="38100">
            <a:solidFill>
              <a:schemeClr val="accent6"/>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IN" sz="2400" dirty="0"/>
              <a:t>Database</a:t>
            </a:r>
          </a:p>
        </p:txBody>
      </p:sp>
      <p:sp>
        <p:nvSpPr>
          <p:cNvPr id="42" name="Rectangle 41">
            <a:extLst>
              <a:ext uri="{FF2B5EF4-FFF2-40B4-BE49-F238E27FC236}">
                <a16:creationId xmlns:a16="http://schemas.microsoft.com/office/drawing/2014/main" id="{C5725EF0-81E8-4D07-B4CA-4B607A0A20FE}"/>
              </a:ext>
            </a:extLst>
          </p:cNvPr>
          <p:cNvSpPr/>
          <p:nvPr/>
        </p:nvSpPr>
        <p:spPr>
          <a:xfrm>
            <a:off x="3347739" y="857250"/>
            <a:ext cx="2767311" cy="28696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IN" sz="2100" dirty="0"/>
              <a:t>Online Shopping Portal</a:t>
            </a:r>
          </a:p>
        </p:txBody>
      </p:sp>
      <p:sp>
        <p:nvSpPr>
          <p:cNvPr id="8" name="Rectangle 7">
            <a:extLst>
              <a:ext uri="{FF2B5EF4-FFF2-40B4-BE49-F238E27FC236}">
                <a16:creationId xmlns:a16="http://schemas.microsoft.com/office/drawing/2014/main" id="{8833E67B-DE61-4BEA-B267-7375FE5B62F0}"/>
              </a:ext>
            </a:extLst>
          </p:cNvPr>
          <p:cNvSpPr/>
          <p:nvPr/>
        </p:nvSpPr>
        <p:spPr>
          <a:xfrm>
            <a:off x="4560571" y="2617836"/>
            <a:ext cx="1564481" cy="61156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Account Management</a:t>
            </a:r>
          </a:p>
        </p:txBody>
      </p:sp>
      <p:sp>
        <p:nvSpPr>
          <p:cNvPr id="7" name="Rectangle 6">
            <a:extLst>
              <a:ext uri="{FF2B5EF4-FFF2-40B4-BE49-F238E27FC236}">
                <a16:creationId xmlns:a16="http://schemas.microsoft.com/office/drawing/2014/main" id="{4D24EE0D-2029-4AFE-A55D-17EB138B459A}"/>
              </a:ext>
            </a:extLst>
          </p:cNvPr>
          <p:cNvSpPr/>
          <p:nvPr/>
        </p:nvSpPr>
        <p:spPr>
          <a:xfrm>
            <a:off x="4572001" y="1806092"/>
            <a:ext cx="1564481" cy="611567"/>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Product Management</a:t>
            </a:r>
          </a:p>
        </p:txBody>
      </p:sp>
      <p:sp>
        <p:nvSpPr>
          <p:cNvPr id="9" name="Rectangle 8">
            <a:extLst>
              <a:ext uri="{FF2B5EF4-FFF2-40B4-BE49-F238E27FC236}">
                <a16:creationId xmlns:a16="http://schemas.microsoft.com/office/drawing/2014/main" id="{58E959B9-C145-487A-BB8B-E54661C4F528}"/>
              </a:ext>
            </a:extLst>
          </p:cNvPr>
          <p:cNvSpPr/>
          <p:nvPr/>
        </p:nvSpPr>
        <p:spPr>
          <a:xfrm>
            <a:off x="6682978" y="1689242"/>
            <a:ext cx="640080" cy="399573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t>D</a:t>
            </a:r>
          </a:p>
          <a:p>
            <a:pPr algn="ctr"/>
            <a:r>
              <a:rPr lang="en-IN" sz="2400" dirty="0"/>
              <a:t>A</a:t>
            </a:r>
          </a:p>
          <a:p>
            <a:pPr algn="ctr"/>
            <a:r>
              <a:rPr lang="en-IN" sz="2400" dirty="0"/>
              <a:t>O</a:t>
            </a:r>
          </a:p>
          <a:p>
            <a:pPr algn="ctr"/>
            <a:endParaRPr lang="en-IN" sz="2400" dirty="0"/>
          </a:p>
          <a:p>
            <a:pPr algn="ctr"/>
            <a:r>
              <a:rPr lang="en-IN" sz="2400" dirty="0"/>
              <a:t>L</a:t>
            </a:r>
          </a:p>
          <a:p>
            <a:pPr algn="ctr"/>
            <a:r>
              <a:rPr lang="en-IN" sz="2400" dirty="0"/>
              <a:t>A</a:t>
            </a:r>
          </a:p>
          <a:p>
            <a:pPr algn="ctr"/>
            <a:r>
              <a:rPr lang="en-IN" sz="2400" dirty="0"/>
              <a:t>Y</a:t>
            </a:r>
          </a:p>
          <a:p>
            <a:pPr algn="ctr"/>
            <a:r>
              <a:rPr lang="en-IN" sz="2400" dirty="0"/>
              <a:t>E</a:t>
            </a:r>
          </a:p>
          <a:p>
            <a:pPr algn="ctr"/>
            <a:r>
              <a:rPr lang="en-IN" sz="2400" dirty="0"/>
              <a:t>R</a:t>
            </a:r>
          </a:p>
        </p:txBody>
      </p:sp>
      <p:sp>
        <p:nvSpPr>
          <p:cNvPr id="11" name="Rectangle 10">
            <a:extLst>
              <a:ext uri="{FF2B5EF4-FFF2-40B4-BE49-F238E27FC236}">
                <a16:creationId xmlns:a16="http://schemas.microsoft.com/office/drawing/2014/main" id="{3EE72E14-2F88-4EDC-A5A3-D05F66678C81}"/>
              </a:ext>
            </a:extLst>
          </p:cNvPr>
          <p:cNvSpPr/>
          <p:nvPr/>
        </p:nvSpPr>
        <p:spPr>
          <a:xfrm>
            <a:off x="3171113" y="1632736"/>
            <a:ext cx="640080" cy="399573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1500" dirty="0"/>
              <a:t>C</a:t>
            </a:r>
          </a:p>
          <a:p>
            <a:pPr algn="ctr"/>
            <a:r>
              <a:rPr lang="en-IN" sz="1500" dirty="0"/>
              <a:t>O</a:t>
            </a:r>
          </a:p>
          <a:p>
            <a:pPr algn="ctr"/>
            <a:r>
              <a:rPr lang="en-IN" sz="1500" dirty="0"/>
              <a:t>N</a:t>
            </a:r>
          </a:p>
          <a:p>
            <a:pPr algn="ctr"/>
            <a:r>
              <a:rPr lang="en-IN" sz="1500" dirty="0"/>
              <a:t>T</a:t>
            </a:r>
          </a:p>
          <a:p>
            <a:pPr algn="ctr"/>
            <a:r>
              <a:rPr lang="en-IN" sz="1500" dirty="0"/>
              <a:t>R</a:t>
            </a:r>
          </a:p>
          <a:p>
            <a:pPr algn="ctr"/>
            <a:r>
              <a:rPr lang="en-IN" sz="1500" dirty="0"/>
              <a:t>O</a:t>
            </a:r>
          </a:p>
          <a:p>
            <a:pPr algn="ctr"/>
            <a:r>
              <a:rPr lang="en-IN" sz="1500" dirty="0"/>
              <a:t>L</a:t>
            </a:r>
          </a:p>
          <a:p>
            <a:pPr algn="ctr"/>
            <a:r>
              <a:rPr lang="en-IN" sz="1500" dirty="0"/>
              <a:t>E</a:t>
            </a:r>
          </a:p>
          <a:p>
            <a:pPr algn="ctr"/>
            <a:r>
              <a:rPr lang="en-IN" sz="1500" dirty="0"/>
              <a:t>R</a:t>
            </a:r>
          </a:p>
          <a:p>
            <a:pPr algn="ctr"/>
            <a:endParaRPr lang="en-IN" sz="1500" dirty="0"/>
          </a:p>
          <a:p>
            <a:pPr algn="ctr"/>
            <a:endParaRPr lang="en-IN" sz="1500" dirty="0"/>
          </a:p>
          <a:p>
            <a:pPr algn="ctr"/>
            <a:r>
              <a:rPr lang="en-IN" sz="1500" dirty="0"/>
              <a:t>L</a:t>
            </a:r>
          </a:p>
          <a:p>
            <a:pPr algn="ctr"/>
            <a:r>
              <a:rPr lang="en-IN" sz="1500" dirty="0"/>
              <a:t>A</a:t>
            </a:r>
          </a:p>
          <a:p>
            <a:pPr algn="ctr"/>
            <a:r>
              <a:rPr lang="en-IN" sz="1500" dirty="0"/>
              <a:t>Y</a:t>
            </a:r>
          </a:p>
          <a:p>
            <a:pPr algn="ctr"/>
            <a:r>
              <a:rPr lang="en-IN" sz="1500" dirty="0"/>
              <a:t>E</a:t>
            </a:r>
          </a:p>
          <a:p>
            <a:pPr algn="ctr"/>
            <a:r>
              <a:rPr lang="en-IN" sz="1500" dirty="0"/>
              <a:t>R</a:t>
            </a:r>
          </a:p>
        </p:txBody>
      </p:sp>
      <p:pic>
        <p:nvPicPr>
          <p:cNvPr id="2052" name="Picture 4" descr="Top Browsers List In China for November 2019">
            <a:extLst>
              <a:ext uri="{FF2B5EF4-FFF2-40B4-BE49-F238E27FC236}">
                <a16:creationId xmlns:a16="http://schemas.microsoft.com/office/drawing/2014/main" id="{653FF521-8BF0-4234-9942-3D35385349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9692" y="3600560"/>
            <a:ext cx="1118572" cy="784670"/>
          </a:xfrm>
          <a:prstGeom prst="rect">
            <a:avLst/>
          </a:prstGeom>
          <a:noFill/>
          <a:extLst>
            <a:ext uri="{909E8E84-426E-40DD-AFC4-6F175D3DCCD1}">
              <a14:hiddenFill xmlns:a14="http://schemas.microsoft.com/office/drawing/2010/main">
                <a:solidFill>
                  <a:srgbClr val="FFFFFF"/>
                </a:solidFill>
              </a14:hiddenFill>
            </a:ext>
          </a:extLst>
        </p:spPr>
      </p:pic>
      <p:sp>
        <p:nvSpPr>
          <p:cNvPr id="20" name="Arrow: Left-Right 19">
            <a:extLst>
              <a:ext uri="{FF2B5EF4-FFF2-40B4-BE49-F238E27FC236}">
                <a16:creationId xmlns:a16="http://schemas.microsoft.com/office/drawing/2014/main" id="{9B399D6D-46B5-4294-BC2C-A584AD0D7A08}"/>
              </a:ext>
            </a:extLst>
          </p:cNvPr>
          <p:cNvSpPr/>
          <p:nvPr/>
        </p:nvSpPr>
        <p:spPr>
          <a:xfrm>
            <a:off x="3811193" y="3166110"/>
            <a:ext cx="557927" cy="215218"/>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22" name="Arrow: Left-Right 21">
            <a:extLst>
              <a:ext uri="{FF2B5EF4-FFF2-40B4-BE49-F238E27FC236}">
                <a16:creationId xmlns:a16="http://schemas.microsoft.com/office/drawing/2014/main" id="{35B0CC67-5D86-4BE4-8C0E-3E73963F7222}"/>
              </a:ext>
            </a:extLst>
          </p:cNvPr>
          <p:cNvSpPr/>
          <p:nvPr/>
        </p:nvSpPr>
        <p:spPr>
          <a:xfrm>
            <a:off x="6277213" y="3166110"/>
            <a:ext cx="405764" cy="215218"/>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23" name="Arrow: Left-Right 22">
            <a:extLst>
              <a:ext uri="{FF2B5EF4-FFF2-40B4-BE49-F238E27FC236}">
                <a16:creationId xmlns:a16="http://schemas.microsoft.com/office/drawing/2014/main" id="{2DEA9346-8A5E-4729-9D10-6047AE97A057}"/>
              </a:ext>
            </a:extLst>
          </p:cNvPr>
          <p:cNvSpPr/>
          <p:nvPr/>
        </p:nvSpPr>
        <p:spPr>
          <a:xfrm>
            <a:off x="7323058" y="3231260"/>
            <a:ext cx="422321" cy="197741"/>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sp>
        <p:nvSpPr>
          <p:cNvPr id="28" name="Arrow: Left-Right 27">
            <a:extLst>
              <a:ext uri="{FF2B5EF4-FFF2-40B4-BE49-F238E27FC236}">
                <a16:creationId xmlns:a16="http://schemas.microsoft.com/office/drawing/2014/main" id="{11455F26-D99E-406D-82A2-5BFD44DBA120}"/>
              </a:ext>
            </a:extLst>
          </p:cNvPr>
          <p:cNvSpPr/>
          <p:nvPr/>
        </p:nvSpPr>
        <p:spPr>
          <a:xfrm>
            <a:off x="1754005" y="4057373"/>
            <a:ext cx="982760" cy="17489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a:p>
        </p:txBody>
      </p:sp>
      <p:pic>
        <p:nvPicPr>
          <p:cNvPr id="32" name="Picture 31">
            <a:extLst>
              <a:ext uri="{FF2B5EF4-FFF2-40B4-BE49-F238E27FC236}">
                <a16:creationId xmlns:a16="http://schemas.microsoft.com/office/drawing/2014/main" id="{72440195-C72F-4BF0-8986-77EF881EE473}"/>
              </a:ext>
            </a:extLst>
          </p:cNvPr>
          <p:cNvPicPr>
            <a:picLocks noChangeAspect="1"/>
          </p:cNvPicPr>
          <p:nvPr/>
        </p:nvPicPr>
        <p:blipFill>
          <a:blip r:embed="rId2"/>
          <a:stretch>
            <a:fillRect/>
          </a:stretch>
        </p:blipFill>
        <p:spPr>
          <a:xfrm>
            <a:off x="5764048" y="1727413"/>
            <a:ext cx="405645" cy="397874"/>
          </a:xfrm>
          <a:prstGeom prst="rect">
            <a:avLst/>
          </a:prstGeom>
        </p:spPr>
      </p:pic>
      <p:pic>
        <p:nvPicPr>
          <p:cNvPr id="34" name="Picture 33">
            <a:extLst>
              <a:ext uri="{FF2B5EF4-FFF2-40B4-BE49-F238E27FC236}">
                <a16:creationId xmlns:a16="http://schemas.microsoft.com/office/drawing/2014/main" id="{B630AC40-4D1B-4013-82E6-46E23A09252E}"/>
              </a:ext>
            </a:extLst>
          </p:cNvPr>
          <p:cNvPicPr>
            <a:picLocks noChangeAspect="1"/>
          </p:cNvPicPr>
          <p:nvPr/>
        </p:nvPicPr>
        <p:blipFill>
          <a:blip r:embed="rId2"/>
          <a:stretch>
            <a:fillRect/>
          </a:stretch>
        </p:blipFill>
        <p:spPr>
          <a:xfrm>
            <a:off x="5793766" y="2550918"/>
            <a:ext cx="405645" cy="397874"/>
          </a:xfrm>
          <a:prstGeom prst="rect">
            <a:avLst/>
          </a:prstGeom>
        </p:spPr>
      </p:pic>
      <p:pic>
        <p:nvPicPr>
          <p:cNvPr id="35" name="Picture 34">
            <a:extLst>
              <a:ext uri="{FF2B5EF4-FFF2-40B4-BE49-F238E27FC236}">
                <a16:creationId xmlns:a16="http://schemas.microsoft.com/office/drawing/2014/main" id="{EB6E0F63-8676-46C1-845C-D14CAC0EADB6}"/>
              </a:ext>
            </a:extLst>
          </p:cNvPr>
          <p:cNvPicPr>
            <a:picLocks noChangeAspect="1"/>
          </p:cNvPicPr>
          <p:nvPr/>
        </p:nvPicPr>
        <p:blipFill>
          <a:blip r:embed="rId2"/>
          <a:stretch>
            <a:fillRect/>
          </a:stretch>
        </p:blipFill>
        <p:spPr>
          <a:xfrm>
            <a:off x="5793766" y="3335840"/>
            <a:ext cx="405645" cy="397874"/>
          </a:xfrm>
          <a:prstGeom prst="rect">
            <a:avLst/>
          </a:prstGeom>
        </p:spPr>
      </p:pic>
      <p:pic>
        <p:nvPicPr>
          <p:cNvPr id="48" name="Picture 47">
            <a:extLst>
              <a:ext uri="{FF2B5EF4-FFF2-40B4-BE49-F238E27FC236}">
                <a16:creationId xmlns:a16="http://schemas.microsoft.com/office/drawing/2014/main" id="{294DFDAC-F989-4912-AAA2-2E6EB0EC5F02}"/>
              </a:ext>
            </a:extLst>
          </p:cNvPr>
          <p:cNvPicPr>
            <a:picLocks noChangeAspect="1"/>
          </p:cNvPicPr>
          <p:nvPr/>
        </p:nvPicPr>
        <p:blipFill>
          <a:blip r:embed="rId2"/>
          <a:stretch>
            <a:fillRect/>
          </a:stretch>
        </p:blipFill>
        <p:spPr>
          <a:xfrm>
            <a:off x="5774285" y="4059850"/>
            <a:ext cx="405645" cy="397874"/>
          </a:xfrm>
          <a:prstGeom prst="rect">
            <a:avLst/>
          </a:prstGeom>
        </p:spPr>
      </p:pic>
      <p:pic>
        <p:nvPicPr>
          <p:cNvPr id="50" name="Picture 49">
            <a:extLst>
              <a:ext uri="{FF2B5EF4-FFF2-40B4-BE49-F238E27FC236}">
                <a16:creationId xmlns:a16="http://schemas.microsoft.com/office/drawing/2014/main" id="{3378786F-E869-4AAE-BE07-E3ED8A0049D1}"/>
              </a:ext>
            </a:extLst>
          </p:cNvPr>
          <p:cNvPicPr>
            <a:picLocks noChangeAspect="1"/>
          </p:cNvPicPr>
          <p:nvPr/>
        </p:nvPicPr>
        <p:blipFill>
          <a:blip r:embed="rId2"/>
          <a:stretch>
            <a:fillRect/>
          </a:stretch>
        </p:blipFill>
        <p:spPr>
          <a:xfrm>
            <a:off x="5709405" y="4787655"/>
            <a:ext cx="405645" cy="397874"/>
          </a:xfrm>
          <a:prstGeom prst="rect">
            <a:avLst/>
          </a:prstGeom>
        </p:spPr>
      </p:pic>
      <p:pic>
        <p:nvPicPr>
          <p:cNvPr id="52" name="Picture 51">
            <a:extLst>
              <a:ext uri="{FF2B5EF4-FFF2-40B4-BE49-F238E27FC236}">
                <a16:creationId xmlns:a16="http://schemas.microsoft.com/office/drawing/2014/main" id="{8BC1C8D8-5AEB-4D86-B9A9-264A6E99AA5E}"/>
              </a:ext>
            </a:extLst>
          </p:cNvPr>
          <p:cNvPicPr>
            <a:picLocks noChangeAspect="1"/>
          </p:cNvPicPr>
          <p:nvPr/>
        </p:nvPicPr>
        <p:blipFill>
          <a:blip r:embed="rId2"/>
          <a:stretch>
            <a:fillRect/>
          </a:stretch>
        </p:blipFill>
        <p:spPr>
          <a:xfrm>
            <a:off x="3202598" y="3945883"/>
            <a:ext cx="405645" cy="397874"/>
          </a:xfrm>
          <a:prstGeom prst="rect">
            <a:avLst/>
          </a:prstGeom>
        </p:spPr>
      </p:pic>
      <p:pic>
        <p:nvPicPr>
          <p:cNvPr id="54" name="Picture 53">
            <a:extLst>
              <a:ext uri="{FF2B5EF4-FFF2-40B4-BE49-F238E27FC236}">
                <a16:creationId xmlns:a16="http://schemas.microsoft.com/office/drawing/2014/main" id="{7E3C4D48-B285-4690-A6F5-3C2C20476A23}"/>
              </a:ext>
            </a:extLst>
          </p:cNvPr>
          <p:cNvPicPr>
            <a:picLocks noChangeAspect="1"/>
          </p:cNvPicPr>
          <p:nvPr/>
        </p:nvPicPr>
        <p:blipFill>
          <a:blip r:embed="rId2"/>
          <a:stretch>
            <a:fillRect/>
          </a:stretch>
        </p:blipFill>
        <p:spPr>
          <a:xfrm>
            <a:off x="6800195" y="3119267"/>
            <a:ext cx="405645" cy="397874"/>
          </a:xfrm>
          <a:prstGeom prst="rect">
            <a:avLst/>
          </a:prstGeom>
        </p:spPr>
      </p:pic>
      <p:pic>
        <p:nvPicPr>
          <p:cNvPr id="56" name="Picture 55">
            <a:extLst>
              <a:ext uri="{FF2B5EF4-FFF2-40B4-BE49-F238E27FC236}">
                <a16:creationId xmlns:a16="http://schemas.microsoft.com/office/drawing/2014/main" id="{689F635D-B91C-4B71-A8A2-1D85291A6C7D}"/>
              </a:ext>
            </a:extLst>
          </p:cNvPr>
          <p:cNvPicPr>
            <a:picLocks noChangeAspect="1"/>
          </p:cNvPicPr>
          <p:nvPr/>
        </p:nvPicPr>
        <p:blipFill>
          <a:blip r:embed="rId2"/>
          <a:stretch>
            <a:fillRect/>
          </a:stretch>
        </p:blipFill>
        <p:spPr>
          <a:xfrm>
            <a:off x="6915779" y="1714001"/>
            <a:ext cx="405645" cy="397874"/>
          </a:xfrm>
          <a:prstGeom prst="rect">
            <a:avLst/>
          </a:prstGeom>
        </p:spPr>
      </p:pic>
      <p:pic>
        <p:nvPicPr>
          <p:cNvPr id="58" name="Picture 57">
            <a:extLst>
              <a:ext uri="{FF2B5EF4-FFF2-40B4-BE49-F238E27FC236}">
                <a16:creationId xmlns:a16="http://schemas.microsoft.com/office/drawing/2014/main" id="{EA99F5C4-A291-4F7A-B909-A1717B2774A2}"/>
              </a:ext>
            </a:extLst>
          </p:cNvPr>
          <p:cNvPicPr>
            <a:picLocks noChangeAspect="1"/>
          </p:cNvPicPr>
          <p:nvPr/>
        </p:nvPicPr>
        <p:blipFill>
          <a:blip r:embed="rId2"/>
          <a:stretch>
            <a:fillRect/>
          </a:stretch>
        </p:blipFill>
        <p:spPr>
          <a:xfrm>
            <a:off x="6912918" y="5313277"/>
            <a:ext cx="405645" cy="397874"/>
          </a:xfrm>
          <a:prstGeom prst="rect">
            <a:avLst/>
          </a:prstGeom>
        </p:spPr>
      </p:pic>
      <p:pic>
        <p:nvPicPr>
          <p:cNvPr id="60" name="Picture 59">
            <a:extLst>
              <a:ext uri="{FF2B5EF4-FFF2-40B4-BE49-F238E27FC236}">
                <a16:creationId xmlns:a16="http://schemas.microsoft.com/office/drawing/2014/main" id="{DE70CB07-13FF-4B4B-ABA3-518455A0A7AE}"/>
              </a:ext>
            </a:extLst>
          </p:cNvPr>
          <p:cNvPicPr>
            <a:picLocks noChangeAspect="1"/>
          </p:cNvPicPr>
          <p:nvPr/>
        </p:nvPicPr>
        <p:blipFill>
          <a:blip r:embed="rId2"/>
          <a:stretch>
            <a:fillRect/>
          </a:stretch>
        </p:blipFill>
        <p:spPr>
          <a:xfrm>
            <a:off x="3564971" y="1490305"/>
            <a:ext cx="405645" cy="397874"/>
          </a:xfrm>
          <a:prstGeom prst="rect">
            <a:avLst/>
          </a:prstGeom>
        </p:spPr>
      </p:pic>
      <p:pic>
        <p:nvPicPr>
          <p:cNvPr id="62" name="Picture 61">
            <a:extLst>
              <a:ext uri="{FF2B5EF4-FFF2-40B4-BE49-F238E27FC236}">
                <a16:creationId xmlns:a16="http://schemas.microsoft.com/office/drawing/2014/main" id="{B337670D-6E9F-4C2B-B23B-2C0783672534}"/>
              </a:ext>
            </a:extLst>
          </p:cNvPr>
          <p:cNvPicPr>
            <a:picLocks noChangeAspect="1"/>
          </p:cNvPicPr>
          <p:nvPr/>
        </p:nvPicPr>
        <p:blipFill>
          <a:blip r:embed="rId2"/>
          <a:stretch>
            <a:fillRect/>
          </a:stretch>
        </p:blipFill>
        <p:spPr>
          <a:xfrm>
            <a:off x="3596999" y="5239835"/>
            <a:ext cx="405645" cy="397874"/>
          </a:xfrm>
          <a:prstGeom prst="rect">
            <a:avLst/>
          </a:prstGeom>
        </p:spPr>
      </p:pic>
      <p:pic>
        <p:nvPicPr>
          <p:cNvPr id="2053" name="Picture 2052">
            <a:extLst>
              <a:ext uri="{FF2B5EF4-FFF2-40B4-BE49-F238E27FC236}">
                <a16:creationId xmlns:a16="http://schemas.microsoft.com/office/drawing/2014/main" id="{6773C946-79ED-49C1-9358-5E442560C6FF}"/>
              </a:ext>
            </a:extLst>
          </p:cNvPr>
          <p:cNvPicPr>
            <a:picLocks noChangeAspect="1"/>
          </p:cNvPicPr>
          <p:nvPr/>
        </p:nvPicPr>
        <p:blipFill>
          <a:blip r:embed="rId2"/>
          <a:stretch>
            <a:fillRect/>
          </a:stretch>
        </p:blipFill>
        <p:spPr>
          <a:xfrm>
            <a:off x="7792050" y="4092130"/>
            <a:ext cx="1257300" cy="628650"/>
          </a:xfrm>
          <a:prstGeom prst="rect">
            <a:avLst/>
          </a:prstGeom>
        </p:spPr>
      </p:pic>
      <p:sp>
        <p:nvSpPr>
          <p:cNvPr id="2" name="Rectangle 1"/>
          <p:cNvSpPr/>
          <p:nvPr/>
        </p:nvSpPr>
        <p:spPr>
          <a:xfrm>
            <a:off x="2137938" y="93652"/>
            <a:ext cx="4139275" cy="507831"/>
          </a:xfrm>
          <a:prstGeom prst="rect">
            <a:avLst/>
          </a:prstGeom>
        </p:spPr>
        <p:txBody>
          <a:bodyPr wrap="none">
            <a:spAutoFit/>
          </a:bodyPr>
          <a:lstStyle/>
          <a:p>
            <a:pPr algn="just">
              <a:lnSpc>
                <a:spcPct val="150000"/>
              </a:lnSpc>
            </a:pPr>
            <a:r>
              <a:rPr lang="en-GB" dirty="0">
                <a:solidFill>
                  <a:srgbClr val="000000"/>
                </a:solidFill>
              </a:rPr>
              <a:t>All services access this database directly</a:t>
            </a:r>
          </a:p>
        </p:txBody>
      </p:sp>
      <p:sp>
        <p:nvSpPr>
          <p:cNvPr id="3" name="Rectangle 2"/>
          <p:cNvSpPr/>
          <p:nvPr/>
        </p:nvSpPr>
        <p:spPr>
          <a:xfrm>
            <a:off x="18411" y="601483"/>
            <a:ext cx="3186385" cy="369332"/>
          </a:xfrm>
          <a:prstGeom prst="rect">
            <a:avLst/>
          </a:prstGeom>
        </p:spPr>
        <p:txBody>
          <a:bodyPr wrap="none">
            <a:spAutoFit/>
          </a:bodyPr>
          <a:lstStyle/>
          <a:p>
            <a:r>
              <a:rPr lang="en-US" b="1" dirty="0">
                <a:solidFill>
                  <a:srgbClr val="121214"/>
                </a:solidFill>
              </a:rPr>
              <a:t>Integration Database Design</a:t>
            </a:r>
            <a:endParaRPr lang="en-IN" b="1" dirty="0"/>
          </a:p>
        </p:txBody>
      </p:sp>
    </p:spTree>
    <p:extLst>
      <p:ext uri="{BB962C8B-B14F-4D97-AF65-F5344CB8AC3E}">
        <p14:creationId xmlns:p14="http://schemas.microsoft.com/office/powerpoint/2010/main" val="41151030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57</a:t>
            </a:fld>
            <a:endParaRPr lang="en-US"/>
          </a:p>
        </p:txBody>
      </p:sp>
      <p:sp>
        <p:nvSpPr>
          <p:cNvPr id="5" name="TextBox 4"/>
          <p:cNvSpPr txBox="1"/>
          <p:nvPr/>
        </p:nvSpPr>
        <p:spPr>
          <a:xfrm>
            <a:off x="203579" y="507747"/>
            <a:ext cx="6349621" cy="461665"/>
          </a:xfrm>
          <a:prstGeom prst="rect">
            <a:avLst/>
          </a:prstGeom>
          <a:noFill/>
        </p:spPr>
        <p:txBody>
          <a:bodyPr wrap="square" rtlCol="0">
            <a:spAutoFit/>
          </a:bodyPr>
          <a:lstStyle/>
          <a:p>
            <a:r>
              <a:rPr lang="en-US" sz="2400" b="1" dirty="0" smtClean="0">
                <a:solidFill>
                  <a:srgbClr val="121214"/>
                </a:solidFill>
              </a:rPr>
              <a:t>Integration Database Design</a:t>
            </a:r>
            <a:endParaRPr lang="en-IN" sz="2400" b="1" dirty="0"/>
          </a:p>
        </p:txBody>
      </p:sp>
      <p:sp>
        <p:nvSpPr>
          <p:cNvPr id="7" name="Rectangle 6"/>
          <p:cNvSpPr/>
          <p:nvPr/>
        </p:nvSpPr>
        <p:spPr>
          <a:xfrm>
            <a:off x="1600200" y="2286000"/>
            <a:ext cx="4572000" cy="2954655"/>
          </a:xfrm>
          <a:prstGeom prst="rect">
            <a:avLst/>
          </a:prstGeom>
        </p:spPr>
        <p:txBody>
          <a:bodyPr wrap="square">
            <a:spAutoFit/>
          </a:bodyPr>
          <a:lstStyle/>
          <a:p>
            <a:r>
              <a:rPr lang="en-IN" sz="2800" b="1" dirty="0"/>
              <a:t>Problems</a:t>
            </a:r>
            <a:r>
              <a:rPr lang="en-IN" sz="2800" b="1" dirty="0" smtClean="0"/>
              <a:t>:</a:t>
            </a:r>
          </a:p>
          <a:p>
            <a:endParaRPr lang="en-IN" sz="2800" b="1" dirty="0" smtClean="0"/>
          </a:p>
          <a:p>
            <a:r>
              <a:rPr lang="en-IN" sz="2800" dirty="0"/>
              <a:t>Tight </a:t>
            </a:r>
            <a:r>
              <a:rPr lang="en-IN" sz="2800" dirty="0" smtClean="0"/>
              <a:t>coupling</a:t>
            </a:r>
          </a:p>
          <a:p>
            <a:r>
              <a:rPr lang="en-US" sz="2800" dirty="0" smtClean="0"/>
              <a:t>Hard to Scale</a:t>
            </a:r>
          </a:p>
          <a:p>
            <a:r>
              <a:rPr lang="en-US" sz="2800" dirty="0" smtClean="0"/>
              <a:t>Risky Schema Updates</a:t>
            </a:r>
          </a:p>
          <a:p>
            <a:r>
              <a:rPr lang="en-US" sz="2800" dirty="0" smtClean="0"/>
              <a:t>Ownership ambiguity</a:t>
            </a:r>
            <a:endParaRPr lang="en-US" sz="2800" dirty="0"/>
          </a:p>
          <a:p>
            <a:endParaRPr lang="en-IN" dirty="0"/>
          </a:p>
        </p:txBody>
      </p:sp>
    </p:spTree>
    <p:extLst>
      <p:ext uri="{BB962C8B-B14F-4D97-AF65-F5344CB8AC3E}">
        <p14:creationId xmlns:p14="http://schemas.microsoft.com/office/powerpoint/2010/main" val="4032650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58</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Best Practice</a:t>
            </a:r>
            <a:endParaRPr lang="en-IN" sz="2400" b="1" dirty="0"/>
          </a:p>
        </p:txBody>
      </p:sp>
      <p:graphicFrame>
        <p:nvGraphicFramePr>
          <p:cNvPr id="6" name="Table 5"/>
          <p:cNvGraphicFramePr>
            <a:graphicFrameLocks noGrp="1"/>
          </p:cNvGraphicFramePr>
          <p:nvPr>
            <p:extLst>
              <p:ext uri="{D42A27DB-BD31-4B8C-83A1-F6EECF244321}">
                <p14:modId xmlns:p14="http://schemas.microsoft.com/office/powerpoint/2010/main" val="1003684036"/>
              </p:ext>
            </p:extLst>
          </p:nvPr>
        </p:nvGraphicFramePr>
        <p:xfrm>
          <a:off x="235662" y="1524000"/>
          <a:ext cx="8451138" cy="3276600"/>
        </p:xfrm>
        <a:graphic>
          <a:graphicData uri="http://schemas.openxmlformats.org/drawingml/2006/table">
            <a:tbl>
              <a:tblPr/>
              <a:tblGrid>
                <a:gridCol w="2817046">
                  <a:extLst>
                    <a:ext uri="{9D8B030D-6E8A-4147-A177-3AD203B41FA5}">
                      <a16:colId xmlns:a16="http://schemas.microsoft.com/office/drawing/2014/main" val="1608047792"/>
                    </a:ext>
                  </a:extLst>
                </a:gridCol>
                <a:gridCol w="2817046">
                  <a:extLst>
                    <a:ext uri="{9D8B030D-6E8A-4147-A177-3AD203B41FA5}">
                      <a16:colId xmlns:a16="http://schemas.microsoft.com/office/drawing/2014/main" val="945561552"/>
                    </a:ext>
                  </a:extLst>
                </a:gridCol>
                <a:gridCol w="2817046">
                  <a:extLst>
                    <a:ext uri="{9D8B030D-6E8A-4147-A177-3AD203B41FA5}">
                      <a16:colId xmlns:a16="http://schemas.microsoft.com/office/drawing/2014/main" val="733437246"/>
                    </a:ext>
                  </a:extLst>
                </a:gridCol>
              </a:tblGrid>
              <a:tr h="546100">
                <a:tc>
                  <a:txBody>
                    <a:bodyPr/>
                    <a:lstStyle/>
                    <a:p>
                      <a:r>
                        <a:rPr lang="en-IN" b="1" dirty="0"/>
                        <a:t>Feature</a:t>
                      </a:r>
                    </a:p>
                  </a:txBody>
                  <a:tcPr anchor="ctr">
                    <a:lnL>
                      <a:noFill/>
                    </a:lnL>
                    <a:lnR>
                      <a:noFill/>
                    </a:lnR>
                    <a:lnT>
                      <a:noFill/>
                    </a:lnT>
                    <a:lnB>
                      <a:noFill/>
                    </a:lnB>
                  </a:tcPr>
                </a:tc>
                <a:tc>
                  <a:txBody>
                    <a:bodyPr/>
                    <a:lstStyle/>
                    <a:p>
                      <a:r>
                        <a:rPr lang="en-IN" b="1" dirty="0"/>
                        <a:t>Application DB</a:t>
                      </a:r>
                    </a:p>
                  </a:txBody>
                  <a:tcPr anchor="ctr">
                    <a:lnL>
                      <a:noFill/>
                    </a:lnL>
                    <a:lnR>
                      <a:noFill/>
                    </a:lnR>
                    <a:lnT>
                      <a:noFill/>
                    </a:lnT>
                    <a:lnB>
                      <a:noFill/>
                    </a:lnB>
                  </a:tcPr>
                </a:tc>
                <a:tc>
                  <a:txBody>
                    <a:bodyPr/>
                    <a:lstStyle/>
                    <a:p>
                      <a:r>
                        <a:rPr lang="en-IN" b="1" dirty="0"/>
                        <a:t>Integration DB</a:t>
                      </a:r>
                    </a:p>
                  </a:txBody>
                  <a:tcPr anchor="ctr">
                    <a:lnL>
                      <a:noFill/>
                    </a:lnL>
                    <a:lnR>
                      <a:noFill/>
                    </a:lnR>
                    <a:lnT>
                      <a:noFill/>
                    </a:lnT>
                    <a:lnB>
                      <a:noFill/>
                    </a:lnB>
                  </a:tcPr>
                </a:tc>
                <a:extLst>
                  <a:ext uri="{0D108BD9-81ED-4DB2-BD59-A6C34878D82A}">
                    <a16:rowId xmlns:a16="http://schemas.microsoft.com/office/drawing/2014/main" val="2784506108"/>
                  </a:ext>
                </a:extLst>
              </a:tr>
              <a:tr h="546100">
                <a:tc>
                  <a:txBody>
                    <a:bodyPr/>
                    <a:lstStyle/>
                    <a:p>
                      <a:r>
                        <a:rPr lang="en-IN"/>
                        <a:t>Coupling</a:t>
                      </a:r>
                    </a:p>
                  </a:txBody>
                  <a:tcPr anchor="ctr">
                    <a:lnL>
                      <a:noFill/>
                    </a:lnL>
                    <a:lnR>
                      <a:noFill/>
                    </a:lnR>
                    <a:lnT>
                      <a:noFill/>
                    </a:lnT>
                    <a:lnB>
                      <a:noFill/>
                    </a:lnB>
                  </a:tcPr>
                </a:tc>
                <a:tc>
                  <a:txBody>
                    <a:bodyPr/>
                    <a:lstStyle/>
                    <a:p>
                      <a:r>
                        <a:rPr lang="en-IN"/>
                        <a:t>Loose</a:t>
                      </a:r>
                    </a:p>
                  </a:txBody>
                  <a:tcPr anchor="ctr">
                    <a:lnL>
                      <a:noFill/>
                    </a:lnL>
                    <a:lnR>
                      <a:noFill/>
                    </a:lnR>
                    <a:lnT>
                      <a:noFill/>
                    </a:lnT>
                    <a:lnB>
                      <a:noFill/>
                    </a:lnB>
                  </a:tcPr>
                </a:tc>
                <a:tc>
                  <a:txBody>
                    <a:bodyPr/>
                    <a:lstStyle/>
                    <a:p>
                      <a:r>
                        <a:rPr lang="en-IN"/>
                        <a:t>Tight</a:t>
                      </a:r>
                    </a:p>
                  </a:txBody>
                  <a:tcPr anchor="ctr">
                    <a:lnL>
                      <a:noFill/>
                    </a:lnL>
                    <a:lnR>
                      <a:noFill/>
                    </a:lnR>
                    <a:lnT>
                      <a:noFill/>
                    </a:lnT>
                    <a:lnB>
                      <a:noFill/>
                    </a:lnB>
                  </a:tcPr>
                </a:tc>
                <a:extLst>
                  <a:ext uri="{0D108BD9-81ED-4DB2-BD59-A6C34878D82A}">
                    <a16:rowId xmlns:a16="http://schemas.microsoft.com/office/drawing/2014/main" val="3884867222"/>
                  </a:ext>
                </a:extLst>
              </a:tr>
              <a:tr h="546100">
                <a:tc>
                  <a:txBody>
                    <a:bodyPr/>
                    <a:lstStyle/>
                    <a:p>
                      <a:r>
                        <a:rPr lang="en-IN"/>
                        <a:t>Flexibility</a:t>
                      </a:r>
                    </a:p>
                  </a:txBody>
                  <a:tcPr anchor="ctr">
                    <a:lnL>
                      <a:noFill/>
                    </a:lnL>
                    <a:lnR>
                      <a:noFill/>
                    </a:lnR>
                    <a:lnT>
                      <a:noFill/>
                    </a:lnT>
                    <a:lnB>
                      <a:noFill/>
                    </a:lnB>
                  </a:tcPr>
                </a:tc>
                <a:tc>
                  <a:txBody>
                    <a:bodyPr/>
                    <a:lstStyle/>
                    <a:p>
                      <a:r>
                        <a:rPr lang="en-IN"/>
                        <a:t>High</a:t>
                      </a:r>
                    </a:p>
                  </a:txBody>
                  <a:tcPr anchor="ctr">
                    <a:lnL>
                      <a:noFill/>
                    </a:lnL>
                    <a:lnR>
                      <a:noFill/>
                    </a:lnR>
                    <a:lnT>
                      <a:noFill/>
                    </a:lnT>
                    <a:lnB>
                      <a:noFill/>
                    </a:lnB>
                  </a:tcPr>
                </a:tc>
                <a:tc>
                  <a:txBody>
                    <a:bodyPr/>
                    <a:lstStyle/>
                    <a:p>
                      <a:r>
                        <a:rPr lang="en-IN"/>
                        <a:t>Low</a:t>
                      </a:r>
                    </a:p>
                  </a:txBody>
                  <a:tcPr anchor="ctr">
                    <a:lnL>
                      <a:noFill/>
                    </a:lnL>
                    <a:lnR>
                      <a:noFill/>
                    </a:lnR>
                    <a:lnT>
                      <a:noFill/>
                    </a:lnT>
                    <a:lnB>
                      <a:noFill/>
                    </a:lnB>
                  </a:tcPr>
                </a:tc>
                <a:extLst>
                  <a:ext uri="{0D108BD9-81ED-4DB2-BD59-A6C34878D82A}">
                    <a16:rowId xmlns:a16="http://schemas.microsoft.com/office/drawing/2014/main" val="1900732613"/>
                  </a:ext>
                </a:extLst>
              </a:tr>
              <a:tr h="546100">
                <a:tc>
                  <a:txBody>
                    <a:bodyPr/>
                    <a:lstStyle/>
                    <a:p>
                      <a:r>
                        <a:rPr lang="en-IN"/>
                        <a:t>Service Ownership</a:t>
                      </a:r>
                    </a:p>
                  </a:txBody>
                  <a:tcPr anchor="ctr">
                    <a:lnL>
                      <a:noFill/>
                    </a:lnL>
                    <a:lnR>
                      <a:noFill/>
                    </a:lnR>
                    <a:lnT>
                      <a:noFill/>
                    </a:lnT>
                    <a:lnB>
                      <a:noFill/>
                    </a:lnB>
                  </a:tcPr>
                </a:tc>
                <a:tc>
                  <a:txBody>
                    <a:bodyPr/>
                    <a:lstStyle/>
                    <a:p>
                      <a:r>
                        <a:rPr lang="en-IN"/>
                        <a:t>Clear</a:t>
                      </a:r>
                    </a:p>
                  </a:txBody>
                  <a:tcPr anchor="ctr">
                    <a:lnL>
                      <a:noFill/>
                    </a:lnL>
                    <a:lnR>
                      <a:noFill/>
                    </a:lnR>
                    <a:lnT>
                      <a:noFill/>
                    </a:lnT>
                    <a:lnB>
                      <a:noFill/>
                    </a:lnB>
                  </a:tcPr>
                </a:tc>
                <a:tc>
                  <a:txBody>
                    <a:bodyPr/>
                    <a:lstStyle/>
                    <a:p>
                      <a:r>
                        <a:rPr lang="en-IN"/>
                        <a:t>Ambiguous</a:t>
                      </a:r>
                    </a:p>
                  </a:txBody>
                  <a:tcPr anchor="ctr">
                    <a:lnL>
                      <a:noFill/>
                    </a:lnL>
                    <a:lnR>
                      <a:noFill/>
                    </a:lnR>
                    <a:lnT>
                      <a:noFill/>
                    </a:lnT>
                    <a:lnB>
                      <a:noFill/>
                    </a:lnB>
                  </a:tcPr>
                </a:tc>
                <a:extLst>
                  <a:ext uri="{0D108BD9-81ED-4DB2-BD59-A6C34878D82A}">
                    <a16:rowId xmlns:a16="http://schemas.microsoft.com/office/drawing/2014/main" val="3856604764"/>
                  </a:ext>
                </a:extLst>
              </a:tr>
              <a:tr h="546100">
                <a:tc>
                  <a:txBody>
                    <a:bodyPr/>
                    <a:lstStyle/>
                    <a:p>
                      <a:r>
                        <a:rPr lang="en-IN"/>
                        <a:t>Scaling</a:t>
                      </a:r>
                    </a:p>
                  </a:txBody>
                  <a:tcPr anchor="ctr">
                    <a:lnL>
                      <a:noFill/>
                    </a:lnL>
                    <a:lnR>
                      <a:noFill/>
                    </a:lnR>
                    <a:lnT>
                      <a:noFill/>
                    </a:lnT>
                    <a:lnB>
                      <a:noFill/>
                    </a:lnB>
                  </a:tcPr>
                </a:tc>
                <a:tc>
                  <a:txBody>
                    <a:bodyPr/>
                    <a:lstStyle/>
                    <a:p>
                      <a:r>
                        <a:rPr lang="en-IN"/>
                        <a:t>Independent</a:t>
                      </a:r>
                    </a:p>
                  </a:txBody>
                  <a:tcPr anchor="ctr">
                    <a:lnL>
                      <a:noFill/>
                    </a:lnL>
                    <a:lnR>
                      <a:noFill/>
                    </a:lnR>
                    <a:lnT>
                      <a:noFill/>
                    </a:lnT>
                    <a:lnB>
                      <a:noFill/>
                    </a:lnB>
                  </a:tcPr>
                </a:tc>
                <a:tc>
                  <a:txBody>
                    <a:bodyPr/>
                    <a:lstStyle/>
                    <a:p>
                      <a:r>
                        <a:rPr lang="en-IN"/>
                        <a:t>Monolithic</a:t>
                      </a:r>
                    </a:p>
                  </a:txBody>
                  <a:tcPr anchor="ctr">
                    <a:lnL>
                      <a:noFill/>
                    </a:lnL>
                    <a:lnR>
                      <a:noFill/>
                    </a:lnR>
                    <a:lnT>
                      <a:noFill/>
                    </a:lnT>
                    <a:lnB>
                      <a:noFill/>
                    </a:lnB>
                  </a:tcPr>
                </a:tc>
                <a:extLst>
                  <a:ext uri="{0D108BD9-81ED-4DB2-BD59-A6C34878D82A}">
                    <a16:rowId xmlns:a16="http://schemas.microsoft.com/office/drawing/2014/main" val="1492099821"/>
                  </a:ext>
                </a:extLst>
              </a:tr>
              <a:tr h="546100">
                <a:tc>
                  <a:txBody>
                    <a:bodyPr/>
                    <a:lstStyle/>
                    <a:p>
                      <a:r>
                        <a:rPr lang="en-IN"/>
                        <a:t>Modern Architecture</a:t>
                      </a:r>
                    </a:p>
                  </a:txBody>
                  <a:tcPr anchor="ctr">
                    <a:lnL>
                      <a:noFill/>
                    </a:lnL>
                    <a:lnR>
                      <a:noFill/>
                    </a:lnR>
                    <a:lnT>
                      <a:noFill/>
                    </a:lnT>
                    <a:lnB>
                      <a:noFill/>
                    </a:lnB>
                  </a:tcPr>
                </a:tc>
                <a:tc>
                  <a:txBody>
                    <a:bodyPr/>
                    <a:lstStyle/>
                    <a:p>
                      <a:r>
                        <a:rPr lang="en-IN"/>
                        <a:t>Microservices</a:t>
                      </a:r>
                    </a:p>
                  </a:txBody>
                  <a:tcPr anchor="ctr">
                    <a:lnL>
                      <a:noFill/>
                    </a:lnL>
                    <a:lnR>
                      <a:noFill/>
                    </a:lnR>
                    <a:lnT>
                      <a:noFill/>
                    </a:lnT>
                    <a:lnB>
                      <a:noFill/>
                    </a:lnB>
                  </a:tcPr>
                </a:tc>
                <a:tc>
                  <a:txBody>
                    <a:bodyPr/>
                    <a:lstStyle/>
                    <a:p>
                      <a:r>
                        <a:rPr lang="en-IN" dirty="0"/>
                        <a:t>Legacy/Monolithic</a:t>
                      </a:r>
                    </a:p>
                  </a:txBody>
                  <a:tcPr anchor="ctr">
                    <a:lnL>
                      <a:noFill/>
                    </a:lnL>
                    <a:lnR>
                      <a:noFill/>
                    </a:lnR>
                    <a:lnT>
                      <a:noFill/>
                    </a:lnT>
                    <a:lnB>
                      <a:noFill/>
                    </a:lnB>
                  </a:tcPr>
                </a:tc>
                <a:extLst>
                  <a:ext uri="{0D108BD9-81ED-4DB2-BD59-A6C34878D82A}">
                    <a16:rowId xmlns:a16="http://schemas.microsoft.com/office/drawing/2014/main" val="2004837049"/>
                  </a:ext>
                </a:extLst>
              </a:tr>
            </a:tbl>
          </a:graphicData>
        </a:graphic>
      </p:graphicFrame>
    </p:spTree>
    <p:extLst>
      <p:ext uri="{BB962C8B-B14F-4D97-AF65-F5344CB8AC3E}">
        <p14:creationId xmlns:p14="http://schemas.microsoft.com/office/powerpoint/2010/main" val="1976645075"/>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70898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The need for distributed data:</a:t>
            </a:r>
          </a:p>
          <a:p>
            <a:pPr algn="just">
              <a:lnSpc>
                <a:spcPct val="150000"/>
              </a:lnSpc>
            </a:pPr>
            <a:r>
              <a:rPr lang="en-GB" sz="2000" dirty="0">
                <a:solidFill>
                  <a:srgbClr val="000000"/>
                </a:solidFill>
              </a:rPr>
              <a:t> </a:t>
            </a:r>
            <a:r>
              <a:rPr lang="en-GB" sz="2000" dirty="0" smtClean="0">
                <a:solidFill>
                  <a:srgbClr val="000000"/>
                </a:solidFill>
              </a:rPr>
              <a:t>                             1. Global Users</a:t>
            </a:r>
          </a:p>
          <a:p>
            <a:pPr algn="just">
              <a:lnSpc>
                <a:spcPct val="150000"/>
              </a:lnSpc>
            </a:pPr>
            <a:r>
              <a:rPr lang="en-GB" sz="2000" dirty="0">
                <a:solidFill>
                  <a:srgbClr val="000000"/>
                </a:solidFill>
              </a:rPr>
              <a:t> </a:t>
            </a:r>
            <a:r>
              <a:rPr lang="en-GB" sz="2000" dirty="0" smtClean="0">
                <a:solidFill>
                  <a:srgbClr val="000000"/>
                </a:solidFill>
              </a:rPr>
              <a:t>                             2. High Availability</a:t>
            </a:r>
          </a:p>
          <a:p>
            <a:pPr marL="342900" indent="-342900" algn="just">
              <a:lnSpc>
                <a:spcPct val="150000"/>
              </a:lnSpc>
              <a:buFont typeface="Arial" panose="020B0604020202020204" pitchFamily="34" charset="0"/>
              <a:buChar char="•"/>
            </a:pPr>
            <a:r>
              <a:rPr lang="en-GB" sz="2000" b="1" dirty="0" smtClean="0">
                <a:solidFill>
                  <a:srgbClr val="000000"/>
                </a:solidFill>
              </a:rPr>
              <a:t>RDBMS </a:t>
            </a:r>
            <a:r>
              <a:rPr lang="en-GB" sz="2000" dirty="0" smtClean="0">
                <a:solidFill>
                  <a:srgbClr val="000000"/>
                </a:solidFill>
              </a:rPr>
              <a:t>scale vertically -&gt; cost &amp; limits</a:t>
            </a:r>
          </a:p>
          <a:p>
            <a:pPr marL="342900" indent="-342900" algn="just">
              <a:lnSpc>
                <a:spcPct val="150000"/>
              </a:lnSpc>
              <a:buFont typeface="Arial" panose="020B0604020202020204" pitchFamily="34" charset="0"/>
              <a:buChar char="•"/>
            </a:pPr>
            <a:r>
              <a:rPr lang="en-GB" sz="2000" b="1" dirty="0" smtClean="0">
                <a:solidFill>
                  <a:srgbClr val="000000"/>
                </a:solidFill>
              </a:rPr>
              <a:t>NoSQL </a:t>
            </a:r>
            <a:r>
              <a:rPr lang="en-GB" sz="2000" dirty="0" smtClean="0">
                <a:solidFill>
                  <a:srgbClr val="000000"/>
                </a:solidFill>
              </a:rPr>
              <a:t>scale horizontally -&gt; cost-effective clusters</a:t>
            </a: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59</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Attack of the Clusters</a:t>
            </a:r>
            <a:endParaRPr lang="en-IN" sz="2400" b="1"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05000" y="3599455"/>
            <a:ext cx="3461714" cy="2307809"/>
          </a:xfrm>
          <a:prstGeom prst="rect">
            <a:avLst/>
          </a:prstGeom>
        </p:spPr>
      </p:pic>
    </p:spTree>
    <p:extLst>
      <p:ext uri="{BB962C8B-B14F-4D97-AF65-F5344CB8AC3E}">
        <p14:creationId xmlns:p14="http://schemas.microsoft.com/office/powerpoint/2010/main" val="1404983783"/>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60</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Attack of the Clusters</a:t>
            </a:r>
            <a:endParaRPr lang="en-IN" sz="2400" b="1" dirty="0"/>
          </a:p>
        </p:txBody>
      </p:sp>
      <p:pic>
        <p:nvPicPr>
          <p:cNvPr id="6" name="Picture 5"/>
          <p:cNvPicPr>
            <a:picLocks noChangeAspect="1"/>
          </p:cNvPicPr>
          <p:nvPr/>
        </p:nvPicPr>
        <p:blipFill>
          <a:blip r:embed="rId2"/>
          <a:stretch>
            <a:fillRect/>
          </a:stretch>
        </p:blipFill>
        <p:spPr>
          <a:xfrm>
            <a:off x="735012" y="1371600"/>
            <a:ext cx="7673975" cy="4218858"/>
          </a:xfrm>
          <a:prstGeom prst="rect">
            <a:avLst/>
          </a:prstGeom>
        </p:spPr>
      </p:pic>
    </p:spTree>
    <p:extLst>
      <p:ext uri="{BB962C8B-B14F-4D97-AF65-F5344CB8AC3E}">
        <p14:creationId xmlns:p14="http://schemas.microsoft.com/office/powerpoint/2010/main" val="1662058153"/>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400657"/>
          </a:xfrm>
          <a:prstGeom prst="rect">
            <a:avLst/>
          </a:prstGeom>
        </p:spPr>
        <p:txBody>
          <a:bodyPr wrap="square">
            <a:spAutoFit/>
          </a:bodyPr>
          <a:lstStyle/>
          <a:p>
            <a:pPr algn="just">
              <a:lnSpc>
                <a:spcPct val="150000"/>
              </a:lnSpc>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61</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Emergence of NoSQL</a:t>
            </a:r>
            <a:endParaRPr lang="en-IN" sz="24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300" y="1190262"/>
            <a:ext cx="7391400" cy="4372338"/>
          </a:xfrm>
          <a:prstGeom prst="rect">
            <a:avLst/>
          </a:prstGeom>
        </p:spPr>
      </p:pic>
    </p:spTree>
    <p:extLst>
      <p:ext uri="{BB962C8B-B14F-4D97-AF65-F5344CB8AC3E}">
        <p14:creationId xmlns:p14="http://schemas.microsoft.com/office/powerpoint/2010/main" val="3146610278"/>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3323987"/>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US" sz="2000" dirty="0" smtClean="0">
                <a:solidFill>
                  <a:srgbClr val="000000"/>
                </a:solidFill>
              </a:rPr>
              <a:t>Emerged in the late 2000s, characteristically:</a:t>
            </a:r>
          </a:p>
          <a:p>
            <a:pPr marL="342900" indent="-342900" algn="just">
              <a:lnSpc>
                <a:spcPct val="150000"/>
              </a:lnSpc>
              <a:buFont typeface="Arial" panose="020B0604020202020204" pitchFamily="34" charset="0"/>
              <a:buChar char="•"/>
            </a:pPr>
            <a:r>
              <a:rPr lang="en-US" sz="2000" dirty="0" smtClean="0">
                <a:solidFill>
                  <a:srgbClr val="000000"/>
                </a:solidFill>
              </a:rPr>
              <a:t>Non-relational</a:t>
            </a:r>
          </a:p>
          <a:p>
            <a:pPr marL="342900" indent="-342900" algn="just">
              <a:lnSpc>
                <a:spcPct val="150000"/>
              </a:lnSpc>
              <a:buFont typeface="Arial" panose="020B0604020202020204" pitchFamily="34" charset="0"/>
              <a:buChar char="•"/>
            </a:pPr>
            <a:r>
              <a:rPr lang="en-US" sz="2000" dirty="0" err="1" smtClean="0">
                <a:solidFill>
                  <a:srgbClr val="000000"/>
                </a:solidFill>
              </a:rPr>
              <a:t>Schemaless</a:t>
            </a:r>
            <a:endParaRPr lang="en-US" sz="2000" dirty="0" smtClean="0">
              <a:solidFill>
                <a:srgbClr val="000000"/>
              </a:solidFill>
            </a:endParaRPr>
          </a:p>
          <a:p>
            <a:pPr marL="342900" indent="-342900" algn="just">
              <a:lnSpc>
                <a:spcPct val="150000"/>
              </a:lnSpc>
              <a:buFont typeface="Arial" panose="020B0604020202020204" pitchFamily="34" charset="0"/>
              <a:buChar char="•"/>
            </a:pPr>
            <a:r>
              <a:rPr lang="en-US" sz="2000" dirty="0" smtClean="0">
                <a:solidFill>
                  <a:srgbClr val="000000"/>
                </a:solidFill>
              </a:rPr>
              <a:t>Cluster-optimized</a:t>
            </a:r>
          </a:p>
          <a:p>
            <a:pPr marL="342900" indent="-342900" algn="just">
              <a:lnSpc>
                <a:spcPct val="150000"/>
              </a:lnSpc>
              <a:buFont typeface="Arial" panose="020B0604020202020204" pitchFamily="34" charset="0"/>
              <a:buChar char="•"/>
            </a:pPr>
            <a:r>
              <a:rPr lang="en-US" sz="2000" dirty="0" smtClean="0">
                <a:solidFill>
                  <a:srgbClr val="000000"/>
                </a:solidFill>
              </a:rPr>
              <a:t>Open source</a:t>
            </a:r>
          </a:p>
          <a:p>
            <a:pPr marL="342900" indent="-342900" algn="just">
              <a:lnSpc>
                <a:spcPct val="150000"/>
              </a:lnSpc>
              <a:buFont typeface="Arial" panose="020B0604020202020204" pitchFamily="34" charset="0"/>
              <a:buChar char="•"/>
            </a:pPr>
            <a:r>
              <a:rPr lang="en-US" sz="2000" dirty="0" smtClean="0">
                <a:solidFill>
                  <a:srgbClr val="000000"/>
                </a:solidFill>
              </a:rPr>
              <a:t>Facilitates “polyglot persistence” using multiple data stores per application</a:t>
            </a: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62</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Emergence of NoSQL</a:t>
            </a:r>
            <a:endParaRPr lang="en-IN" sz="2400" b="1" dirty="0"/>
          </a:p>
        </p:txBody>
      </p:sp>
    </p:spTree>
    <p:extLst>
      <p:ext uri="{BB962C8B-B14F-4D97-AF65-F5344CB8AC3E}">
        <p14:creationId xmlns:p14="http://schemas.microsoft.com/office/powerpoint/2010/main" val="160142621"/>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7894469"/>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A data model </a:t>
            </a:r>
            <a:r>
              <a:rPr lang="en-GB" sz="2000" dirty="0" smtClean="0">
                <a:solidFill>
                  <a:srgbClr val="000000"/>
                </a:solidFill>
              </a:rPr>
              <a:t>is the model through which we perceive and manipulate our data, It describes how user interacts with the data in the database.</a:t>
            </a:r>
          </a:p>
          <a:p>
            <a:pPr marL="342900" indent="-342900" algn="just">
              <a:lnSpc>
                <a:spcPct val="150000"/>
              </a:lnSpc>
              <a:buFont typeface="Arial" panose="020B0604020202020204" pitchFamily="34" charset="0"/>
              <a:buChar char="•"/>
            </a:pPr>
            <a:r>
              <a:rPr lang="en-GB" sz="2000" b="1" dirty="0" smtClean="0">
                <a:solidFill>
                  <a:srgbClr val="000000"/>
                </a:solidFill>
              </a:rPr>
              <a:t>A storage model </a:t>
            </a:r>
            <a:r>
              <a:rPr lang="en-GB" sz="2000" dirty="0" smtClean="0">
                <a:solidFill>
                  <a:srgbClr val="000000"/>
                </a:solidFill>
              </a:rPr>
              <a:t>whereas describes how the database stores and manipulates the data internally.</a:t>
            </a:r>
          </a:p>
          <a:p>
            <a:pPr marL="342900" indent="-342900" algn="just">
              <a:lnSpc>
                <a:spcPct val="150000"/>
              </a:lnSpc>
              <a:buFont typeface="Arial" panose="020B0604020202020204" pitchFamily="34" charset="0"/>
              <a:buChar char="•"/>
            </a:pPr>
            <a:r>
              <a:rPr lang="en-GB" sz="2000" b="1" dirty="0" smtClean="0">
                <a:solidFill>
                  <a:srgbClr val="000000"/>
                </a:solidFill>
              </a:rPr>
              <a:t>ER Model </a:t>
            </a:r>
            <a:r>
              <a:rPr lang="en-GB" sz="2000" dirty="0" smtClean="0">
                <a:solidFill>
                  <a:srgbClr val="000000"/>
                </a:solidFill>
              </a:rPr>
              <a:t>is a data model - relational. Refer examples.</a:t>
            </a:r>
          </a:p>
          <a:p>
            <a:pPr marL="342900" indent="-342900" algn="just">
              <a:lnSpc>
                <a:spcPct val="150000"/>
              </a:lnSpc>
              <a:buFont typeface="Arial" panose="020B0604020202020204" pitchFamily="34" charset="0"/>
              <a:buChar char="•"/>
            </a:pPr>
            <a:r>
              <a:rPr lang="en-GB" sz="2000" b="1" dirty="0" smtClean="0">
                <a:solidFill>
                  <a:srgbClr val="000000"/>
                </a:solidFill>
              </a:rPr>
              <a:t>NoSQL</a:t>
            </a:r>
            <a:r>
              <a:rPr lang="en-GB" sz="2000" dirty="0" smtClean="0">
                <a:solidFill>
                  <a:srgbClr val="000000"/>
                </a:solidFill>
              </a:rPr>
              <a:t> is a move away from the relational model.</a:t>
            </a:r>
          </a:p>
          <a:p>
            <a:pPr marL="342900" indent="-342900" algn="just">
              <a:lnSpc>
                <a:spcPct val="150000"/>
              </a:lnSpc>
              <a:buFont typeface="Arial" panose="020B0604020202020204" pitchFamily="34" charset="0"/>
              <a:buChar char="•"/>
            </a:pPr>
            <a:r>
              <a:rPr lang="en-US" sz="2000" dirty="0"/>
              <a:t>Each NoSQL solution has a different model that it uses, which we put into four categories widely used in the NoSQL ecosystem: key value, document, column-family, and graph</a:t>
            </a:r>
            <a:r>
              <a:rPr lang="en-US" sz="2000" dirty="0" smtClean="0"/>
              <a:t>.</a:t>
            </a:r>
          </a:p>
          <a:p>
            <a:pPr marL="342900" indent="-342900" algn="just">
              <a:lnSpc>
                <a:spcPct val="150000"/>
              </a:lnSpc>
              <a:buFont typeface="Arial" panose="020B0604020202020204" pitchFamily="34" charset="0"/>
              <a:buChar char="•"/>
            </a:pPr>
            <a:r>
              <a:rPr lang="en-US" sz="2000" dirty="0" smtClean="0"/>
              <a:t>The </a:t>
            </a:r>
            <a:r>
              <a:rPr lang="en-US" sz="2000" dirty="0"/>
              <a:t>first three share a common characteristic of their data models which we will call aggregate orientation</a:t>
            </a:r>
            <a:r>
              <a:rPr lang="en-GB" sz="2000" dirty="0" smtClean="0">
                <a:solidFill>
                  <a:srgbClr val="000000"/>
                </a:solidFill>
              </a:rPr>
              <a:t> </a:t>
            </a:r>
          </a:p>
          <a:p>
            <a:pPr marL="342900" indent="-342900" algn="just">
              <a:lnSpc>
                <a:spcPct val="150000"/>
              </a:lnSpc>
              <a:buFont typeface="Arial" panose="020B0604020202020204" pitchFamily="34" charset="0"/>
              <a:buChar char="•"/>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63</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Aggregate Data Models</a:t>
            </a:r>
            <a:endParaRPr lang="en-IN" sz="2400" b="1" dirty="0"/>
          </a:p>
        </p:txBody>
      </p:sp>
    </p:spTree>
    <p:extLst>
      <p:ext uri="{BB962C8B-B14F-4D97-AF65-F5344CB8AC3E}">
        <p14:creationId xmlns:p14="http://schemas.microsoft.com/office/powerpoint/2010/main" val="679833565"/>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4247317"/>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Aggregate: </a:t>
            </a:r>
            <a:r>
              <a:rPr lang="en-GB" sz="2000" dirty="0" smtClean="0">
                <a:solidFill>
                  <a:srgbClr val="000000"/>
                </a:solidFill>
              </a:rPr>
              <a:t>A collection of related objects treated as a unit (bounded context)</a:t>
            </a:r>
          </a:p>
          <a:p>
            <a:pPr marL="342900" indent="-342900" algn="just">
              <a:lnSpc>
                <a:spcPct val="150000"/>
              </a:lnSpc>
              <a:buFont typeface="Arial" panose="020B0604020202020204" pitchFamily="34" charset="0"/>
              <a:buChar char="•"/>
            </a:pPr>
            <a:r>
              <a:rPr lang="en-GB" sz="2000" b="1" dirty="0" smtClean="0">
                <a:solidFill>
                  <a:srgbClr val="000000"/>
                </a:solidFill>
              </a:rPr>
              <a:t>Simplifies </a:t>
            </a:r>
            <a:r>
              <a:rPr lang="en-GB" sz="2000" dirty="0" smtClean="0">
                <a:solidFill>
                  <a:srgbClr val="000000"/>
                </a:solidFill>
              </a:rPr>
              <a:t>Data distribution, Read/write operations</a:t>
            </a:r>
          </a:p>
          <a:p>
            <a:pPr marL="342900" indent="-342900" algn="just">
              <a:lnSpc>
                <a:spcPct val="150000"/>
              </a:lnSpc>
              <a:buFont typeface="Arial" panose="020B0604020202020204" pitchFamily="34" charset="0"/>
              <a:buChar char="•"/>
            </a:pPr>
            <a:r>
              <a:rPr lang="en-GB" sz="2000" dirty="0" smtClean="0">
                <a:solidFill>
                  <a:srgbClr val="000000"/>
                </a:solidFill>
              </a:rPr>
              <a:t>Basic for NoSQL design</a:t>
            </a: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64</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Aggregate Data Models</a:t>
            </a:r>
            <a:endParaRPr lang="en-IN" sz="2400" b="1"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8600" y="2630740"/>
            <a:ext cx="4114800" cy="4114800"/>
          </a:xfrm>
          <a:prstGeom prst="rect">
            <a:avLst/>
          </a:prstGeom>
        </p:spPr>
      </p:pic>
    </p:spTree>
    <p:extLst>
      <p:ext uri="{BB962C8B-B14F-4D97-AF65-F5344CB8AC3E}">
        <p14:creationId xmlns:p14="http://schemas.microsoft.com/office/powerpoint/2010/main" val="314398239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646330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1600" b="1" dirty="0" smtClean="0">
                <a:solidFill>
                  <a:srgbClr val="000000"/>
                </a:solidFill>
              </a:rPr>
              <a:t>Aggregates: </a:t>
            </a:r>
            <a:r>
              <a:rPr lang="en-GB" sz="1600" dirty="0" smtClean="0">
                <a:solidFill>
                  <a:srgbClr val="000000"/>
                </a:solidFill>
              </a:rPr>
              <a:t>A collection of related objects treated as a unit (bounded context)</a:t>
            </a:r>
          </a:p>
          <a:p>
            <a:pPr marL="342900" indent="-342900" algn="just">
              <a:lnSpc>
                <a:spcPct val="150000"/>
              </a:lnSpc>
              <a:buFont typeface="Arial" panose="020B0604020202020204" pitchFamily="34" charset="0"/>
              <a:buChar char="•"/>
            </a:pPr>
            <a:r>
              <a:rPr lang="en-GB" sz="1600" dirty="0" smtClean="0">
                <a:solidFill>
                  <a:srgbClr val="000000"/>
                </a:solidFill>
              </a:rPr>
              <a:t>Aggregate is a term that comes from Domain-Driven-Design.</a:t>
            </a:r>
          </a:p>
          <a:p>
            <a:pPr marL="342900" indent="-342900" algn="just">
              <a:lnSpc>
                <a:spcPct val="150000"/>
              </a:lnSpc>
              <a:buFont typeface="Arial" panose="020B0604020202020204" pitchFamily="34" charset="0"/>
              <a:buChar char="•"/>
            </a:pPr>
            <a:r>
              <a:rPr lang="en-US" sz="1600" dirty="0"/>
              <a:t>an aggregate is a collection of related objects that we wish to treat as a unit. In </a:t>
            </a:r>
            <a:r>
              <a:rPr lang="en-US" sz="1600" dirty="0" smtClean="0"/>
              <a:t>particular it is a </a:t>
            </a:r>
            <a:r>
              <a:rPr lang="en-US" sz="1600" dirty="0"/>
              <a:t>unit for data manipulation and management of </a:t>
            </a:r>
            <a:r>
              <a:rPr lang="en-US" sz="1600" dirty="0" smtClean="0"/>
              <a:t>consistency.</a:t>
            </a:r>
          </a:p>
          <a:p>
            <a:pPr marL="342900" indent="-342900" algn="just">
              <a:lnSpc>
                <a:spcPct val="150000"/>
              </a:lnSpc>
              <a:buFont typeface="Arial" panose="020B0604020202020204" pitchFamily="34" charset="0"/>
              <a:buChar char="•"/>
            </a:pPr>
            <a:r>
              <a:rPr lang="en-US" sz="1600" dirty="0" smtClean="0">
                <a:solidFill>
                  <a:srgbClr val="000000"/>
                </a:solidFill>
              </a:rPr>
              <a:t>Follows atomic operation.</a:t>
            </a:r>
          </a:p>
          <a:p>
            <a:pPr marL="342900" indent="-342900" algn="just">
              <a:lnSpc>
                <a:spcPct val="150000"/>
              </a:lnSpc>
              <a:buFont typeface="Arial" panose="020B0604020202020204" pitchFamily="34" charset="0"/>
              <a:buChar char="•"/>
            </a:pPr>
            <a:r>
              <a:rPr lang="en-US" sz="1600" dirty="0"/>
              <a:t>Dealing in aggregates makes it much easier for these databases to handle operating on a cluster, since the aggregate makes a natural unit for replication and </a:t>
            </a:r>
            <a:r>
              <a:rPr lang="en-US" sz="1600" dirty="0" err="1"/>
              <a:t>sharding</a:t>
            </a:r>
            <a:r>
              <a:rPr lang="en-US" sz="1600" dirty="0"/>
              <a:t>. Aggregates are also often easier for application programmers to work with, since they often manipulate data through aggregate structures.</a:t>
            </a:r>
            <a:endParaRPr lang="en-GB" sz="1600" dirty="0" smtClean="0">
              <a:solidFill>
                <a:srgbClr val="000000"/>
              </a:solidFill>
            </a:endParaRPr>
          </a:p>
          <a:p>
            <a:pPr marL="342900" indent="-342900" algn="just">
              <a:lnSpc>
                <a:spcPct val="150000"/>
              </a:lnSpc>
              <a:buFont typeface="Arial" panose="020B0604020202020204" pitchFamily="34" charset="0"/>
              <a:buChar char="•"/>
            </a:pPr>
            <a:r>
              <a:rPr lang="en-GB" sz="1600" b="1" dirty="0" smtClean="0">
                <a:solidFill>
                  <a:srgbClr val="000000"/>
                </a:solidFill>
              </a:rPr>
              <a:t>Simplifies </a:t>
            </a:r>
            <a:r>
              <a:rPr lang="en-GB" sz="1600" dirty="0" smtClean="0">
                <a:solidFill>
                  <a:srgbClr val="000000"/>
                </a:solidFill>
              </a:rPr>
              <a:t>Data distribution, Read/write operations</a:t>
            </a:r>
          </a:p>
          <a:p>
            <a:pPr marL="342900" indent="-342900" algn="just">
              <a:lnSpc>
                <a:spcPct val="150000"/>
              </a:lnSpc>
              <a:buFont typeface="Arial" panose="020B0604020202020204" pitchFamily="34" charset="0"/>
              <a:buChar char="•"/>
            </a:pPr>
            <a:r>
              <a:rPr lang="en-GB" sz="1600" dirty="0" smtClean="0">
                <a:solidFill>
                  <a:srgbClr val="000000"/>
                </a:solidFill>
              </a:rPr>
              <a:t>Basic for NoSQL design</a:t>
            </a:r>
            <a:endParaRPr lang="en-GB" sz="16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65</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Aggregates</a:t>
            </a:r>
            <a:endParaRPr lang="en-IN" sz="2400" b="1" dirty="0"/>
          </a:p>
        </p:txBody>
      </p:sp>
    </p:spTree>
    <p:extLst>
      <p:ext uri="{BB962C8B-B14F-4D97-AF65-F5344CB8AC3E}">
        <p14:creationId xmlns:p14="http://schemas.microsoft.com/office/powerpoint/2010/main" val="3955655930"/>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563231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smtClean="0">
                <a:solidFill>
                  <a:srgbClr val="000000"/>
                </a:solidFill>
              </a:rPr>
              <a:t>In relational databases, everything is split into multiple tables: Customer, Order, </a:t>
            </a:r>
            <a:r>
              <a:rPr lang="en-GB" sz="2000" dirty="0" err="1" smtClean="0">
                <a:solidFill>
                  <a:srgbClr val="000000"/>
                </a:solidFill>
              </a:rPr>
              <a:t>OrderItem</a:t>
            </a:r>
            <a:r>
              <a:rPr lang="en-GB" sz="2000" dirty="0" smtClean="0">
                <a:solidFill>
                  <a:srgbClr val="000000"/>
                </a:solidFill>
              </a:rPr>
              <a:t>, Address, Payment etc.</a:t>
            </a:r>
          </a:p>
          <a:p>
            <a:pPr marL="342900" indent="-342900" algn="just">
              <a:lnSpc>
                <a:spcPct val="150000"/>
              </a:lnSpc>
              <a:buFont typeface="Arial" panose="020B0604020202020204" pitchFamily="34" charset="0"/>
              <a:buChar char="•"/>
            </a:pPr>
            <a:r>
              <a:rPr lang="en-GB" sz="2000" dirty="0" smtClean="0">
                <a:solidFill>
                  <a:srgbClr val="000000"/>
                </a:solidFill>
              </a:rPr>
              <a:t>Data is connected using foreign key.</a:t>
            </a:r>
          </a:p>
          <a:p>
            <a:pPr marL="342900" indent="-342900" algn="just">
              <a:lnSpc>
                <a:spcPct val="150000"/>
              </a:lnSpc>
              <a:buFont typeface="Arial" panose="020B0604020202020204" pitchFamily="34" charset="0"/>
              <a:buChar char="•"/>
            </a:pPr>
            <a:r>
              <a:rPr lang="en-GB" sz="2000" b="1" dirty="0" smtClean="0">
                <a:solidFill>
                  <a:srgbClr val="000000"/>
                </a:solidFill>
              </a:rPr>
              <a:t>Advantages</a:t>
            </a:r>
            <a:r>
              <a:rPr lang="en-GB" sz="2000" dirty="0" smtClean="0">
                <a:solidFill>
                  <a:srgbClr val="000000"/>
                </a:solidFill>
              </a:rPr>
              <a:t>: no duplicate data, integrity maintained.</a:t>
            </a:r>
          </a:p>
          <a:p>
            <a:pPr marL="342900" indent="-342900" algn="just">
              <a:lnSpc>
                <a:spcPct val="150000"/>
              </a:lnSpc>
              <a:buFont typeface="Arial" panose="020B0604020202020204" pitchFamily="34" charset="0"/>
              <a:buChar char="•"/>
            </a:pPr>
            <a:r>
              <a:rPr lang="en-GB" sz="2000" b="1" dirty="0" smtClean="0">
                <a:solidFill>
                  <a:srgbClr val="000000"/>
                </a:solidFill>
              </a:rPr>
              <a:t>Drawback</a:t>
            </a:r>
            <a:r>
              <a:rPr lang="en-GB" sz="2000" dirty="0" smtClean="0">
                <a:solidFill>
                  <a:srgbClr val="000000"/>
                </a:solidFill>
              </a:rPr>
              <a:t>: You need joins across multiple tables to answer a simple query.</a:t>
            </a:r>
          </a:p>
          <a:p>
            <a:pPr marL="342900" indent="-342900" algn="just">
              <a:lnSpc>
                <a:spcPct val="150000"/>
              </a:lnSpc>
              <a:buFont typeface="Arial" panose="020B0604020202020204" pitchFamily="34" charset="0"/>
              <a:buChar char="•"/>
            </a:pPr>
            <a:r>
              <a:rPr lang="en-GB" sz="2000" dirty="0" smtClean="0">
                <a:solidFill>
                  <a:srgbClr val="000000"/>
                </a:solidFill>
              </a:rPr>
              <a:t>Example: To fetch a customer and their order details. Join 5-6 tables.</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66</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IN" sz="2400" dirty="0"/>
              <a:t>RDBMS (Normalized Data Model)</a:t>
            </a:r>
            <a:endParaRPr lang="en-IN" sz="2400" b="1" dirty="0"/>
          </a:p>
        </p:txBody>
      </p:sp>
    </p:spTree>
    <p:extLst>
      <p:ext uri="{BB962C8B-B14F-4D97-AF65-F5344CB8AC3E}">
        <p14:creationId xmlns:p14="http://schemas.microsoft.com/office/powerpoint/2010/main" val="3711391518"/>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7017306"/>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smtClean="0">
                <a:solidFill>
                  <a:srgbClr val="000000"/>
                </a:solidFill>
              </a:rPr>
              <a:t>In NoSQL, data is grouped into aggregates (self-contained units)</a:t>
            </a:r>
          </a:p>
          <a:p>
            <a:pPr marL="342900" indent="-342900" algn="just">
              <a:lnSpc>
                <a:spcPct val="150000"/>
              </a:lnSpc>
              <a:buFont typeface="Arial" panose="020B0604020202020204" pitchFamily="34" charset="0"/>
              <a:buChar char="•"/>
            </a:pPr>
            <a:r>
              <a:rPr lang="en-GB" sz="2000" dirty="0" smtClean="0">
                <a:solidFill>
                  <a:srgbClr val="000000"/>
                </a:solidFill>
              </a:rPr>
              <a:t>Example :</a:t>
            </a:r>
          </a:p>
          <a:p>
            <a:pPr marL="342900" indent="-342900" algn="just">
              <a:lnSpc>
                <a:spcPct val="150000"/>
              </a:lnSpc>
              <a:buFont typeface="Arial" panose="020B0604020202020204" pitchFamily="34" charset="0"/>
              <a:buChar char="•"/>
            </a:pPr>
            <a:r>
              <a:rPr lang="en-GB" sz="2000" i="1" dirty="0" smtClean="0">
                <a:solidFill>
                  <a:srgbClr val="000000"/>
                </a:solidFill>
              </a:rPr>
              <a:t>Customer aggregate </a:t>
            </a:r>
            <a:r>
              <a:rPr lang="en-GB" sz="2000" dirty="0" smtClean="0">
                <a:solidFill>
                  <a:srgbClr val="000000"/>
                </a:solidFill>
              </a:rPr>
              <a:t>-&gt; contains list of billing addresses.</a:t>
            </a:r>
          </a:p>
          <a:p>
            <a:pPr marL="342900" indent="-342900" algn="just">
              <a:lnSpc>
                <a:spcPct val="150000"/>
              </a:lnSpc>
              <a:buFont typeface="Arial" panose="020B0604020202020204" pitchFamily="34" charset="0"/>
              <a:buChar char="•"/>
            </a:pPr>
            <a:r>
              <a:rPr lang="en-GB" sz="2000" i="1" dirty="0" smtClean="0">
                <a:solidFill>
                  <a:srgbClr val="000000"/>
                </a:solidFill>
              </a:rPr>
              <a:t>Order aggregate </a:t>
            </a:r>
            <a:r>
              <a:rPr lang="en-GB" sz="2000" dirty="0" smtClean="0">
                <a:solidFill>
                  <a:srgbClr val="000000"/>
                </a:solidFill>
              </a:rPr>
              <a:t>-&gt; contains order items, shipping address, payments.</a:t>
            </a:r>
          </a:p>
          <a:p>
            <a:pPr algn="just">
              <a:lnSpc>
                <a:spcPct val="150000"/>
              </a:lnSpc>
            </a:pPr>
            <a:endParaRPr lang="en-GB" sz="2000" dirty="0" smtClean="0">
              <a:solidFill>
                <a:srgbClr val="000000"/>
              </a:solidFill>
            </a:endParaRPr>
          </a:p>
          <a:p>
            <a:pPr marL="342900" indent="-342900" algn="just">
              <a:lnSpc>
                <a:spcPct val="150000"/>
              </a:lnSpc>
              <a:buFont typeface="Arial" panose="020B0604020202020204" pitchFamily="34" charset="0"/>
              <a:buChar char="•"/>
            </a:pPr>
            <a:r>
              <a:rPr lang="en-GB" sz="2000" dirty="0" smtClean="0">
                <a:solidFill>
                  <a:srgbClr val="000000"/>
                </a:solidFill>
              </a:rPr>
              <a:t>Advantages: Localized updates (only one aggregate updated).</a:t>
            </a:r>
          </a:p>
          <a:p>
            <a:pPr marL="342900" indent="-342900" algn="just">
              <a:lnSpc>
                <a:spcPct val="150000"/>
              </a:lnSpc>
              <a:buFont typeface="Arial" panose="020B0604020202020204" pitchFamily="34" charset="0"/>
              <a:buChar char="•"/>
            </a:pPr>
            <a:r>
              <a:rPr lang="en-GB" sz="2000" dirty="0">
                <a:solidFill>
                  <a:srgbClr val="000000"/>
                </a:solidFill>
              </a:rPr>
              <a:t> </a:t>
            </a:r>
            <a:r>
              <a:rPr lang="en-GB" sz="2000" dirty="0" smtClean="0">
                <a:solidFill>
                  <a:srgbClr val="000000"/>
                </a:solidFill>
              </a:rPr>
              <a:t>Faster read/writes (no joins).</a:t>
            </a:r>
          </a:p>
          <a:p>
            <a:pPr marL="342900" indent="-342900" algn="just">
              <a:lnSpc>
                <a:spcPct val="150000"/>
              </a:lnSpc>
              <a:buFont typeface="Arial" panose="020B0604020202020204" pitchFamily="34" charset="0"/>
              <a:buChar char="•"/>
            </a:pPr>
            <a:r>
              <a:rPr lang="en-GB" sz="2000" dirty="0" smtClean="0">
                <a:solidFill>
                  <a:srgbClr val="000000"/>
                </a:solidFill>
              </a:rPr>
              <a:t>Drawback: Some data duplication (e.g. address repeated in different places).</a:t>
            </a:r>
          </a:p>
          <a:p>
            <a:pPr marL="342900" indent="-342900" algn="just">
              <a:lnSpc>
                <a:spcPct val="150000"/>
              </a:lnSpc>
              <a:buFont typeface="Arial" panose="020B0604020202020204" pitchFamily="34" charset="0"/>
              <a:buChar char="•"/>
            </a:pPr>
            <a:r>
              <a:rPr lang="en-GB" sz="2000" dirty="0" smtClean="0">
                <a:solidFill>
                  <a:srgbClr val="000000"/>
                </a:solidFill>
              </a:rPr>
              <a:t>Complex analytics harder (since no joins).</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67</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IN" sz="2400" dirty="0"/>
              <a:t>Aggregate Data Model (NoSQL)</a:t>
            </a:r>
            <a:endParaRPr lang="en-IN" sz="2400" b="1" dirty="0"/>
          </a:p>
        </p:txBody>
      </p:sp>
    </p:spTree>
    <p:extLst>
      <p:ext uri="{BB962C8B-B14F-4D97-AF65-F5344CB8AC3E}">
        <p14:creationId xmlns:p14="http://schemas.microsoft.com/office/powerpoint/2010/main" val="1196156923"/>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6093976"/>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dirty="0" smtClean="0">
                <a:solidFill>
                  <a:srgbClr val="000000"/>
                </a:solidFill>
              </a:rPr>
              <a:t>Sometimes, instead of keeping customer and orders separate, we embed all orders inside the customer document.</a:t>
            </a:r>
          </a:p>
          <a:p>
            <a:pPr marL="342900" indent="-342900" algn="just">
              <a:lnSpc>
                <a:spcPct val="150000"/>
              </a:lnSpc>
              <a:buFont typeface="Arial" panose="020B0604020202020204" pitchFamily="34" charset="0"/>
              <a:buChar char="•"/>
            </a:pPr>
            <a:r>
              <a:rPr lang="en-GB" sz="2000" dirty="0" smtClean="0">
                <a:solidFill>
                  <a:srgbClr val="000000"/>
                </a:solidFill>
              </a:rPr>
              <a:t>This works best if :</a:t>
            </a:r>
          </a:p>
          <a:p>
            <a:pPr marL="342900" indent="-342900" algn="just">
              <a:lnSpc>
                <a:spcPct val="150000"/>
              </a:lnSpc>
              <a:buFont typeface="Arial" panose="020B0604020202020204" pitchFamily="34" charset="0"/>
              <a:buChar char="•"/>
            </a:pPr>
            <a:r>
              <a:rPr lang="en-GB" sz="2000" dirty="0" smtClean="0">
                <a:solidFill>
                  <a:srgbClr val="000000"/>
                </a:solidFill>
              </a:rPr>
              <a:t>You usually access customer + all orders together</a:t>
            </a:r>
          </a:p>
          <a:p>
            <a:pPr marL="342900" indent="-342900" algn="just">
              <a:lnSpc>
                <a:spcPct val="150000"/>
              </a:lnSpc>
              <a:buFont typeface="Arial" panose="020B0604020202020204" pitchFamily="34" charset="0"/>
              <a:buChar char="•"/>
            </a:pPr>
            <a:r>
              <a:rPr lang="en-GB" sz="2000" dirty="0" smtClean="0">
                <a:solidFill>
                  <a:srgbClr val="000000"/>
                </a:solidFill>
              </a:rPr>
              <a:t>If you usually access only single order -&gt; better keep order as a separate aggregate.</a:t>
            </a:r>
          </a:p>
          <a:p>
            <a:pPr marL="342900" indent="-342900" algn="just">
              <a:lnSpc>
                <a:spcPct val="150000"/>
              </a:lnSpc>
              <a:buFont typeface="Arial" panose="020B0604020202020204" pitchFamily="34" charset="0"/>
              <a:buChar char="•"/>
            </a:pPr>
            <a:r>
              <a:rPr lang="en-GB" sz="2000" dirty="0" smtClean="0">
                <a:solidFill>
                  <a:srgbClr val="000000"/>
                </a:solidFill>
              </a:rPr>
              <a:t>So, aggregate boundaries depends on access pattern, called </a:t>
            </a:r>
            <a:r>
              <a:rPr lang="en-GB" sz="2000" dirty="0" err="1" smtClean="0">
                <a:solidFill>
                  <a:srgbClr val="000000"/>
                </a:solidFill>
              </a:rPr>
              <a:t>conext</a:t>
            </a:r>
            <a:r>
              <a:rPr lang="en-GB" sz="2000" dirty="0" smtClean="0">
                <a:solidFill>
                  <a:srgbClr val="000000"/>
                </a:solidFill>
              </a:rPr>
              <a:t>-specific, </a:t>
            </a:r>
            <a:r>
              <a:rPr lang="en-GB" sz="2000" b="1" dirty="0" smtClean="0">
                <a:solidFill>
                  <a:srgbClr val="000000"/>
                </a:solidFill>
              </a:rPr>
              <a:t>domain driven design</a:t>
            </a:r>
            <a:r>
              <a:rPr lang="en-GB" sz="2000" dirty="0" smtClean="0">
                <a:solidFill>
                  <a:srgbClr val="000000"/>
                </a:solidFill>
              </a:rPr>
              <a:t>.</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68</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IN" sz="2400" dirty="0" smtClean="0"/>
              <a:t>Embedded Model (Minimum aggregates)</a:t>
            </a:r>
            <a:endParaRPr lang="en-IN" sz="2400" b="1" dirty="0"/>
          </a:p>
        </p:txBody>
      </p:sp>
    </p:spTree>
    <p:extLst>
      <p:ext uri="{BB962C8B-B14F-4D97-AF65-F5344CB8AC3E}">
        <p14:creationId xmlns:p14="http://schemas.microsoft.com/office/powerpoint/2010/main" val="3269206981"/>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031325"/>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US" sz="1600" dirty="0" smtClean="0">
                <a:solidFill>
                  <a:srgbClr val="000000"/>
                </a:solidFill>
              </a:rPr>
              <a:t>A relational model of </a:t>
            </a:r>
            <a:r>
              <a:rPr lang="en-IN" sz="1600" dirty="0"/>
              <a:t>an e-commerce </a:t>
            </a:r>
            <a:r>
              <a:rPr lang="en-IN" sz="1600" dirty="0" smtClean="0"/>
              <a:t>app. </a:t>
            </a:r>
          </a:p>
          <a:p>
            <a:pPr marL="342900" indent="-342900" algn="just">
              <a:lnSpc>
                <a:spcPct val="150000"/>
              </a:lnSpc>
              <a:buFont typeface="Arial" panose="020B0604020202020204" pitchFamily="34" charset="0"/>
              <a:buChar char="•"/>
            </a:pPr>
            <a:r>
              <a:rPr lang="en-US" sz="1600" dirty="0"/>
              <a:t>we are going to be selling items directly to customers over the web, and we will have to store information about users, our product catalog, orders, shipping addresses, billing addresses, and payment data.</a:t>
            </a:r>
            <a:endParaRPr lang="en-GB" sz="1600" dirty="0" smtClean="0">
              <a:solidFill>
                <a:srgbClr val="000000"/>
              </a:solidFill>
            </a:endParaRPr>
          </a:p>
          <a:p>
            <a:pPr algn="just">
              <a:lnSpc>
                <a:spcPct val="150000"/>
              </a:lnSpc>
            </a:pPr>
            <a:endParaRPr lang="en-GB"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69</a:t>
            </a:fld>
            <a:endParaRPr lang="en-US"/>
          </a:p>
        </p:txBody>
      </p:sp>
      <p:sp>
        <p:nvSpPr>
          <p:cNvPr id="5" name="TextBox 4"/>
          <p:cNvSpPr txBox="1"/>
          <p:nvPr/>
        </p:nvSpPr>
        <p:spPr>
          <a:xfrm>
            <a:off x="203578" y="373120"/>
            <a:ext cx="7645022" cy="461665"/>
          </a:xfrm>
          <a:prstGeom prst="rect">
            <a:avLst/>
          </a:prstGeom>
          <a:noFill/>
        </p:spPr>
        <p:txBody>
          <a:bodyPr wrap="square" rtlCol="0">
            <a:spAutoFit/>
          </a:bodyPr>
          <a:lstStyle/>
          <a:p>
            <a:r>
              <a:rPr lang="en-US" sz="2400" b="1" dirty="0" smtClean="0">
                <a:solidFill>
                  <a:srgbClr val="121214"/>
                </a:solidFill>
              </a:rPr>
              <a:t>Example of Relations and Aggregates: e-commerce</a:t>
            </a:r>
            <a:endParaRPr lang="en-IN" sz="2400" b="1" dirty="0"/>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70139" y="2397524"/>
            <a:ext cx="6249272" cy="4344006"/>
          </a:xfrm>
          <a:prstGeom prst="rect">
            <a:avLst/>
          </a:prstGeom>
        </p:spPr>
      </p:pic>
    </p:spTree>
    <p:extLst>
      <p:ext uri="{BB962C8B-B14F-4D97-AF65-F5344CB8AC3E}">
        <p14:creationId xmlns:p14="http://schemas.microsoft.com/office/powerpoint/2010/main" val="1060580609"/>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3231654"/>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US" sz="1600" dirty="0" smtClean="0">
                <a:solidFill>
                  <a:srgbClr val="000000"/>
                </a:solidFill>
              </a:rPr>
              <a:t>Everything is properly normalized. No data is repeated in multiple tables. Connected by foreign key (maintaining integrities).</a:t>
            </a:r>
          </a:p>
          <a:p>
            <a:pPr marL="342900" indent="-342900" algn="just">
              <a:lnSpc>
                <a:spcPct val="150000"/>
              </a:lnSpc>
              <a:buFont typeface="Arial" panose="020B0604020202020204" pitchFamily="34" charset="0"/>
              <a:buChar char="•"/>
            </a:pPr>
            <a:r>
              <a:rPr lang="en-US" sz="1600" dirty="0" smtClean="0">
                <a:solidFill>
                  <a:srgbClr val="000000"/>
                </a:solidFill>
              </a:rPr>
              <a:t>Note : </a:t>
            </a:r>
            <a:r>
              <a:rPr lang="en-US" sz="1600" dirty="0" smtClean="0"/>
              <a:t>A </a:t>
            </a:r>
            <a:r>
              <a:rPr lang="en-US" sz="1600" dirty="0"/>
              <a:t>single logical address record appears three times in the example </a:t>
            </a:r>
            <a:r>
              <a:rPr lang="en-US" sz="1600" dirty="0" smtClean="0"/>
              <a:t>data.</a:t>
            </a:r>
          </a:p>
          <a:p>
            <a:pPr marL="342900" indent="-342900" algn="just">
              <a:lnSpc>
                <a:spcPct val="150000"/>
              </a:lnSpc>
              <a:buFont typeface="Arial" panose="020B0604020202020204" pitchFamily="34" charset="0"/>
              <a:buChar char="•"/>
            </a:pPr>
            <a:r>
              <a:rPr lang="en-US" sz="1600" dirty="0"/>
              <a:t>we would ensure that the address rows aren’t updated for this case, making a new row </a:t>
            </a:r>
            <a:r>
              <a:rPr lang="en-US" sz="1600" dirty="0" smtClean="0"/>
              <a:t>instead.</a:t>
            </a:r>
            <a:endParaRPr lang="en-US" sz="1600" dirty="0" smtClean="0">
              <a:solidFill>
                <a:srgbClr val="000000"/>
              </a:solidFill>
            </a:endParaRPr>
          </a:p>
          <a:p>
            <a:pPr marL="342900" indent="-342900" algn="just">
              <a:lnSpc>
                <a:spcPct val="150000"/>
              </a:lnSpc>
              <a:buFont typeface="Arial" panose="020B0604020202020204" pitchFamily="34" charset="0"/>
              <a:buChar char="•"/>
            </a:pPr>
            <a:endParaRPr lang="en-US" sz="1600" dirty="0" smtClean="0"/>
          </a:p>
          <a:p>
            <a:pPr marL="342900" indent="-342900" algn="just">
              <a:lnSpc>
                <a:spcPct val="150000"/>
              </a:lnSpc>
              <a:buFont typeface="Arial" panose="020B0604020202020204" pitchFamily="34" charset="0"/>
              <a:buChar char="•"/>
            </a:pPr>
            <a:endParaRPr lang="en-GB" sz="1600" dirty="0" smtClean="0">
              <a:solidFill>
                <a:srgbClr val="000000"/>
              </a:solidFill>
            </a:endParaRPr>
          </a:p>
          <a:p>
            <a:pPr algn="just">
              <a:lnSpc>
                <a:spcPct val="150000"/>
              </a:lnSpc>
            </a:pPr>
            <a:endParaRPr lang="en-GB"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70</a:t>
            </a:fld>
            <a:endParaRPr lang="en-US"/>
          </a:p>
        </p:txBody>
      </p:sp>
      <p:sp>
        <p:nvSpPr>
          <p:cNvPr id="5" name="TextBox 4"/>
          <p:cNvSpPr txBox="1"/>
          <p:nvPr/>
        </p:nvSpPr>
        <p:spPr>
          <a:xfrm>
            <a:off x="203578" y="373120"/>
            <a:ext cx="7645022" cy="461665"/>
          </a:xfrm>
          <a:prstGeom prst="rect">
            <a:avLst/>
          </a:prstGeom>
          <a:noFill/>
        </p:spPr>
        <p:txBody>
          <a:bodyPr wrap="square" rtlCol="0">
            <a:spAutoFit/>
          </a:bodyPr>
          <a:lstStyle/>
          <a:p>
            <a:r>
              <a:rPr lang="en-US" sz="2400" b="1" dirty="0" smtClean="0">
                <a:solidFill>
                  <a:srgbClr val="121214"/>
                </a:solidFill>
              </a:rPr>
              <a:t>Example of Relations and Aggregates: e-commerce</a:t>
            </a:r>
            <a:endParaRPr lang="en-IN" sz="24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0200" y="2667126"/>
            <a:ext cx="6915150" cy="3689226"/>
          </a:xfrm>
          <a:prstGeom prst="rect">
            <a:avLst/>
          </a:prstGeom>
        </p:spPr>
      </p:pic>
    </p:spTree>
    <p:extLst>
      <p:ext uri="{BB962C8B-B14F-4D97-AF65-F5344CB8AC3E}">
        <p14:creationId xmlns:p14="http://schemas.microsoft.com/office/powerpoint/2010/main" val="3331186552"/>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313932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1600" dirty="0" smtClean="0">
                <a:solidFill>
                  <a:srgbClr val="000000"/>
                </a:solidFill>
              </a:rPr>
              <a:t>An aggregate data model : </a:t>
            </a:r>
            <a:r>
              <a:rPr lang="en-US" sz="1600" dirty="0"/>
              <a:t>In this model, we have </a:t>
            </a:r>
            <a:r>
              <a:rPr lang="en-US" sz="1600" dirty="0" smtClean="0"/>
              <a:t>aggregates</a:t>
            </a:r>
            <a:r>
              <a:rPr lang="en-US" sz="1600" dirty="0"/>
              <a:t>: customer and </a:t>
            </a:r>
            <a:r>
              <a:rPr lang="en-US" sz="1600" dirty="0" smtClean="0"/>
              <a:t>order, Payment. </a:t>
            </a:r>
          </a:p>
          <a:p>
            <a:pPr marL="342900" indent="-342900" algn="just">
              <a:lnSpc>
                <a:spcPct val="150000"/>
              </a:lnSpc>
              <a:buFont typeface="Arial" panose="020B0604020202020204" pitchFamily="34" charset="0"/>
              <a:buChar char="•"/>
            </a:pPr>
            <a:r>
              <a:rPr lang="en-US" sz="1600" dirty="0"/>
              <a:t>The customer contains a list of billing addresses; the order contains a list of order items, a shipping address, and payments. The payment itself contains a billing address for that payment. </a:t>
            </a:r>
            <a:endParaRPr lang="en-US" sz="1600" dirty="0" smtClean="0"/>
          </a:p>
          <a:p>
            <a:pPr marL="342900" indent="-342900" algn="just">
              <a:lnSpc>
                <a:spcPct val="150000"/>
              </a:lnSpc>
              <a:buFont typeface="Arial" panose="020B0604020202020204" pitchFamily="34" charset="0"/>
              <a:buChar char="•"/>
            </a:pPr>
            <a:r>
              <a:rPr lang="en-US" sz="1600" dirty="0"/>
              <a:t>With aggregates, we can copy the whole address structure into the aggregate as we need to. </a:t>
            </a:r>
            <a:endParaRPr lang="en-US" sz="1600" dirty="0" smtClean="0"/>
          </a:p>
          <a:p>
            <a:pPr marL="342900" indent="-342900" algn="just">
              <a:lnSpc>
                <a:spcPct val="150000"/>
              </a:lnSpc>
              <a:buFont typeface="Arial" panose="020B0604020202020204" pitchFamily="34" charset="0"/>
              <a:buChar char="•"/>
            </a:pPr>
            <a:r>
              <a:rPr lang="en-US" sz="1600" dirty="0" err="1" smtClean="0">
                <a:solidFill>
                  <a:srgbClr val="000000"/>
                </a:solidFill>
              </a:rPr>
              <a:t>Denormalization</a:t>
            </a:r>
            <a:r>
              <a:rPr lang="en-US" sz="1600" dirty="0" smtClean="0">
                <a:solidFill>
                  <a:srgbClr val="000000"/>
                </a:solidFill>
              </a:rPr>
              <a:t> or minimize no. of aggregates is the goal. Next slide for minimum aggregates.</a:t>
            </a:r>
            <a:endParaRPr lang="en-GB" sz="1600" dirty="0" smtClean="0">
              <a:solidFill>
                <a:srgbClr val="000000"/>
              </a:solidFill>
            </a:endParaRPr>
          </a:p>
          <a:p>
            <a:pPr algn="just">
              <a:lnSpc>
                <a:spcPct val="150000"/>
              </a:lnSpc>
            </a:pPr>
            <a:endParaRPr lang="en-GB"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71</a:t>
            </a:fld>
            <a:endParaRPr lang="en-US"/>
          </a:p>
        </p:txBody>
      </p:sp>
      <p:sp>
        <p:nvSpPr>
          <p:cNvPr id="5" name="TextBox 4"/>
          <p:cNvSpPr txBox="1"/>
          <p:nvPr/>
        </p:nvSpPr>
        <p:spPr>
          <a:xfrm>
            <a:off x="219620" y="443789"/>
            <a:ext cx="7416422" cy="461665"/>
          </a:xfrm>
          <a:prstGeom prst="rect">
            <a:avLst/>
          </a:prstGeom>
          <a:noFill/>
        </p:spPr>
        <p:txBody>
          <a:bodyPr wrap="square" rtlCol="0">
            <a:spAutoFit/>
          </a:bodyPr>
          <a:lstStyle/>
          <a:p>
            <a:r>
              <a:rPr lang="en-US" sz="2400" b="1" dirty="0">
                <a:solidFill>
                  <a:srgbClr val="121214"/>
                </a:solidFill>
              </a:rPr>
              <a:t>Example of Relations and Aggregates: e-commerce</a:t>
            </a:r>
            <a:endParaRPr lang="en-IN" sz="2400" b="1"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76244" y="3401608"/>
            <a:ext cx="5537261" cy="3581400"/>
          </a:xfrm>
          <a:prstGeom prst="rect">
            <a:avLst/>
          </a:prstGeom>
        </p:spPr>
      </p:pic>
    </p:spTree>
    <p:extLst>
      <p:ext uri="{BB962C8B-B14F-4D97-AF65-F5344CB8AC3E}">
        <p14:creationId xmlns:p14="http://schemas.microsoft.com/office/powerpoint/2010/main" val="787908290"/>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7" y="1190262"/>
            <a:ext cx="4655197" cy="6001643"/>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US" sz="1600" dirty="0" smtClean="0"/>
              <a:t>Part </a:t>
            </a:r>
            <a:r>
              <a:rPr lang="en-US" sz="1600" dirty="0"/>
              <a:t>of your thinking when developing the application data </a:t>
            </a:r>
            <a:r>
              <a:rPr lang="en-US" sz="1600" dirty="0" smtClean="0"/>
              <a:t>model</a:t>
            </a:r>
          </a:p>
          <a:p>
            <a:pPr marL="342900" indent="-342900" algn="just">
              <a:lnSpc>
                <a:spcPct val="150000"/>
              </a:lnSpc>
              <a:buFont typeface="Arial" panose="020B0604020202020204" pitchFamily="34" charset="0"/>
              <a:buChar char="•"/>
            </a:pPr>
            <a:r>
              <a:rPr lang="en-GB" sz="1600" dirty="0" smtClean="0">
                <a:solidFill>
                  <a:srgbClr val="000000"/>
                </a:solidFill>
              </a:rPr>
              <a:t>To set the aggregate boundaries. </a:t>
            </a:r>
          </a:p>
          <a:p>
            <a:pPr marL="342900" indent="-342900" algn="just">
              <a:lnSpc>
                <a:spcPct val="150000"/>
              </a:lnSpc>
              <a:buFont typeface="Arial" panose="020B0604020202020204" pitchFamily="34" charset="0"/>
              <a:buChar char="•"/>
            </a:pPr>
            <a:r>
              <a:rPr lang="en-GB" sz="1600" dirty="0" smtClean="0">
                <a:solidFill>
                  <a:srgbClr val="000000"/>
                </a:solidFill>
              </a:rPr>
              <a:t>Putting all the orders for a customer into the customer aggregate.</a:t>
            </a:r>
          </a:p>
          <a:p>
            <a:pPr marL="342900" indent="-342900" algn="just">
              <a:lnSpc>
                <a:spcPct val="150000"/>
              </a:lnSpc>
              <a:buFont typeface="Arial" panose="020B0604020202020204" pitchFamily="34" charset="0"/>
              <a:buChar char="•"/>
            </a:pPr>
            <a:r>
              <a:rPr lang="en-US" sz="1600" b="1" dirty="0" smtClean="0"/>
              <a:t>Aggregate orientation : </a:t>
            </a:r>
            <a:r>
              <a:rPr lang="en-US" sz="1600" dirty="0" smtClean="0"/>
              <a:t>In </a:t>
            </a:r>
            <a:r>
              <a:rPr lang="en-US" sz="1600" dirty="0"/>
              <a:t>modeling, there’s no universal answer for how to draw your aggregate boundaries. It depends entirely on how you tend to manipulate your data. If you tend to access a customer together with all of that customer’s orders at once, then you would prefer a single aggregate. However, if you tend to focus on accessing a single order at a time, then you should prefer having separate aggregates for each order. Naturally, this is very context-specific</a:t>
            </a:r>
            <a:endParaRPr lang="en-GB" sz="16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72</a:t>
            </a:fld>
            <a:endParaRPr lang="en-US"/>
          </a:p>
        </p:txBody>
      </p:sp>
      <p:sp>
        <p:nvSpPr>
          <p:cNvPr id="5" name="TextBox 4"/>
          <p:cNvSpPr txBox="1"/>
          <p:nvPr/>
        </p:nvSpPr>
        <p:spPr>
          <a:xfrm>
            <a:off x="219620" y="443789"/>
            <a:ext cx="7416422" cy="461665"/>
          </a:xfrm>
          <a:prstGeom prst="rect">
            <a:avLst/>
          </a:prstGeom>
          <a:noFill/>
        </p:spPr>
        <p:txBody>
          <a:bodyPr wrap="square" rtlCol="0">
            <a:spAutoFit/>
          </a:bodyPr>
          <a:lstStyle/>
          <a:p>
            <a:r>
              <a:rPr lang="en-US" sz="2400" b="1" dirty="0">
                <a:solidFill>
                  <a:srgbClr val="121214"/>
                </a:solidFill>
              </a:rPr>
              <a:t>Example of Relations and Aggregates: e-commerce</a:t>
            </a:r>
            <a:endParaRPr lang="en-IN" sz="24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6155" y="1190262"/>
            <a:ext cx="4169877" cy="4981938"/>
          </a:xfrm>
          <a:prstGeom prst="rect">
            <a:avLst/>
          </a:prstGeom>
        </p:spPr>
      </p:pic>
    </p:spTree>
    <p:extLst>
      <p:ext uri="{BB962C8B-B14F-4D97-AF65-F5344CB8AC3E}">
        <p14:creationId xmlns:p14="http://schemas.microsoft.com/office/powerpoint/2010/main" val="2716560936"/>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816156"/>
          </a:xfrm>
          <a:prstGeom prst="rect">
            <a:avLst/>
          </a:prstGeom>
        </p:spPr>
        <p:txBody>
          <a:bodyPr wrap="square">
            <a:spAutoFit/>
          </a:bodyPr>
          <a:lstStyle/>
          <a:p>
            <a:pPr algn="just">
              <a:lnSpc>
                <a:spcPct val="150000"/>
              </a:lnSpc>
            </a:pPr>
            <a:r>
              <a:rPr lang="en-US" sz="1600" b="1" dirty="0" smtClean="0">
                <a:solidFill>
                  <a:srgbClr val="000000"/>
                </a:solidFill>
              </a:rPr>
              <a:t>RDBMS Model (Normalized)</a:t>
            </a:r>
            <a:r>
              <a:rPr lang="en-US" sz="1600" dirty="0" smtClean="0">
                <a:solidFill>
                  <a:srgbClr val="000000"/>
                </a:solidFill>
              </a:rPr>
              <a:t>:</a:t>
            </a:r>
          </a:p>
          <a:p>
            <a:pPr marL="342900" indent="-342900" algn="just">
              <a:lnSpc>
                <a:spcPct val="150000"/>
              </a:lnSpc>
              <a:buFont typeface="Arial" panose="020B0604020202020204" pitchFamily="34" charset="0"/>
              <a:buChar char="•"/>
            </a:pPr>
            <a:r>
              <a:rPr lang="en-US" sz="1600" dirty="0" smtClean="0">
                <a:solidFill>
                  <a:srgbClr val="000000"/>
                </a:solidFill>
              </a:rPr>
              <a:t>Patient (id, name, </a:t>
            </a:r>
            <a:r>
              <a:rPr lang="en-US" sz="1600" dirty="0" err="1" smtClean="0">
                <a:solidFill>
                  <a:srgbClr val="000000"/>
                </a:solidFill>
              </a:rPr>
              <a:t>dob</a:t>
            </a:r>
            <a:r>
              <a:rPr lang="en-US" sz="1600" dirty="0" smtClean="0">
                <a:solidFill>
                  <a:srgbClr val="000000"/>
                </a:solidFill>
              </a:rPr>
              <a:t>)</a:t>
            </a:r>
          </a:p>
          <a:p>
            <a:pPr marL="342900" indent="-342900" algn="just">
              <a:lnSpc>
                <a:spcPct val="150000"/>
              </a:lnSpc>
              <a:buFont typeface="Arial" panose="020B0604020202020204" pitchFamily="34" charset="0"/>
              <a:buChar char="•"/>
            </a:pPr>
            <a:r>
              <a:rPr lang="en-US" sz="1600" dirty="0" smtClean="0">
                <a:solidFill>
                  <a:srgbClr val="000000"/>
                </a:solidFill>
              </a:rPr>
              <a:t>Doctor (id, name, specialization)</a:t>
            </a:r>
          </a:p>
          <a:p>
            <a:pPr marL="342900" indent="-342900" algn="just">
              <a:lnSpc>
                <a:spcPct val="150000"/>
              </a:lnSpc>
              <a:buFont typeface="Arial" panose="020B0604020202020204" pitchFamily="34" charset="0"/>
              <a:buChar char="•"/>
            </a:pPr>
            <a:r>
              <a:rPr lang="en-US" sz="1600" dirty="0" smtClean="0">
                <a:solidFill>
                  <a:srgbClr val="000000"/>
                </a:solidFill>
              </a:rPr>
              <a:t>Appointment (id, </a:t>
            </a:r>
            <a:r>
              <a:rPr lang="en-US" sz="1600" dirty="0" err="1" smtClean="0">
                <a:solidFill>
                  <a:srgbClr val="000000"/>
                </a:solidFill>
              </a:rPr>
              <a:t>patientId</a:t>
            </a:r>
            <a:r>
              <a:rPr lang="en-US" sz="1600" dirty="0" smtClean="0">
                <a:solidFill>
                  <a:srgbClr val="000000"/>
                </a:solidFill>
              </a:rPr>
              <a:t>, </a:t>
            </a:r>
            <a:r>
              <a:rPr lang="en-US" sz="1600" dirty="0" err="1" smtClean="0">
                <a:solidFill>
                  <a:srgbClr val="000000"/>
                </a:solidFill>
              </a:rPr>
              <a:t>doctorId</a:t>
            </a:r>
            <a:r>
              <a:rPr lang="en-US" sz="1600" dirty="0" smtClean="0">
                <a:solidFill>
                  <a:srgbClr val="000000"/>
                </a:solidFill>
              </a:rPr>
              <a:t>, date)</a:t>
            </a:r>
          </a:p>
          <a:p>
            <a:pPr marL="342900" indent="-342900" algn="just">
              <a:lnSpc>
                <a:spcPct val="150000"/>
              </a:lnSpc>
              <a:buFont typeface="Arial" panose="020B0604020202020204" pitchFamily="34" charset="0"/>
              <a:buChar char="•"/>
            </a:pPr>
            <a:r>
              <a:rPr lang="en-US" sz="1600" dirty="0" smtClean="0">
                <a:solidFill>
                  <a:srgbClr val="000000"/>
                </a:solidFill>
              </a:rPr>
              <a:t>Prescription (id, </a:t>
            </a:r>
            <a:r>
              <a:rPr lang="en-US" sz="1600" dirty="0" err="1" smtClean="0">
                <a:solidFill>
                  <a:srgbClr val="000000"/>
                </a:solidFill>
              </a:rPr>
              <a:t>appointmentId</a:t>
            </a:r>
            <a:r>
              <a:rPr lang="en-US" sz="1600" dirty="0" smtClean="0">
                <a:solidFill>
                  <a:srgbClr val="000000"/>
                </a:solidFill>
              </a:rPr>
              <a:t>, medicine, dosage)</a:t>
            </a:r>
          </a:p>
          <a:p>
            <a:pPr algn="just">
              <a:lnSpc>
                <a:spcPct val="150000"/>
              </a:lnSpc>
            </a:pPr>
            <a:r>
              <a:rPr lang="en-US" sz="1600" dirty="0"/>
              <a:t>Need </a:t>
            </a:r>
            <a:r>
              <a:rPr lang="en-US" sz="1600" b="1" dirty="0"/>
              <a:t>multiple joins </a:t>
            </a:r>
            <a:r>
              <a:rPr lang="en-US" sz="1600" dirty="0"/>
              <a:t>to get patient history with prescriptions.</a:t>
            </a:r>
            <a:endParaRPr lang="en-GB" sz="1600" dirty="0" smtClean="0">
              <a:solidFill>
                <a:srgbClr val="000000"/>
              </a:solidFill>
            </a:endParaRPr>
          </a:p>
          <a:p>
            <a:pPr algn="just">
              <a:lnSpc>
                <a:spcPct val="150000"/>
              </a:lnSpc>
            </a:pPr>
            <a:endParaRPr lang="en-GB"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73</a:t>
            </a:fld>
            <a:endParaRPr lang="en-US"/>
          </a:p>
        </p:txBody>
      </p:sp>
      <p:sp>
        <p:nvSpPr>
          <p:cNvPr id="5" name="TextBox 4"/>
          <p:cNvSpPr txBox="1"/>
          <p:nvPr/>
        </p:nvSpPr>
        <p:spPr>
          <a:xfrm>
            <a:off x="203578" y="373120"/>
            <a:ext cx="8483222" cy="461665"/>
          </a:xfrm>
          <a:prstGeom prst="rect">
            <a:avLst/>
          </a:prstGeom>
          <a:noFill/>
        </p:spPr>
        <p:txBody>
          <a:bodyPr wrap="square" rtlCol="0">
            <a:spAutoFit/>
          </a:bodyPr>
          <a:lstStyle/>
          <a:p>
            <a:r>
              <a:rPr lang="en-US" sz="2400" b="1" dirty="0" smtClean="0">
                <a:solidFill>
                  <a:srgbClr val="121214"/>
                </a:solidFill>
              </a:rPr>
              <a:t>Example of Relations and Aggregates: Healthcare System</a:t>
            </a:r>
            <a:endParaRPr lang="en-IN" sz="2400" b="1" dirty="0"/>
          </a:p>
        </p:txBody>
      </p:sp>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2362" y="3657600"/>
            <a:ext cx="8059275" cy="2219635"/>
          </a:xfrm>
          <a:prstGeom prst="rect">
            <a:avLst/>
          </a:prstGeom>
        </p:spPr>
      </p:pic>
    </p:spTree>
    <p:extLst>
      <p:ext uri="{BB962C8B-B14F-4D97-AF65-F5344CB8AC3E}">
        <p14:creationId xmlns:p14="http://schemas.microsoft.com/office/powerpoint/2010/main" val="2405556191"/>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5309146"/>
          </a:xfrm>
          <a:prstGeom prst="rect">
            <a:avLst/>
          </a:prstGeom>
        </p:spPr>
        <p:txBody>
          <a:bodyPr wrap="square">
            <a:spAutoFit/>
          </a:bodyPr>
          <a:lstStyle/>
          <a:p>
            <a:pPr algn="just">
              <a:lnSpc>
                <a:spcPct val="150000"/>
              </a:lnSpc>
            </a:pPr>
            <a:r>
              <a:rPr lang="en-US" sz="1600" b="1" dirty="0" smtClean="0">
                <a:solidFill>
                  <a:srgbClr val="000000"/>
                </a:solidFill>
              </a:rPr>
              <a:t>Patient Aggregate</a:t>
            </a:r>
            <a:r>
              <a:rPr lang="en-US" sz="1600" dirty="0" smtClean="0">
                <a:solidFill>
                  <a:srgbClr val="000000"/>
                </a:solidFill>
              </a:rPr>
              <a:t>:</a:t>
            </a:r>
          </a:p>
          <a:p>
            <a:pPr algn="just">
              <a:lnSpc>
                <a:spcPct val="150000"/>
              </a:lnSpc>
            </a:pPr>
            <a:r>
              <a:rPr lang="en-US" sz="1400" dirty="0">
                <a:solidFill>
                  <a:srgbClr val="000000"/>
                </a:solidFill>
              </a:rPr>
              <a:t>{</a:t>
            </a:r>
          </a:p>
          <a:p>
            <a:pPr algn="just">
              <a:lnSpc>
                <a:spcPct val="150000"/>
              </a:lnSpc>
            </a:pPr>
            <a:r>
              <a:rPr lang="en-US" sz="1400" dirty="0">
                <a:solidFill>
                  <a:srgbClr val="000000"/>
                </a:solidFill>
              </a:rPr>
              <a:t>  "id": 1,</a:t>
            </a:r>
          </a:p>
          <a:p>
            <a:pPr algn="just">
              <a:lnSpc>
                <a:spcPct val="150000"/>
              </a:lnSpc>
            </a:pPr>
            <a:r>
              <a:rPr lang="en-US" sz="1400" dirty="0">
                <a:solidFill>
                  <a:srgbClr val="000000"/>
                </a:solidFill>
              </a:rPr>
              <a:t>  "name": "John Doe",</a:t>
            </a:r>
          </a:p>
          <a:p>
            <a:pPr algn="just">
              <a:lnSpc>
                <a:spcPct val="150000"/>
              </a:lnSpc>
            </a:pPr>
            <a:r>
              <a:rPr lang="en-US" sz="1400" dirty="0">
                <a:solidFill>
                  <a:srgbClr val="000000"/>
                </a:solidFill>
              </a:rPr>
              <a:t>  "</a:t>
            </a:r>
            <a:r>
              <a:rPr lang="en-US" sz="1400" dirty="0" err="1">
                <a:solidFill>
                  <a:srgbClr val="000000"/>
                </a:solidFill>
              </a:rPr>
              <a:t>dob</a:t>
            </a:r>
            <a:r>
              <a:rPr lang="en-US" sz="1400" dirty="0">
                <a:solidFill>
                  <a:srgbClr val="000000"/>
                </a:solidFill>
              </a:rPr>
              <a:t>": "1990-01-15",</a:t>
            </a:r>
          </a:p>
          <a:p>
            <a:pPr algn="just">
              <a:lnSpc>
                <a:spcPct val="150000"/>
              </a:lnSpc>
            </a:pPr>
            <a:r>
              <a:rPr lang="en-US" sz="1400" dirty="0">
                <a:solidFill>
                  <a:srgbClr val="000000"/>
                </a:solidFill>
              </a:rPr>
              <a:t>  "appointments": [</a:t>
            </a:r>
          </a:p>
          <a:p>
            <a:pPr algn="just">
              <a:lnSpc>
                <a:spcPct val="150000"/>
              </a:lnSpc>
            </a:pPr>
            <a:r>
              <a:rPr lang="en-US" sz="1400" dirty="0">
                <a:solidFill>
                  <a:srgbClr val="000000"/>
                </a:solidFill>
              </a:rPr>
              <a:t>    {</a:t>
            </a:r>
          </a:p>
          <a:p>
            <a:pPr algn="just">
              <a:lnSpc>
                <a:spcPct val="150000"/>
              </a:lnSpc>
            </a:pPr>
            <a:r>
              <a:rPr lang="en-US" sz="1400" dirty="0">
                <a:solidFill>
                  <a:srgbClr val="000000"/>
                </a:solidFill>
              </a:rPr>
              <a:t>      "date": "2025-01-20",</a:t>
            </a:r>
          </a:p>
          <a:p>
            <a:pPr algn="just">
              <a:lnSpc>
                <a:spcPct val="150000"/>
              </a:lnSpc>
            </a:pPr>
            <a:r>
              <a:rPr lang="en-US" sz="1400" dirty="0">
                <a:solidFill>
                  <a:srgbClr val="000000"/>
                </a:solidFill>
              </a:rPr>
              <a:t>      "doctor": { "id": 10, "name": "Dr. Smith", "specialization": "Cardiology" },</a:t>
            </a:r>
          </a:p>
          <a:p>
            <a:pPr algn="just">
              <a:lnSpc>
                <a:spcPct val="150000"/>
              </a:lnSpc>
            </a:pPr>
            <a:r>
              <a:rPr lang="en-US" sz="1400" dirty="0">
                <a:solidFill>
                  <a:srgbClr val="000000"/>
                </a:solidFill>
              </a:rPr>
              <a:t>      "prescriptions": [</a:t>
            </a:r>
          </a:p>
          <a:p>
            <a:pPr algn="just">
              <a:lnSpc>
                <a:spcPct val="150000"/>
              </a:lnSpc>
            </a:pPr>
            <a:r>
              <a:rPr lang="en-US" sz="1400" dirty="0">
                <a:solidFill>
                  <a:srgbClr val="000000"/>
                </a:solidFill>
              </a:rPr>
              <a:t>        { "medicine": "Aspirin", "dosage": "75mg" },</a:t>
            </a:r>
          </a:p>
          <a:p>
            <a:pPr algn="just">
              <a:lnSpc>
                <a:spcPct val="150000"/>
              </a:lnSpc>
            </a:pPr>
            <a:r>
              <a:rPr lang="en-US" sz="1400" dirty="0">
                <a:solidFill>
                  <a:srgbClr val="000000"/>
                </a:solidFill>
              </a:rPr>
              <a:t>        { "medicine": "Metformin", "dosage": "500mg" }</a:t>
            </a:r>
          </a:p>
          <a:p>
            <a:pPr algn="just">
              <a:lnSpc>
                <a:spcPct val="150000"/>
              </a:lnSpc>
            </a:pPr>
            <a:r>
              <a:rPr lang="en-US" sz="1400" dirty="0">
                <a:solidFill>
                  <a:srgbClr val="000000"/>
                </a:solidFill>
              </a:rPr>
              <a:t>      ]</a:t>
            </a:r>
          </a:p>
          <a:p>
            <a:pPr algn="just">
              <a:lnSpc>
                <a:spcPct val="150000"/>
              </a:lnSpc>
            </a:pPr>
            <a:r>
              <a:rPr lang="en-US" sz="1400" dirty="0">
                <a:solidFill>
                  <a:srgbClr val="000000"/>
                </a:solidFill>
              </a:rPr>
              <a:t>    }</a:t>
            </a:r>
          </a:p>
          <a:p>
            <a:pPr algn="just">
              <a:lnSpc>
                <a:spcPct val="150000"/>
              </a:lnSpc>
            </a:pPr>
            <a:r>
              <a:rPr lang="en-US" sz="1400" dirty="0">
                <a:solidFill>
                  <a:srgbClr val="000000"/>
                </a:solidFill>
              </a:rPr>
              <a:t>  ]</a:t>
            </a:r>
          </a:p>
          <a:p>
            <a:pPr algn="just">
              <a:lnSpc>
                <a:spcPct val="150000"/>
              </a:lnSpc>
            </a:pPr>
            <a:r>
              <a:rPr lang="en-US" sz="1400" dirty="0">
                <a:solidFill>
                  <a:srgbClr val="000000"/>
                </a:solidFill>
              </a:rPr>
              <a:t>}</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74</a:t>
            </a:fld>
            <a:endParaRPr lang="en-US"/>
          </a:p>
        </p:txBody>
      </p:sp>
      <p:sp>
        <p:nvSpPr>
          <p:cNvPr id="5" name="TextBox 4"/>
          <p:cNvSpPr txBox="1"/>
          <p:nvPr/>
        </p:nvSpPr>
        <p:spPr>
          <a:xfrm>
            <a:off x="203578" y="272383"/>
            <a:ext cx="8483222" cy="461665"/>
          </a:xfrm>
          <a:prstGeom prst="rect">
            <a:avLst/>
          </a:prstGeom>
          <a:noFill/>
        </p:spPr>
        <p:txBody>
          <a:bodyPr wrap="square" rtlCol="0">
            <a:spAutoFit/>
          </a:bodyPr>
          <a:lstStyle/>
          <a:p>
            <a:r>
              <a:rPr lang="en-US" sz="2400" b="1" dirty="0" smtClean="0">
                <a:solidFill>
                  <a:srgbClr val="121214"/>
                </a:solidFill>
              </a:rPr>
              <a:t>Aggregate-Oriented Model: Healthcare System</a:t>
            </a:r>
            <a:endParaRPr lang="en-IN" sz="24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5570" y="1190262"/>
            <a:ext cx="4572000" cy="4976667"/>
          </a:xfrm>
          <a:prstGeom prst="rect">
            <a:avLst/>
          </a:prstGeom>
        </p:spPr>
      </p:pic>
    </p:spTree>
    <p:extLst>
      <p:ext uri="{BB962C8B-B14F-4D97-AF65-F5344CB8AC3E}">
        <p14:creationId xmlns:p14="http://schemas.microsoft.com/office/powerpoint/2010/main" val="2234225813"/>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816156"/>
          </a:xfrm>
          <a:prstGeom prst="rect">
            <a:avLst/>
          </a:prstGeom>
        </p:spPr>
        <p:txBody>
          <a:bodyPr wrap="square">
            <a:spAutoFit/>
          </a:bodyPr>
          <a:lstStyle/>
          <a:p>
            <a:pPr algn="just">
              <a:lnSpc>
                <a:spcPct val="150000"/>
              </a:lnSpc>
            </a:pPr>
            <a:r>
              <a:rPr lang="en-US" sz="1600" b="1" dirty="0" smtClean="0">
                <a:solidFill>
                  <a:srgbClr val="000000"/>
                </a:solidFill>
              </a:rPr>
              <a:t>RDBMS Model (Normalized)</a:t>
            </a:r>
            <a:r>
              <a:rPr lang="en-US" sz="1600" dirty="0" smtClean="0">
                <a:solidFill>
                  <a:srgbClr val="000000"/>
                </a:solidFill>
              </a:rPr>
              <a:t>:</a:t>
            </a:r>
          </a:p>
          <a:p>
            <a:pPr marL="342900" indent="-342900" algn="just">
              <a:lnSpc>
                <a:spcPct val="150000"/>
              </a:lnSpc>
              <a:buFont typeface="Arial" panose="020B0604020202020204" pitchFamily="34" charset="0"/>
              <a:buChar char="•"/>
            </a:pPr>
            <a:r>
              <a:rPr lang="en-US" sz="1600" dirty="0" smtClean="0">
                <a:solidFill>
                  <a:srgbClr val="000000"/>
                </a:solidFill>
              </a:rPr>
              <a:t>Book (id, title, </a:t>
            </a:r>
            <a:r>
              <a:rPr lang="en-US" sz="1600" dirty="0" err="1" smtClean="0">
                <a:solidFill>
                  <a:srgbClr val="000000"/>
                </a:solidFill>
              </a:rPr>
              <a:t>authorId</a:t>
            </a:r>
            <a:r>
              <a:rPr lang="en-US" sz="1600" dirty="0" smtClean="0">
                <a:solidFill>
                  <a:srgbClr val="000000"/>
                </a:solidFill>
              </a:rPr>
              <a:t>)</a:t>
            </a:r>
          </a:p>
          <a:p>
            <a:pPr marL="342900" indent="-342900" algn="just">
              <a:lnSpc>
                <a:spcPct val="150000"/>
              </a:lnSpc>
              <a:buFont typeface="Arial" panose="020B0604020202020204" pitchFamily="34" charset="0"/>
              <a:buChar char="•"/>
            </a:pPr>
            <a:r>
              <a:rPr lang="en-US" sz="1600" dirty="0" smtClean="0">
                <a:solidFill>
                  <a:srgbClr val="000000"/>
                </a:solidFill>
              </a:rPr>
              <a:t>Author (id, name)</a:t>
            </a:r>
          </a:p>
          <a:p>
            <a:pPr marL="342900" indent="-342900" algn="just">
              <a:lnSpc>
                <a:spcPct val="150000"/>
              </a:lnSpc>
              <a:buFont typeface="Arial" panose="020B0604020202020204" pitchFamily="34" charset="0"/>
              <a:buChar char="•"/>
            </a:pPr>
            <a:r>
              <a:rPr lang="en-US" sz="1600" dirty="0" smtClean="0">
                <a:solidFill>
                  <a:srgbClr val="000000"/>
                </a:solidFill>
              </a:rPr>
              <a:t>Member (id, name, </a:t>
            </a:r>
            <a:r>
              <a:rPr lang="en-US" sz="1600" dirty="0" err="1" smtClean="0">
                <a:solidFill>
                  <a:srgbClr val="000000"/>
                </a:solidFill>
              </a:rPr>
              <a:t>membershipDate</a:t>
            </a:r>
            <a:r>
              <a:rPr lang="en-US" sz="1600" dirty="0" smtClean="0">
                <a:solidFill>
                  <a:srgbClr val="000000"/>
                </a:solidFill>
              </a:rPr>
              <a:t>)</a:t>
            </a:r>
          </a:p>
          <a:p>
            <a:pPr marL="342900" indent="-342900" algn="just">
              <a:lnSpc>
                <a:spcPct val="150000"/>
              </a:lnSpc>
              <a:buFont typeface="Arial" panose="020B0604020202020204" pitchFamily="34" charset="0"/>
              <a:buChar char="•"/>
            </a:pPr>
            <a:r>
              <a:rPr lang="en-US" sz="1600" dirty="0" smtClean="0">
                <a:solidFill>
                  <a:srgbClr val="000000"/>
                </a:solidFill>
              </a:rPr>
              <a:t>Borrow (id, </a:t>
            </a:r>
            <a:r>
              <a:rPr lang="en-US" sz="1600" dirty="0" err="1" smtClean="0">
                <a:solidFill>
                  <a:srgbClr val="000000"/>
                </a:solidFill>
              </a:rPr>
              <a:t>bookId</a:t>
            </a:r>
            <a:r>
              <a:rPr lang="en-US" sz="1600" dirty="0" smtClean="0">
                <a:solidFill>
                  <a:srgbClr val="000000"/>
                </a:solidFill>
              </a:rPr>
              <a:t>, </a:t>
            </a:r>
            <a:r>
              <a:rPr lang="en-US" sz="1600" dirty="0" err="1" smtClean="0">
                <a:solidFill>
                  <a:srgbClr val="000000"/>
                </a:solidFill>
              </a:rPr>
              <a:t>memberId</a:t>
            </a:r>
            <a:r>
              <a:rPr lang="en-US" sz="1600" dirty="0" smtClean="0">
                <a:solidFill>
                  <a:srgbClr val="000000"/>
                </a:solidFill>
              </a:rPr>
              <a:t>, </a:t>
            </a:r>
            <a:r>
              <a:rPr lang="en-US" sz="1600" dirty="0" err="1" smtClean="0">
                <a:solidFill>
                  <a:srgbClr val="000000"/>
                </a:solidFill>
              </a:rPr>
              <a:t>borrowDate</a:t>
            </a:r>
            <a:r>
              <a:rPr lang="en-US" sz="1600" dirty="0" smtClean="0">
                <a:solidFill>
                  <a:srgbClr val="000000"/>
                </a:solidFill>
              </a:rPr>
              <a:t>, </a:t>
            </a:r>
            <a:r>
              <a:rPr lang="en-US" sz="1600" dirty="0" err="1" smtClean="0">
                <a:solidFill>
                  <a:srgbClr val="000000"/>
                </a:solidFill>
              </a:rPr>
              <a:t>returnDate</a:t>
            </a:r>
            <a:r>
              <a:rPr lang="en-US" sz="1600" dirty="0" smtClean="0">
                <a:solidFill>
                  <a:srgbClr val="000000"/>
                </a:solidFill>
              </a:rPr>
              <a:t>)</a:t>
            </a:r>
          </a:p>
          <a:p>
            <a:pPr algn="just">
              <a:lnSpc>
                <a:spcPct val="150000"/>
              </a:lnSpc>
            </a:pPr>
            <a:r>
              <a:rPr lang="en-US" sz="1600" dirty="0"/>
              <a:t>To get all books borrowed by a member, need joins across 3–4 tables..</a:t>
            </a:r>
            <a:endParaRPr lang="en-GB" sz="1600" dirty="0" smtClean="0">
              <a:solidFill>
                <a:srgbClr val="000000"/>
              </a:solidFill>
            </a:endParaRPr>
          </a:p>
          <a:p>
            <a:pPr algn="just">
              <a:lnSpc>
                <a:spcPct val="150000"/>
              </a:lnSpc>
            </a:pPr>
            <a:endParaRPr lang="en-GB"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75</a:t>
            </a:fld>
            <a:endParaRPr lang="en-US"/>
          </a:p>
        </p:txBody>
      </p:sp>
      <p:sp>
        <p:nvSpPr>
          <p:cNvPr id="5" name="TextBox 4"/>
          <p:cNvSpPr txBox="1"/>
          <p:nvPr/>
        </p:nvSpPr>
        <p:spPr>
          <a:xfrm>
            <a:off x="203578" y="373120"/>
            <a:ext cx="8483222" cy="400110"/>
          </a:xfrm>
          <a:prstGeom prst="rect">
            <a:avLst/>
          </a:prstGeom>
          <a:noFill/>
        </p:spPr>
        <p:txBody>
          <a:bodyPr wrap="square" rtlCol="0">
            <a:spAutoFit/>
          </a:bodyPr>
          <a:lstStyle/>
          <a:p>
            <a:r>
              <a:rPr lang="en-US" sz="2000" b="1" dirty="0" smtClean="0">
                <a:solidFill>
                  <a:srgbClr val="121214"/>
                </a:solidFill>
              </a:rPr>
              <a:t>Example of Relations and Aggregates: Library Management System</a:t>
            </a:r>
            <a:endParaRPr lang="en-IN" sz="2000" b="1"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4650" y="3581400"/>
            <a:ext cx="8011643" cy="2324424"/>
          </a:xfrm>
          <a:prstGeom prst="rect">
            <a:avLst/>
          </a:prstGeom>
        </p:spPr>
      </p:pic>
    </p:spTree>
    <p:extLst>
      <p:ext uri="{BB962C8B-B14F-4D97-AF65-F5344CB8AC3E}">
        <p14:creationId xmlns:p14="http://schemas.microsoft.com/office/powerpoint/2010/main" val="2417817675"/>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5724644"/>
          </a:xfrm>
          <a:prstGeom prst="rect">
            <a:avLst/>
          </a:prstGeom>
        </p:spPr>
        <p:txBody>
          <a:bodyPr wrap="square">
            <a:spAutoFit/>
          </a:bodyPr>
          <a:lstStyle/>
          <a:p>
            <a:pPr algn="just">
              <a:lnSpc>
                <a:spcPct val="150000"/>
              </a:lnSpc>
            </a:pPr>
            <a:r>
              <a:rPr lang="en-US" sz="1600" b="1" dirty="0" smtClean="0">
                <a:solidFill>
                  <a:srgbClr val="000000"/>
                </a:solidFill>
              </a:rPr>
              <a:t>Member Aggregate</a:t>
            </a:r>
            <a:r>
              <a:rPr lang="en-US" sz="1600" dirty="0" smtClean="0">
                <a:solidFill>
                  <a:srgbClr val="000000"/>
                </a:solidFill>
              </a:rPr>
              <a:t>:</a:t>
            </a:r>
          </a:p>
          <a:p>
            <a:pPr algn="just">
              <a:lnSpc>
                <a:spcPct val="150000"/>
              </a:lnSpc>
            </a:pPr>
            <a:r>
              <a:rPr lang="en-US" sz="1200" dirty="0">
                <a:solidFill>
                  <a:srgbClr val="000000"/>
                </a:solidFill>
              </a:rPr>
              <a:t>{</a:t>
            </a:r>
          </a:p>
          <a:p>
            <a:pPr algn="just">
              <a:lnSpc>
                <a:spcPct val="150000"/>
              </a:lnSpc>
            </a:pPr>
            <a:r>
              <a:rPr lang="en-US" sz="1200" dirty="0">
                <a:solidFill>
                  <a:srgbClr val="000000"/>
                </a:solidFill>
              </a:rPr>
              <a:t>  "id": 101,</a:t>
            </a:r>
          </a:p>
          <a:p>
            <a:pPr algn="just">
              <a:lnSpc>
                <a:spcPct val="150000"/>
              </a:lnSpc>
            </a:pPr>
            <a:r>
              <a:rPr lang="en-US" sz="1200" dirty="0">
                <a:solidFill>
                  <a:srgbClr val="000000"/>
                </a:solidFill>
              </a:rPr>
              <a:t>  "name": "Alice",</a:t>
            </a:r>
          </a:p>
          <a:p>
            <a:pPr algn="just">
              <a:lnSpc>
                <a:spcPct val="150000"/>
              </a:lnSpc>
            </a:pPr>
            <a:r>
              <a:rPr lang="en-US" sz="1200" dirty="0">
                <a:solidFill>
                  <a:srgbClr val="000000"/>
                </a:solidFill>
              </a:rPr>
              <a:t>  "</a:t>
            </a:r>
            <a:r>
              <a:rPr lang="en-US" sz="1200" dirty="0" err="1">
                <a:solidFill>
                  <a:srgbClr val="000000"/>
                </a:solidFill>
              </a:rPr>
              <a:t>membershipDate</a:t>
            </a:r>
            <a:r>
              <a:rPr lang="en-US" sz="1200" dirty="0">
                <a:solidFill>
                  <a:srgbClr val="000000"/>
                </a:solidFill>
              </a:rPr>
              <a:t>": "2023-06-15",</a:t>
            </a:r>
          </a:p>
          <a:p>
            <a:pPr algn="just">
              <a:lnSpc>
                <a:spcPct val="150000"/>
              </a:lnSpc>
            </a:pPr>
            <a:r>
              <a:rPr lang="en-US" sz="1200" dirty="0">
                <a:solidFill>
                  <a:srgbClr val="000000"/>
                </a:solidFill>
              </a:rPr>
              <a:t>  "</a:t>
            </a:r>
            <a:r>
              <a:rPr lang="en-US" sz="1200" dirty="0" err="1">
                <a:solidFill>
                  <a:srgbClr val="000000"/>
                </a:solidFill>
              </a:rPr>
              <a:t>borrowedBooks</a:t>
            </a:r>
            <a:r>
              <a:rPr lang="en-US" sz="1200" dirty="0">
                <a:solidFill>
                  <a:srgbClr val="000000"/>
                </a:solidFill>
              </a:rPr>
              <a:t>": [</a:t>
            </a:r>
          </a:p>
          <a:p>
            <a:pPr algn="just">
              <a:lnSpc>
                <a:spcPct val="150000"/>
              </a:lnSpc>
            </a:pPr>
            <a:r>
              <a:rPr lang="en-US" sz="1200" dirty="0">
                <a:solidFill>
                  <a:srgbClr val="000000"/>
                </a:solidFill>
              </a:rPr>
              <a:t>    {</a:t>
            </a:r>
          </a:p>
          <a:p>
            <a:pPr algn="just">
              <a:lnSpc>
                <a:spcPct val="150000"/>
              </a:lnSpc>
            </a:pPr>
            <a:r>
              <a:rPr lang="en-US" sz="1200" dirty="0">
                <a:solidFill>
                  <a:srgbClr val="000000"/>
                </a:solidFill>
              </a:rPr>
              <a:t>      "title": "NoSQL Distilled",</a:t>
            </a:r>
          </a:p>
          <a:p>
            <a:pPr algn="just">
              <a:lnSpc>
                <a:spcPct val="150000"/>
              </a:lnSpc>
            </a:pPr>
            <a:r>
              <a:rPr lang="en-US" sz="1200" dirty="0">
                <a:solidFill>
                  <a:srgbClr val="000000"/>
                </a:solidFill>
              </a:rPr>
              <a:t>      "author": "Martin Fowler",</a:t>
            </a:r>
          </a:p>
          <a:p>
            <a:pPr algn="just">
              <a:lnSpc>
                <a:spcPct val="150000"/>
              </a:lnSpc>
            </a:pPr>
            <a:r>
              <a:rPr lang="en-US" sz="1200" dirty="0">
                <a:solidFill>
                  <a:srgbClr val="000000"/>
                </a:solidFill>
              </a:rPr>
              <a:t>      "</a:t>
            </a:r>
            <a:r>
              <a:rPr lang="en-US" sz="1200" dirty="0" err="1">
                <a:solidFill>
                  <a:srgbClr val="000000"/>
                </a:solidFill>
              </a:rPr>
              <a:t>borrowDate</a:t>
            </a:r>
            <a:r>
              <a:rPr lang="en-US" sz="1200" dirty="0">
                <a:solidFill>
                  <a:srgbClr val="000000"/>
                </a:solidFill>
              </a:rPr>
              <a:t>": "2024-11-20",</a:t>
            </a:r>
          </a:p>
          <a:p>
            <a:pPr algn="just">
              <a:lnSpc>
                <a:spcPct val="150000"/>
              </a:lnSpc>
            </a:pPr>
            <a:r>
              <a:rPr lang="en-US" sz="1200" dirty="0">
                <a:solidFill>
                  <a:srgbClr val="000000"/>
                </a:solidFill>
              </a:rPr>
              <a:t>      "</a:t>
            </a:r>
            <a:r>
              <a:rPr lang="en-US" sz="1200" dirty="0" err="1">
                <a:solidFill>
                  <a:srgbClr val="000000"/>
                </a:solidFill>
              </a:rPr>
              <a:t>returnDate</a:t>
            </a:r>
            <a:r>
              <a:rPr lang="en-US" sz="1200" dirty="0">
                <a:solidFill>
                  <a:srgbClr val="000000"/>
                </a:solidFill>
              </a:rPr>
              <a:t>": "2024-12-05"</a:t>
            </a:r>
          </a:p>
          <a:p>
            <a:pPr algn="just">
              <a:lnSpc>
                <a:spcPct val="150000"/>
              </a:lnSpc>
            </a:pPr>
            <a:r>
              <a:rPr lang="en-US" sz="1200" dirty="0">
                <a:solidFill>
                  <a:srgbClr val="000000"/>
                </a:solidFill>
              </a:rPr>
              <a:t>    },</a:t>
            </a:r>
          </a:p>
          <a:p>
            <a:pPr algn="just">
              <a:lnSpc>
                <a:spcPct val="150000"/>
              </a:lnSpc>
            </a:pPr>
            <a:r>
              <a:rPr lang="en-US" sz="1200" dirty="0">
                <a:solidFill>
                  <a:srgbClr val="000000"/>
                </a:solidFill>
              </a:rPr>
              <a:t>    {</a:t>
            </a:r>
          </a:p>
          <a:p>
            <a:pPr algn="just">
              <a:lnSpc>
                <a:spcPct val="150000"/>
              </a:lnSpc>
            </a:pPr>
            <a:r>
              <a:rPr lang="en-US" sz="1200" dirty="0">
                <a:solidFill>
                  <a:srgbClr val="000000"/>
                </a:solidFill>
              </a:rPr>
              <a:t>      "title": "MongoDB Basics",</a:t>
            </a:r>
          </a:p>
          <a:p>
            <a:pPr algn="just">
              <a:lnSpc>
                <a:spcPct val="150000"/>
              </a:lnSpc>
            </a:pPr>
            <a:r>
              <a:rPr lang="en-US" sz="1200" dirty="0">
                <a:solidFill>
                  <a:srgbClr val="000000"/>
                </a:solidFill>
              </a:rPr>
              <a:t>      "author": "Kristina </a:t>
            </a:r>
            <a:r>
              <a:rPr lang="en-US" sz="1200" dirty="0" err="1">
                <a:solidFill>
                  <a:srgbClr val="000000"/>
                </a:solidFill>
              </a:rPr>
              <a:t>Chodorow</a:t>
            </a:r>
            <a:r>
              <a:rPr lang="en-US" sz="1200" dirty="0">
                <a:solidFill>
                  <a:srgbClr val="000000"/>
                </a:solidFill>
              </a:rPr>
              <a:t>",</a:t>
            </a:r>
          </a:p>
          <a:p>
            <a:pPr algn="just">
              <a:lnSpc>
                <a:spcPct val="150000"/>
              </a:lnSpc>
            </a:pPr>
            <a:r>
              <a:rPr lang="en-US" sz="1200" dirty="0">
                <a:solidFill>
                  <a:srgbClr val="000000"/>
                </a:solidFill>
              </a:rPr>
              <a:t>      "</a:t>
            </a:r>
            <a:r>
              <a:rPr lang="en-US" sz="1200" dirty="0" err="1">
                <a:solidFill>
                  <a:srgbClr val="000000"/>
                </a:solidFill>
              </a:rPr>
              <a:t>borrowDate</a:t>
            </a:r>
            <a:r>
              <a:rPr lang="en-US" sz="1200" dirty="0">
                <a:solidFill>
                  <a:srgbClr val="000000"/>
                </a:solidFill>
              </a:rPr>
              <a:t>": "2025-01-10",</a:t>
            </a:r>
          </a:p>
          <a:p>
            <a:pPr algn="just">
              <a:lnSpc>
                <a:spcPct val="150000"/>
              </a:lnSpc>
            </a:pPr>
            <a:r>
              <a:rPr lang="en-US" sz="1200" dirty="0">
                <a:solidFill>
                  <a:srgbClr val="000000"/>
                </a:solidFill>
              </a:rPr>
              <a:t>      "</a:t>
            </a:r>
            <a:r>
              <a:rPr lang="en-US" sz="1200" dirty="0" err="1">
                <a:solidFill>
                  <a:srgbClr val="000000"/>
                </a:solidFill>
              </a:rPr>
              <a:t>returnDate</a:t>
            </a:r>
            <a:r>
              <a:rPr lang="en-US" sz="1200" dirty="0">
                <a:solidFill>
                  <a:srgbClr val="000000"/>
                </a:solidFill>
              </a:rPr>
              <a:t>": null</a:t>
            </a:r>
          </a:p>
          <a:p>
            <a:pPr algn="just">
              <a:lnSpc>
                <a:spcPct val="150000"/>
              </a:lnSpc>
            </a:pPr>
            <a:r>
              <a:rPr lang="en-US" sz="1200" dirty="0">
                <a:solidFill>
                  <a:srgbClr val="000000"/>
                </a:solidFill>
              </a:rPr>
              <a:t>    }</a:t>
            </a:r>
          </a:p>
          <a:p>
            <a:pPr algn="just">
              <a:lnSpc>
                <a:spcPct val="150000"/>
              </a:lnSpc>
            </a:pPr>
            <a:r>
              <a:rPr lang="en-US" sz="1200" dirty="0">
                <a:solidFill>
                  <a:srgbClr val="000000"/>
                </a:solidFill>
              </a:rPr>
              <a:t>  ]</a:t>
            </a:r>
          </a:p>
          <a:p>
            <a:pPr algn="just">
              <a:lnSpc>
                <a:spcPct val="150000"/>
              </a:lnSpc>
            </a:pPr>
            <a:r>
              <a:rPr lang="en-US" sz="1200" dirty="0">
                <a:solidFill>
                  <a:srgbClr val="000000"/>
                </a:solidFill>
              </a:rPr>
              <a:t>}</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76</a:t>
            </a:fld>
            <a:endParaRPr lang="en-US"/>
          </a:p>
        </p:txBody>
      </p:sp>
      <p:sp>
        <p:nvSpPr>
          <p:cNvPr id="5" name="TextBox 4"/>
          <p:cNvSpPr txBox="1"/>
          <p:nvPr/>
        </p:nvSpPr>
        <p:spPr>
          <a:xfrm>
            <a:off x="203578" y="272383"/>
            <a:ext cx="8483222" cy="461665"/>
          </a:xfrm>
          <a:prstGeom prst="rect">
            <a:avLst/>
          </a:prstGeom>
          <a:noFill/>
        </p:spPr>
        <p:txBody>
          <a:bodyPr wrap="square" rtlCol="0">
            <a:spAutoFit/>
          </a:bodyPr>
          <a:lstStyle/>
          <a:p>
            <a:r>
              <a:rPr lang="en-US" sz="2400" b="1" dirty="0" smtClean="0">
                <a:solidFill>
                  <a:srgbClr val="121214"/>
                </a:solidFill>
              </a:rPr>
              <a:t>Aggregate-Oriented Model</a:t>
            </a:r>
            <a:r>
              <a:rPr lang="en-US" sz="2400" b="1" dirty="0">
                <a:solidFill>
                  <a:srgbClr val="121214"/>
                </a:solidFill>
              </a:rPr>
              <a:t>: Library Management System</a:t>
            </a:r>
            <a:endParaRPr lang="en-IN" sz="2400" b="1"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41042" y="1062891"/>
            <a:ext cx="4572000" cy="5410200"/>
          </a:xfrm>
          <a:prstGeom prst="rect">
            <a:avLst/>
          </a:prstGeom>
        </p:spPr>
      </p:pic>
    </p:spTree>
    <p:extLst>
      <p:ext uri="{BB962C8B-B14F-4D97-AF65-F5344CB8AC3E}">
        <p14:creationId xmlns:p14="http://schemas.microsoft.com/office/powerpoint/2010/main" val="997091822"/>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6509474"/>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b="1" dirty="0" smtClean="0">
                <a:solidFill>
                  <a:srgbClr val="000000"/>
                </a:solidFill>
              </a:rPr>
              <a:t>Relational Style : </a:t>
            </a:r>
            <a:r>
              <a:rPr lang="en-GB" dirty="0" smtClean="0">
                <a:solidFill>
                  <a:srgbClr val="000000"/>
                </a:solidFill>
              </a:rPr>
              <a:t>Separate tables for users and orders; relational joins are needed for combined views</a:t>
            </a:r>
          </a:p>
          <a:p>
            <a:pPr marL="342900" indent="-342900" algn="just">
              <a:lnSpc>
                <a:spcPct val="150000"/>
              </a:lnSpc>
              <a:buFont typeface="Arial" panose="020B0604020202020204" pitchFamily="34" charset="0"/>
              <a:buChar char="•"/>
            </a:pPr>
            <a:r>
              <a:rPr lang="en-GB" b="1" dirty="0" smtClean="0">
                <a:solidFill>
                  <a:srgbClr val="000000"/>
                </a:solidFill>
              </a:rPr>
              <a:t>Aggregate (Document) Style :  </a:t>
            </a:r>
            <a:r>
              <a:rPr lang="en-GB" dirty="0" smtClean="0">
                <a:solidFill>
                  <a:srgbClr val="000000"/>
                </a:solidFill>
              </a:rPr>
              <a:t>A single document containing user data along with embedded order list. This allows retrieval in one request and simplifies programming model.</a:t>
            </a:r>
          </a:p>
          <a:p>
            <a:pPr marL="342900" indent="-342900" algn="just">
              <a:lnSpc>
                <a:spcPct val="150000"/>
              </a:lnSpc>
              <a:buFont typeface="Arial" panose="020B0604020202020204" pitchFamily="34" charset="0"/>
              <a:buChar char="•"/>
            </a:pPr>
            <a:r>
              <a:rPr lang="en-GB" b="1" dirty="0" smtClean="0">
                <a:solidFill>
                  <a:srgbClr val="000000"/>
                </a:solidFill>
              </a:rPr>
              <a:t>Trade-offs</a:t>
            </a:r>
            <a:r>
              <a:rPr lang="en-GB" dirty="0" smtClean="0">
                <a:solidFill>
                  <a:srgbClr val="000000"/>
                </a:solidFill>
              </a:rPr>
              <a:t>:</a:t>
            </a:r>
          </a:p>
          <a:p>
            <a:pPr algn="just">
              <a:lnSpc>
                <a:spcPct val="150000"/>
              </a:lnSpc>
            </a:pPr>
            <a:r>
              <a:rPr lang="en-GB" dirty="0" smtClean="0">
                <a:solidFill>
                  <a:srgbClr val="000000"/>
                </a:solidFill>
              </a:rPr>
              <a:t>                      Pros : Data locality, simple distributed updates, aligned with    </a:t>
            </a:r>
          </a:p>
          <a:p>
            <a:pPr algn="just">
              <a:lnSpc>
                <a:spcPct val="150000"/>
              </a:lnSpc>
            </a:pPr>
            <a:r>
              <a:rPr lang="en-GB" dirty="0">
                <a:solidFill>
                  <a:srgbClr val="000000"/>
                </a:solidFill>
              </a:rPr>
              <a:t> </a:t>
            </a:r>
            <a:r>
              <a:rPr lang="en-GB" dirty="0" smtClean="0">
                <a:solidFill>
                  <a:srgbClr val="000000"/>
                </a:solidFill>
              </a:rPr>
              <a:t>                                 application aggregates.</a:t>
            </a:r>
          </a:p>
          <a:p>
            <a:pPr algn="just">
              <a:lnSpc>
                <a:spcPct val="150000"/>
              </a:lnSpc>
            </a:pPr>
            <a:r>
              <a:rPr lang="en-GB" dirty="0">
                <a:solidFill>
                  <a:srgbClr val="000000"/>
                </a:solidFill>
              </a:rPr>
              <a:t> </a:t>
            </a:r>
            <a:r>
              <a:rPr lang="en-GB" dirty="0" smtClean="0">
                <a:solidFill>
                  <a:srgbClr val="000000"/>
                </a:solidFill>
              </a:rPr>
              <a:t>                     Cons : Duplication, eventual consistency concerns, complexity in </a:t>
            </a:r>
          </a:p>
          <a:p>
            <a:pPr algn="just">
              <a:lnSpc>
                <a:spcPct val="150000"/>
              </a:lnSpc>
            </a:pPr>
            <a:r>
              <a:rPr lang="en-GB" dirty="0">
                <a:solidFill>
                  <a:srgbClr val="000000"/>
                </a:solidFill>
              </a:rPr>
              <a:t> </a:t>
            </a:r>
            <a:r>
              <a:rPr lang="en-GB" dirty="0" smtClean="0">
                <a:solidFill>
                  <a:srgbClr val="000000"/>
                </a:solidFill>
              </a:rPr>
              <a:t>                                  cross-aggregate analytics tasks.</a:t>
            </a:r>
          </a:p>
          <a:p>
            <a:pPr algn="just">
              <a:lnSpc>
                <a:spcPct val="150000"/>
              </a:lnSpc>
            </a:pPr>
            <a:endParaRPr lang="en-GB"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77</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Aggregate vs Relational : Summary</a:t>
            </a:r>
            <a:endParaRPr lang="en-IN" sz="2400" b="1" dirty="0"/>
          </a:p>
        </p:txBody>
      </p:sp>
    </p:spTree>
    <p:extLst>
      <p:ext uri="{BB962C8B-B14F-4D97-AF65-F5344CB8AC3E}">
        <p14:creationId xmlns:p14="http://schemas.microsoft.com/office/powerpoint/2010/main" val="3768377560"/>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7478970"/>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Relational : User table, Orders table -&gt;  Join required</a:t>
            </a:r>
          </a:p>
          <a:p>
            <a:pPr marL="342900" indent="-342900" algn="just">
              <a:lnSpc>
                <a:spcPct val="150000"/>
              </a:lnSpc>
              <a:buFont typeface="Arial" panose="020B0604020202020204" pitchFamily="34" charset="0"/>
              <a:buChar char="•"/>
            </a:pPr>
            <a:r>
              <a:rPr lang="en-GB" sz="2000" b="1" dirty="0" smtClean="0">
                <a:solidFill>
                  <a:srgbClr val="000000"/>
                </a:solidFill>
              </a:rPr>
              <a:t>Aggregate (Document):</a:t>
            </a:r>
          </a:p>
          <a:p>
            <a:pPr algn="just">
              <a:lnSpc>
                <a:spcPct val="150000"/>
              </a:lnSpc>
            </a:pPr>
            <a:r>
              <a:rPr lang="en-GB" sz="2000" dirty="0">
                <a:solidFill>
                  <a:srgbClr val="000000"/>
                </a:solidFill>
              </a:rPr>
              <a:t>{</a:t>
            </a:r>
          </a:p>
          <a:p>
            <a:pPr algn="just">
              <a:lnSpc>
                <a:spcPct val="150000"/>
              </a:lnSpc>
            </a:pPr>
            <a:r>
              <a:rPr lang="en-GB" sz="2000" dirty="0">
                <a:solidFill>
                  <a:srgbClr val="000000"/>
                </a:solidFill>
              </a:rPr>
              <a:t>  "</a:t>
            </a:r>
            <a:r>
              <a:rPr lang="en-GB" sz="2000" dirty="0" err="1">
                <a:solidFill>
                  <a:srgbClr val="000000"/>
                </a:solidFill>
              </a:rPr>
              <a:t>user_id</a:t>
            </a:r>
            <a:r>
              <a:rPr lang="en-GB" sz="2000" dirty="0">
                <a:solidFill>
                  <a:srgbClr val="000000"/>
                </a:solidFill>
              </a:rPr>
              <a:t>": "123",</a:t>
            </a:r>
          </a:p>
          <a:p>
            <a:pPr algn="just">
              <a:lnSpc>
                <a:spcPct val="150000"/>
              </a:lnSpc>
            </a:pPr>
            <a:r>
              <a:rPr lang="en-GB" sz="2000" dirty="0">
                <a:solidFill>
                  <a:srgbClr val="000000"/>
                </a:solidFill>
              </a:rPr>
              <a:t>  "name": "Sunil",</a:t>
            </a:r>
          </a:p>
          <a:p>
            <a:pPr algn="just">
              <a:lnSpc>
                <a:spcPct val="150000"/>
              </a:lnSpc>
            </a:pPr>
            <a:r>
              <a:rPr lang="en-GB" sz="2000" dirty="0">
                <a:solidFill>
                  <a:srgbClr val="000000"/>
                </a:solidFill>
              </a:rPr>
              <a:t>  "orders": [</a:t>
            </a:r>
          </a:p>
          <a:p>
            <a:pPr algn="just">
              <a:lnSpc>
                <a:spcPct val="150000"/>
              </a:lnSpc>
            </a:pPr>
            <a:r>
              <a:rPr lang="en-GB" sz="2000" dirty="0">
                <a:solidFill>
                  <a:srgbClr val="000000"/>
                </a:solidFill>
              </a:rPr>
              <a:t>    { "</a:t>
            </a:r>
            <a:r>
              <a:rPr lang="en-GB" sz="2000" dirty="0" err="1">
                <a:solidFill>
                  <a:srgbClr val="000000"/>
                </a:solidFill>
              </a:rPr>
              <a:t>order_id</a:t>
            </a:r>
            <a:r>
              <a:rPr lang="en-GB" sz="2000" dirty="0">
                <a:solidFill>
                  <a:srgbClr val="000000"/>
                </a:solidFill>
              </a:rPr>
              <a:t>": 1, "item": "Book" },</a:t>
            </a:r>
          </a:p>
          <a:p>
            <a:pPr algn="just">
              <a:lnSpc>
                <a:spcPct val="150000"/>
              </a:lnSpc>
            </a:pPr>
            <a:r>
              <a:rPr lang="en-GB" sz="2000" dirty="0">
                <a:solidFill>
                  <a:srgbClr val="000000"/>
                </a:solidFill>
              </a:rPr>
              <a:t>    { "</a:t>
            </a:r>
            <a:r>
              <a:rPr lang="en-GB" sz="2000" dirty="0" err="1">
                <a:solidFill>
                  <a:srgbClr val="000000"/>
                </a:solidFill>
              </a:rPr>
              <a:t>order_id</a:t>
            </a:r>
            <a:r>
              <a:rPr lang="en-GB" sz="2000" dirty="0">
                <a:solidFill>
                  <a:srgbClr val="000000"/>
                </a:solidFill>
              </a:rPr>
              <a:t>": 2, "item": "Pen" }</a:t>
            </a:r>
          </a:p>
          <a:p>
            <a:pPr algn="just">
              <a:lnSpc>
                <a:spcPct val="150000"/>
              </a:lnSpc>
            </a:pPr>
            <a:r>
              <a:rPr lang="en-GB" sz="2000" dirty="0">
                <a:solidFill>
                  <a:srgbClr val="000000"/>
                </a:solidFill>
              </a:rPr>
              <a:t>  ]</a:t>
            </a:r>
          </a:p>
          <a:p>
            <a:pPr algn="just">
              <a:lnSpc>
                <a:spcPct val="150000"/>
              </a:lnSpc>
            </a:pPr>
            <a:r>
              <a:rPr lang="en-GB" sz="2000" dirty="0">
                <a:solidFill>
                  <a:srgbClr val="000000"/>
                </a:solidFill>
              </a:rPr>
              <a:t>}</a:t>
            </a: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78</a:t>
            </a:fld>
            <a:endParaRPr lang="en-US"/>
          </a:p>
        </p:txBody>
      </p:sp>
      <p:sp>
        <p:nvSpPr>
          <p:cNvPr id="5" name="TextBox 4"/>
          <p:cNvSpPr txBox="1"/>
          <p:nvPr/>
        </p:nvSpPr>
        <p:spPr>
          <a:xfrm>
            <a:off x="203578" y="373120"/>
            <a:ext cx="6883022" cy="461665"/>
          </a:xfrm>
          <a:prstGeom prst="rect">
            <a:avLst/>
          </a:prstGeom>
          <a:noFill/>
        </p:spPr>
        <p:txBody>
          <a:bodyPr wrap="square" rtlCol="0">
            <a:spAutoFit/>
          </a:bodyPr>
          <a:lstStyle/>
          <a:p>
            <a:r>
              <a:rPr lang="en-US" sz="2400" b="1" dirty="0" smtClean="0">
                <a:solidFill>
                  <a:srgbClr val="121214"/>
                </a:solidFill>
              </a:rPr>
              <a:t>Example : Relations vs Aggregates : Summary</a:t>
            </a:r>
            <a:endParaRPr lang="en-IN" sz="2400" b="1" dirty="0"/>
          </a:p>
        </p:txBody>
      </p:sp>
    </p:spTree>
    <p:extLst>
      <p:ext uri="{BB962C8B-B14F-4D97-AF65-F5344CB8AC3E}">
        <p14:creationId xmlns:p14="http://schemas.microsoft.com/office/powerpoint/2010/main" val="3593289796"/>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563231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Pros: </a:t>
            </a:r>
          </a:p>
          <a:p>
            <a:pPr algn="just">
              <a:lnSpc>
                <a:spcPct val="150000"/>
              </a:lnSpc>
            </a:pPr>
            <a:r>
              <a:rPr lang="en-GB" sz="2000" b="1" dirty="0">
                <a:solidFill>
                  <a:srgbClr val="000000"/>
                </a:solidFill>
              </a:rPr>
              <a:t> </a:t>
            </a:r>
            <a:r>
              <a:rPr lang="en-GB" sz="2000" b="1" dirty="0" smtClean="0">
                <a:solidFill>
                  <a:srgbClr val="000000"/>
                </a:solidFill>
              </a:rPr>
              <a:t>            </a:t>
            </a:r>
            <a:r>
              <a:rPr lang="en-GB" sz="2000" dirty="0" smtClean="0">
                <a:solidFill>
                  <a:srgbClr val="000000"/>
                </a:solidFill>
              </a:rPr>
              <a:t>Localized updates </a:t>
            </a:r>
          </a:p>
          <a:p>
            <a:pPr algn="just">
              <a:lnSpc>
                <a:spcPct val="150000"/>
              </a:lnSpc>
            </a:pPr>
            <a:r>
              <a:rPr lang="en-GB" sz="2000" dirty="0" smtClean="0">
                <a:solidFill>
                  <a:srgbClr val="000000"/>
                </a:solidFill>
              </a:rPr>
              <a:t>             Simplified scaling</a:t>
            </a:r>
          </a:p>
          <a:p>
            <a:pPr algn="just">
              <a:lnSpc>
                <a:spcPct val="150000"/>
              </a:lnSpc>
            </a:pPr>
            <a:r>
              <a:rPr lang="en-GB" sz="2000" dirty="0">
                <a:solidFill>
                  <a:srgbClr val="000000"/>
                </a:solidFill>
              </a:rPr>
              <a:t> </a:t>
            </a:r>
            <a:r>
              <a:rPr lang="en-GB" sz="2000" dirty="0" smtClean="0">
                <a:solidFill>
                  <a:srgbClr val="000000"/>
                </a:solidFill>
              </a:rPr>
              <a:t>            Better performance in read/writes</a:t>
            </a:r>
            <a:r>
              <a:rPr lang="en-GB" sz="2000" b="1" dirty="0">
                <a:solidFill>
                  <a:srgbClr val="000000"/>
                </a:solidFill>
              </a:rPr>
              <a:t>	</a:t>
            </a:r>
            <a:endParaRPr lang="en-GB" sz="2000" b="1" dirty="0" smtClean="0">
              <a:solidFill>
                <a:srgbClr val="000000"/>
              </a:solidFill>
            </a:endParaRPr>
          </a:p>
          <a:p>
            <a:pPr marL="342900" indent="-342900" algn="just">
              <a:lnSpc>
                <a:spcPct val="150000"/>
              </a:lnSpc>
              <a:buFont typeface="Arial" panose="020B0604020202020204" pitchFamily="34" charset="0"/>
              <a:buChar char="•"/>
            </a:pPr>
            <a:r>
              <a:rPr lang="en-GB" sz="2000" b="1" dirty="0" smtClean="0">
                <a:solidFill>
                  <a:srgbClr val="000000"/>
                </a:solidFill>
              </a:rPr>
              <a:t>Cons:</a:t>
            </a:r>
          </a:p>
          <a:p>
            <a:pPr algn="just">
              <a:lnSpc>
                <a:spcPct val="150000"/>
              </a:lnSpc>
            </a:pPr>
            <a:r>
              <a:rPr lang="en-GB" sz="2000" dirty="0">
                <a:solidFill>
                  <a:srgbClr val="000000"/>
                </a:solidFill>
              </a:rPr>
              <a:t> </a:t>
            </a:r>
            <a:r>
              <a:rPr lang="en-GB" sz="2000" dirty="0" smtClean="0">
                <a:solidFill>
                  <a:srgbClr val="000000"/>
                </a:solidFill>
              </a:rPr>
              <a:t>             Data duplication</a:t>
            </a:r>
          </a:p>
          <a:p>
            <a:pPr algn="just">
              <a:lnSpc>
                <a:spcPct val="150000"/>
              </a:lnSpc>
            </a:pPr>
            <a:r>
              <a:rPr lang="en-GB" sz="2000" dirty="0">
                <a:solidFill>
                  <a:srgbClr val="000000"/>
                </a:solidFill>
              </a:rPr>
              <a:t> </a:t>
            </a:r>
            <a:r>
              <a:rPr lang="en-GB" sz="2000" dirty="0" smtClean="0">
                <a:solidFill>
                  <a:srgbClr val="000000"/>
                </a:solidFill>
              </a:rPr>
              <a:t>             Harder analytics &amp; Joins</a:t>
            </a: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79</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Consequences of Aggregate Orientation</a:t>
            </a:r>
            <a:endParaRPr lang="en-IN" sz="2400" b="1" dirty="0"/>
          </a:p>
        </p:txBody>
      </p:sp>
    </p:spTree>
    <p:extLst>
      <p:ext uri="{BB962C8B-B14F-4D97-AF65-F5344CB8AC3E}">
        <p14:creationId xmlns:p14="http://schemas.microsoft.com/office/powerpoint/2010/main" val="3714527940"/>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8032968"/>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Pros: </a:t>
            </a:r>
          </a:p>
          <a:p>
            <a:pPr algn="just">
              <a:lnSpc>
                <a:spcPct val="150000"/>
              </a:lnSpc>
            </a:pPr>
            <a:r>
              <a:rPr lang="en-GB" sz="2000" b="1" dirty="0">
                <a:solidFill>
                  <a:srgbClr val="000000"/>
                </a:solidFill>
              </a:rPr>
              <a:t> </a:t>
            </a:r>
            <a:r>
              <a:rPr lang="en-GB" sz="2000" b="1" dirty="0" smtClean="0">
                <a:solidFill>
                  <a:srgbClr val="000000"/>
                </a:solidFill>
              </a:rPr>
              <a:t>            </a:t>
            </a:r>
            <a:r>
              <a:rPr lang="en-GB" sz="2000" dirty="0" smtClean="0">
                <a:solidFill>
                  <a:srgbClr val="000000"/>
                </a:solidFill>
              </a:rPr>
              <a:t>Localized updates : </a:t>
            </a:r>
          </a:p>
          <a:p>
            <a:pPr marL="457200" indent="-457200" algn="just">
              <a:lnSpc>
                <a:spcPct val="150000"/>
              </a:lnSpc>
              <a:buAutoNum type="arabicPeriod"/>
            </a:pPr>
            <a:r>
              <a:rPr lang="en-GB" sz="2000" dirty="0" smtClean="0">
                <a:solidFill>
                  <a:srgbClr val="000000"/>
                </a:solidFill>
              </a:rPr>
              <a:t>Each aggregate is stored as a single unit (JSON document in MongoDB)</a:t>
            </a:r>
          </a:p>
          <a:p>
            <a:pPr marL="457200" indent="-457200" algn="just">
              <a:lnSpc>
                <a:spcPct val="150000"/>
              </a:lnSpc>
              <a:buAutoNum type="arabicPeriod"/>
            </a:pPr>
            <a:r>
              <a:rPr lang="en-GB" sz="2000" dirty="0" smtClean="0">
                <a:solidFill>
                  <a:srgbClr val="000000"/>
                </a:solidFill>
              </a:rPr>
              <a:t>Updating one customer’s order does not affect other documents.</a:t>
            </a:r>
          </a:p>
          <a:p>
            <a:pPr marL="457200" indent="-457200" algn="just">
              <a:lnSpc>
                <a:spcPct val="150000"/>
              </a:lnSpc>
              <a:buAutoNum type="arabicPeriod"/>
            </a:pPr>
            <a:r>
              <a:rPr lang="en-GB" sz="2000" dirty="0" smtClean="0">
                <a:solidFill>
                  <a:srgbClr val="000000"/>
                </a:solidFill>
              </a:rPr>
              <a:t>No need for complex joins or transactions across multiple tasks.</a:t>
            </a:r>
          </a:p>
          <a:p>
            <a:pPr algn="just">
              <a:lnSpc>
                <a:spcPct val="150000"/>
              </a:lnSpc>
            </a:pPr>
            <a:r>
              <a:rPr lang="en-GB" sz="1600" dirty="0">
                <a:solidFill>
                  <a:srgbClr val="000000"/>
                </a:solidFill>
              </a:rPr>
              <a:t>{</a:t>
            </a:r>
          </a:p>
          <a:p>
            <a:pPr algn="just">
              <a:lnSpc>
                <a:spcPct val="150000"/>
              </a:lnSpc>
            </a:pPr>
            <a:r>
              <a:rPr lang="en-GB" sz="1600" dirty="0">
                <a:solidFill>
                  <a:srgbClr val="000000"/>
                </a:solidFill>
              </a:rPr>
              <a:t>  "</a:t>
            </a:r>
            <a:r>
              <a:rPr lang="en-GB" sz="1600" dirty="0" err="1">
                <a:solidFill>
                  <a:srgbClr val="000000"/>
                </a:solidFill>
              </a:rPr>
              <a:t>orderId</a:t>
            </a:r>
            <a:r>
              <a:rPr lang="en-GB" sz="1600" dirty="0">
                <a:solidFill>
                  <a:srgbClr val="000000"/>
                </a:solidFill>
              </a:rPr>
              <a:t>": 1001,</a:t>
            </a:r>
          </a:p>
          <a:p>
            <a:pPr algn="just">
              <a:lnSpc>
                <a:spcPct val="150000"/>
              </a:lnSpc>
            </a:pPr>
            <a:r>
              <a:rPr lang="en-GB" sz="1600" dirty="0">
                <a:solidFill>
                  <a:srgbClr val="000000"/>
                </a:solidFill>
              </a:rPr>
              <a:t>  "customer": "John Doe",</a:t>
            </a:r>
          </a:p>
          <a:p>
            <a:pPr algn="just">
              <a:lnSpc>
                <a:spcPct val="150000"/>
              </a:lnSpc>
            </a:pPr>
            <a:r>
              <a:rPr lang="en-GB" sz="1600" dirty="0">
                <a:solidFill>
                  <a:srgbClr val="000000"/>
                </a:solidFill>
              </a:rPr>
              <a:t>  "items": [</a:t>
            </a:r>
          </a:p>
          <a:p>
            <a:pPr algn="just">
              <a:lnSpc>
                <a:spcPct val="150000"/>
              </a:lnSpc>
            </a:pPr>
            <a:r>
              <a:rPr lang="en-GB" sz="1600" dirty="0">
                <a:solidFill>
                  <a:srgbClr val="000000"/>
                </a:solidFill>
              </a:rPr>
              <a:t>    { "product": "Laptop", "</a:t>
            </a:r>
            <a:r>
              <a:rPr lang="en-GB" sz="1600" dirty="0" err="1">
                <a:solidFill>
                  <a:srgbClr val="000000"/>
                </a:solidFill>
              </a:rPr>
              <a:t>qty</a:t>
            </a:r>
            <a:r>
              <a:rPr lang="en-GB" sz="1600" dirty="0">
                <a:solidFill>
                  <a:srgbClr val="000000"/>
                </a:solidFill>
              </a:rPr>
              <a:t>": 1, "price": 800 },</a:t>
            </a:r>
          </a:p>
          <a:p>
            <a:pPr algn="just">
              <a:lnSpc>
                <a:spcPct val="150000"/>
              </a:lnSpc>
            </a:pPr>
            <a:r>
              <a:rPr lang="en-GB" sz="1600" dirty="0">
                <a:solidFill>
                  <a:srgbClr val="000000"/>
                </a:solidFill>
              </a:rPr>
              <a:t>    { "product": "Mouse", "</a:t>
            </a:r>
            <a:r>
              <a:rPr lang="en-GB" sz="1600" dirty="0" err="1">
                <a:solidFill>
                  <a:srgbClr val="000000"/>
                </a:solidFill>
              </a:rPr>
              <a:t>qty</a:t>
            </a:r>
            <a:r>
              <a:rPr lang="en-GB" sz="1600" dirty="0">
                <a:solidFill>
                  <a:srgbClr val="000000"/>
                </a:solidFill>
              </a:rPr>
              <a:t>": 2, "price": 20 </a:t>
            </a:r>
            <a:r>
              <a:rPr lang="en-GB" sz="1600" dirty="0" smtClean="0">
                <a:solidFill>
                  <a:srgbClr val="000000"/>
                </a:solidFill>
              </a:rPr>
              <a:t>}                                Updating order status=just update </a:t>
            </a:r>
            <a:endParaRPr lang="en-GB" sz="1600" dirty="0">
              <a:solidFill>
                <a:srgbClr val="000000"/>
              </a:solidFill>
            </a:endParaRPr>
          </a:p>
          <a:p>
            <a:pPr algn="just">
              <a:lnSpc>
                <a:spcPct val="150000"/>
              </a:lnSpc>
            </a:pPr>
            <a:r>
              <a:rPr lang="en-GB" sz="1600" dirty="0">
                <a:solidFill>
                  <a:srgbClr val="000000"/>
                </a:solidFill>
              </a:rPr>
              <a:t>  </a:t>
            </a:r>
            <a:r>
              <a:rPr lang="en-GB" sz="1600" dirty="0" smtClean="0">
                <a:solidFill>
                  <a:srgbClr val="000000"/>
                </a:solidFill>
              </a:rPr>
              <a:t>],                                                                                                                   one document</a:t>
            </a:r>
            <a:endParaRPr lang="en-GB" sz="1600" dirty="0">
              <a:solidFill>
                <a:srgbClr val="000000"/>
              </a:solidFill>
            </a:endParaRPr>
          </a:p>
          <a:p>
            <a:pPr algn="just">
              <a:lnSpc>
                <a:spcPct val="150000"/>
              </a:lnSpc>
            </a:pPr>
            <a:r>
              <a:rPr lang="en-GB" sz="1600" dirty="0">
                <a:solidFill>
                  <a:srgbClr val="000000"/>
                </a:solidFill>
              </a:rPr>
              <a:t>  "status": "Shipped"</a:t>
            </a:r>
          </a:p>
          <a:p>
            <a:pPr algn="just">
              <a:lnSpc>
                <a:spcPct val="150000"/>
              </a:lnSpc>
            </a:pPr>
            <a:r>
              <a:rPr lang="en-GB" sz="1600" dirty="0">
                <a:solidFill>
                  <a:srgbClr val="000000"/>
                </a:solidFill>
              </a:rPr>
              <a:t>}</a:t>
            </a:r>
          </a:p>
          <a:p>
            <a:pPr algn="just">
              <a:lnSpc>
                <a:spcPct val="150000"/>
              </a:lnSpc>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80</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Consequences of Aggregate Orientation</a:t>
            </a:r>
            <a:endParaRPr lang="en-IN" sz="2400" b="1" dirty="0"/>
          </a:p>
        </p:txBody>
      </p:sp>
    </p:spTree>
    <p:extLst>
      <p:ext uri="{BB962C8B-B14F-4D97-AF65-F5344CB8AC3E}">
        <p14:creationId xmlns:p14="http://schemas.microsoft.com/office/powerpoint/2010/main" val="2834029546"/>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7017306"/>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Pros: </a:t>
            </a:r>
          </a:p>
          <a:p>
            <a:pPr algn="just">
              <a:lnSpc>
                <a:spcPct val="150000"/>
              </a:lnSpc>
            </a:pPr>
            <a:r>
              <a:rPr lang="en-GB" sz="2000" b="1" dirty="0">
                <a:solidFill>
                  <a:srgbClr val="000000"/>
                </a:solidFill>
              </a:rPr>
              <a:t> </a:t>
            </a:r>
            <a:r>
              <a:rPr lang="en-GB" sz="2000" b="1" dirty="0" smtClean="0">
                <a:solidFill>
                  <a:srgbClr val="000000"/>
                </a:solidFill>
              </a:rPr>
              <a:t>            </a:t>
            </a:r>
            <a:r>
              <a:rPr lang="en-GB" sz="2000" dirty="0" smtClean="0">
                <a:solidFill>
                  <a:srgbClr val="000000"/>
                </a:solidFill>
              </a:rPr>
              <a:t>Localized updates </a:t>
            </a:r>
          </a:p>
          <a:p>
            <a:pPr algn="just">
              <a:lnSpc>
                <a:spcPct val="150000"/>
              </a:lnSpc>
            </a:pPr>
            <a:r>
              <a:rPr lang="en-GB" sz="2000" dirty="0" smtClean="0">
                <a:solidFill>
                  <a:srgbClr val="000000"/>
                </a:solidFill>
              </a:rPr>
              <a:t>             Simplified scaling :</a:t>
            </a:r>
          </a:p>
          <a:p>
            <a:pPr marL="457200" indent="-457200" algn="just">
              <a:lnSpc>
                <a:spcPct val="150000"/>
              </a:lnSpc>
              <a:buAutoNum type="arabicPeriod"/>
            </a:pPr>
            <a:r>
              <a:rPr lang="en-US" sz="2000" dirty="0" smtClean="0"/>
              <a:t>Aggregates </a:t>
            </a:r>
            <a:r>
              <a:rPr lang="en-US" sz="2000" dirty="0"/>
              <a:t>can be </a:t>
            </a:r>
            <a:r>
              <a:rPr lang="en-US" sz="2000" b="1" dirty="0" err="1"/>
              <a:t>sharded</a:t>
            </a:r>
            <a:r>
              <a:rPr lang="en-US" sz="2000" dirty="0"/>
              <a:t> across different servers</a:t>
            </a:r>
            <a:r>
              <a:rPr lang="en-US" sz="2000" dirty="0" smtClean="0"/>
              <a:t>.</a:t>
            </a:r>
          </a:p>
          <a:p>
            <a:pPr marL="457200" indent="-457200" algn="just">
              <a:lnSpc>
                <a:spcPct val="150000"/>
              </a:lnSpc>
              <a:buAutoNum type="arabicPeriod"/>
            </a:pPr>
            <a:r>
              <a:rPr lang="en-US" sz="2000" dirty="0"/>
              <a:t>Each aggregate is independent → easy distribution across nodes</a:t>
            </a:r>
            <a:r>
              <a:rPr lang="en-US" sz="2000" dirty="0" smtClean="0"/>
              <a:t>.</a:t>
            </a:r>
          </a:p>
          <a:p>
            <a:pPr marL="457200" indent="-457200" algn="just">
              <a:lnSpc>
                <a:spcPct val="150000"/>
              </a:lnSpc>
              <a:buAutoNum type="arabicPeriod"/>
            </a:pPr>
            <a:r>
              <a:rPr lang="en-IN" sz="2000" dirty="0"/>
              <a:t>Improves </a:t>
            </a:r>
            <a:r>
              <a:rPr lang="en-IN" sz="2000" b="1" dirty="0"/>
              <a:t>horizontal scaling</a:t>
            </a:r>
            <a:r>
              <a:rPr lang="en-IN" sz="2000" dirty="0"/>
              <a:t>.</a:t>
            </a:r>
            <a:endParaRPr lang="en-GB" sz="2000" dirty="0" smtClean="0">
              <a:solidFill>
                <a:srgbClr val="000000"/>
              </a:solidFill>
            </a:endParaRPr>
          </a:p>
          <a:p>
            <a:pPr algn="just">
              <a:lnSpc>
                <a:spcPct val="150000"/>
              </a:lnSpc>
            </a:pPr>
            <a:r>
              <a:rPr lang="en-GB" sz="2000" dirty="0">
                <a:solidFill>
                  <a:srgbClr val="000000"/>
                </a:solidFill>
              </a:rPr>
              <a:t> </a:t>
            </a:r>
            <a:r>
              <a:rPr lang="en-GB" sz="2000" dirty="0" smtClean="0">
                <a:solidFill>
                  <a:srgbClr val="000000"/>
                </a:solidFill>
              </a:rPr>
              <a:t>            Better performance in read/writes</a:t>
            </a:r>
            <a:r>
              <a:rPr lang="en-GB" sz="2000" b="1" dirty="0">
                <a:solidFill>
                  <a:srgbClr val="000000"/>
                </a:solidFill>
              </a:rPr>
              <a:t>	</a:t>
            </a:r>
            <a:endParaRPr lang="en-GB" sz="2000" b="1" dirty="0" smtClean="0">
              <a:solidFill>
                <a:srgbClr val="000000"/>
              </a:solidFill>
            </a:endParaRPr>
          </a:p>
          <a:p>
            <a:pPr marL="457200" indent="-457200" algn="just">
              <a:lnSpc>
                <a:spcPct val="150000"/>
              </a:lnSpc>
              <a:buAutoNum type="arabicPeriod"/>
            </a:pPr>
            <a:r>
              <a:rPr lang="en-US" sz="2000" dirty="0" smtClean="0"/>
              <a:t>Reads</a:t>
            </a:r>
            <a:r>
              <a:rPr lang="en-US" sz="2000" dirty="0"/>
              <a:t>: Most queries can fetch a </a:t>
            </a:r>
            <a:r>
              <a:rPr lang="en-US" sz="2000" b="1" dirty="0"/>
              <a:t>whole document in one lookup</a:t>
            </a:r>
            <a:r>
              <a:rPr lang="en-US" sz="2000" dirty="0" smtClean="0"/>
              <a:t>.</a:t>
            </a:r>
          </a:p>
          <a:p>
            <a:pPr marL="457200" indent="-457200" algn="just">
              <a:lnSpc>
                <a:spcPct val="150000"/>
              </a:lnSpc>
              <a:buAutoNum type="arabicPeriod"/>
            </a:pPr>
            <a:r>
              <a:rPr lang="en-US" sz="2000" dirty="0"/>
              <a:t>Writes: Adding a new order/customer/product means </a:t>
            </a:r>
            <a:r>
              <a:rPr lang="en-US" sz="2000" b="1" dirty="0"/>
              <a:t>one insert operation</a:t>
            </a:r>
            <a:r>
              <a:rPr lang="en-US" sz="2000" dirty="0"/>
              <a:t>, not multiple inserts across multiple tables.</a:t>
            </a:r>
            <a:endParaRPr lang="en-GB" sz="2000" b="1"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81</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Consequences of Aggregate Orientation</a:t>
            </a:r>
            <a:endParaRPr lang="en-IN" sz="2400" b="1" dirty="0"/>
          </a:p>
        </p:txBody>
      </p:sp>
    </p:spTree>
    <p:extLst>
      <p:ext uri="{BB962C8B-B14F-4D97-AF65-F5344CB8AC3E}">
        <p14:creationId xmlns:p14="http://schemas.microsoft.com/office/powerpoint/2010/main" val="1126919384"/>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7017306"/>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Cons:</a:t>
            </a:r>
          </a:p>
          <a:p>
            <a:pPr algn="just">
              <a:lnSpc>
                <a:spcPct val="150000"/>
              </a:lnSpc>
            </a:pPr>
            <a:r>
              <a:rPr lang="en-GB" sz="2000" dirty="0">
                <a:solidFill>
                  <a:srgbClr val="000000"/>
                </a:solidFill>
              </a:rPr>
              <a:t> </a:t>
            </a:r>
            <a:r>
              <a:rPr lang="en-GB" sz="2000" dirty="0" smtClean="0">
                <a:solidFill>
                  <a:srgbClr val="000000"/>
                </a:solidFill>
              </a:rPr>
              <a:t>             Data duplication</a:t>
            </a:r>
          </a:p>
          <a:p>
            <a:pPr marL="457200" indent="-457200" algn="just">
              <a:lnSpc>
                <a:spcPct val="150000"/>
              </a:lnSpc>
              <a:buAutoNum type="arabicPeriod"/>
            </a:pPr>
            <a:r>
              <a:rPr lang="en-US" sz="2000" dirty="0" smtClean="0"/>
              <a:t>Since </a:t>
            </a:r>
            <a:r>
              <a:rPr lang="en-US" sz="2000" dirty="0"/>
              <a:t>data is stored inside aggregates, </a:t>
            </a:r>
            <a:r>
              <a:rPr lang="en-US" sz="2000" b="1" dirty="0"/>
              <a:t>shared info may repeat</a:t>
            </a:r>
            <a:r>
              <a:rPr lang="en-US" sz="2000" dirty="0" smtClean="0"/>
              <a:t>.</a:t>
            </a:r>
          </a:p>
          <a:p>
            <a:pPr marL="457200" indent="-457200" algn="just">
              <a:lnSpc>
                <a:spcPct val="150000"/>
              </a:lnSpc>
              <a:buAutoNum type="arabicPeriod"/>
            </a:pPr>
            <a:r>
              <a:rPr lang="en-US" sz="2000" dirty="0"/>
              <a:t>Example: Customer address stored in </a:t>
            </a:r>
            <a:r>
              <a:rPr lang="en-US" sz="2000" b="1" dirty="0"/>
              <a:t>every order document</a:t>
            </a:r>
            <a:r>
              <a:rPr lang="en-US" sz="2000" dirty="0"/>
              <a:t> → updates require changing multiple documents.</a:t>
            </a:r>
            <a:endParaRPr lang="en-GB" sz="2000" dirty="0" smtClean="0">
              <a:solidFill>
                <a:srgbClr val="000000"/>
              </a:solidFill>
            </a:endParaRPr>
          </a:p>
          <a:p>
            <a:pPr algn="just">
              <a:lnSpc>
                <a:spcPct val="150000"/>
              </a:lnSpc>
            </a:pPr>
            <a:r>
              <a:rPr lang="en-GB" sz="2000" dirty="0">
                <a:solidFill>
                  <a:srgbClr val="000000"/>
                </a:solidFill>
              </a:rPr>
              <a:t> </a:t>
            </a:r>
            <a:r>
              <a:rPr lang="en-GB" sz="2000" dirty="0" smtClean="0">
                <a:solidFill>
                  <a:srgbClr val="000000"/>
                </a:solidFill>
              </a:rPr>
              <a:t>             Harder analytics &amp; Joins</a:t>
            </a:r>
          </a:p>
          <a:p>
            <a:pPr marL="457200" indent="-457200" algn="just">
              <a:lnSpc>
                <a:spcPct val="150000"/>
              </a:lnSpc>
              <a:buAutoNum type="arabicPeriod"/>
            </a:pPr>
            <a:r>
              <a:rPr lang="en-US" sz="2000" dirty="0" smtClean="0"/>
              <a:t>Aggregates </a:t>
            </a:r>
            <a:r>
              <a:rPr lang="en-US" sz="2000" dirty="0"/>
              <a:t>don’t support </a:t>
            </a:r>
            <a:r>
              <a:rPr lang="en-US" sz="2000" b="1" dirty="0"/>
              <a:t>joins easily</a:t>
            </a:r>
            <a:r>
              <a:rPr lang="en-US" sz="2000" dirty="0"/>
              <a:t> (unlike relational DBs</a:t>
            </a:r>
            <a:r>
              <a:rPr lang="en-US" sz="2000" dirty="0" smtClean="0"/>
              <a:t>).</a:t>
            </a:r>
          </a:p>
          <a:p>
            <a:r>
              <a:rPr lang="en-US" sz="2000" dirty="0" smtClean="0"/>
              <a:t>2.    Cross-aggregate </a:t>
            </a:r>
            <a:r>
              <a:rPr lang="en-US" sz="2000" dirty="0"/>
              <a:t>queries (e.g., “Total sales by city”) require either:</a:t>
            </a:r>
          </a:p>
          <a:p>
            <a:r>
              <a:rPr lang="en-US" sz="2000" dirty="0" smtClean="0"/>
              <a:t>        Application-side </a:t>
            </a:r>
            <a:r>
              <a:rPr lang="en-US" sz="2000" dirty="0"/>
              <a:t>joins, or</a:t>
            </a:r>
          </a:p>
          <a:p>
            <a:r>
              <a:rPr lang="en-US" sz="2000" dirty="0" smtClean="0"/>
              <a:t>        Special </a:t>
            </a:r>
            <a:r>
              <a:rPr lang="en-US" sz="2000" dirty="0"/>
              <a:t>indexing/aggregation pipelines.</a:t>
            </a:r>
          </a:p>
          <a:p>
            <a:pPr marL="457200" indent="-457200" algn="just">
              <a:lnSpc>
                <a:spcPct val="150000"/>
              </a:lnSpc>
              <a:buAutoNum type="arabicPeriod"/>
            </a:pPr>
            <a:endParaRPr lang="en-GB" sz="2000" dirty="0" smtClean="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82</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Consequences of Aggregate Orientation</a:t>
            </a:r>
            <a:endParaRPr lang="en-IN" sz="2400" b="1" dirty="0"/>
          </a:p>
        </p:txBody>
      </p:sp>
    </p:spTree>
    <p:extLst>
      <p:ext uri="{BB962C8B-B14F-4D97-AF65-F5344CB8AC3E}">
        <p14:creationId xmlns:p14="http://schemas.microsoft.com/office/powerpoint/2010/main" val="2576110873"/>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5632311"/>
          </a:xfrm>
          <a:prstGeom prst="rect">
            <a:avLst/>
          </a:prstGeom>
        </p:spPr>
        <p:txBody>
          <a:bodyPr wrap="square">
            <a:spAutoFit/>
          </a:bodyPr>
          <a:lstStyle/>
          <a:p>
            <a:pPr marL="342900" indent="-342900" algn="just">
              <a:lnSpc>
                <a:spcPct val="150000"/>
              </a:lnSpc>
              <a:buFont typeface="Arial" panose="020B0604020202020204" pitchFamily="34" charset="0"/>
              <a:buChar char="•"/>
            </a:pPr>
            <a:r>
              <a:rPr lang="en-GB" sz="2000" b="1" dirty="0" smtClean="0">
                <a:solidFill>
                  <a:srgbClr val="000000"/>
                </a:solidFill>
              </a:rPr>
              <a:t>Key-value Stores: </a:t>
            </a:r>
          </a:p>
          <a:p>
            <a:pPr algn="just">
              <a:lnSpc>
                <a:spcPct val="150000"/>
              </a:lnSpc>
            </a:pPr>
            <a:r>
              <a:rPr lang="en-GB" sz="2000" b="1" dirty="0">
                <a:solidFill>
                  <a:srgbClr val="000000"/>
                </a:solidFill>
              </a:rPr>
              <a:t> </a:t>
            </a:r>
            <a:r>
              <a:rPr lang="en-GB" sz="2000" b="1" dirty="0" smtClean="0">
                <a:solidFill>
                  <a:srgbClr val="000000"/>
                </a:solidFill>
              </a:rPr>
              <a:t>            </a:t>
            </a:r>
            <a:r>
              <a:rPr lang="en-GB" sz="2000" dirty="0" smtClean="0">
                <a:solidFill>
                  <a:srgbClr val="000000"/>
                </a:solidFill>
              </a:rPr>
              <a:t>Simple, fast lookups (</a:t>
            </a:r>
            <a:r>
              <a:rPr lang="en-GB" sz="2000" dirty="0" err="1" smtClean="0">
                <a:solidFill>
                  <a:srgbClr val="000000"/>
                </a:solidFill>
              </a:rPr>
              <a:t>Redis</a:t>
            </a:r>
            <a:r>
              <a:rPr lang="en-GB" sz="2000" dirty="0" smtClean="0">
                <a:solidFill>
                  <a:srgbClr val="000000"/>
                </a:solidFill>
              </a:rPr>
              <a:t>, </a:t>
            </a:r>
            <a:r>
              <a:rPr lang="en-GB" sz="2000" dirty="0" err="1" smtClean="0">
                <a:solidFill>
                  <a:srgbClr val="000000"/>
                </a:solidFill>
              </a:rPr>
              <a:t>DynamoDB</a:t>
            </a:r>
            <a:r>
              <a:rPr lang="en-GB" sz="2000" dirty="0" smtClean="0">
                <a:solidFill>
                  <a:srgbClr val="000000"/>
                </a:solidFill>
              </a:rPr>
              <a:t>)</a:t>
            </a:r>
            <a:endParaRPr lang="en-GB" sz="2000" b="1" dirty="0" smtClean="0">
              <a:solidFill>
                <a:srgbClr val="000000"/>
              </a:solidFill>
            </a:endParaRPr>
          </a:p>
          <a:p>
            <a:pPr marL="342900" indent="-342900" algn="just">
              <a:lnSpc>
                <a:spcPct val="150000"/>
              </a:lnSpc>
              <a:buFont typeface="Arial" panose="020B0604020202020204" pitchFamily="34" charset="0"/>
              <a:buChar char="•"/>
            </a:pPr>
            <a:r>
              <a:rPr lang="en-GB" sz="2000" b="1" dirty="0" smtClean="0">
                <a:solidFill>
                  <a:srgbClr val="000000"/>
                </a:solidFill>
              </a:rPr>
              <a:t>Document Stores:</a:t>
            </a:r>
          </a:p>
          <a:p>
            <a:pPr algn="just">
              <a:lnSpc>
                <a:spcPct val="150000"/>
              </a:lnSpc>
            </a:pPr>
            <a:r>
              <a:rPr lang="en-GB" sz="2000" dirty="0">
                <a:solidFill>
                  <a:srgbClr val="000000"/>
                </a:solidFill>
              </a:rPr>
              <a:t> </a:t>
            </a:r>
            <a:r>
              <a:rPr lang="en-GB" sz="2000" dirty="0" smtClean="0">
                <a:solidFill>
                  <a:srgbClr val="000000"/>
                </a:solidFill>
              </a:rPr>
              <a:t>             Semi-structured JSON/ XML (MongoDB, </a:t>
            </a:r>
            <a:r>
              <a:rPr lang="en-GB" sz="2000" dirty="0" err="1" smtClean="0">
                <a:solidFill>
                  <a:srgbClr val="000000"/>
                </a:solidFill>
              </a:rPr>
              <a:t>Couchbase</a:t>
            </a:r>
            <a:r>
              <a:rPr lang="en-GB" sz="2000" dirty="0" smtClean="0">
                <a:solidFill>
                  <a:srgbClr val="000000"/>
                </a:solidFill>
              </a:rPr>
              <a:t>)</a:t>
            </a:r>
          </a:p>
          <a:p>
            <a:pPr marL="342900" indent="-342900" algn="just">
              <a:lnSpc>
                <a:spcPct val="150000"/>
              </a:lnSpc>
              <a:buFont typeface="Arial" panose="020B0604020202020204" pitchFamily="34" charset="0"/>
              <a:buChar char="•"/>
            </a:pPr>
            <a:r>
              <a:rPr lang="en-GB" sz="2000" b="1" dirty="0" smtClean="0">
                <a:solidFill>
                  <a:srgbClr val="000000"/>
                </a:solidFill>
              </a:rPr>
              <a:t>Column-Family </a:t>
            </a:r>
            <a:r>
              <a:rPr lang="en-GB" sz="2000" b="1" dirty="0">
                <a:solidFill>
                  <a:srgbClr val="000000"/>
                </a:solidFill>
              </a:rPr>
              <a:t>Stores:</a:t>
            </a:r>
          </a:p>
          <a:p>
            <a:pPr algn="just">
              <a:lnSpc>
                <a:spcPct val="150000"/>
              </a:lnSpc>
            </a:pPr>
            <a:r>
              <a:rPr lang="en-GB" sz="2000" dirty="0">
                <a:solidFill>
                  <a:srgbClr val="000000"/>
                </a:solidFill>
              </a:rPr>
              <a:t>              </a:t>
            </a:r>
            <a:r>
              <a:rPr lang="en-GB" sz="2000" dirty="0" smtClean="0">
                <a:solidFill>
                  <a:srgbClr val="000000"/>
                </a:solidFill>
              </a:rPr>
              <a:t>Wide-column layout (Cassandra, </a:t>
            </a:r>
            <a:r>
              <a:rPr lang="en-GB" sz="2000" dirty="0" err="1" smtClean="0">
                <a:solidFill>
                  <a:srgbClr val="000000"/>
                </a:solidFill>
              </a:rPr>
              <a:t>HBase</a:t>
            </a:r>
            <a:r>
              <a:rPr lang="en-GB" sz="2000" dirty="0" smtClean="0">
                <a:solidFill>
                  <a:srgbClr val="000000"/>
                </a:solidFill>
              </a:rPr>
              <a:t>)</a:t>
            </a:r>
            <a:endParaRPr lang="en-GB" sz="2000" dirty="0">
              <a:solidFill>
                <a:srgbClr val="000000"/>
              </a:solidFill>
            </a:endParaRPr>
          </a:p>
          <a:p>
            <a:pPr algn="just">
              <a:lnSpc>
                <a:spcPct val="150000"/>
              </a:lnSpc>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83</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Types of Aggregate – Oriented Databases</a:t>
            </a:r>
            <a:endParaRPr lang="en-IN" sz="2400" b="1" dirty="0"/>
          </a:p>
        </p:txBody>
      </p:sp>
    </p:spTree>
    <p:extLst>
      <p:ext uri="{BB962C8B-B14F-4D97-AF65-F5344CB8AC3E}">
        <p14:creationId xmlns:p14="http://schemas.microsoft.com/office/powerpoint/2010/main" val="3035202873"/>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862322"/>
          </a:xfrm>
          <a:prstGeom prst="rect">
            <a:avLst/>
          </a:prstGeom>
        </p:spPr>
        <p:txBody>
          <a:bodyPr wrap="square">
            <a:spAutoFit/>
          </a:bodyPr>
          <a:lstStyle/>
          <a:p>
            <a:pPr algn="just">
              <a:lnSpc>
                <a:spcPct val="150000"/>
              </a:lnSpc>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84</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IN" sz="2400" b="1" dirty="0"/>
              <a:t>Key-Value and Document Data Models</a:t>
            </a:r>
          </a:p>
        </p:txBody>
      </p:sp>
      <p:sp>
        <p:nvSpPr>
          <p:cNvPr id="6" name="TextBox 5"/>
          <p:cNvSpPr txBox="1"/>
          <p:nvPr/>
        </p:nvSpPr>
        <p:spPr>
          <a:xfrm>
            <a:off x="334969" y="1525003"/>
            <a:ext cx="8656631" cy="3693319"/>
          </a:xfrm>
          <a:prstGeom prst="rect">
            <a:avLst/>
          </a:prstGeom>
          <a:noFill/>
        </p:spPr>
        <p:txBody>
          <a:bodyPr wrap="square" rtlCol="0">
            <a:spAutoFit/>
          </a:bodyPr>
          <a:lstStyle/>
          <a:p>
            <a:pPr marL="285750" indent="-285750" algn="just">
              <a:buFont typeface="Arial" panose="020B0604020202020204" pitchFamily="34" charset="0"/>
              <a:buChar char="•"/>
            </a:pPr>
            <a:r>
              <a:rPr lang="en-US" dirty="0"/>
              <a:t>key-value and document databases were strongly </a:t>
            </a:r>
            <a:r>
              <a:rPr lang="en-US" dirty="0" smtClean="0"/>
              <a:t>aggregate oriented.</a:t>
            </a:r>
          </a:p>
          <a:p>
            <a:pPr marL="285750" indent="-285750" algn="just">
              <a:buFont typeface="Arial" panose="020B0604020202020204" pitchFamily="34" charset="0"/>
              <a:buChar char="•"/>
            </a:pPr>
            <a:r>
              <a:rPr lang="en-US" dirty="0" smtClean="0"/>
              <a:t>These </a:t>
            </a:r>
            <a:r>
              <a:rPr lang="en-US" dirty="0"/>
              <a:t>databases as primarily constructed through aggregates</a:t>
            </a:r>
            <a:r>
              <a:rPr lang="en-US" dirty="0" smtClean="0"/>
              <a:t>.</a:t>
            </a:r>
          </a:p>
          <a:p>
            <a:pPr marL="285750" indent="-285750" algn="just">
              <a:buFont typeface="Arial" panose="020B0604020202020204" pitchFamily="34" charset="0"/>
              <a:buChar char="•"/>
            </a:pPr>
            <a:r>
              <a:rPr lang="en-US" dirty="0"/>
              <a:t>Both of these types of databases consist of lots of aggregates with each aggregate having a key or ID that’s used to get at the data. </a:t>
            </a:r>
            <a:endParaRPr lang="en-US" dirty="0" smtClean="0"/>
          </a:p>
          <a:p>
            <a:pPr marL="285750" indent="-285750" algn="just">
              <a:buFont typeface="Arial" panose="020B0604020202020204" pitchFamily="34" charset="0"/>
              <a:buChar char="•"/>
            </a:pPr>
            <a:r>
              <a:rPr lang="en-US" dirty="0" smtClean="0"/>
              <a:t>The </a:t>
            </a:r>
            <a:r>
              <a:rPr lang="en-US" dirty="0"/>
              <a:t>aggregate is opaque to the </a:t>
            </a:r>
            <a:r>
              <a:rPr lang="en-US" dirty="0" smtClean="0"/>
              <a:t>database just some blob or bits.</a:t>
            </a:r>
          </a:p>
          <a:p>
            <a:pPr marL="285750" indent="-285750" algn="just">
              <a:buFont typeface="Arial" panose="020B0604020202020204" pitchFamily="34" charset="0"/>
              <a:buChar char="•"/>
            </a:pPr>
            <a:r>
              <a:rPr lang="en-IN" dirty="0"/>
              <a:t>A document database imposes </a:t>
            </a:r>
            <a:r>
              <a:rPr lang="en-IN" dirty="0" smtClean="0"/>
              <a:t>limits imposing allowable size, structures and types on aggregates.</a:t>
            </a:r>
          </a:p>
          <a:p>
            <a:pPr marL="285750" indent="-285750" algn="just">
              <a:buFont typeface="Arial" panose="020B0604020202020204" pitchFamily="34" charset="0"/>
              <a:buChar char="•"/>
            </a:pPr>
            <a:r>
              <a:rPr lang="en-US" dirty="0" smtClean="0"/>
              <a:t>Some stores aggregates as </a:t>
            </a:r>
            <a:r>
              <a:rPr lang="en-US" dirty="0"/>
              <a:t>JSON or XML structures.</a:t>
            </a:r>
            <a:endParaRPr lang="en-IN" dirty="0" smtClean="0"/>
          </a:p>
          <a:p>
            <a:pPr marL="285750" indent="-285750" algn="just">
              <a:buFont typeface="Arial" panose="020B0604020202020204" pitchFamily="34" charset="0"/>
              <a:buChar char="•"/>
            </a:pPr>
            <a:r>
              <a:rPr lang="en-US" dirty="0" smtClean="0"/>
              <a:t>With a </a:t>
            </a:r>
            <a:r>
              <a:rPr lang="en-US" dirty="0"/>
              <a:t>document database, we can submit queries to the database based on the fields in the aggregate, we can retrieve part of the aggregate rather than the whole thing, and database can create indexes based on the contents of the aggregate. </a:t>
            </a:r>
            <a:endParaRPr lang="en-IN" dirty="0" smtClean="0"/>
          </a:p>
          <a:p>
            <a:pPr marL="285750" indent="-285750" algn="just">
              <a:buFont typeface="Arial" panose="020B0604020202020204" pitchFamily="34" charset="0"/>
              <a:buChar char="•"/>
            </a:pPr>
            <a:r>
              <a:rPr lang="en-US" dirty="0"/>
              <a:t>With a key-value store, we can only access an aggregate by lookup based on its key</a:t>
            </a:r>
            <a:r>
              <a:rPr lang="en-US" dirty="0" smtClean="0"/>
              <a:t>.</a:t>
            </a:r>
          </a:p>
          <a:p>
            <a:pPr marL="285750" indent="-285750" algn="just">
              <a:buFont typeface="Arial" panose="020B0604020202020204" pitchFamily="34" charset="0"/>
              <a:buChar char="•"/>
            </a:pPr>
            <a:r>
              <a:rPr lang="en-US" dirty="0" err="1"/>
              <a:t>Redis</a:t>
            </a:r>
            <a:r>
              <a:rPr lang="en-US" dirty="0"/>
              <a:t> allows you to break down the aggregate into lists or sets.</a:t>
            </a:r>
            <a:endParaRPr lang="en-IN" dirty="0"/>
          </a:p>
        </p:txBody>
      </p:sp>
    </p:spTree>
    <p:extLst>
      <p:ext uri="{BB962C8B-B14F-4D97-AF65-F5344CB8AC3E}">
        <p14:creationId xmlns:p14="http://schemas.microsoft.com/office/powerpoint/2010/main" val="1549846134"/>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862322"/>
          </a:xfrm>
          <a:prstGeom prst="rect">
            <a:avLst/>
          </a:prstGeom>
        </p:spPr>
        <p:txBody>
          <a:bodyPr wrap="square">
            <a:spAutoFit/>
          </a:bodyPr>
          <a:lstStyle/>
          <a:p>
            <a:pPr algn="just">
              <a:lnSpc>
                <a:spcPct val="150000"/>
              </a:lnSpc>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85</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Column-Family Stores</a:t>
            </a:r>
            <a:endParaRPr lang="en-IN" sz="2400" b="1" dirty="0"/>
          </a:p>
        </p:txBody>
      </p:sp>
      <p:sp>
        <p:nvSpPr>
          <p:cNvPr id="6" name="Rectangle 5"/>
          <p:cNvSpPr/>
          <p:nvPr/>
        </p:nvSpPr>
        <p:spPr>
          <a:xfrm>
            <a:off x="439828" y="1432671"/>
            <a:ext cx="3370172" cy="4247317"/>
          </a:xfrm>
          <a:prstGeom prst="rect">
            <a:avLst/>
          </a:prstGeom>
        </p:spPr>
        <p:txBody>
          <a:bodyPr wrap="square">
            <a:spAutoFit/>
          </a:bodyPr>
          <a:lstStyle/>
          <a:p>
            <a:pPr marL="285750" indent="-285750">
              <a:buFont typeface="Arial" panose="020B0604020202020204" pitchFamily="34" charset="0"/>
              <a:buChar char="•"/>
            </a:pPr>
            <a:r>
              <a:rPr lang="en-US" dirty="0" smtClean="0"/>
              <a:t>A </a:t>
            </a:r>
            <a:r>
              <a:rPr lang="en-US" dirty="0"/>
              <a:t>tabular structure which it realized with sparse columns and no schema</a:t>
            </a:r>
            <a:r>
              <a:rPr lang="en-US" dirty="0" smtClean="0"/>
              <a:t>.</a:t>
            </a:r>
          </a:p>
          <a:p>
            <a:pPr marL="285750" indent="-285750">
              <a:buFont typeface="Arial" panose="020B0604020202020204" pitchFamily="34" charset="0"/>
              <a:buChar char="•"/>
            </a:pPr>
            <a:r>
              <a:rPr lang="en-IN" dirty="0" err="1"/>
              <a:t>HBase</a:t>
            </a:r>
            <a:r>
              <a:rPr lang="en-IN" dirty="0"/>
              <a:t> and Cassandra</a:t>
            </a:r>
            <a:r>
              <a:rPr lang="en-IN" dirty="0" smtClean="0"/>
              <a:t>.</a:t>
            </a:r>
          </a:p>
          <a:p>
            <a:pPr marL="285750" indent="-285750">
              <a:buFont typeface="Arial" panose="020B0604020202020204" pitchFamily="34" charset="0"/>
              <a:buChar char="•"/>
            </a:pPr>
            <a:r>
              <a:rPr lang="en-US" dirty="0"/>
              <a:t>it is a two-level </a:t>
            </a:r>
            <a:r>
              <a:rPr lang="en-US" dirty="0" smtClean="0"/>
              <a:t>map.</a:t>
            </a:r>
          </a:p>
          <a:p>
            <a:pPr marL="285750" indent="-285750">
              <a:buFont typeface="Arial" panose="020B0604020202020204" pitchFamily="34" charset="0"/>
              <a:buChar char="•"/>
            </a:pPr>
            <a:r>
              <a:rPr lang="en-US" dirty="0" smtClean="0"/>
              <a:t>Hence it is as a </a:t>
            </a:r>
            <a:r>
              <a:rPr lang="en-IN" dirty="0"/>
              <a:t>two level aggregate structure</a:t>
            </a:r>
            <a:r>
              <a:rPr lang="en-IN" dirty="0" smtClean="0"/>
              <a:t>.</a:t>
            </a:r>
          </a:p>
          <a:p>
            <a:pPr marL="285750" indent="-285750">
              <a:buFont typeface="Arial" panose="020B0604020202020204" pitchFamily="34" charset="0"/>
              <a:buChar char="•"/>
            </a:pPr>
            <a:r>
              <a:rPr lang="en-US" dirty="0" smtClean="0"/>
              <a:t>The </a:t>
            </a:r>
            <a:r>
              <a:rPr lang="en-US" dirty="0"/>
              <a:t>first </a:t>
            </a:r>
            <a:r>
              <a:rPr lang="en-US" dirty="0" smtClean="0"/>
              <a:t>level key as </a:t>
            </a:r>
            <a:r>
              <a:rPr lang="en-US" dirty="0"/>
              <a:t>a row </a:t>
            </a:r>
            <a:r>
              <a:rPr lang="en-US" dirty="0" smtClean="0"/>
              <a:t>identifier.</a:t>
            </a:r>
          </a:p>
          <a:p>
            <a:pPr marL="285750" indent="-285750">
              <a:buFont typeface="Arial" panose="020B0604020202020204" pitchFamily="34" charset="0"/>
              <a:buChar char="•"/>
            </a:pPr>
            <a:r>
              <a:rPr lang="en-US" dirty="0" smtClean="0"/>
              <a:t>This </a:t>
            </a:r>
            <a:r>
              <a:rPr lang="en-US" dirty="0"/>
              <a:t>row aggregate is itself formed of a map of more detailed values</a:t>
            </a:r>
            <a:r>
              <a:rPr lang="en-US" dirty="0" smtClean="0"/>
              <a:t>.</a:t>
            </a:r>
          </a:p>
          <a:p>
            <a:pPr marL="285750" indent="-285750">
              <a:buFont typeface="Arial" panose="020B0604020202020204" pitchFamily="34" charset="0"/>
              <a:buChar char="•"/>
            </a:pPr>
            <a:r>
              <a:rPr lang="en-US" dirty="0" smtClean="0"/>
              <a:t>The </a:t>
            </a:r>
            <a:r>
              <a:rPr lang="en-US" dirty="0"/>
              <a:t>second-level values are referred to as </a:t>
            </a:r>
            <a:r>
              <a:rPr lang="en-US" dirty="0" smtClean="0"/>
              <a:t>columns.</a:t>
            </a:r>
          </a:p>
          <a:p>
            <a:pPr marL="285750" indent="-285750">
              <a:buFont typeface="Arial" panose="020B0604020202020204" pitchFamily="34" charset="0"/>
              <a:buChar char="•"/>
            </a:pPr>
            <a:endParaRPr lang="en-IN"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33200" y="1190262"/>
            <a:ext cx="4753926" cy="4972744"/>
          </a:xfrm>
          <a:prstGeom prst="rect">
            <a:avLst/>
          </a:prstGeom>
        </p:spPr>
      </p:pic>
    </p:spTree>
    <p:extLst>
      <p:ext uri="{BB962C8B-B14F-4D97-AF65-F5344CB8AC3E}">
        <p14:creationId xmlns:p14="http://schemas.microsoft.com/office/powerpoint/2010/main" val="2084416832"/>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30958" y="1190262"/>
            <a:ext cx="8584442" cy="2862322"/>
          </a:xfrm>
          <a:prstGeom prst="rect">
            <a:avLst/>
          </a:prstGeom>
        </p:spPr>
        <p:txBody>
          <a:bodyPr wrap="square">
            <a:spAutoFit/>
          </a:bodyPr>
          <a:lstStyle/>
          <a:p>
            <a:pPr algn="just">
              <a:lnSpc>
                <a:spcPct val="150000"/>
              </a:lnSpc>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GB" sz="2000" dirty="0">
              <a:solidFill>
                <a:srgbClr val="000000"/>
              </a:solidFill>
            </a:endParaRPr>
          </a:p>
          <a:p>
            <a:pPr marL="342900" indent="-342900" algn="just">
              <a:lnSpc>
                <a:spcPct val="150000"/>
              </a:lnSpc>
              <a:buFont typeface="Arial" panose="020B0604020202020204" pitchFamily="34" charset="0"/>
              <a:buChar char="•"/>
            </a:pPr>
            <a:endParaRPr lang="en-US" sz="2000" dirty="0">
              <a:solidFill>
                <a:srgbClr val="000000"/>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86</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Column-Family Stores</a:t>
            </a:r>
            <a:endParaRPr lang="en-IN" sz="2400" b="1" dirty="0"/>
          </a:p>
        </p:txBody>
      </p:sp>
      <p:sp>
        <p:nvSpPr>
          <p:cNvPr id="6" name="Rectangle 5"/>
          <p:cNvSpPr/>
          <p:nvPr/>
        </p:nvSpPr>
        <p:spPr>
          <a:xfrm>
            <a:off x="439828" y="1432671"/>
            <a:ext cx="3370172" cy="5355312"/>
          </a:xfrm>
          <a:prstGeom prst="rect">
            <a:avLst/>
          </a:prstGeom>
        </p:spPr>
        <p:txBody>
          <a:bodyPr wrap="square">
            <a:spAutoFit/>
          </a:bodyPr>
          <a:lstStyle/>
          <a:p>
            <a:pPr marL="285750" indent="-285750">
              <a:buFont typeface="Arial" panose="020B0604020202020204" pitchFamily="34" charset="0"/>
              <a:buChar char="•"/>
            </a:pPr>
            <a:r>
              <a:rPr lang="en-US" dirty="0" err="1"/>
              <a:t>RowKey</a:t>
            </a:r>
            <a:r>
              <a:rPr lang="en-US" dirty="0"/>
              <a:t> → { </a:t>
            </a:r>
            <a:r>
              <a:rPr lang="en-US" dirty="0" err="1"/>
              <a:t>ColumnFamily</a:t>
            </a:r>
            <a:r>
              <a:rPr lang="en-US" dirty="0"/>
              <a:t>: { </a:t>
            </a:r>
            <a:r>
              <a:rPr lang="en-US" dirty="0" err="1"/>
              <a:t>ColumnName</a:t>
            </a:r>
            <a:r>
              <a:rPr lang="en-US" dirty="0"/>
              <a:t> : Value } </a:t>
            </a:r>
            <a:r>
              <a:rPr lang="en-US" dirty="0" smtClean="0"/>
              <a:t>}</a:t>
            </a:r>
          </a:p>
          <a:p>
            <a:pPr marL="285750" indent="-285750">
              <a:buFont typeface="Arial" panose="020B0604020202020204" pitchFamily="34" charset="0"/>
              <a:buChar char="•"/>
            </a:pPr>
            <a:endParaRPr lang="en-US" dirty="0"/>
          </a:p>
          <a:p>
            <a:r>
              <a:rPr lang="en-US" dirty="0" smtClean="0"/>
              <a:t>Example </a:t>
            </a:r>
            <a:br>
              <a:rPr lang="en-US" dirty="0" smtClean="0"/>
            </a:br>
            <a:r>
              <a:rPr lang="en-US" dirty="0" err="1" smtClean="0"/>
              <a:t>Rowkey</a:t>
            </a:r>
            <a:r>
              <a:rPr lang="en-US" dirty="0"/>
              <a:t> = </a:t>
            </a:r>
            <a:r>
              <a:rPr lang="en-US" dirty="0" smtClean="0"/>
              <a:t>user123</a:t>
            </a:r>
          </a:p>
          <a:p>
            <a:r>
              <a:rPr lang="en-US" dirty="0" err="1" smtClean="0"/>
              <a:t>Firstmap</a:t>
            </a:r>
            <a:r>
              <a:rPr lang="en-US" dirty="0" smtClean="0"/>
              <a:t> = </a:t>
            </a:r>
            <a:r>
              <a:rPr lang="en-US" dirty="0" err="1" smtClean="0"/>
              <a:t>Rowkey</a:t>
            </a:r>
            <a:r>
              <a:rPr lang="en-US" dirty="0" smtClean="0"/>
              <a:t> (user123)</a:t>
            </a:r>
          </a:p>
          <a:p>
            <a:r>
              <a:rPr lang="en-US" dirty="0" err="1" smtClean="0"/>
              <a:t>Secondmap</a:t>
            </a:r>
            <a:r>
              <a:rPr lang="en-US" dirty="0" smtClean="0"/>
              <a:t> = Column-families (profile, Order)</a:t>
            </a:r>
            <a:r>
              <a:rPr lang="en-US" dirty="0"/>
              <a:t/>
            </a:r>
            <a:br>
              <a:rPr lang="en-US" dirty="0"/>
            </a:br>
            <a:r>
              <a:rPr lang="en-US" dirty="0"/>
              <a:t>"user123": {</a:t>
            </a:r>
          </a:p>
          <a:p>
            <a:r>
              <a:rPr lang="en-US" dirty="0"/>
              <a:t>    "Profile": {</a:t>
            </a:r>
          </a:p>
          <a:p>
            <a:r>
              <a:rPr lang="en-US" dirty="0"/>
              <a:t>        "name": "Alice",</a:t>
            </a:r>
          </a:p>
          <a:p>
            <a:r>
              <a:rPr lang="en-US" dirty="0"/>
              <a:t>        "email": "alice@email.com"</a:t>
            </a:r>
          </a:p>
          <a:p>
            <a:r>
              <a:rPr lang="en-US" dirty="0"/>
              <a:t>    },</a:t>
            </a:r>
          </a:p>
          <a:p>
            <a:r>
              <a:rPr lang="en-US" dirty="0"/>
              <a:t>    "Orders": {</a:t>
            </a:r>
          </a:p>
          <a:p>
            <a:r>
              <a:rPr lang="en-US" dirty="0"/>
              <a:t>        "order1": "Laptop",</a:t>
            </a:r>
          </a:p>
          <a:p>
            <a:r>
              <a:rPr lang="en-US" dirty="0"/>
              <a:t>        "order2": "Mouse"</a:t>
            </a:r>
          </a:p>
          <a:p>
            <a:r>
              <a:rPr lang="en-US" dirty="0"/>
              <a:t>    }</a:t>
            </a:r>
          </a:p>
          <a:p>
            <a:r>
              <a:rPr lang="en-US" dirty="0"/>
              <a:t>}</a:t>
            </a:r>
          </a:p>
          <a:p>
            <a:pPr marL="285750" indent="-285750">
              <a:buFont typeface="Arial" panose="020B0604020202020204" pitchFamily="34" charset="0"/>
              <a:buChar char="•"/>
            </a:pPr>
            <a:endParaRPr lang="en-US" dirty="0"/>
          </a:p>
        </p:txBody>
      </p:sp>
      <p:sp>
        <p:nvSpPr>
          <p:cNvPr id="8" name="Rectangle 7"/>
          <p:cNvSpPr/>
          <p:nvPr/>
        </p:nvSpPr>
        <p:spPr>
          <a:xfrm>
            <a:off x="4490317" y="1966196"/>
            <a:ext cx="4572000" cy="2862322"/>
          </a:xfrm>
          <a:prstGeom prst="rect">
            <a:avLst/>
          </a:prstGeom>
        </p:spPr>
        <p:txBody>
          <a:bodyPr>
            <a:spAutoFit/>
          </a:bodyPr>
          <a:lstStyle/>
          <a:p>
            <a:pPr>
              <a:buFont typeface="Arial" panose="020B0604020202020204" pitchFamily="34" charset="0"/>
              <a:buChar char="•"/>
            </a:pPr>
            <a:r>
              <a:rPr lang="en-US" dirty="0"/>
              <a:t>Each </a:t>
            </a:r>
            <a:r>
              <a:rPr lang="en-US" b="1" dirty="0"/>
              <a:t>row (with its row key)</a:t>
            </a:r>
            <a:r>
              <a:rPr lang="en-US" dirty="0"/>
              <a:t> acts like an </a:t>
            </a:r>
            <a:r>
              <a:rPr lang="en-US" b="1" dirty="0"/>
              <a:t>aggregate root</a:t>
            </a:r>
            <a:r>
              <a:rPr lang="en-US" dirty="0"/>
              <a:t>.</a:t>
            </a:r>
          </a:p>
          <a:p>
            <a:pPr>
              <a:buFont typeface="Arial" panose="020B0604020202020204" pitchFamily="34" charset="0"/>
              <a:buChar char="•"/>
            </a:pPr>
            <a:r>
              <a:rPr lang="en-US" dirty="0"/>
              <a:t>All related data about that entity (user, order, etc.) is stored </a:t>
            </a:r>
            <a:r>
              <a:rPr lang="en-US" b="1" dirty="0"/>
              <a:t>together under that row</a:t>
            </a:r>
            <a:r>
              <a:rPr lang="en-US" dirty="0"/>
              <a:t>, spread across column families.</a:t>
            </a:r>
          </a:p>
          <a:p>
            <a:pPr>
              <a:buFont typeface="Arial" panose="020B0604020202020204" pitchFamily="34" charset="0"/>
              <a:buChar char="•"/>
            </a:pPr>
            <a:r>
              <a:rPr lang="en-US" dirty="0"/>
              <a:t>When you read or update, you usually </a:t>
            </a:r>
            <a:r>
              <a:rPr lang="en-US" b="1" dirty="0"/>
              <a:t>work with the whole row (aggregate)</a:t>
            </a:r>
            <a:r>
              <a:rPr lang="en-US" dirty="0"/>
              <a:t> instead of doing joins like in RDBMS.</a:t>
            </a:r>
          </a:p>
          <a:p>
            <a:r>
              <a:rPr lang="en-US" dirty="0"/>
              <a:t>So the </a:t>
            </a:r>
            <a:r>
              <a:rPr lang="en-US" b="1" dirty="0"/>
              <a:t>aggregate = row with column families</a:t>
            </a:r>
            <a:r>
              <a:rPr lang="en-US" dirty="0"/>
              <a:t>.</a:t>
            </a:r>
          </a:p>
        </p:txBody>
      </p:sp>
    </p:spTree>
    <p:extLst>
      <p:ext uri="{BB962C8B-B14F-4D97-AF65-F5344CB8AC3E}">
        <p14:creationId xmlns:p14="http://schemas.microsoft.com/office/powerpoint/2010/main" val="873624689"/>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87</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solidFill>
                  <a:srgbClr val="121214"/>
                </a:solidFill>
              </a:rPr>
              <a:t>Summary : Aggregate-Oriented Databases</a:t>
            </a:r>
            <a:endParaRPr lang="en-IN" sz="2400" b="1" dirty="0"/>
          </a:p>
        </p:txBody>
      </p:sp>
      <p:graphicFrame>
        <p:nvGraphicFramePr>
          <p:cNvPr id="10" name="Table 9"/>
          <p:cNvGraphicFramePr>
            <a:graphicFrameLocks noGrp="1"/>
          </p:cNvGraphicFramePr>
          <p:nvPr/>
        </p:nvGraphicFramePr>
        <p:xfrm>
          <a:off x="457200" y="2445385"/>
          <a:ext cx="8229600" cy="2011680"/>
        </p:xfrm>
        <a:graphic>
          <a:graphicData uri="http://schemas.openxmlformats.org/drawingml/2006/table">
            <a:tbl>
              <a:tblPr/>
              <a:tblGrid>
                <a:gridCol w="2743200">
                  <a:extLst>
                    <a:ext uri="{9D8B030D-6E8A-4147-A177-3AD203B41FA5}">
                      <a16:colId xmlns:a16="http://schemas.microsoft.com/office/drawing/2014/main" val="3356431377"/>
                    </a:ext>
                  </a:extLst>
                </a:gridCol>
                <a:gridCol w="2743200">
                  <a:extLst>
                    <a:ext uri="{9D8B030D-6E8A-4147-A177-3AD203B41FA5}">
                      <a16:colId xmlns:a16="http://schemas.microsoft.com/office/drawing/2014/main" val="2260142483"/>
                    </a:ext>
                  </a:extLst>
                </a:gridCol>
                <a:gridCol w="2743200">
                  <a:extLst>
                    <a:ext uri="{9D8B030D-6E8A-4147-A177-3AD203B41FA5}">
                      <a16:colId xmlns:a16="http://schemas.microsoft.com/office/drawing/2014/main" val="1489907182"/>
                    </a:ext>
                  </a:extLst>
                </a:gridCol>
              </a:tblGrid>
              <a:tr h="0">
                <a:tc>
                  <a:txBody>
                    <a:bodyPr/>
                    <a:lstStyle/>
                    <a:p>
                      <a:r>
                        <a:rPr lang="en-IN"/>
                        <a:t>Type</a:t>
                      </a:r>
                    </a:p>
                  </a:txBody>
                  <a:tcPr anchor="ctr">
                    <a:lnL>
                      <a:noFill/>
                    </a:lnL>
                    <a:lnR>
                      <a:noFill/>
                    </a:lnR>
                    <a:lnT>
                      <a:noFill/>
                    </a:lnT>
                    <a:lnB>
                      <a:noFill/>
                    </a:lnB>
                  </a:tcPr>
                </a:tc>
                <a:tc>
                  <a:txBody>
                    <a:bodyPr/>
                    <a:lstStyle/>
                    <a:p>
                      <a:r>
                        <a:rPr lang="en-IN"/>
                        <a:t>Example</a:t>
                      </a:r>
                    </a:p>
                  </a:txBody>
                  <a:tcPr anchor="ctr">
                    <a:lnL>
                      <a:noFill/>
                    </a:lnL>
                    <a:lnR>
                      <a:noFill/>
                    </a:lnR>
                    <a:lnT>
                      <a:noFill/>
                    </a:lnT>
                    <a:lnB>
                      <a:noFill/>
                    </a:lnB>
                  </a:tcPr>
                </a:tc>
                <a:tc>
                  <a:txBody>
                    <a:bodyPr/>
                    <a:lstStyle/>
                    <a:p>
                      <a:r>
                        <a:rPr lang="en-IN"/>
                        <a:t>Use Case</a:t>
                      </a:r>
                    </a:p>
                  </a:txBody>
                  <a:tcPr anchor="ctr">
                    <a:lnL>
                      <a:noFill/>
                    </a:lnL>
                    <a:lnR>
                      <a:noFill/>
                    </a:lnR>
                    <a:lnT>
                      <a:noFill/>
                    </a:lnT>
                    <a:lnB>
                      <a:noFill/>
                    </a:lnB>
                  </a:tcPr>
                </a:tc>
                <a:extLst>
                  <a:ext uri="{0D108BD9-81ED-4DB2-BD59-A6C34878D82A}">
                    <a16:rowId xmlns:a16="http://schemas.microsoft.com/office/drawing/2014/main" val="4241330953"/>
                  </a:ext>
                </a:extLst>
              </a:tr>
              <a:tr h="0">
                <a:tc>
                  <a:txBody>
                    <a:bodyPr/>
                    <a:lstStyle/>
                    <a:p>
                      <a:r>
                        <a:rPr lang="en-IN"/>
                        <a:t>Key-Value</a:t>
                      </a:r>
                    </a:p>
                  </a:txBody>
                  <a:tcPr anchor="ctr">
                    <a:lnL>
                      <a:noFill/>
                    </a:lnL>
                    <a:lnR>
                      <a:noFill/>
                    </a:lnR>
                    <a:lnT>
                      <a:noFill/>
                    </a:lnT>
                    <a:lnB>
                      <a:noFill/>
                    </a:lnB>
                  </a:tcPr>
                </a:tc>
                <a:tc>
                  <a:txBody>
                    <a:bodyPr/>
                    <a:lstStyle/>
                    <a:p>
                      <a:r>
                        <a:rPr lang="en-IN"/>
                        <a:t>Redis</a:t>
                      </a:r>
                    </a:p>
                  </a:txBody>
                  <a:tcPr anchor="ctr">
                    <a:lnL>
                      <a:noFill/>
                    </a:lnL>
                    <a:lnR>
                      <a:noFill/>
                    </a:lnR>
                    <a:lnT>
                      <a:noFill/>
                    </a:lnT>
                    <a:lnB>
                      <a:noFill/>
                    </a:lnB>
                  </a:tcPr>
                </a:tc>
                <a:tc>
                  <a:txBody>
                    <a:bodyPr/>
                    <a:lstStyle/>
                    <a:p>
                      <a:r>
                        <a:rPr lang="en-IN"/>
                        <a:t>Caching, session management</a:t>
                      </a:r>
                    </a:p>
                  </a:txBody>
                  <a:tcPr anchor="ctr">
                    <a:lnL>
                      <a:noFill/>
                    </a:lnL>
                    <a:lnR>
                      <a:noFill/>
                    </a:lnR>
                    <a:lnT>
                      <a:noFill/>
                    </a:lnT>
                    <a:lnB>
                      <a:noFill/>
                    </a:lnB>
                  </a:tcPr>
                </a:tc>
                <a:extLst>
                  <a:ext uri="{0D108BD9-81ED-4DB2-BD59-A6C34878D82A}">
                    <a16:rowId xmlns:a16="http://schemas.microsoft.com/office/drawing/2014/main" val="3921241407"/>
                  </a:ext>
                </a:extLst>
              </a:tr>
              <a:tr h="0">
                <a:tc>
                  <a:txBody>
                    <a:bodyPr/>
                    <a:lstStyle/>
                    <a:p>
                      <a:r>
                        <a:rPr lang="en-IN"/>
                        <a:t>Document Store</a:t>
                      </a:r>
                    </a:p>
                  </a:txBody>
                  <a:tcPr anchor="ctr">
                    <a:lnL>
                      <a:noFill/>
                    </a:lnL>
                    <a:lnR>
                      <a:noFill/>
                    </a:lnR>
                    <a:lnT>
                      <a:noFill/>
                    </a:lnT>
                    <a:lnB>
                      <a:noFill/>
                    </a:lnB>
                  </a:tcPr>
                </a:tc>
                <a:tc>
                  <a:txBody>
                    <a:bodyPr/>
                    <a:lstStyle/>
                    <a:p>
                      <a:r>
                        <a:rPr lang="en-IN"/>
                        <a:t>MongoDB</a:t>
                      </a:r>
                    </a:p>
                  </a:txBody>
                  <a:tcPr anchor="ctr">
                    <a:lnL>
                      <a:noFill/>
                    </a:lnL>
                    <a:lnR>
                      <a:noFill/>
                    </a:lnR>
                    <a:lnT>
                      <a:noFill/>
                    </a:lnT>
                    <a:lnB>
                      <a:noFill/>
                    </a:lnB>
                  </a:tcPr>
                </a:tc>
                <a:tc>
                  <a:txBody>
                    <a:bodyPr/>
                    <a:lstStyle/>
                    <a:p>
                      <a:r>
                        <a:rPr lang="en-IN"/>
                        <a:t>Content, catalogs, users</a:t>
                      </a:r>
                    </a:p>
                  </a:txBody>
                  <a:tcPr anchor="ctr">
                    <a:lnL>
                      <a:noFill/>
                    </a:lnL>
                    <a:lnR>
                      <a:noFill/>
                    </a:lnR>
                    <a:lnT>
                      <a:noFill/>
                    </a:lnT>
                    <a:lnB>
                      <a:noFill/>
                    </a:lnB>
                  </a:tcPr>
                </a:tc>
                <a:extLst>
                  <a:ext uri="{0D108BD9-81ED-4DB2-BD59-A6C34878D82A}">
                    <a16:rowId xmlns:a16="http://schemas.microsoft.com/office/drawing/2014/main" val="2152582776"/>
                  </a:ext>
                </a:extLst>
              </a:tr>
              <a:tr h="0">
                <a:tc>
                  <a:txBody>
                    <a:bodyPr/>
                    <a:lstStyle/>
                    <a:p>
                      <a:r>
                        <a:rPr lang="en-IN"/>
                        <a:t>Column-Family</a:t>
                      </a:r>
                    </a:p>
                  </a:txBody>
                  <a:tcPr anchor="ctr">
                    <a:lnL>
                      <a:noFill/>
                    </a:lnL>
                    <a:lnR>
                      <a:noFill/>
                    </a:lnR>
                    <a:lnT>
                      <a:noFill/>
                    </a:lnT>
                    <a:lnB>
                      <a:noFill/>
                    </a:lnB>
                  </a:tcPr>
                </a:tc>
                <a:tc>
                  <a:txBody>
                    <a:bodyPr/>
                    <a:lstStyle/>
                    <a:p>
                      <a:r>
                        <a:rPr lang="en-IN"/>
                        <a:t>Cassandra</a:t>
                      </a:r>
                    </a:p>
                  </a:txBody>
                  <a:tcPr anchor="ctr">
                    <a:lnL>
                      <a:noFill/>
                    </a:lnL>
                    <a:lnR>
                      <a:noFill/>
                    </a:lnR>
                    <a:lnT>
                      <a:noFill/>
                    </a:lnT>
                    <a:lnB>
                      <a:noFill/>
                    </a:lnB>
                  </a:tcPr>
                </a:tc>
                <a:tc>
                  <a:txBody>
                    <a:bodyPr/>
                    <a:lstStyle/>
                    <a:p>
                      <a:r>
                        <a:rPr lang="en-IN" dirty="0"/>
                        <a:t>Logging, metrics, time-series</a:t>
                      </a:r>
                    </a:p>
                  </a:txBody>
                  <a:tcPr anchor="ctr">
                    <a:lnL>
                      <a:noFill/>
                    </a:lnL>
                    <a:lnR>
                      <a:noFill/>
                    </a:lnR>
                    <a:lnT>
                      <a:noFill/>
                    </a:lnT>
                    <a:lnB>
                      <a:noFill/>
                    </a:lnB>
                  </a:tcPr>
                </a:tc>
                <a:extLst>
                  <a:ext uri="{0D108BD9-81ED-4DB2-BD59-A6C34878D82A}">
                    <a16:rowId xmlns:a16="http://schemas.microsoft.com/office/drawing/2014/main" val="1621206799"/>
                  </a:ext>
                </a:extLst>
              </a:tr>
            </a:tbl>
          </a:graphicData>
        </a:graphic>
      </p:graphicFrame>
    </p:spTree>
    <p:extLst>
      <p:ext uri="{BB962C8B-B14F-4D97-AF65-F5344CB8AC3E}">
        <p14:creationId xmlns:p14="http://schemas.microsoft.com/office/powerpoint/2010/main" val="287477614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88</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a:t>Beyond Aggregates: Other Data Models</a:t>
            </a:r>
            <a:endParaRPr lang="en-IN" sz="2400" b="1" dirty="0"/>
          </a:p>
        </p:txBody>
      </p:sp>
      <p:sp>
        <p:nvSpPr>
          <p:cNvPr id="6" name="Rectangle 5"/>
          <p:cNvSpPr/>
          <p:nvPr/>
        </p:nvSpPr>
        <p:spPr>
          <a:xfrm>
            <a:off x="838200" y="1676400"/>
            <a:ext cx="7772400" cy="2031325"/>
          </a:xfrm>
          <a:prstGeom prst="rect">
            <a:avLst/>
          </a:prstGeom>
        </p:spPr>
        <p:txBody>
          <a:bodyPr wrap="square">
            <a:spAutoFit/>
          </a:bodyPr>
          <a:lstStyle/>
          <a:p>
            <a:pPr marL="285750" indent="-285750">
              <a:buFont typeface="Arial" panose="020B0604020202020204" pitchFamily="34" charset="0"/>
              <a:buChar char="•"/>
            </a:pPr>
            <a:r>
              <a:rPr lang="en-US" b="1" dirty="0"/>
              <a:t>Graph Databases</a:t>
            </a:r>
            <a:r>
              <a:rPr lang="en-US" dirty="0"/>
              <a:t> (Neo4j): Complex </a:t>
            </a:r>
            <a:r>
              <a:rPr lang="en-US" dirty="0" smtClean="0"/>
              <a:t>relationships</a:t>
            </a:r>
          </a:p>
          <a:p>
            <a:endParaRPr lang="en-US" dirty="0" smtClean="0"/>
          </a:p>
          <a:p>
            <a:pPr marL="285750" indent="-285750">
              <a:buFont typeface="Arial" panose="020B0604020202020204" pitchFamily="34" charset="0"/>
              <a:buChar char="•"/>
            </a:pPr>
            <a:r>
              <a:rPr lang="en-IN" b="1" dirty="0"/>
              <a:t>Schema-less Databases</a:t>
            </a:r>
            <a:r>
              <a:rPr lang="en-IN" dirty="0"/>
              <a:t>: Flexible, dynamic </a:t>
            </a:r>
            <a:r>
              <a:rPr lang="en-IN" dirty="0" smtClean="0"/>
              <a:t>schema</a:t>
            </a:r>
          </a:p>
          <a:p>
            <a:endParaRPr lang="en-IN" dirty="0" smtClean="0"/>
          </a:p>
          <a:p>
            <a:pPr marL="285750" indent="-285750">
              <a:buFont typeface="Arial" panose="020B0604020202020204" pitchFamily="34" charset="0"/>
              <a:buChar char="•"/>
            </a:pPr>
            <a:r>
              <a:rPr lang="en-US" b="1" dirty="0"/>
              <a:t>Materialized Views</a:t>
            </a:r>
            <a:r>
              <a:rPr lang="en-US" dirty="0"/>
              <a:t>: Precomputed views for </a:t>
            </a:r>
            <a:r>
              <a:rPr lang="en-US" dirty="0" smtClean="0"/>
              <a:t>speed</a:t>
            </a:r>
          </a:p>
          <a:p>
            <a:endParaRPr lang="en-US" dirty="0" smtClean="0"/>
          </a:p>
          <a:p>
            <a:pPr marL="285750" indent="-285750">
              <a:buFont typeface="Arial" panose="020B0604020202020204" pitchFamily="34" charset="0"/>
              <a:buChar char="•"/>
            </a:pPr>
            <a:r>
              <a:rPr lang="en-US" b="1" dirty="0"/>
              <a:t>Data Modeling for Access</a:t>
            </a:r>
            <a:r>
              <a:rPr lang="en-US" dirty="0"/>
              <a:t>: Design around queries, not normalization</a:t>
            </a:r>
            <a:endParaRPr lang="en-IN" dirty="0"/>
          </a:p>
        </p:txBody>
      </p:sp>
    </p:spTree>
    <p:extLst>
      <p:ext uri="{BB962C8B-B14F-4D97-AF65-F5344CB8AC3E}">
        <p14:creationId xmlns:p14="http://schemas.microsoft.com/office/powerpoint/2010/main" val="2309107241"/>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89</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err="1" smtClean="0"/>
              <a:t>Schemaless</a:t>
            </a:r>
            <a:r>
              <a:rPr lang="en-US" sz="2400" b="1" dirty="0" smtClean="0"/>
              <a:t> Databases</a:t>
            </a:r>
            <a:endParaRPr lang="en-IN" sz="2400" b="1" dirty="0"/>
          </a:p>
        </p:txBody>
      </p:sp>
      <p:sp>
        <p:nvSpPr>
          <p:cNvPr id="6" name="Rectangle 5"/>
          <p:cNvSpPr/>
          <p:nvPr/>
        </p:nvSpPr>
        <p:spPr>
          <a:xfrm>
            <a:off x="838200" y="1676400"/>
            <a:ext cx="7772400" cy="3970318"/>
          </a:xfrm>
          <a:prstGeom prst="rect">
            <a:avLst/>
          </a:prstGeom>
        </p:spPr>
        <p:txBody>
          <a:bodyPr wrap="square">
            <a:spAutoFit/>
          </a:bodyPr>
          <a:lstStyle/>
          <a:p>
            <a:pPr marL="285750" indent="-285750" algn="just">
              <a:buFont typeface="Arial" panose="020B0604020202020204" pitchFamily="34" charset="0"/>
              <a:buChar char="•"/>
            </a:pPr>
            <a:r>
              <a:rPr lang="en-US" dirty="0"/>
              <a:t>NoSQL databases </a:t>
            </a:r>
            <a:r>
              <a:rPr lang="en-US" dirty="0" smtClean="0"/>
              <a:t> </a:t>
            </a:r>
            <a:r>
              <a:rPr lang="en-US" dirty="0"/>
              <a:t>are </a:t>
            </a:r>
            <a:r>
              <a:rPr lang="en-US" dirty="0" err="1"/>
              <a:t>schemaless</a:t>
            </a:r>
            <a:r>
              <a:rPr lang="en-US" dirty="0" smtClean="0"/>
              <a:t>.</a:t>
            </a:r>
          </a:p>
          <a:p>
            <a:pPr marL="285750" indent="-285750" algn="just">
              <a:buFont typeface="Arial" panose="020B0604020202020204" pitchFamily="34" charset="0"/>
              <a:buChar char="•"/>
            </a:pPr>
            <a:endParaRPr lang="en-US" dirty="0" smtClean="0"/>
          </a:p>
          <a:p>
            <a:pPr marL="285750" indent="-285750" algn="just">
              <a:buFont typeface="Arial" panose="020B0604020202020204" pitchFamily="34" charset="0"/>
              <a:buChar char="•"/>
            </a:pPr>
            <a:r>
              <a:rPr lang="en-US" dirty="0"/>
              <a:t>When you want to store data in a relational database, you first have to define a schema—a defined structure for the database which says what tables exist, which columns exist, and what data types each column can hold. Before you store some data, you have to have the schema defined for it. </a:t>
            </a:r>
            <a:endParaRPr lang="en-IN" dirty="0" smtClean="0"/>
          </a:p>
          <a:p>
            <a:pPr marL="285750" indent="-285750" algn="just">
              <a:buFont typeface="Arial" panose="020B0604020202020204" pitchFamily="34" charset="0"/>
              <a:buChar char="•"/>
            </a:pPr>
            <a:r>
              <a:rPr lang="en-US" dirty="0"/>
              <a:t>With NoSQL databases, storing data is much more casual. A key-value store allows you to store any data you like under a key. A document database effectively does the same thing, since it makes no restrictions on the structure of the documents you store. Column-family databases allow you to store any data under any column you like. Graph databases allow you to freely add new edges and freely add properties to nodes and edges as you wish</a:t>
            </a:r>
            <a:r>
              <a:rPr lang="en-US" dirty="0" smtClean="0"/>
              <a:t>.</a:t>
            </a:r>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02134343"/>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90</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View, Materialized View</a:t>
            </a:r>
            <a:endParaRPr lang="en-IN" sz="2400" b="1" dirty="0"/>
          </a:p>
        </p:txBody>
      </p:sp>
      <p:sp>
        <p:nvSpPr>
          <p:cNvPr id="6" name="Rectangle 5"/>
          <p:cNvSpPr/>
          <p:nvPr/>
        </p:nvSpPr>
        <p:spPr>
          <a:xfrm>
            <a:off x="609600" y="1211676"/>
            <a:ext cx="7772400" cy="2308324"/>
          </a:xfrm>
          <a:prstGeom prst="rect">
            <a:avLst/>
          </a:prstGeom>
        </p:spPr>
        <p:txBody>
          <a:bodyPr wrap="square">
            <a:spAutoFit/>
          </a:bodyPr>
          <a:lstStyle/>
          <a:p>
            <a:pPr marL="285750" indent="-285750" algn="just">
              <a:buFont typeface="Arial" panose="020B0604020202020204" pitchFamily="34" charset="0"/>
              <a:buChar char="•"/>
            </a:pPr>
            <a:r>
              <a:rPr lang="en-US" dirty="0" smtClean="0"/>
              <a:t>In Connection with Aggregate data models. </a:t>
            </a:r>
          </a:p>
          <a:p>
            <a:pPr marL="285750" indent="-285750" algn="just">
              <a:buFont typeface="Arial" panose="020B0604020202020204" pitchFamily="34" charset="0"/>
              <a:buChar char="•"/>
            </a:pPr>
            <a:r>
              <a:rPr lang="en-IN" dirty="0"/>
              <a:t>The Problem with </a:t>
            </a:r>
            <a:r>
              <a:rPr lang="en-IN" dirty="0" smtClean="0"/>
              <a:t>Aggregates</a:t>
            </a:r>
          </a:p>
          <a:p>
            <a:pPr marL="285750" indent="-285750" algn="just">
              <a:buFont typeface="Arial" panose="020B0604020202020204" pitchFamily="34" charset="0"/>
              <a:buChar char="•"/>
            </a:pPr>
            <a:r>
              <a:rPr lang="en-US" dirty="0" smtClean="0"/>
              <a:t>In an aggregate oriented NoSQL model, data is grouped ( like an order document containing all items)</a:t>
            </a:r>
          </a:p>
          <a:p>
            <a:pPr marL="285750" indent="-285750" algn="just">
              <a:buFont typeface="Arial" panose="020B0604020202020204" pitchFamily="34" charset="0"/>
              <a:buChar char="•"/>
            </a:pPr>
            <a:r>
              <a:rPr lang="en-US" dirty="0" smtClean="0"/>
              <a:t>But if you want a summary across many aggregates, </a:t>
            </a:r>
            <a:r>
              <a:rPr lang="en-US" dirty="0" err="1" smtClean="0"/>
              <a:t>e.g</a:t>
            </a:r>
            <a:r>
              <a:rPr lang="en-US" dirty="0" smtClean="0"/>
              <a:t>:</a:t>
            </a:r>
          </a:p>
          <a:p>
            <a:pPr marL="285750" indent="-285750" algn="just">
              <a:buFont typeface="Arial" panose="020B0604020202020204" pitchFamily="34" charset="0"/>
              <a:buChar char="•"/>
            </a:pPr>
            <a:r>
              <a:rPr lang="en-US" dirty="0" smtClean="0"/>
              <a:t>“How many iPhones sold in the last 2 weeks?</a:t>
            </a:r>
          </a:p>
          <a:p>
            <a:pPr marL="285750" indent="-285750" algn="just">
              <a:buFont typeface="Arial" panose="020B0604020202020204" pitchFamily="34" charset="0"/>
              <a:buChar char="•"/>
            </a:pPr>
            <a:r>
              <a:rPr lang="en-US" dirty="0" smtClean="0"/>
              <a:t>You may have to scan every order document.</a:t>
            </a:r>
          </a:p>
          <a:p>
            <a:pPr marL="285750" indent="-285750" algn="just">
              <a:buFont typeface="Arial" panose="020B0604020202020204" pitchFamily="34" charset="0"/>
              <a:buChar char="•"/>
            </a:pPr>
            <a:r>
              <a:rPr lang="en-US" dirty="0" smtClean="0"/>
              <a:t>Which is slow.</a:t>
            </a:r>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46761491"/>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91</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View, Materialized View</a:t>
            </a:r>
            <a:endParaRPr lang="en-IN" sz="2400" b="1" dirty="0"/>
          </a:p>
        </p:txBody>
      </p:sp>
      <p:sp>
        <p:nvSpPr>
          <p:cNvPr id="6" name="Rectangle 5"/>
          <p:cNvSpPr/>
          <p:nvPr/>
        </p:nvSpPr>
        <p:spPr>
          <a:xfrm>
            <a:off x="609600" y="1211676"/>
            <a:ext cx="7772400" cy="2031325"/>
          </a:xfrm>
          <a:prstGeom prst="rect">
            <a:avLst/>
          </a:prstGeom>
        </p:spPr>
        <p:txBody>
          <a:bodyPr wrap="square">
            <a:spAutoFit/>
          </a:bodyPr>
          <a:lstStyle/>
          <a:p>
            <a:pPr marL="285750" indent="-285750" algn="just">
              <a:buFont typeface="Arial" panose="020B0604020202020204" pitchFamily="34" charset="0"/>
              <a:buChar char="•"/>
            </a:pPr>
            <a:r>
              <a:rPr lang="en-US" dirty="0"/>
              <a:t>CREATE VIEW </a:t>
            </a:r>
            <a:r>
              <a:rPr lang="en-US" dirty="0" err="1"/>
              <a:t>total_sales</a:t>
            </a:r>
            <a:r>
              <a:rPr lang="en-US" dirty="0"/>
              <a:t> AS</a:t>
            </a:r>
          </a:p>
          <a:p>
            <a:pPr marL="285750" indent="-285750" algn="just">
              <a:buFont typeface="Arial" panose="020B0604020202020204" pitchFamily="34" charset="0"/>
              <a:buChar char="•"/>
            </a:pPr>
            <a:r>
              <a:rPr lang="en-US" dirty="0"/>
              <a:t>SELECT </a:t>
            </a:r>
            <a:r>
              <a:rPr lang="en-US" dirty="0" err="1"/>
              <a:t>productId</a:t>
            </a:r>
            <a:r>
              <a:rPr lang="en-US" dirty="0"/>
              <a:t>, SUM(quantity) as </a:t>
            </a:r>
            <a:r>
              <a:rPr lang="en-US" dirty="0" err="1"/>
              <a:t>totalSold</a:t>
            </a:r>
            <a:endParaRPr lang="en-US" dirty="0"/>
          </a:p>
          <a:p>
            <a:pPr marL="285750" indent="-285750" algn="just">
              <a:buFont typeface="Arial" panose="020B0604020202020204" pitchFamily="34" charset="0"/>
              <a:buChar char="•"/>
            </a:pPr>
            <a:r>
              <a:rPr lang="en-US" dirty="0"/>
              <a:t>FROM Orders</a:t>
            </a:r>
          </a:p>
          <a:p>
            <a:pPr marL="285750" indent="-285750" algn="just">
              <a:buFont typeface="Arial" panose="020B0604020202020204" pitchFamily="34" charset="0"/>
              <a:buChar char="•"/>
            </a:pPr>
            <a:r>
              <a:rPr lang="en-US" dirty="0"/>
              <a:t>GROUP BY </a:t>
            </a:r>
            <a:r>
              <a:rPr lang="en-US" dirty="0" err="1"/>
              <a:t>productId</a:t>
            </a:r>
            <a:r>
              <a:rPr lang="en-US" dirty="0" smtClean="0"/>
              <a:t>;</a:t>
            </a:r>
          </a:p>
          <a:p>
            <a:pPr marL="285750" indent="-285750" algn="just">
              <a:buFont typeface="Arial" panose="020B0604020202020204" pitchFamily="34" charset="0"/>
              <a:buChar char="•"/>
            </a:pPr>
            <a:endParaRPr lang="en-US" dirty="0"/>
          </a:p>
          <a:p>
            <a:pPr marL="285750" indent="-285750" algn="just">
              <a:buFont typeface="Arial" panose="020B0604020202020204" pitchFamily="34" charset="0"/>
              <a:buChar char="•"/>
            </a:pPr>
            <a:r>
              <a:rPr lang="en-US" dirty="0"/>
              <a:t>When you query the view, the database </a:t>
            </a:r>
            <a:r>
              <a:rPr lang="en-US" b="1" dirty="0"/>
              <a:t>runs this query on the fly</a:t>
            </a:r>
            <a:r>
              <a:rPr lang="en-US" dirty="0" smtClean="0"/>
              <a:t>.</a:t>
            </a:r>
          </a:p>
          <a:p>
            <a:pPr marL="285750" indent="-285750" algn="just">
              <a:buFont typeface="Arial" panose="020B0604020202020204" pitchFamily="34" charset="0"/>
              <a:buChar char="•"/>
            </a:pPr>
            <a:r>
              <a:rPr lang="en-US" b="1" dirty="0"/>
              <a:t>Problem</a:t>
            </a:r>
            <a:r>
              <a:rPr lang="en-US" dirty="0"/>
              <a:t>: If the dataset is huge, recalculating every time = </a:t>
            </a:r>
            <a:r>
              <a:rPr lang="en-US" b="1" dirty="0"/>
              <a:t>slow</a:t>
            </a:r>
            <a:r>
              <a:rPr lang="en-US" dirty="0"/>
              <a:t>.</a:t>
            </a:r>
            <a:endParaRPr lang="en-US" dirty="0" smtClean="0"/>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158384213"/>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92</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View, Materialized View</a:t>
            </a:r>
            <a:endParaRPr lang="en-IN" sz="2400" b="1" dirty="0"/>
          </a:p>
        </p:txBody>
      </p:sp>
      <p:sp>
        <p:nvSpPr>
          <p:cNvPr id="6" name="Rectangle 5"/>
          <p:cNvSpPr/>
          <p:nvPr/>
        </p:nvSpPr>
        <p:spPr>
          <a:xfrm>
            <a:off x="609600" y="1211676"/>
            <a:ext cx="7772400" cy="1477328"/>
          </a:xfrm>
          <a:prstGeom prst="rect">
            <a:avLst/>
          </a:prstGeom>
        </p:spPr>
        <p:txBody>
          <a:bodyPr wrap="square">
            <a:spAutoFit/>
          </a:bodyPr>
          <a:lstStyle/>
          <a:p>
            <a:r>
              <a:rPr lang="en-US" b="1" dirty="0"/>
              <a:t>Materialized View</a:t>
            </a:r>
          </a:p>
          <a:p>
            <a:r>
              <a:rPr lang="en-US" dirty="0"/>
              <a:t>A </a:t>
            </a:r>
            <a:r>
              <a:rPr lang="en-US" b="1" dirty="0"/>
              <a:t>materialized view</a:t>
            </a:r>
            <a:r>
              <a:rPr lang="en-US" dirty="0"/>
              <a:t> = </a:t>
            </a:r>
            <a:r>
              <a:rPr lang="en-US" b="1" dirty="0"/>
              <a:t>precomputed + cached</a:t>
            </a:r>
            <a:r>
              <a:rPr lang="en-US" dirty="0"/>
              <a:t> results of the view.</a:t>
            </a:r>
          </a:p>
          <a:p>
            <a:r>
              <a:rPr lang="en-US" dirty="0"/>
              <a:t>Stored on disk like a real table.</a:t>
            </a:r>
          </a:p>
          <a:p>
            <a:r>
              <a:rPr lang="en-US" dirty="0"/>
              <a:t>Database </a:t>
            </a:r>
            <a:r>
              <a:rPr lang="en-US" b="1" dirty="0"/>
              <a:t>updates it periodically</a:t>
            </a:r>
            <a:r>
              <a:rPr lang="en-US" dirty="0"/>
              <a:t> or </a:t>
            </a:r>
            <a:r>
              <a:rPr lang="en-US" b="1" dirty="0"/>
              <a:t>when data changes</a:t>
            </a:r>
            <a:r>
              <a:rPr lang="en-US" dirty="0"/>
              <a:t>.</a:t>
            </a:r>
          </a:p>
          <a:p>
            <a:r>
              <a:rPr lang="en-US" dirty="0"/>
              <a:t>So queries are </a:t>
            </a:r>
            <a:r>
              <a:rPr lang="en-US" b="1" dirty="0"/>
              <a:t>much faster</a:t>
            </a:r>
            <a:r>
              <a:rPr lang="en-US" dirty="0"/>
              <a:t>, though the data may be </a:t>
            </a:r>
            <a:r>
              <a:rPr lang="en-US" b="1" dirty="0"/>
              <a:t>slightly stale</a:t>
            </a:r>
            <a:r>
              <a:rPr lang="en-US" dirty="0"/>
              <a:t>.</a:t>
            </a:r>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86543421"/>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93</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Materialized View</a:t>
            </a:r>
            <a:endParaRPr lang="en-IN" sz="2400" b="1" dirty="0"/>
          </a:p>
        </p:txBody>
      </p:sp>
      <p:sp>
        <p:nvSpPr>
          <p:cNvPr id="6" name="Rectangle 5"/>
          <p:cNvSpPr/>
          <p:nvPr/>
        </p:nvSpPr>
        <p:spPr>
          <a:xfrm>
            <a:off x="609600" y="1211676"/>
            <a:ext cx="7772400" cy="5632311"/>
          </a:xfrm>
          <a:prstGeom prst="rect">
            <a:avLst/>
          </a:prstGeom>
        </p:spPr>
        <p:txBody>
          <a:bodyPr wrap="square">
            <a:spAutoFit/>
          </a:bodyPr>
          <a:lstStyle/>
          <a:p>
            <a:pPr marL="285750" indent="-285750" algn="just">
              <a:buFont typeface="Arial" panose="020B0604020202020204" pitchFamily="34" charset="0"/>
              <a:buChar char="•"/>
            </a:pPr>
            <a:r>
              <a:rPr lang="en-US" dirty="0" smtClean="0"/>
              <a:t>In Connection with Aggregate data models. </a:t>
            </a:r>
          </a:p>
          <a:p>
            <a:pPr marL="285750" indent="-285750" algn="just">
              <a:buFont typeface="Arial" panose="020B0604020202020204" pitchFamily="34" charset="0"/>
              <a:buChar char="•"/>
            </a:pPr>
            <a:r>
              <a:rPr lang="en-US" dirty="0" smtClean="0"/>
              <a:t>It is SQL (relational) feature, helps to reduce the slow performance in fetching an aggregates.</a:t>
            </a:r>
          </a:p>
          <a:p>
            <a:pPr marL="285750" indent="-285750" algn="just">
              <a:buFont typeface="Arial" panose="020B0604020202020204" pitchFamily="34" charset="0"/>
              <a:buChar char="•"/>
            </a:pPr>
            <a:r>
              <a:rPr lang="en-US" dirty="0"/>
              <a:t>Example : </a:t>
            </a:r>
            <a:r>
              <a:rPr lang="en-US" dirty="0" smtClean="0"/>
              <a:t> </a:t>
            </a:r>
            <a:r>
              <a:rPr lang="en-US" dirty="0"/>
              <a:t>if a product manager wants to know how much a particular item has sold over the last couple of weeks? Now the aggregate-orientation works against you, forcing you to potentially read every order in the database to answer the question</a:t>
            </a:r>
            <a:r>
              <a:rPr lang="en-US" dirty="0" smtClean="0"/>
              <a:t>.</a:t>
            </a:r>
          </a:p>
          <a:p>
            <a:pPr marL="285750" indent="-285750" algn="just">
              <a:buFont typeface="Arial" panose="020B0604020202020204" pitchFamily="34" charset="0"/>
              <a:buChar char="•"/>
            </a:pPr>
            <a:r>
              <a:rPr lang="en-US" dirty="0"/>
              <a:t>A view is like a relational table (it is a relation) but it’s defined by computation over the base tables. When you access a view, the database computes the data in the view—a handy form of encapsulation</a:t>
            </a:r>
            <a:r>
              <a:rPr lang="en-US" dirty="0" smtClean="0"/>
              <a:t>.</a:t>
            </a:r>
          </a:p>
          <a:p>
            <a:pPr marL="285750" indent="-285750" algn="just">
              <a:buFont typeface="Arial" panose="020B0604020202020204" pitchFamily="34" charset="0"/>
              <a:buChar char="•"/>
            </a:pPr>
            <a:r>
              <a:rPr lang="en-US" dirty="0"/>
              <a:t>Views provide a mechanism to hide from the client whether data is derived data or base data—but can’t avoid the fact that some views are expensive to compute</a:t>
            </a:r>
            <a:r>
              <a:rPr lang="en-US" dirty="0" smtClean="0"/>
              <a:t>.</a:t>
            </a:r>
          </a:p>
          <a:p>
            <a:pPr marL="285750" indent="-285750" algn="just">
              <a:buFont typeface="Arial" panose="020B0604020202020204" pitchFamily="34" charset="0"/>
              <a:buChar char="•"/>
            </a:pPr>
            <a:r>
              <a:rPr lang="en-US" dirty="0"/>
              <a:t>To cope with this, materialized views were invented, which are views that are computed in advance and cached on disk</a:t>
            </a:r>
            <a:r>
              <a:rPr lang="en-US" dirty="0" smtClean="0"/>
              <a:t>.</a:t>
            </a:r>
            <a:r>
              <a:rPr lang="en-US" dirty="0"/>
              <a:t> </a:t>
            </a:r>
            <a:endParaRPr lang="en-US" dirty="0" smtClean="0"/>
          </a:p>
          <a:p>
            <a:pPr marL="285750" indent="-285750" algn="just">
              <a:buFont typeface="Arial" panose="020B0604020202020204" pitchFamily="34" charset="0"/>
              <a:buChar char="•"/>
            </a:pPr>
            <a:r>
              <a:rPr lang="en-US" dirty="0" smtClean="0"/>
              <a:t>Views + Caching is Materialized View.</a:t>
            </a:r>
          </a:p>
          <a:p>
            <a:pPr marL="285750" indent="-285750" algn="just">
              <a:buFont typeface="Arial" panose="020B0604020202020204" pitchFamily="34" charset="0"/>
              <a:buChar char="•"/>
            </a:pPr>
            <a:r>
              <a:rPr lang="en-US" dirty="0"/>
              <a:t>Materialized views are effective for data that is read heavily but can stand being somewhat stale. </a:t>
            </a:r>
            <a:endParaRPr lang="en-US" dirty="0" smtClean="0"/>
          </a:p>
          <a:p>
            <a:pPr marL="285750" indent="-285750" algn="just">
              <a:buFont typeface="Arial" panose="020B0604020202020204" pitchFamily="34" charset="0"/>
              <a:buChar char="•"/>
            </a:pPr>
            <a:r>
              <a:rPr lang="en-US" dirty="0" smtClean="0"/>
              <a:t>NoSQL supports Materialized view.</a:t>
            </a:r>
          </a:p>
          <a:p>
            <a:pPr marL="285750" indent="-285750" algn="just">
              <a:buFont typeface="Arial" panose="020B0604020202020204" pitchFamily="34" charset="0"/>
              <a:buChar char="•"/>
            </a:pPr>
            <a:endParaRPr lang="en-US" dirty="0" smtClean="0"/>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27338755"/>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94</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Materialized View</a:t>
            </a:r>
            <a:endParaRPr lang="en-IN" sz="2400" b="1" dirty="0"/>
          </a:p>
        </p:txBody>
      </p:sp>
      <p:sp>
        <p:nvSpPr>
          <p:cNvPr id="6" name="Rectangle 5"/>
          <p:cNvSpPr/>
          <p:nvPr/>
        </p:nvSpPr>
        <p:spPr>
          <a:xfrm>
            <a:off x="609600" y="1211676"/>
            <a:ext cx="7772400" cy="1754326"/>
          </a:xfrm>
          <a:prstGeom prst="rect">
            <a:avLst/>
          </a:prstGeom>
        </p:spPr>
        <p:txBody>
          <a:bodyPr wrap="square">
            <a:spAutoFit/>
          </a:bodyPr>
          <a:lstStyle/>
          <a:p>
            <a:r>
              <a:rPr lang="en-US" dirty="0"/>
              <a:t>Let’s say you want </a:t>
            </a:r>
            <a:r>
              <a:rPr lang="en-US" b="1" dirty="0"/>
              <a:t>“Total sales per product”</a:t>
            </a:r>
            <a:r>
              <a:rPr lang="en-US" dirty="0"/>
              <a:t>.</a:t>
            </a:r>
          </a:p>
          <a:p>
            <a:r>
              <a:rPr lang="en-US" dirty="0"/>
              <a:t>Without materialized view:</a:t>
            </a:r>
          </a:p>
          <a:p>
            <a:r>
              <a:rPr lang="en-US" dirty="0"/>
              <a:t>Query = scan </a:t>
            </a:r>
            <a:r>
              <a:rPr lang="en-US" b="1" dirty="0"/>
              <a:t>millions of orders</a:t>
            </a:r>
            <a:r>
              <a:rPr lang="en-US" dirty="0"/>
              <a:t>, calculate sum, return result. → slow</a:t>
            </a:r>
          </a:p>
          <a:p>
            <a:r>
              <a:rPr lang="en-US" dirty="0"/>
              <a:t>With materialized view:</a:t>
            </a:r>
          </a:p>
          <a:p>
            <a:r>
              <a:rPr lang="en-US" dirty="0"/>
              <a:t>Database already keeps a </a:t>
            </a:r>
            <a:r>
              <a:rPr lang="en-US" b="1" dirty="0"/>
              <a:t>ready-made table of totals</a:t>
            </a:r>
            <a:r>
              <a:rPr lang="en-US" dirty="0"/>
              <a:t>.</a:t>
            </a:r>
          </a:p>
          <a:p>
            <a:r>
              <a:rPr lang="en-US" dirty="0"/>
              <a:t>Query just fetches from that cached table. </a:t>
            </a:r>
            <a:r>
              <a:rPr lang="en-US"/>
              <a:t>→ </a:t>
            </a:r>
            <a:r>
              <a:rPr lang="en-US" b="1"/>
              <a:t>fast</a:t>
            </a:r>
            <a:endParaRPr lang="en-US"/>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55441342"/>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95</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NoSQL Data Modeling Principles</a:t>
            </a:r>
            <a:endParaRPr lang="en-IN" sz="2400" b="1" dirty="0"/>
          </a:p>
        </p:txBody>
      </p:sp>
      <p:sp>
        <p:nvSpPr>
          <p:cNvPr id="6" name="Rectangle 5"/>
          <p:cNvSpPr/>
          <p:nvPr/>
        </p:nvSpPr>
        <p:spPr>
          <a:xfrm>
            <a:off x="838200" y="1676400"/>
            <a:ext cx="7772400" cy="2031325"/>
          </a:xfrm>
          <a:prstGeom prst="rect">
            <a:avLst/>
          </a:prstGeom>
        </p:spPr>
        <p:txBody>
          <a:bodyPr wrap="square">
            <a:spAutoFit/>
          </a:bodyPr>
          <a:lstStyle/>
          <a:p>
            <a:pPr marL="285750" indent="-285750">
              <a:buFont typeface="Arial" panose="020B0604020202020204" pitchFamily="34" charset="0"/>
              <a:buChar char="•"/>
            </a:pPr>
            <a:r>
              <a:rPr lang="en-IN" dirty="0"/>
              <a:t>Understand access patterns </a:t>
            </a:r>
            <a:r>
              <a:rPr lang="en-IN" dirty="0" smtClean="0"/>
              <a:t>first</a:t>
            </a:r>
          </a:p>
          <a:p>
            <a:endParaRPr lang="en-US" dirty="0" smtClean="0"/>
          </a:p>
          <a:p>
            <a:pPr marL="285750" indent="-285750">
              <a:buFont typeface="Arial" panose="020B0604020202020204" pitchFamily="34" charset="0"/>
              <a:buChar char="•"/>
            </a:pPr>
            <a:r>
              <a:rPr lang="en-IN" dirty="0" err="1"/>
              <a:t>Denormalize</a:t>
            </a:r>
            <a:r>
              <a:rPr lang="en-IN" dirty="0"/>
              <a:t> for </a:t>
            </a:r>
            <a:r>
              <a:rPr lang="en-IN" dirty="0" smtClean="0"/>
              <a:t>performance</a:t>
            </a:r>
          </a:p>
          <a:p>
            <a:pPr marL="285750" indent="-285750">
              <a:buFont typeface="Arial" panose="020B0604020202020204" pitchFamily="34" charset="0"/>
              <a:buChar char="•"/>
            </a:pPr>
            <a:endParaRPr lang="en-IN" dirty="0" smtClean="0"/>
          </a:p>
          <a:p>
            <a:pPr marL="285750" indent="-285750">
              <a:buFont typeface="Arial" panose="020B0604020202020204" pitchFamily="34" charset="0"/>
              <a:buChar char="•"/>
            </a:pPr>
            <a:r>
              <a:rPr lang="en-US" dirty="0"/>
              <a:t>Choose DB type based on use </a:t>
            </a:r>
            <a:r>
              <a:rPr lang="en-US" dirty="0" smtClean="0"/>
              <a:t>case</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a:t>Embrace eventual consistency if needed</a:t>
            </a:r>
            <a:endParaRPr lang="en-IN" dirty="0"/>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72452955"/>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96</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IN" sz="2400" dirty="0"/>
              <a:t>Data Models Overview</a:t>
            </a:r>
            <a:endParaRPr lang="en-IN" sz="2400" b="1" dirty="0"/>
          </a:p>
        </p:txBody>
      </p:sp>
      <p:sp>
        <p:nvSpPr>
          <p:cNvPr id="6" name="Rectangle 5"/>
          <p:cNvSpPr/>
          <p:nvPr/>
        </p:nvSpPr>
        <p:spPr>
          <a:xfrm>
            <a:off x="76200" y="1295400"/>
            <a:ext cx="8763000" cy="3693319"/>
          </a:xfrm>
          <a:prstGeom prst="rect">
            <a:avLst/>
          </a:prstGeom>
        </p:spPr>
        <p:txBody>
          <a:bodyPr wrap="square">
            <a:spAutoFit/>
          </a:bodyPr>
          <a:lstStyle/>
          <a:p>
            <a:pPr marL="285750" indent="-285750">
              <a:buFont typeface="Arial" panose="020B0604020202020204" pitchFamily="34" charset="0"/>
              <a:buChar char="•"/>
            </a:pPr>
            <a:r>
              <a:rPr lang="en-IN" b="1" dirty="0"/>
              <a:t>Key-Value </a:t>
            </a:r>
            <a:r>
              <a:rPr lang="en-IN" b="1" dirty="0" smtClean="0"/>
              <a:t>Stores</a:t>
            </a:r>
            <a:r>
              <a:rPr lang="en-IN" dirty="0" smtClean="0"/>
              <a:t> </a:t>
            </a:r>
            <a:r>
              <a:rPr lang="en-IN" b="1" dirty="0" smtClean="0"/>
              <a:t>:</a:t>
            </a:r>
            <a:r>
              <a:rPr lang="en-IN" dirty="0" smtClean="0"/>
              <a:t> Simplest aggregate form. Very fast lookups by key; minimal querying capabilities.</a:t>
            </a:r>
            <a:endParaRPr lang="en-US" dirty="0" smtClean="0"/>
          </a:p>
          <a:p>
            <a:pPr marL="285750" indent="-285750">
              <a:buFont typeface="Arial" panose="020B0604020202020204" pitchFamily="34" charset="0"/>
              <a:buChar char="•"/>
            </a:pPr>
            <a:r>
              <a:rPr lang="en-IN" b="1" dirty="0"/>
              <a:t>Document </a:t>
            </a:r>
            <a:r>
              <a:rPr lang="en-IN" b="1" dirty="0" smtClean="0"/>
              <a:t>Stores : </a:t>
            </a:r>
            <a:r>
              <a:rPr lang="en-IN" dirty="0" smtClean="0"/>
              <a:t>Aggregates</a:t>
            </a:r>
            <a:r>
              <a:rPr lang="en-IN" b="1" dirty="0" smtClean="0"/>
              <a:t> </a:t>
            </a:r>
            <a:r>
              <a:rPr lang="en-IN" dirty="0" smtClean="0"/>
              <a:t>represented as JSON/BSON documents; flexible schema, indexing possible.</a:t>
            </a:r>
          </a:p>
          <a:p>
            <a:pPr marL="285750" indent="-285750">
              <a:buFont typeface="Arial" panose="020B0604020202020204" pitchFamily="34" charset="0"/>
              <a:buChar char="•"/>
            </a:pPr>
            <a:r>
              <a:rPr lang="en-IN" b="1" dirty="0"/>
              <a:t>Column-Family </a:t>
            </a:r>
            <a:r>
              <a:rPr lang="en-IN" b="1" dirty="0" smtClean="0"/>
              <a:t>Stores : </a:t>
            </a:r>
            <a:r>
              <a:rPr lang="en-IN" dirty="0" smtClean="0"/>
              <a:t>Aggregates organized in column families; excellent for time-series, wide </a:t>
            </a:r>
            <a:r>
              <a:rPr lang="en-IN" dirty="0" err="1" smtClean="0"/>
              <a:t>sprase</a:t>
            </a:r>
            <a:r>
              <a:rPr lang="en-IN" dirty="0" smtClean="0"/>
              <a:t> data.</a:t>
            </a:r>
            <a:endParaRPr lang="en-US" dirty="0" smtClean="0"/>
          </a:p>
          <a:p>
            <a:pPr marL="285750" indent="-285750">
              <a:buFont typeface="Arial" panose="020B0604020202020204" pitchFamily="34" charset="0"/>
              <a:buChar char="•"/>
            </a:pPr>
            <a:r>
              <a:rPr lang="en-IN" b="1" dirty="0"/>
              <a:t>Graph </a:t>
            </a:r>
            <a:r>
              <a:rPr lang="en-IN" b="1" dirty="0" smtClean="0"/>
              <a:t>Databases : </a:t>
            </a:r>
            <a:r>
              <a:rPr lang="en-IN" dirty="0" smtClean="0"/>
              <a:t>Support strong relationships across aggregates. Abstracts entities and relationships naturally; not aggregate-oriented.</a:t>
            </a:r>
          </a:p>
          <a:p>
            <a:pPr marL="285750" indent="-285750">
              <a:buFont typeface="Arial" panose="020B0604020202020204" pitchFamily="34" charset="0"/>
              <a:buChar char="•"/>
            </a:pPr>
            <a:r>
              <a:rPr lang="en-IN" b="1" dirty="0"/>
              <a:t>Schema-less </a:t>
            </a:r>
            <a:r>
              <a:rPr lang="en-IN" b="1" dirty="0" smtClean="0"/>
              <a:t>Databases : </a:t>
            </a:r>
            <a:r>
              <a:rPr lang="en-IN" dirty="0" smtClean="0"/>
              <a:t>Support flexible data models that evolve with application needs, avoiding rigid schema migrations typical in RDBMS.</a:t>
            </a:r>
          </a:p>
          <a:p>
            <a:pPr marL="285750" indent="-285750">
              <a:buFont typeface="Arial" panose="020B0604020202020204" pitchFamily="34" charset="0"/>
              <a:buChar char="•"/>
            </a:pPr>
            <a:r>
              <a:rPr lang="en-US" b="1" dirty="0"/>
              <a:t>Materialized Views &amp; Modeling for </a:t>
            </a:r>
            <a:r>
              <a:rPr lang="en-US" b="1" dirty="0" smtClean="0"/>
              <a:t>Access : </a:t>
            </a:r>
            <a:r>
              <a:rPr lang="en-US" dirty="0" smtClean="0"/>
              <a:t>Used to optimize queries that cross aggregates via mechanisms like map-reduce or secondary indexing. Design is driven by query patterns rather than normalized modeling.</a:t>
            </a:r>
            <a:endParaRPr lang="en-IN" dirty="0"/>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978069"/>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97</a:t>
            </a:fld>
            <a:endParaRPr lang="en-US"/>
          </a:p>
        </p:txBody>
      </p:sp>
      <p:sp>
        <p:nvSpPr>
          <p:cNvPr id="5" name="TextBox 4"/>
          <p:cNvSpPr txBox="1"/>
          <p:nvPr/>
        </p:nvSpPr>
        <p:spPr>
          <a:xfrm>
            <a:off x="203578" y="373120"/>
            <a:ext cx="6349621" cy="461665"/>
          </a:xfrm>
          <a:prstGeom prst="rect">
            <a:avLst/>
          </a:prstGeom>
          <a:noFill/>
        </p:spPr>
        <p:txBody>
          <a:bodyPr wrap="square" rtlCol="0">
            <a:spAutoFit/>
          </a:bodyPr>
          <a:lstStyle/>
          <a:p>
            <a:r>
              <a:rPr lang="en-US" sz="2400" b="1" dirty="0" smtClean="0"/>
              <a:t>Conclusion</a:t>
            </a:r>
            <a:endParaRPr lang="en-IN" sz="2400" b="1" dirty="0"/>
          </a:p>
        </p:txBody>
      </p:sp>
      <p:sp>
        <p:nvSpPr>
          <p:cNvPr id="6" name="Rectangle 5"/>
          <p:cNvSpPr/>
          <p:nvPr/>
        </p:nvSpPr>
        <p:spPr>
          <a:xfrm>
            <a:off x="838200" y="1676400"/>
            <a:ext cx="7772400" cy="2031325"/>
          </a:xfrm>
          <a:prstGeom prst="rect">
            <a:avLst/>
          </a:prstGeom>
        </p:spPr>
        <p:txBody>
          <a:bodyPr wrap="square">
            <a:spAutoFit/>
          </a:bodyPr>
          <a:lstStyle/>
          <a:p>
            <a:pPr marL="285750" indent="-285750">
              <a:buFont typeface="Arial" panose="020B0604020202020204" pitchFamily="34" charset="0"/>
              <a:buChar char="•"/>
            </a:pPr>
            <a:r>
              <a:rPr lang="en-US" dirty="0"/>
              <a:t>NoSQL emerged due to RDBMS limitations in modern </a:t>
            </a:r>
            <a:r>
              <a:rPr lang="en-US" dirty="0" smtClean="0"/>
              <a:t>apps</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a:t>Aggregate models fit naturally into distributed </a:t>
            </a:r>
            <a:r>
              <a:rPr lang="en-US" dirty="0" smtClean="0"/>
              <a:t>systems</a:t>
            </a:r>
          </a:p>
          <a:p>
            <a:pPr marL="285750" indent="-285750">
              <a:buFont typeface="Arial" panose="020B0604020202020204" pitchFamily="34" charset="0"/>
              <a:buChar char="•"/>
            </a:pPr>
            <a:endParaRPr lang="en-IN" dirty="0" smtClean="0"/>
          </a:p>
          <a:p>
            <a:pPr marL="285750" indent="-285750">
              <a:buFont typeface="Arial" panose="020B0604020202020204" pitchFamily="34" charset="0"/>
              <a:buChar char="•"/>
            </a:pPr>
            <a:r>
              <a:rPr lang="en-US" dirty="0"/>
              <a:t>Variety of NoSQL types for different </a:t>
            </a:r>
            <a:r>
              <a:rPr lang="en-US" dirty="0" smtClean="0"/>
              <a:t>needs</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a:t>Choose the right model for the right job</a:t>
            </a:r>
            <a:endParaRPr lang="en-IN" dirty="0"/>
          </a:p>
        </p:txBody>
      </p:sp>
      <p:sp>
        <p:nvSpPr>
          <p:cNvPr id="2" name="Rectangle 1"/>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0" y="0"/>
            <a:ext cx="9144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Rectangle 3"/>
          <p:cNvSpPr>
            <a:spLocks noChangeArrowheads="1"/>
          </p:cNvSpPr>
          <p:nvPr/>
        </p:nvSpPr>
        <p:spPr bwMode="auto">
          <a:xfrm>
            <a:off x="0" y="158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900" b="1" i="0" u="none" strike="noStrike" cap="none" normalizeH="0" baseline="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10528491"/>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3527AE0-6F2F-32E4-207B-9C1F8ADB1488}"/>
              </a:ext>
            </a:extLst>
          </p:cNvPr>
          <p:cNvSpPr>
            <a:spLocks noGrp="1"/>
          </p:cNvSpPr>
          <p:nvPr>
            <p:ph type="ftr" sz="quarter" idx="11"/>
          </p:nvPr>
        </p:nvSpPr>
        <p:spPr/>
        <p:txBody>
          <a:bodyPr/>
          <a:lstStyle/>
          <a:p>
            <a:r>
              <a:rPr lang="en-US" dirty="0"/>
              <a:t>CSE3513 NoSQL Data Management</a:t>
            </a:r>
          </a:p>
        </p:txBody>
      </p:sp>
      <p:sp>
        <p:nvSpPr>
          <p:cNvPr id="3" name="Slide Number Placeholder 2">
            <a:extLst>
              <a:ext uri="{FF2B5EF4-FFF2-40B4-BE49-F238E27FC236}">
                <a16:creationId xmlns:a16="http://schemas.microsoft.com/office/drawing/2014/main" id="{161F19B3-9682-3246-0A84-8832BD85E680}"/>
              </a:ext>
            </a:extLst>
          </p:cNvPr>
          <p:cNvSpPr>
            <a:spLocks noGrp="1"/>
          </p:cNvSpPr>
          <p:nvPr>
            <p:ph type="sldNum" sz="quarter" idx="12"/>
          </p:nvPr>
        </p:nvSpPr>
        <p:spPr/>
        <p:txBody>
          <a:bodyPr/>
          <a:lstStyle/>
          <a:p>
            <a:fld id="{B6F15528-21DE-4FAA-801E-634DDDAF4B2B}" type="slidenum">
              <a:rPr lang="en-US" smtClean="0"/>
              <a:pPr/>
              <a:t>98</a:t>
            </a:fld>
            <a:endParaRPr lang="en-US"/>
          </a:p>
        </p:txBody>
      </p:sp>
      <p:sp>
        <p:nvSpPr>
          <p:cNvPr id="4" name="TextBox 3">
            <a:extLst>
              <a:ext uri="{FF2B5EF4-FFF2-40B4-BE49-F238E27FC236}">
                <a16:creationId xmlns:a16="http://schemas.microsoft.com/office/drawing/2014/main" id="{D9577100-8346-62F8-1707-2FF54F04DC2D}"/>
              </a:ext>
            </a:extLst>
          </p:cNvPr>
          <p:cNvSpPr txBox="1"/>
          <p:nvPr/>
        </p:nvSpPr>
        <p:spPr>
          <a:xfrm>
            <a:off x="2057400" y="381000"/>
            <a:ext cx="4724400" cy="523220"/>
          </a:xfrm>
          <a:prstGeom prst="rect">
            <a:avLst/>
          </a:prstGeom>
          <a:noFill/>
        </p:spPr>
        <p:txBody>
          <a:bodyPr wrap="square" rtlCol="0">
            <a:spAutoFit/>
          </a:bodyPr>
          <a:lstStyle/>
          <a:p>
            <a:pPr algn="ctr"/>
            <a:r>
              <a:rPr lang="en-IN" sz="2800" b="1" dirty="0"/>
              <a:t>Question Bank </a:t>
            </a:r>
          </a:p>
        </p:txBody>
      </p:sp>
      <p:graphicFrame>
        <p:nvGraphicFramePr>
          <p:cNvPr id="5" name="Table 4">
            <a:extLst>
              <a:ext uri="{FF2B5EF4-FFF2-40B4-BE49-F238E27FC236}">
                <a16:creationId xmlns:a16="http://schemas.microsoft.com/office/drawing/2014/main" id="{90778481-5696-75EE-1D33-5961EA7A9385}"/>
              </a:ext>
            </a:extLst>
          </p:cNvPr>
          <p:cNvGraphicFramePr>
            <a:graphicFrameLocks noGrp="1"/>
          </p:cNvGraphicFramePr>
          <p:nvPr>
            <p:extLst>
              <p:ext uri="{D42A27DB-BD31-4B8C-83A1-F6EECF244321}">
                <p14:modId xmlns:p14="http://schemas.microsoft.com/office/powerpoint/2010/main" val="4178669442"/>
              </p:ext>
            </p:extLst>
          </p:nvPr>
        </p:nvGraphicFramePr>
        <p:xfrm>
          <a:off x="1143000" y="1514212"/>
          <a:ext cx="7010401" cy="3844371"/>
        </p:xfrm>
        <a:graphic>
          <a:graphicData uri="http://schemas.openxmlformats.org/drawingml/2006/table">
            <a:tbl>
              <a:tblPr firstRow="1" firstCol="1" bandRow="1">
                <a:tableStyleId>{5C22544A-7EE6-4342-B048-85BDC9FD1C3A}</a:tableStyleId>
              </a:tblPr>
              <a:tblGrid>
                <a:gridCol w="914400">
                  <a:extLst>
                    <a:ext uri="{9D8B030D-6E8A-4147-A177-3AD203B41FA5}">
                      <a16:colId xmlns:a16="http://schemas.microsoft.com/office/drawing/2014/main" val="4247273208"/>
                    </a:ext>
                  </a:extLst>
                </a:gridCol>
                <a:gridCol w="5382297">
                  <a:extLst>
                    <a:ext uri="{9D8B030D-6E8A-4147-A177-3AD203B41FA5}">
                      <a16:colId xmlns:a16="http://schemas.microsoft.com/office/drawing/2014/main" val="321597095"/>
                    </a:ext>
                  </a:extLst>
                </a:gridCol>
                <a:gridCol w="713704">
                  <a:extLst>
                    <a:ext uri="{9D8B030D-6E8A-4147-A177-3AD203B41FA5}">
                      <a16:colId xmlns:a16="http://schemas.microsoft.com/office/drawing/2014/main" val="2115380894"/>
                    </a:ext>
                  </a:extLst>
                </a:gridCol>
              </a:tblGrid>
              <a:tr h="324023">
                <a:tc>
                  <a:txBody>
                    <a:bodyPr/>
                    <a:lstStyle/>
                    <a:p>
                      <a:pPr>
                        <a:lnSpc>
                          <a:spcPct val="107000"/>
                        </a:lnSpc>
                        <a:spcAft>
                          <a:spcPts val="800"/>
                        </a:spcAft>
                      </a:pPr>
                      <a:r>
                        <a:rPr lang="en-IN" sz="1800" kern="100">
                          <a:effectLst/>
                        </a:rPr>
                        <a:t>SL.No</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Questions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a:effectLst/>
                        </a:rPr>
                        <a:t>LOs</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73646797"/>
                  </a:ext>
                </a:extLst>
              </a:tr>
              <a:tr h="665193">
                <a:tc>
                  <a:txBody>
                    <a:bodyPr/>
                    <a:lstStyle/>
                    <a:p>
                      <a:pPr algn="ctr">
                        <a:lnSpc>
                          <a:spcPct val="107000"/>
                        </a:lnSpc>
                        <a:spcAft>
                          <a:spcPts val="800"/>
                        </a:spcAft>
                      </a:pPr>
                      <a:r>
                        <a:rPr lang="en-IN" sz="1800" kern="100" dirty="0">
                          <a:effectLst/>
                        </a:rPr>
                        <a:t>1</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Define NoSQL Database and List the different types of NoSQL Database.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LO1</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18810397"/>
                  </a:ext>
                </a:extLst>
              </a:tr>
              <a:tr h="324023">
                <a:tc>
                  <a:txBody>
                    <a:bodyPr/>
                    <a:lstStyle/>
                    <a:p>
                      <a:pPr algn="ctr">
                        <a:lnSpc>
                          <a:spcPct val="107000"/>
                        </a:lnSpc>
                        <a:spcAft>
                          <a:spcPts val="800"/>
                        </a:spcAft>
                      </a:pPr>
                      <a:r>
                        <a:rPr lang="en-IN" sz="1800" kern="100">
                          <a:effectLst/>
                        </a:rPr>
                        <a:t>2</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Explain Key-Value pair Database.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LO1</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67994774"/>
                  </a:ext>
                </a:extLst>
              </a:tr>
              <a:tr h="324023">
                <a:tc>
                  <a:txBody>
                    <a:bodyPr/>
                    <a:lstStyle/>
                    <a:p>
                      <a:pPr algn="ctr">
                        <a:lnSpc>
                          <a:spcPct val="107000"/>
                        </a:lnSpc>
                        <a:spcAft>
                          <a:spcPts val="800"/>
                        </a:spcAft>
                      </a:pPr>
                      <a:r>
                        <a:rPr lang="en-IN" sz="1800" kern="100" dirty="0">
                          <a:effectLst/>
                        </a:rPr>
                        <a:t>3</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Explain </a:t>
                      </a:r>
                      <a:r>
                        <a:rPr lang="en-GB" sz="1800" kern="100" dirty="0">
                          <a:effectLst/>
                        </a:rPr>
                        <a:t>Column-oriented databases.</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LO1</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80877117"/>
                  </a:ext>
                </a:extLst>
              </a:tr>
              <a:tr h="324023">
                <a:tc>
                  <a:txBody>
                    <a:bodyPr/>
                    <a:lstStyle/>
                    <a:p>
                      <a:pPr algn="ctr">
                        <a:lnSpc>
                          <a:spcPct val="107000"/>
                        </a:lnSpc>
                        <a:spcAft>
                          <a:spcPts val="800"/>
                        </a:spcAft>
                      </a:pPr>
                      <a:r>
                        <a:rPr lang="en-IN" sz="1800" kern="100" dirty="0">
                          <a:effectLst/>
                        </a:rPr>
                        <a:t>4</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Explain </a:t>
                      </a:r>
                      <a:r>
                        <a:rPr lang="en-US" sz="1800" kern="100" dirty="0">
                          <a:effectLst/>
                        </a:rPr>
                        <a:t>Document-Oriented database.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LO1</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67398213"/>
                  </a:ext>
                </a:extLst>
              </a:tr>
              <a:tr h="324023">
                <a:tc>
                  <a:txBody>
                    <a:bodyPr/>
                    <a:lstStyle/>
                    <a:p>
                      <a:pPr algn="ctr">
                        <a:lnSpc>
                          <a:spcPct val="107000"/>
                        </a:lnSpc>
                        <a:spcAft>
                          <a:spcPts val="800"/>
                        </a:spcAft>
                      </a:pPr>
                      <a:r>
                        <a:rPr lang="en-IN" sz="1800" kern="100" dirty="0">
                          <a:effectLst/>
                        </a:rPr>
                        <a:t>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Explain Graph Based Database.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LO1</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03951034"/>
                  </a:ext>
                </a:extLst>
              </a:tr>
              <a:tr h="324023">
                <a:tc>
                  <a:txBody>
                    <a:bodyPr/>
                    <a:lstStyle/>
                    <a:p>
                      <a:pPr algn="ctr">
                        <a:lnSpc>
                          <a:spcPct val="107000"/>
                        </a:lnSpc>
                        <a:spcAft>
                          <a:spcPts val="800"/>
                        </a:spcAft>
                      </a:pPr>
                      <a:r>
                        <a:rPr lang="en-IN" sz="1800" kern="100" dirty="0">
                          <a:effectLst/>
                        </a:rPr>
                        <a:t>6</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Explain Concurrency and integration with an example.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LO3</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52948805"/>
                  </a:ext>
                </a:extLst>
              </a:tr>
              <a:tr h="324023">
                <a:tc>
                  <a:txBody>
                    <a:bodyPr/>
                    <a:lstStyle/>
                    <a:p>
                      <a:pPr algn="ctr">
                        <a:lnSpc>
                          <a:spcPct val="107000"/>
                        </a:lnSpc>
                        <a:spcAft>
                          <a:spcPts val="800"/>
                        </a:spcAft>
                      </a:pPr>
                      <a:r>
                        <a:rPr lang="en-IN" sz="1800" kern="100" dirty="0">
                          <a:effectLst/>
                        </a:rPr>
                        <a:t>7</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Explain ACID Properties with an example.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LO2</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11300929"/>
                  </a:ext>
                </a:extLst>
              </a:tr>
              <a:tr h="324023">
                <a:tc>
                  <a:txBody>
                    <a:bodyPr/>
                    <a:lstStyle/>
                    <a:p>
                      <a:pPr algn="ctr">
                        <a:lnSpc>
                          <a:spcPct val="107000"/>
                        </a:lnSpc>
                        <a:spcAft>
                          <a:spcPts val="800"/>
                        </a:spcAft>
                      </a:pPr>
                      <a:r>
                        <a:rPr lang="en-IN" sz="1800" kern="100" dirty="0">
                          <a:effectLst/>
                        </a:rPr>
                        <a:t>8</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Describe the history of NoSQL.</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LO4</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8693914"/>
                  </a:ext>
                </a:extLst>
              </a:tr>
              <a:tr h="324023">
                <a:tc>
                  <a:txBody>
                    <a:bodyPr/>
                    <a:lstStyle/>
                    <a:p>
                      <a:pPr algn="ctr">
                        <a:lnSpc>
                          <a:spcPct val="107000"/>
                        </a:lnSpc>
                        <a:spcAft>
                          <a:spcPts val="800"/>
                        </a:spcAft>
                      </a:pPr>
                      <a:r>
                        <a:rPr lang="en-IN" sz="1800" kern="100" dirty="0">
                          <a:effectLst/>
                        </a:rPr>
                        <a:t>9</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IN" sz="1800" kern="100" dirty="0">
                          <a:effectLst/>
                        </a:rPr>
                        <a:t>List the feature of NoSQL.</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n-IN" sz="1800" kern="100" dirty="0">
                          <a:effectLst/>
                        </a:rPr>
                        <a:t>LO4</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24778714"/>
                  </a:ext>
                </a:extLst>
              </a:tr>
            </a:tbl>
          </a:graphicData>
        </a:graphic>
      </p:graphicFrame>
    </p:spTree>
    <p:extLst>
      <p:ext uri="{BB962C8B-B14F-4D97-AF65-F5344CB8AC3E}">
        <p14:creationId xmlns:p14="http://schemas.microsoft.com/office/powerpoint/2010/main" val="3521671311"/>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pPr/>
              <a:t>99</a:t>
            </a:fld>
            <a:endParaRPr lang="en-US"/>
          </a:p>
        </p:txBody>
      </p:sp>
      <p:pic>
        <p:nvPicPr>
          <p:cNvPr id="17410" name="Picture 2" descr="Clustering of graphs and search of assemblages"/>
          <p:cNvPicPr>
            <a:picLocks noChangeAspect="1" noChangeArrowheads="1"/>
          </p:cNvPicPr>
          <p:nvPr/>
        </p:nvPicPr>
        <p:blipFill rotWithShape="1">
          <a:blip r:embed="rId2">
            <a:extLst>
              <a:ext uri="{28A0092B-C50C-407E-A947-70E740481C1C}">
                <a14:useLocalDpi xmlns:a14="http://schemas.microsoft.com/office/drawing/2010/main" val="0"/>
              </a:ext>
            </a:extLst>
          </a:blip>
          <a:srcRect t="6666" b="17778"/>
          <a:stretch/>
        </p:blipFill>
        <p:spPr bwMode="auto">
          <a:xfrm>
            <a:off x="-1" y="457200"/>
            <a:ext cx="9134477" cy="5181600"/>
          </a:xfrm>
          <a:prstGeom prst="rect">
            <a:avLst/>
          </a:prstGeom>
          <a:extLst>
            <a:ext uri="{909E8E84-426E-40DD-AFC4-6F175D3DCCD1}">
              <a14:hiddenFill xmlns:a14="http://schemas.microsoft.com/office/drawing/2010/main">
                <a:solidFill>
                  <a:srgbClr val="FFFFFF"/>
                </a:solidFill>
              </a14:hiddenFill>
            </a:ext>
          </a:extLst>
        </p:spPr>
      </p:pic>
      <p:sp>
        <p:nvSpPr>
          <p:cNvPr id="2" name="Footer Placeholder 1">
            <a:extLst>
              <a:ext uri="{FF2B5EF4-FFF2-40B4-BE49-F238E27FC236}">
                <a16:creationId xmlns:a16="http://schemas.microsoft.com/office/drawing/2014/main" id="{06D4F69F-5146-49E3-921C-42C19CDF0728}"/>
              </a:ext>
            </a:extLst>
          </p:cNvPr>
          <p:cNvSpPr>
            <a:spLocks noGrp="1"/>
          </p:cNvSpPr>
          <p:nvPr>
            <p:ph type="ftr" sz="quarter" idx="11"/>
          </p:nvPr>
        </p:nvSpPr>
        <p:spPr/>
        <p:txBody>
          <a:bodyPr/>
          <a:lstStyle/>
          <a:p>
            <a:r>
              <a:rPr lang="en-US" dirty="0"/>
              <a:t>CSE3513 NoSQL Data Management</a:t>
            </a:r>
          </a:p>
        </p:txBody>
      </p:sp>
    </p:spTree>
    <p:extLst>
      <p:ext uri="{BB962C8B-B14F-4D97-AF65-F5344CB8AC3E}">
        <p14:creationId xmlns:p14="http://schemas.microsoft.com/office/powerpoint/2010/main" val="1639119821"/>
      </p:ext>
    </p:extLst>
  </p:cSld>
  <p:clrMapOvr>
    <a:masterClrMapping/>
  </p:clrMapOvr>
  <p:timing>
    <p:tnLst>
      <p:par>
        <p:cTn id="1" dur="indefinite" restart="never" nodeType="tmRoot"/>
      </p:par>
    </p:tnLst>
  </p:timing>
</p:sld>
</file>

<file path=ppt/theme/theme1.xml><?xml version="1.0" encoding="utf-8"?>
<a:theme xmlns:a="http://schemas.openxmlformats.org/drawingml/2006/main" name="Thiru_Regular">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2">
      <a:majorFont>
        <a:latin typeface="Calibri"/>
        <a:ea typeface=""/>
        <a:cs typeface=""/>
        <a:font script="Jpan" typeface="HGｺﾞｼｯｸM"/>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Cambria"/>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iru_Regular" id="{8307898E-903F-4964-A0DF-A6DCECB060AB}" vid="{55A8074A-D5AE-4568-A496-E28AC65B10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5095C7B49EE1146AAA8C8462146272B" ma:contentTypeVersion="13" ma:contentTypeDescription="Create a new document." ma:contentTypeScope="" ma:versionID="8fbffbc479621829441d6d4dd2e82675">
  <xsd:schema xmlns:xsd="http://www.w3.org/2001/XMLSchema" xmlns:xs="http://www.w3.org/2001/XMLSchema" xmlns:p="http://schemas.microsoft.com/office/2006/metadata/properties" xmlns:ns2="d256e026-6fec-4aae-99b6-8461207f8c96" xmlns:ns3="34af669e-4748-4732-b330-41524f39faf0" targetNamespace="http://schemas.microsoft.com/office/2006/metadata/properties" ma:root="true" ma:fieldsID="af9eab97b86410be42d0a81c39848e2f" ns2:_="" ns3:_="">
    <xsd:import namespace="d256e026-6fec-4aae-99b6-8461207f8c96"/>
    <xsd:import namespace="34af669e-4748-4732-b330-41524f39faf0"/>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56e026-6fec-4aae-99b6-8461207f8c9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e15fc21-9b6e-469d-a2ab-87c63061b4a9}" ma:internalName="TaxCatchAll" ma:showField="CatchAllData" ma:web="d256e026-6fec-4aae-99b6-8461207f8c9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4af669e-4748-4732-b330-41524f39faf0"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4af669e-4748-4732-b330-41524f39faf0">
      <Terms xmlns="http://schemas.microsoft.com/office/infopath/2007/PartnerControls"/>
    </lcf76f155ced4ddcb4097134ff3c332f>
    <TaxCatchAll xmlns="d256e026-6fec-4aae-99b6-8461207f8c9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BD5350E-A17E-4EA1-870B-737693FEC17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56e026-6fec-4aae-99b6-8461207f8c96"/>
    <ds:schemaRef ds:uri="34af669e-4748-4732-b330-41524f39faf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5DFE7C8-44AE-4CA0-BC1C-D7A115A2224E}">
  <ds:schemaRefs>
    <ds:schemaRef ds:uri="http://schemas.microsoft.com/office/2006/metadata/properties"/>
    <ds:schemaRef ds:uri="d256e026-6fec-4aae-99b6-8461207f8c96"/>
    <ds:schemaRef ds:uri="http://purl.org/dc/terms/"/>
    <ds:schemaRef ds:uri="http://purl.org/dc/elements/1.1/"/>
    <ds:schemaRef ds:uri="http://www.w3.org/XML/1998/namespace"/>
    <ds:schemaRef ds:uri="http://schemas.microsoft.com/office/2006/documentManagement/types"/>
    <ds:schemaRef ds:uri="http://purl.org/dc/dcmitype/"/>
    <ds:schemaRef ds:uri="http://schemas.microsoft.com/office/infopath/2007/PartnerControls"/>
    <ds:schemaRef ds:uri="http://schemas.openxmlformats.org/package/2006/metadata/core-properties"/>
    <ds:schemaRef ds:uri="34af669e-4748-4732-b330-41524f39faf0"/>
  </ds:schemaRefs>
</ds:datastoreItem>
</file>

<file path=customXml/itemProps3.xml><?xml version="1.0" encoding="utf-8"?>
<ds:datastoreItem xmlns:ds="http://schemas.openxmlformats.org/officeDocument/2006/customXml" ds:itemID="{C0FDA373-D5CF-4F0F-A826-9892AA050C9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13238</TotalTime>
  <Words>7126</Words>
  <Application>Microsoft Office PowerPoint</Application>
  <PresentationFormat>On-screen Show (4:3)</PresentationFormat>
  <Paragraphs>1118</Paragraphs>
  <Slides>99</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99</vt:i4>
      </vt:variant>
    </vt:vector>
  </HeadingPairs>
  <TitlesOfParts>
    <vt:vector size="109" baseType="lpstr">
      <vt:lpstr>Aptos</vt:lpstr>
      <vt:lpstr>Arial</vt:lpstr>
      <vt:lpstr>Arial Unicode MS</vt:lpstr>
      <vt:lpstr>Bookman Old Style</vt:lpstr>
      <vt:lpstr>Calibri</vt:lpstr>
      <vt:lpstr>Cambria</vt:lpstr>
      <vt:lpstr>Courier New</vt:lpstr>
      <vt:lpstr>Times New Roman</vt:lpstr>
      <vt:lpstr>Wingdings</vt:lpstr>
      <vt:lpstr>Thiru_Regular</vt:lpstr>
      <vt:lpstr>PowerPoint Presentation</vt:lpstr>
      <vt:lpstr>Module 2 : Distributed Data Systems and Consistency Models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Thiruselvan Subramanian</dc:creator>
  <cp:lastModifiedBy>HP</cp:lastModifiedBy>
  <cp:revision>456</cp:revision>
  <dcterms:created xsi:type="dcterms:W3CDTF">2006-08-16T00:00:00Z</dcterms:created>
  <dcterms:modified xsi:type="dcterms:W3CDTF">2025-09-22T11:00:24Z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0x010100E5095C7B49EE1146AAA8C8462146272B</vt:lpwstr>
  </property>
</Properties>
</file>