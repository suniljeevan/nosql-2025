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118"/>
  </p:notesMasterIdLst>
  <p:handoutMasterIdLst>
    <p:handoutMasterId r:id="rId119"/>
  </p:handoutMasterIdLst>
  <p:sldIdLst>
    <p:sldId id="256" r:id="rId5"/>
    <p:sldId id="434" r:id="rId6"/>
    <p:sldId id="584" r:id="rId7"/>
    <p:sldId id="655" r:id="rId8"/>
    <p:sldId id="436" r:id="rId9"/>
    <p:sldId id="656" r:id="rId10"/>
    <p:sldId id="664" r:id="rId11"/>
    <p:sldId id="665" r:id="rId12"/>
    <p:sldId id="671" r:id="rId13"/>
    <p:sldId id="672" r:id="rId14"/>
    <p:sldId id="673" r:id="rId15"/>
    <p:sldId id="674" r:id="rId16"/>
    <p:sldId id="804" r:id="rId17"/>
    <p:sldId id="805" r:id="rId18"/>
    <p:sldId id="657" r:id="rId19"/>
    <p:sldId id="688" r:id="rId20"/>
    <p:sldId id="666" r:id="rId21"/>
    <p:sldId id="725" r:id="rId22"/>
    <p:sldId id="800" r:id="rId23"/>
    <p:sldId id="801" r:id="rId24"/>
    <p:sldId id="802" r:id="rId25"/>
    <p:sldId id="803" r:id="rId26"/>
    <p:sldId id="726" r:id="rId27"/>
    <p:sldId id="727" r:id="rId28"/>
    <p:sldId id="793" r:id="rId29"/>
    <p:sldId id="794" r:id="rId30"/>
    <p:sldId id="795" r:id="rId31"/>
    <p:sldId id="796" r:id="rId32"/>
    <p:sldId id="797" r:id="rId33"/>
    <p:sldId id="798" r:id="rId34"/>
    <p:sldId id="799" r:id="rId35"/>
    <p:sldId id="728" r:id="rId36"/>
    <p:sldId id="736" r:id="rId37"/>
    <p:sldId id="737" r:id="rId38"/>
    <p:sldId id="667" r:id="rId39"/>
    <p:sldId id="743" r:id="rId40"/>
    <p:sldId id="744" r:id="rId41"/>
    <p:sldId id="745" r:id="rId42"/>
    <p:sldId id="746" r:id="rId43"/>
    <p:sldId id="747" r:id="rId44"/>
    <p:sldId id="748" r:id="rId45"/>
    <p:sldId id="749" r:id="rId46"/>
    <p:sldId id="750" r:id="rId47"/>
    <p:sldId id="668" r:id="rId48"/>
    <p:sldId id="758" r:id="rId49"/>
    <p:sldId id="759" r:id="rId50"/>
    <p:sldId id="760" r:id="rId51"/>
    <p:sldId id="761" r:id="rId52"/>
    <p:sldId id="762" r:id="rId53"/>
    <p:sldId id="763" r:id="rId54"/>
    <p:sldId id="669" r:id="rId55"/>
    <p:sldId id="773" r:id="rId56"/>
    <p:sldId id="774" r:id="rId57"/>
    <p:sldId id="775" r:id="rId58"/>
    <p:sldId id="670" r:id="rId59"/>
    <p:sldId id="658" r:id="rId60"/>
    <p:sldId id="675" r:id="rId61"/>
    <p:sldId id="676" r:id="rId62"/>
    <p:sldId id="683" r:id="rId63"/>
    <p:sldId id="677" r:id="rId64"/>
    <p:sldId id="684" r:id="rId65"/>
    <p:sldId id="685" r:id="rId66"/>
    <p:sldId id="686" r:id="rId67"/>
    <p:sldId id="687" r:id="rId68"/>
    <p:sldId id="689" r:id="rId69"/>
    <p:sldId id="696" r:id="rId70"/>
    <p:sldId id="697" r:id="rId71"/>
    <p:sldId id="698" r:id="rId72"/>
    <p:sldId id="699" r:id="rId73"/>
    <p:sldId id="695" r:id="rId74"/>
    <p:sldId id="719" r:id="rId75"/>
    <p:sldId id="720" r:id="rId76"/>
    <p:sldId id="721" r:id="rId77"/>
    <p:sldId id="722" r:id="rId78"/>
    <p:sldId id="723" r:id="rId79"/>
    <p:sldId id="724" r:id="rId80"/>
    <p:sldId id="751" r:id="rId81"/>
    <p:sldId id="752" r:id="rId82"/>
    <p:sldId id="753" r:id="rId83"/>
    <p:sldId id="754" r:id="rId84"/>
    <p:sldId id="755" r:id="rId85"/>
    <p:sldId id="756" r:id="rId86"/>
    <p:sldId id="757" r:id="rId87"/>
    <p:sldId id="764" r:id="rId88"/>
    <p:sldId id="765" r:id="rId89"/>
    <p:sldId id="766" r:id="rId90"/>
    <p:sldId id="767" r:id="rId91"/>
    <p:sldId id="768" r:id="rId92"/>
    <p:sldId id="769" r:id="rId93"/>
    <p:sldId id="770" r:id="rId94"/>
    <p:sldId id="771" r:id="rId95"/>
    <p:sldId id="772" r:id="rId96"/>
    <p:sldId id="776" r:id="rId97"/>
    <p:sldId id="788" r:id="rId98"/>
    <p:sldId id="789" r:id="rId99"/>
    <p:sldId id="777" r:id="rId100"/>
    <p:sldId id="792" r:id="rId101"/>
    <p:sldId id="779" r:id="rId102"/>
    <p:sldId id="780" r:id="rId103"/>
    <p:sldId id="790" r:id="rId104"/>
    <p:sldId id="781" r:id="rId105"/>
    <p:sldId id="791" r:id="rId106"/>
    <p:sldId id="783" r:id="rId107"/>
    <p:sldId id="661" r:id="rId108"/>
    <p:sldId id="662" r:id="rId109"/>
    <p:sldId id="784" r:id="rId110"/>
    <p:sldId id="785" r:id="rId111"/>
    <p:sldId id="786" r:id="rId112"/>
    <p:sldId id="680" r:id="rId113"/>
    <p:sldId id="678" r:id="rId114"/>
    <p:sldId id="679" r:id="rId115"/>
    <p:sldId id="681" r:id="rId116"/>
    <p:sldId id="300" r:id="rId1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28" autoAdjust="0"/>
    <p:restoredTop sz="94660"/>
  </p:normalViewPr>
  <p:slideViewPr>
    <p:cSldViewPr>
      <p:cViewPr varScale="1">
        <p:scale>
          <a:sx n="80" d="100"/>
          <a:sy n="80" d="100"/>
        </p:scale>
        <p:origin x="144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notesMaster" Target="notesMasters/notesMaster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microsoft.com/office/2016/11/relationships/changesInfo" Target="changesInfos/changesInfo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handoutMaster" Target="handoutMasters/handoutMaster1.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viewProps" Target="viewProp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Deepak S Sakkari Assistant Professor( CSE)" userId="6d73bcb8-5d92-40b8-9132-40f6303b79fc" providerId="ADAL" clId="{6A6CE88C-C1CC-4F3A-B486-05240001B6BF}"/>
    <pc:docChg chg="undo custSel delSld modSld modMainMaster">
      <pc:chgData name="Dr. Deepak S Sakkari Assistant Professor( CSE)" userId="6d73bcb8-5d92-40b8-9132-40f6303b79fc" providerId="ADAL" clId="{6A6CE88C-C1CC-4F3A-B486-05240001B6BF}" dt="2020-08-16T18:15:17.333" v="987" actId="1038"/>
      <pc:docMkLst>
        <pc:docMk/>
      </pc:docMkLst>
      <pc:sldChg chg="modSp">
        <pc:chgData name="Dr. Deepak S Sakkari Assistant Professor( CSE)" userId="6d73bcb8-5d92-40b8-9132-40f6303b79fc" providerId="ADAL" clId="{6A6CE88C-C1CC-4F3A-B486-05240001B6BF}" dt="2020-08-16T17:23:01.850" v="61" actId="404"/>
        <pc:sldMkLst>
          <pc:docMk/>
          <pc:sldMk cId="644196155" sldId="257"/>
        </pc:sldMkLst>
        <pc:spChg chg="mod">
          <ac:chgData name="Dr. Deepak S Sakkari Assistant Professor( CSE)" userId="6d73bcb8-5d92-40b8-9132-40f6303b79fc" providerId="ADAL" clId="{6A6CE88C-C1CC-4F3A-B486-05240001B6BF}" dt="2020-08-16T17:23:01.850" v="61" actId="404"/>
          <ac:spMkLst>
            <pc:docMk/>
            <pc:sldMk cId="644196155" sldId="257"/>
            <ac:spMk id="3" creationId="{00000000-0000-0000-0000-000000000000}"/>
          </ac:spMkLst>
        </pc:spChg>
      </pc:sldChg>
      <pc:sldChg chg="modSp mod">
        <pc:chgData name="Dr. Deepak S Sakkari Assistant Professor( CSE)" userId="6d73bcb8-5d92-40b8-9132-40f6303b79fc" providerId="ADAL" clId="{6A6CE88C-C1CC-4F3A-B486-05240001B6BF}" dt="2020-08-16T17:29:27.503" v="93" actId="948"/>
        <pc:sldMkLst>
          <pc:docMk/>
          <pc:sldMk cId="799294713" sldId="258"/>
        </pc:sldMkLst>
        <pc:spChg chg="mod">
          <ac:chgData name="Dr. Deepak S Sakkari Assistant Professor( CSE)" userId="6d73bcb8-5d92-40b8-9132-40f6303b79fc" providerId="ADAL" clId="{6A6CE88C-C1CC-4F3A-B486-05240001B6BF}" dt="2020-08-16T17:29:27.503" v="93" actId="948"/>
          <ac:spMkLst>
            <pc:docMk/>
            <pc:sldMk cId="799294713" sldId="258"/>
            <ac:spMk id="3" creationId="{00000000-0000-0000-0000-000000000000}"/>
          </ac:spMkLst>
        </pc:spChg>
      </pc:sldChg>
      <pc:sldChg chg="modSp del mod">
        <pc:chgData name="Dr. Deepak S Sakkari Assistant Professor( CSE)" userId="6d73bcb8-5d92-40b8-9132-40f6303b79fc" providerId="ADAL" clId="{6A6CE88C-C1CC-4F3A-B486-05240001B6BF}" dt="2020-08-16T17:29:41.157" v="94" actId="2696"/>
        <pc:sldMkLst>
          <pc:docMk/>
          <pc:sldMk cId="2963534272" sldId="259"/>
        </pc:sldMkLst>
        <pc:spChg chg="mod">
          <ac:chgData name="Dr. Deepak S Sakkari Assistant Professor( CSE)" userId="6d73bcb8-5d92-40b8-9132-40f6303b79fc" providerId="ADAL" clId="{6A6CE88C-C1CC-4F3A-B486-05240001B6BF}" dt="2020-08-16T17:28:28.561" v="87" actId="21"/>
          <ac:spMkLst>
            <pc:docMk/>
            <pc:sldMk cId="2963534272" sldId="259"/>
            <ac:spMk id="3" creationId="{00000000-0000-0000-0000-000000000000}"/>
          </ac:spMkLst>
        </pc:spChg>
      </pc:sldChg>
      <pc:sldChg chg="modSp mod">
        <pc:chgData name="Dr. Deepak S Sakkari Assistant Professor( CSE)" userId="6d73bcb8-5d92-40b8-9132-40f6303b79fc" providerId="ADAL" clId="{6A6CE88C-C1CC-4F3A-B486-05240001B6BF}" dt="2020-08-16T17:30:03.381" v="98" actId="20577"/>
        <pc:sldMkLst>
          <pc:docMk/>
          <pc:sldMk cId="3981172752" sldId="260"/>
        </pc:sldMkLst>
        <pc:spChg chg="mod">
          <ac:chgData name="Dr. Deepak S Sakkari Assistant Professor( CSE)" userId="6d73bcb8-5d92-40b8-9132-40f6303b79fc" providerId="ADAL" clId="{6A6CE88C-C1CC-4F3A-B486-05240001B6BF}" dt="2020-08-16T17:30:03.381" v="98" actId="20577"/>
          <ac:spMkLst>
            <pc:docMk/>
            <pc:sldMk cId="3981172752" sldId="260"/>
            <ac:spMk id="3" creationId="{00000000-0000-0000-0000-000000000000}"/>
          </ac:spMkLst>
        </pc:spChg>
      </pc:sldChg>
      <pc:sldChg chg="modSp del">
        <pc:chgData name="Dr. Deepak S Sakkari Assistant Professor( CSE)" userId="6d73bcb8-5d92-40b8-9132-40f6303b79fc" providerId="ADAL" clId="{6A6CE88C-C1CC-4F3A-B486-05240001B6BF}" dt="2020-08-16T17:30:44.627" v="99" actId="2696"/>
        <pc:sldMkLst>
          <pc:docMk/>
          <pc:sldMk cId="3009021097" sldId="261"/>
        </pc:sldMkLst>
        <pc:spChg chg="mod">
          <ac:chgData name="Dr. Deepak S Sakkari Assistant Professor( CSE)" userId="6d73bcb8-5d92-40b8-9132-40f6303b79fc" providerId="ADAL" clId="{6A6CE88C-C1CC-4F3A-B486-05240001B6BF}" dt="2020-08-16T17:24:40.253" v="69" actId="404"/>
          <ac:spMkLst>
            <pc:docMk/>
            <pc:sldMk cId="3009021097" sldId="261"/>
            <ac:spMk id="3" creationId="{00000000-0000-0000-0000-000000000000}"/>
          </ac:spMkLst>
        </pc:spChg>
      </pc:sldChg>
      <pc:sldChg chg="modSp">
        <pc:chgData name="Dr. Deepak S Sakkari Assistant Professor( CSE)" userId="6d73bcb8-5d92-40b8-9132-40f6303b79fc" providerId="ADAL" clId="{6A6CE88C-C1CC-4F3A-B486-05240001B6BF}" dt="2020-08-16T17:24:56.926" v="72" actId="404"/>
        <pc:sldMkLst>
          <pc:docMk/>
          <pc:sldMk cId="1345660431" sldId="262"/>
        </pc:sldMkLst>
        <pc:spChg chg="mod">
          <ac:chgData name="Dr. Deepak S Sakkari Assistant Professor( CSE)" userId="6d73bcb8-5d92-40b8-9132-40f6303b79fc" providerId="ADAL" clId="{6A6CE88C-C1CC-4F3A-B486-05240001B6BF}" dt="2020-08-16T17:24:56.926" v="72" actId="404"/>
          <ac:spMkLst>
            <pc:docMk/>
            <pc:sldMk cId="1345660431" sldId="262"/>
            <ac:spMk id="3" creationId="{00000000-0000-0000-0000-000000000000}"/>
          </ac:spMkLst>
        </pc:spChg>
      </pc:sldChg>
      <pc:sldChg chg="modSp mod">
        <pc:chgData name="Dr. Deepak S Sakkari Assistant Professor( CSE)" userId="6d73bcb8-5d92-40b8-9132-40f6303b79fc" providerId="ADAL" clId="{6A6CE88C-C1CC-4F3A-B486-05240001B6BF}" dt="2020-08-16T17:32:48.352" v="105" actId="20577"/>
        <pc:sldMkLst>
          <pc:docMk/>
          <pc:sldMk cId="2264661524" sldId="263"/>
        </pc:sldMkLst>
        <pc:spChg chg="mod">
          <ac:chgData name="Dr. Deepak S Sakkari Assistant Professor( CSE)" userId="6d73bcb8-5d92-40b8-9132-40f6303b79fc" providerId="ADAL" clId="{6A6CE88C-C1CC-4F3A-B486-05240001B6BF}" dt="2020-08-16T17:32:48.352" v="105" actId="20577"/>
          <ac:spMkLst>
            <pc:docMk/>
            <pc:sldMk cId="2264661524" sldId="263"/>
            <ac:spMk id="3" creationId="{00000000-0000-0000-0000-000000000000}"/>
          </ac:spMkLst>
        </pc:spChg>
      </pc:sldChg>
      <pc:sldChg chg="modSp mod">
        <pc:chgData name="Dr. Deepak S Sakkari Assistant Professor( CSE)" userId="6d73bcb8-5d92-40b8-9132-40f6303b79fc" providerId="ADAL" clId="{6A6CE88C-C1CC-4F3A-B486-05240001B6BF}" dt="2020-08-16T17:33:55.233" v="118" actId="20577"/>
        <pc:sldMkLst>
          <pc:docMk/>
          <pc:sldMk cId="2700791281" sldId="264"/>
        </pc:sldMkLst>
        <pc:spChg chg="mod">
          <ac:chgData name="Dr. Deepak S Sakkari Assistant Professor( CSE)" userId="6d73bcb8-5d92-40b8-9132-40f6303b79fc" providerId="ADAL" clId="{6A6CE88C-C1CC-4F3A-B486-05240001B6BF}" dt="2020-08-16T17:33:55.233" v="118" actId="20577"/>
          <ac:spMkLst>
            <pc:docMk/>
            <pc:sldMk cId="2700791281" sldId="264"/>
            <ac:spMk id="3" creationId="{00000000-0000-0000-0000-000000000000}"/>
          </ac:spMkLst>
        </pc:spChg>
      </pc:sldChg>
      <pc:sldChg chg="modSp del">
        <pc:chgData name="Dr. Deepak S Sakkari Assistant Professor( CSE)" userId="6d73bcb8-5d92-40b8-9132-40f6303b79fc" providerId="ADAL" clId="{6A6CE88C-C1CC-4F3A-B486-05240001B6BF}" dt="2020-08-16T17:34:31.051" v="119" actId="2696"/>
        <pc:sldMkLst>
          <pc:docMk/>
          <pc:sldMk cId="656789598" sldId="265"/>
        </pc:sldMkLst>
        <pc:spChg chg="mod">
          <ac:chgData name="Dr. Deepak S Sakkari Assistant Professor( CSE)" userId="6d73bcb8-5d92-40b8-9132-40f6303b79fc" providerId="ADAL" clId="{6A6CE88C-C1CC-4F3A-B486-05240001B6BF}" dt="2020-08-16T17:33:11.076" v="108" actId="404"/>
          <ac:spMkLst>
            <pc:docMk/>
            <pc:sldMk cId="656789598" sldId="265"/>
            <ac:spMk id="3" creationId="{00000000-0000-0000-0000-000000000000}"/>
          </ac:spMkLst>
        </pc:spChg>
      </pc:sldChg>
      <pc:sldChg chg="modSp">
        <pc:chgData name="Dr. Deepak S Sakkari Assistant Professor( CSE)" userId="6d73bcb8-5d92-40b8-9132-40f6303b79fc" providerId="ADAL" clId="{6A6CE88C-C1CC-4F3A-B486-05240001B6BF}" dt="2020-08-16T17:34:51.629" v="123" actId="1076"/>
        <pc:sldMkLst>
          <pc:docMk/>
          <pc:sldMk cId="1334666043" sldId="266"/>
        </pc:sldMkLst>
        <pc:spChg chg="mod">
          <ac:chgData name="Dr. Deepak S Sakkari Assistant Professor( CSE)" userId="6d73bcb8-5d92-40b8-9132-40f6303b79fc" providerId="ADAL" clId="{6A6CE88C-C1CC-4F3A-B486-05240001B6BF}" dt="2020-08-16T17:34:45.323" v="122" actId="404"/>
          <ac:spMkLst>
            <pc:docMk/>
            <pc:sldMk cId="1334666043" sldId="266"/>
            <ac:spMk id="7" creationId="{00000000-0000-0000-0000-000000000000}"/>
          </ac:spMkLst>
        </pc:spChg>
        <pc:picChg chg="mod">
          <ac:chgData name="Dr. Deepak S Sakkari Assistant Professor( CSE)" userId="6d73bcb8-5d92-40b8-9132-40f6303b79fc" providerId="ADAL" clId="{6A6CE88C-C1CC-4F3A-B486-05240001B6BF}" dt="2020-08-16T17:34:51.629" v="123" actId="1076"/>
          <ac:picMkLst>
            <pc:docMk/>
            <pc:sldMk cId="1334666043" sldId="266"/>
            <ac:picMk id="1025" creationId="{00000000-0000-0000-0000-000000000000}"/>
          </ac:picMkLst>
        </pc:picChg>
      </pc:sldChg>
      <pc:sldChg chg="modSp mod">
        <pc:chgData name="Dr. Deepak S Sakkari Assistant Professor( CSE)" userId="6d73bcb8-5d92-40b8-9132-40f6303b79fc" providerId="ADAL" clId="{6A6CE88C-C1CC-4F3A-B486-05240001B6BF}" dt="2020-08-16T17:41:22.280" v="339" actId="1076"/>
        <pc:sldMkLst>
          <pc:docMk/>
          <pc:sldMk cId="3898763255" sldId="267"/>
        </pc:sldMkLst>
        <pc:graphicFrameChg chg="mod modGraphic">
          <ac:chgData name="Dr. Deepak S Sakkari Assistant Professor( CSE)" userId="6d73bcb8-5d92-40b8-9132-40f6303b79fc" providerId="ADAL" clId="{6A6CE88C-C1CC-4F3A-B486-05240001B6BF}" dt="2020-08-16T17:41:22.280" v="339" actId="1076"/>
          <ac:graphicFrameMkLst>
            <pc:docMk/>
            <pc:sldMk cId="3898763255" sldId="267"/>
            <ac:graphicFrameMk id="5" creationId="{00000000-0000-0000-0000-000000000000}"/>
          </ac:graphicFrameMkLst>
        </pc:graphicFrameChg>
      </pc:sldChg>
      <pc:sldChg chg="modSp">
        <pc:chgData name="Dr. Deepak S Sakkari Assistant Professor( CSE)" userId="6d73bcb8-5d92-40b8-9132-40f6303b79fc" providerId="ADAL" clId="{6A6CE88C-C1CC-4F3A-B486-05240001B6BF}" dt="2020-08-16T17:41:32.429" v="342" actId="404"/>
        <pc:sldMkLst>
          <pc:docMk/>
          <pc:sldMk cId="201611570" sldId="268"/>
        </pc:sldMkLst>
        <pc:spChg chg="mod">
          <ac:chgData name="Dr. Deepak S Sakkari Assistant Professor( CSE)" userId="6d73bcb8-5d92-40b8-9132-40f6303b79fc" providerId="ADAL" clId="{6A6CE88C-C1CC-4F3A-B486-05240001B6BF}" dt="2020-08-16T17:41:32.429" v="342" actId="404"/>
          <ac:spMkLst>
            <pc:docMk/>
            <pc:sldMk cId="201611570" sldId="268"/>
            <ac:spMk id="3" creationId="{00000000-0000-0000-0000-000000000000}"/>
          </ac:spMkLst>
        </pc:spChg>
      </pc:sldChg>
      <pc:sldChg chg="modSp">
        <pc:chgData name="Dr. Deepak S Sakkari Assistant Professor( CSE)" userId="6d73bcb8-5d92-40b8-9132-40f6303b79fc" providerId="ADAL" clId="{6A6CE88C-C1CC-4F3A-B486-05240001B6BF}" dt="2020-08-16T17:41:50.936" v="345" actId="404"/>
        <pc:sldMkLst>
          <pc:docMk/>
          <pc:sldMk cId="3824667293" sldId="269"/>
        </pc:sldMkLst>
        <pc:spChg chg="mod">
          <ac:chgData name="Dr. Deepak S Sakkari Assistant Professor( CSE)" userId="6d73bcb8-5d92-40b8-9132-40f6303b79fc" providerId="ADAL" clId="{6A6CE88C-C1CC-4F3A-B486-05240001B6BF}" dt="2020-08-16T17:41:50.936" v="345" actId="404"/>
          <ac:spMkLst>
            <pc:docMk/>
            <pc:sldMk cId="3824667293" sldId="269"/>
            <ac:spMk id="3" creationId="{00000000-0000-0000-0000-000000000000}"/>
          </ac:spMkLst>
        </pc:spChg>
      </pc:sldChg>
      <pc:sldChg chg="modSp">
        <pc:chgData name="Dr. Deepak S Sakkari Assistant Professor( CSE)" userId="6d73bcb8-5d92-40b8-9132-40f6303b79fc" providerId="ADAL" clId="{6A6CE88C-C1CC-4F3A-B486-05240001B6BF}" dt="2020-08-16T18:15:17.333" v="987" actId="1038"/>
        <pc:sldMkLst>
          <pc:docMk/>
          <pc:sldMk cId="2570284336" sldId="270"/>
        </pc:sldMkLst>
        <pc:spChg chg="mod">
          <ac:chgData name="Dr. Deepak S Sakkari Assistant Professor( CSE)" userId="6d73bcb8-5d92-40b8-9132-40f6303b79fc" providerId="ADAL" clId="{6A6CE88C-C1CC-4F3A-B486-05240001B6BF}" dt="2020-08-16T17:42:42.286" v="352"/>
          <ac:spMkLst>
            <pc:docMk/>
            <pc:sldMk cId="2570284336" sldId="270"/>
            <ac:spMk id="2" creationId="{00000000-0000-0000-0000-000000000000}"/>
          </ac:spMkLst>
        </pc:spChg>
        <pc:picChg chg="mod">
          <ac:chgData name="Dr. Deepak S Sakkari Assistant Professor( CSE)" userId="6d73bcb8-5d92-40b8-9132-40f6303b79fc" providerId="ADAL" clId="{6A6CE88C-C1CC-4F3A-B486-05240001B6BF}" dt="2020-08-16T18:15:17.333" v="987" actId="1038"/>
          <ac:picMkLst>
            <pc:docMk/>
            <pc:sldMk cId="2570284336" sldId="270"/>
            <ac:picMk id="9" creationId="{00000000-0000-0000-0000-000000000000}"/>
          </ac:picMkLst>
        </pc:picChg>
      </pc:sldChg>
      <pc:sldChg chg="modSp">
        <pc:chgData name="Dr. Deepak S Sakkari Assistant Professor( CSE)" userId="6d73bcb8-5d92-40b8-9132-40f6303b79fc" providerId="ADAL" clId="{6A6CE88C-C1CC-4F3A-B486-05240001B6BF}" dt="2020-08-16T17:44:40.982" v="376" actId="255"/>
        <pc:sldMkLst>
          <pc:docMk/>
          <pc:sldMk cId="564986561" sldId="271"/>
        </pc:sldMkLst>
        <pc:spChg chg="mod">
          <ac:chgData name="Dr. Deepak S Sakkari Assistant Professor( CSE)" userId="6d73bcb8-5d92-40b8-9132-40f6303b79fc" providerId="ADAL" clId="{6A6CE88C-C1CC-4F3A-B486-05240001B6BF}" dt="2020-08-16T17:44:40.982" v="376" actId="255"/>
          <ac:spMkLst>
            <pc:docMk/>
            <pc:sldMk cId="564986561" sldId="271"/>
            <ac:spMk id="3" creationId="{00000000-0000-0000-0000-000000000000}"/>
          </ac:spMkLst>
        </pc:spChg>
      </pc:sldChg>
      <pc:sldChg chg="modSp">
        <pc:chgData name="Dr. Deepak S Sakkari Assistant Professor( CSE)" userId="6d73bcb8-5d92-40b8-9132-40f6303b79fc" providerId="ADAL" clId="{6A6CE88C-C1CC-4F3A-B486-05240001B6BF}" dt="2020-08-16T17:42:04.443" v="348" actId="404"/>
        <pc:sldMkLst>
          <pc:docMk/>
          <pc:sldMk cId="1620829824" sldId="272"/>
        </pc:sldMkLst>
        <pc:spChg chg="mod">
          <ac:chgData name="Dr. Deepak S Sakkari Assistant Professor( CSE)" userId="6d73bcb8-5d92-40b8-9132-40f6303b79fc" providerId="ADAL" clId="{6A6CE88C-C1CC-4F3A-B486-05240001B6BF}" dt="2020-08-16T17:42:04.443" v="348" actId="404"/>
          <ac:spMkLst>
            <pc:docMk/>
            <pc:sldMk cId="1620829824" sldId="272"/>
            <ac:spMk id="3" creationId="{00000000-0000-0000-0000-000000000000}"/>
          </ac:spMkLst>
        </pc:spChg>
      </pc:sldChg>
      <pc:sldChg chg="modSp">
        <pc:chgData name="Dr. Deepak S Sakkari Assistant Professor( CSE)" userId="6d73bcb8-5d92-40b8-9132-40f6303b79fc" providerId="ADAL" clId="{6A6CE88C-C1CC-4F3A-B486-05240001B6BF}" dt="2020-08-16T17:43:54.672" v="373" actId="1036"/>
        <pc:sldMkLst>
          <pc:docMk/>
          <pc:sldMk cId="1806056552" sldId="273"/>
        </pc:sldMkLst>
        <pc:spChg chg="mod">
          <ac:chgData name="Dr. Deepak S Sakkari Assistant Professor( CSE)" userId="6d73bcb8-5d92-40b8-9132-40f6303b79fc" providerId="ADAL" clId="{6A6CE88C-C1CC-4F3A-B486-05240001B6BF}" dt="2020-08-16T17:43:54.672" v="373" actId="1036"/>
          <ac:spMkLst>
            <pc:docMk/>
            <pc:sldMk cId="1806056552" sldId="273"/>
            <ac:spMk id="3" creationId="{00000000-0000-0000-0000-000000000000}"/>
          </ac:spMkLst>
        </pc:spChg>
      </pc:sldChg>
      <pc:sldChg chg="modSp">
        <pc:chgData name="Dr. Deepak S Sakkari Assistant Professor( CSE)" userId="6d73bcb8-5d92-40b8-9132-40f6303b79fc" providerId="ADAL" clId="{6A6CE88C-C1CC-4F3A-B486-05240001B6BF}" dt="2020-08-16T17:43:06.513" v="365" actId="1035"/>
        <pc:sldMkLst>
          <pc:docMk/>
          <pc:sldMk cId="3262299342" sldId="274"/>
        </pc:sldMkLst>
        <pc:spChg chg="mod">
          <ac:chgData name="Dr. Deepak S Sakkari Assistant Professor( CSE)" userId="6d73bcb8-5d92-40b8-9132-40f6303b79fc" providerId="ADAL" clId="{6A6CE88C-C1CC-4F3A-B486-05240001B6BF}" dt="2020-08-16T17:43:06.513" v="365" actId="1035"/>
          <ac:spMkLst>
            <pc:docMk/>
            <pc:sldMk cId="3262299342" sldId="274"/>
            <ac:spMk id="3" creationId="{00000000-0000-0000-0000-000000000000}"/>
          </ac:spMkLst>
        </pc:spChg>
      </pc:sldChg>
      <pc:sldChg chg="del">
        <pc:chgData name="Dr. Deepak S Sakkari Assistant Professor( CSE)" userId="6d73bcb8-5d92-40b8-9132-40f6303b79fc" providerId="ADAL" clId="{6A6CE88C-C1CC-4F3A-B486-05240001B6BF}" dt="2020-08-16T17:43:28.398" v="366" actId="2696"/>
        <pc:sldMkLst>
          <pc:docMk/>
          <pc:sldMk cId="719903367" sldId="275"/>
        </pc:sldMkLst>
      </pc:sldChg>
      <pc:sldChg chg="modSp">
        <pc:chgData name="Dr. Deepak S Sakkari Assistant Professor( CSE)" userId="6d73bcb8-5d92-40b8-9132-40f6303b79fc" providerId="ADAL" clId="{6A6CE88C-C1CC-4F3A-B486-05240001B6BF}" dt="2020-08-16T17:44:51.369" v="378" actId="404"/>
        <pc:sldMkLst>
          <pc:docMk/>
          <pc:sldMk cId="1089540773" sldId="276"/>
        </pc:sldMkLst>
        <pc:spChg chg="mod">
          <ac:chgData name="Dr. Deepak S Sakkari Assistant Professor( CSE)" userId="6d73bcb8-5d92-40b8-9132-40f6303b79fc" providerId="ADAL" clId="{6A6CE88C-C1CC-4F3A-B486-05240001B6BF}" dt="2020-08-16T17:44:51.369" v="378" actId="404"/>
          <ac:spMkLst>
            <pc:docMk/>
            <pc:sldMk cId="1089540773" sldId="276"/>
            <ac:spMk id="3" creationId="{00000000-0000-0000-0000-000000000000}"/>
          </ac:spMkLst>
        </pc:spChg>
      </pc:sldChg>
      <pc:sldChg chg="modSp">
        <pc:chgData name="Dr. Deepak S Sakkari Assistant Professor( CSE)" userId="6d73bcb8-5d92-40b8-9132-40f6303b79fc" providerId="ADAL" clId="{6A6CE88C-C1CC-4F3A-B486-05240001B6BF}" dt="2020-08-16T17:45:07.183" v="381" actId="404"/>
        <pc:sldMkLst>
          <pc:docMk/>
          <pc:sldMk cId="2289095124" sldId="277"/>
        </pc:sldMkLst>
        <pc:spChg chg="mod">
          <ac:chgData name="Dr. Deepak S Sakkari Assistant Professor( CSE)" userId="6d73bcb8-5d92-40b8-9132-40f6303b79fc" providerId="ADAL" clId="{6A6CE88C-C1CC-4F3A-B486-05240001B6BF}" dt="2020-08-16T17:45:07.183" v="381" actId="404"/>
          <ac:spMkLst>
            <pc:docMk/>
            <pc:sldMk cId="2289095124" sldId="277"/>
            <ac:spMk id="3" creationId="{00000000-0000-0000-0000-000000000000}"/>
          </ac:spMkLst>
        </pc:spChg>
      </pc:sldChg>
      <pc:sldChg chg="modSp">
        <pc:chgData name="Dr. Deepak S Sakkari Assistant Professor( CSE)" userId="6d73bcb8-5d92-40b8-9132-40f6303b79fc" providerId="ADAL" clId="{6A6CE88C-C1CC-4F3A-B486-05240001B6BF}" dt="2020-08-16T17:45:42.725" v="502" actId="1076"/>
        <pc:sldMkLst>
          <pc:docMk/>
          <pc:sldMk cId="627609005" sldId="278"/>
        </pc:sldMkLst>
        <pc:picChg chg="mod">
          <ac:chgData name="Dr. Deepak S Sakkari Assistant Professor( CSE)" userId="6d73bcb8-5d92-40b8-9132-40f6303b79fc" providerId="ADAL" clId="{6A6CE88C-C1CC-4F3A-B486-05240001B6BF}" dt="2020-08-16T17:45:42.725" v="502" actId="1076"/>
          <ac:picMkLst>
            <pc:docMk/>
            <pc:sldMk cId="627609005" sldId="278"/>
            <ac:picMk id="2053" creationId="{00000000-0000-0000-0000-000000000000}"/>
          </ac:picMkLst>
        </pc:picChg>
      </pc:sldChg>
      <pc:sldChg chg="modSp mod">
        <pc:chgData name="Dr. Deepak S Sakkari Assistant Professor( CSE)" userId="6d73bcb8-5d92-40b8-9132-40f6303b79fc" providerId="ADAL" clId="{6A6CE88C-C1CC-4F3A-B486-05240001B6BF}" dt="2020-08-16T17:46:51.247" v="511" actId="20577"/>
        <pc:sldMkLst>
          <pc:docMk/>
          <pc:sldMk cId="3001868645" sldId="279"/>
        </pc:sldMkLst>
        <pc:spChg chg="mod">
          <ac:chgData name="Dr. Deepak S Sakkari Assistant Professor( CSE)" userId="6d73bcb8-5d92-40b8-9132-40f6303b79fc" providerId="ADAL" clId="{6A6CE88C-C1CC-4F3A-B486-05240001B6BF}" dt="2020-08-16T17:46:51.247" v="511" actId="20577"/>
          <ac:spMkLst>
            <pc:docMk/>
            <pc:sldMk cId="3001868645" sldId="279"/>
            <ac:spMk id="5" creationId="{00000000-0000-0000-0000-000000000000}"/>
          </ac:spMkLst>
        </pc:spChg>
        <pc:picChg chg="mod">
          <ac:chgData name="Dr. Deepak S Sakkari Assistant Professor( CSE)" userId="6d73bcb8-5d92-40b8-9132-40f6303b79fc" providerId="ADAL" clId="{6A6CE88C-C1CC-4F3A-B486-05240001B6BF}" dt="2020-08-16T17:46:47.816" v="510" actId="1076"/>
          <ac:picMkLst>
            <pc:docMk/>
            <pc:sldMk cId="3001868645" sldId="279"/>
            <ac:picMk id="3075" creationId="{00000000-0000-0000-0000-000000000000}"/>
          </ac:picMkLst>
        </pc:picChg>
      </pc:sldChg>
      <pc:sldChg chg="modSp mod">
        <pc:chgData name="Dr. Deepak S Sakkari Assistant Professor( CSE)" userId="6d73bcb8-5d92-40b8-9132-40f6303b79fc" providerId="ADAL" clId="{6A6CE88C-C1CC-4F3A-B486-05240001B6BF}" dt="2020-08-16T17:49:31.679" v="532" actId="1037"/>
        <pc:sldMkLst>
          <pc:docMk/>
          <pc:sldMk cId="3359797835" sldId="280"/>
        </pc:sldMkLst>
        <pc:spChg chg="mod">
          <ac:chgData name="Dr. Deepak S Sakkari Assistant Professor( CSE)" userId="6d73bcb8-5d92-40b8-9132-40f6303b79fc" providerId="ADAL" clId="{6A6CE88C-C1CC-4F3A-B486-05240001B6BF}" dt="2020-08-16T17:49:21.636" v="529" actId="948"/>
          <ac:spMkLst>
            <pc:docMk/>
            <pc:sldMk cId="3359797835" sldId="280"/>
            <ac:spMk id="5" creationId="{00000000-0000-0000-0000-000000000000}"/>
          </ac:spMkLst>
        </pc:spChg>
        <pc:picChg chg="mod">
          <ac:chgData name="Dr. Deepak S Sakkari Assistant Professor( CSE)" userId="6d73bcb8-5d92-40b8-9132-40f6303b79fc" providerId="ADAL" clId="{6A6CE88C-C1CC-4F3A-B486-05240001B6BF}" dt="2020-08-16T17:49:31.679" v="532" actId="1037"/>
          <ac:picMkLst>
            <pc:docMk/>
            <pc:sldMk cId="3359797835" sldId="280"/>
            <ac:picMk id="4099" creationId="{00000000-0000-0000-0000-000000000000}"/>
          </ac:picMkLst>
        </pc:picChg>
      </pc:sldChg>
      <pc:sldChg chg="modSp mod">
        <pc:chgData name="Dr. Deepak S Sakkari Assistant Professor( CSE)" userId="6d73bcb8-5d92-40b8-9132-40f6303b79fc" providerId="ADAL" clId="{6A6CE88C-C1CC-4F3A-B486-05240001B6BF}" dt="2020-08-16T17:50:36.290" v="541" actId="1076"/>
        <pc:sldMkLst>
          <pc:docMk/>
          <pc:sldMk cId="3154839297" sldId="281"/>
        </pc:sldMkLst>
        <pc:spChg chg="mod">
          <ac:chgData name="Dr. Deepak S Sakkari Assistant Professor( CSE)" userId="6d73bcb8-5d92-40b8-9132-40f6303b79fc" providerId="ADAL" clId="{6A6CE88C-C1CC-4F3A-B486-05240001B6BF}" dt="2020-08-16T17:50:31.162" v="540" actId="404"/>
          <ac:spMkLst>
            <pc:docMk/>
            <pc:sldMk cId="3154839297" sldId="281"/>
            <ac:spMk id="5" creationId="{00000000-0000-0000-0000-000000000000}"/>
          </ac:spMkLst>
        </pc:spChg>
        <pc:picChg chg="mod">
          <ac:chgData name="Dr. Deepak S Sakkari Assistant Professor( CSE)" userId="6d73bcb8-5d92-40b8-9132-40f6303b79fc" providerId="ADAL" clId="{6A6CE88C-C1CC-4F3A-B486-05240001B6BF}" dt="2020-08-16T17:50:36.290" v="541" actId="1076"/>
          <ac:picMkLst>
            <pc:docMk/>
            <pc:sldMk cId="3154839297" sldId="281"/>
            <ac:picMk id="5123" creationId="{00000000-0000-0000-0000-000000000000}"/>
          </ac:picMkLst>
        </pc:picChg>
      </pc:sldChg>
      <pc:sldChg chg="modSp mod">
        <pc:chgData name="Dr. Deepak S Sakkari Assistant Professor( CSE)" userId="6d73bcb8-5d92-40b8-9132-40f6303b79fc" providerId="ADAL" clId="{6A6CE88C-C1CC-4F3A-B486-05240001B6BF}" dt="2020-08-16T17:51:15.441" v="573" actId="1076"/>
        <pc:sldMkLst>
          <pc:docMk/>
          <pc:sldMk cId="513573365" sldId="282"/>
        </pc:sldMkLst>
        <pc:spChg chg="mod">
          <ac:chgData name="Dr. Deepak S Sakkari Assistant Professor( CSE)" userId="6d73bcb8-5d92-40b8-9132-40f6303b79fc" providerId="ADAL" clId="{6A6CE88C-C1CC-4F3A-B486-05240001B6BF}" dt="2020-08-16T17:50:54.056" v="545" actId="20577"/>
          <ac:spMkLst>
            <pc:docMk/>
            <pc:sldMk cId="513573365" sldId="282"/>
            <ac:spMk id="5" creationId="{00000000-0000-0000-0000-000000000000}"/>
          </ac:spMkLst>
        </pc:spChg>
        <pc:picChg chg="mod">
          <ac:chgData name="Dr. Deepak S Sakkari Assistant Professor( CSE)" userId="6d73bcb8-5d92-40b8-9132-40f6303b79fc" providerId="ADAL" clId="{6A6CE88C-C1CC-4F3A-B486-05240001B6BF}" dt="2020-08-16T17:51:15.441" v="573" actId="1076"/>
          <ac:picMkLst>
            <pc:docMk/>
            <pc:sldMk cId="513573365" sldId="282"/>
            <ac:picMk id="6146" creationId="{00000000-0000-0000-0000-000000000000}"/>
          </ac:picMkLst>
        </pc:picChg>
      </pc:sldChg>
      <pc:sldChg chg="modSp mod">
        <pc:chgData name="Dr. Deepak S Sakkari Assistant Professor( CSE)" userId="6d73bcb8-5d92-40b8-9132-40f6303b79fc" providerId="ADAL" clId="{6A6CE88C-C1CC-4F3A-B486-05240001B6BF}" dt="2020-08-16T17:51:53.933" v="580" actId="1076"/>
        <pc:sldMkLst>
          <pc:docMk/>
          <pc:sldMk cId="2125104488" sldId="283"/>
        </pc:sldMkLst>
        <pc:spChg chg="mod">
          <ac:chgData name="Dr. Deepak S Sakkari Assistant Professor( CSE)" userId="6d73bcb8-5d92-40b8-9132-40f6303b79fc" providerId="ADAL" clId="{6A6CE88C-C1CC-4F3A-B486-05240001B6BF}" dt="2020-08-16T17:51:32.939" v="576" actId="404"/>
          <ac:spMkLst>
            <pc:docMk/>
            <pc:sldMk cId="2125104488" sldId="283"/>
            <ac:spMk id="5" creationId="{00000000-0000-0000-0000-000000000000}"/>
          </ac:spMkLst>
        </pc:spChg>
        <pc:picChg chg="mod">
          <ac:chgData name="Dr. Deepak S Sakkari Assistant Professor( CSE)" userId="6d73bcb8-5d92-40b8-9132-40f6303b79fc" providerId="ADAL" clId="{6A6CE88C-C1CC-4F3A-B486-05240001B6BF}" dt="2020-08-16T17:51:53.933" v="580" actId="1076"/>
          <ac:picMkLst>
            <pc:docMk/>
            <pc:sldMk cId="2125104488" sldId="283"/>
            <ac:picMk id="7170" creationId="{00000000-0000-0000-0000-000000000000}"/>
          </ac:picMkLst>
        </pc:picChg>
      </pc:sldChg>
      <pc:sldChg chg="modSp mod">
        <pc:chgData name="Dr. Deepak S Sakkari Assistant Professor( CSE)" userId="6d73bcb8-5d92-40b8-9132-40f6303b79fc" providerId="ADAL" clId="{6A6CE88C-C1CC-4F3A-B486-05240001B6BF}" dt="2020-08-16T17:52:28.860" v="587" actId="1076"/>
        <pc:sldMkLst>
          <pc:docMk/>
          <pc:sldMk cId="3076381061" sldId="284"/>
        </pc:sldMkLst>
        <pc:spChg chg="mod">
          <ac:chgData name="Dr. Deepak S Sakkari Assistant Professor( CSE)" userId="6d73bcb8-5d92-40b8-9132-40f6303b79fc" providerId="ADAL" clId="{6A6CE88C-C1CC-4F3A-B486-05240001B6BF}" dt="2020-08-16T17:52:16.492" v="584" actId="403"/>
          <ac:spMkLst>
            <pc:docMk/>
            <pc:sldMk cId="3076381061" sldId="284"/>
            <ac:spMk id="5" creationId="{00000000-0000-0000-0000-000000000000}"/>
          </ac:spMkLst>
        </pc:spChg>
        <pc:picChg chg="mod">
          <ac:chgData name="Dr. Deepak S Sakkari Assistant Professor( CSE)" userId="6d73bcb8-5d92-40b8-9132-40f6303b79fc" providerId="ADAL" clId="{6A6CE88C-C1CC-4F3A-B486-05240001B6BF}" dt="2020-08-16T17:52:28.860" v="587" actId="1076"/>
          <ac:picMkLst>
            <pc:docMk/>
            <pc:sldMk cId="3076381061" sldId="284"/>
            <ac:picMk id="8195" creationId="{00000000-0000-0000-0000-000000000000}"/>
          </ac:picMkLst>
        </pc:picChg>
      </pc:sldChg>
      <pc:sldChg chg="modSp mod">
        <pc:chgData name="Dr. Deepak S Sakkari Assistant Professor( CSE)" userId="6d73bcb8-5d92-40b8-9132-40f6303b79fc" providerId="ADAL" clId="{6A6CE88C-C1CC-4F3A-B486-05240001B6BF}" dt="2020-08-16T17:53:37.561" v="631" actId="1076"/>
        <pc:sldMkLst>
          <pc:docMk/>
          <pc:sldMk cId="769505814" sldId="285"/>
        </pc:sldMkLst>
        <pc:spChg chg="mod">
          <ac:chgData name="Dr. Deepak S Sakkari Assistant Professor( CSE)" userId="6d73bcb8-5d92-40b8-9132-40f6303b79fc" providerId="ADAL" clId="{6A6CE88C-C1CC-4F3A-B486-05240001B6BF}" dt="2020-08-16T17:53:22.212" v="596" actId="20577"/>
          <ac:spMkLst>
            <pc:docMk/>
            <pc:sldMk cId="769505814" sldId="285"/>
            <ac:spMk id="5" creationId="{00000000-0000-0000-0000-000000000000}"/>
          </ac:spMkLst>
        </pc:spChg>
        <pc:picChg chg="mod">
          <ac:chgData name="Dr. Deepak S Sakkari Assistant Professor( CSE)" userId="6d73bcb8-5d92-40b8-9132-40f6303b79fc" providerId="ADAL" clId="{6A6CE88C-C1CC-4F3A-B486-05240001B6BF}" dt="2020-08-16T17:53:37.561" v="631" actId="1076"/>
          <ac:picMkLst>
            <pc:docMk/>
            <pc:sldMk cId="769505814" sldId="285"/>
            <ac:picMk id="9219" creationId="{00000000-0000-0000-0000-000000000000}"/>
          </ac:picMkLst>
        </pc:picChg>
      </pc:sldChg>
      <pc:sldChg chg="modSp mod">
        <pc:chgData name="Dr. Deepak S Sakkari Assistant Professor( CSE)" userId="6d73bcb8-5d92-40b8-9132-40f6303b79fc" providerId="ADAL" clId="{6A6CE88C-C1CC-4F3A-B486-05240001B6BF}" dt="2020-08-16T17:52:49.759" v="592" actId="1076"/>
        <pc:sldMkLst>
          <pc:docMk/>
          <pc:sldMk cId="3602984361" sldId="286"/>
        </pc:sldMkLst>
        <pc:spChg chg="mod">
          <ac:chgData name="Dr. Deepak S Sakkari Assistant Professor( CSE)" userId="6d73bcb8-5d92-40b8-9132-40f6303b79fc" providerId="ADAL" clId="{6A6CE88C-C1CC-4F3A-B486-05240001B6BF}" dt="2020-08-16T17:52:45.065" v="591" actId="404"/>
          <ac:spMkLst>
            <pc:docMk/>
            <pc:sldMk cId="3602984361" sldId="286"/>
            <ac:spMk id="5" creationId="{00000000-0000-0000-0000-000000000000}"/>
          </ac:spMkLst>
        </pc:spChg>
        <pc:picChg chg="mod">
          <ac:chgData name="Dr. Deepak S Sakkari Assistant Professor( CSE)" userId="6d73bcb8-5d92-40b8-9132-40f6303b79fc" providerId="ADAL" clId="{6A6CE88C-C1CC-4F3A-B486-05240001B6BF}" dt="2020-08-16T17:52:49.759" v="592" actId="1076"/>
          <ac:picMkLst>
            <pc:docMk/>
            <pc:sldMk cId="3602984361" sldId="286"/>
            <ac:picMk id="9218" creationId="{00000000-0000-0000-0000-000000000000}"/>
          </ac:picMkLst>
        </pc:picChg>
      </pc:sldChg>
      <pc:sldChg chg="modSp mod">
        <pc:chgData name="Dr. Deepak S Sakkari Assistant Professor( CSE)" userId="6d73bcb8-5d92-40b8-9132-40f6303b79fc" providerId="ADAL" clId="{6A6CE88C-C1CC-4F3A-B486-05240001B6BF}" dt="2020-08-16T17:54:29.167" v="657" actId="1036"/>
        <pc:sldMkLst>
          <pc:docMk/>
          <pc:sldMk cId="2829986162" sldId="287"/>
        </pc:sldMkLst>
        <pc:spChg chg="mod">
          <ac:chgData name="Dr. Deepak S Sakkari Assistant Professor( CSE)" userId="6d73bcb8-5d92-40b8-9132-40f6303b79fc" providerId="ADAL" clId="{6A6CE88C-C1CC-4F3A-B486-05240001B6BF}" dt="2020-08-16T17:54:13.453" v="653" actId="6549"/>
          <ac:spMkLst>
            <pc:docMk/>
            <pc:sldMk cId="2829986162" sldId="287"/>
            <ac:spMk id="5" creationId="{00000000-0000-0000-0000-000000000000}"/>
          </ac:spMkLst>
        </pc:spChg>
        <pc:picChg chg="mod">
          <ac:chgData name="Dr. Deepak S Sakkari Assistant Professor( CSE)" userId="6d73bcb8-5d92-40b8-9132-40f6303b79fc" providerId="ADAL" clId="{6A6CE88C-C1CC-4F3A-B486-05240001B6BF}" dt="2020-08-16T17:54:29.167" v="657" actId="1036"/>
          <ac:picMkLst>
            <pc:docMk/>
            <pc:sldMk cId="2829986162" sldId="287"/>
            <ac:picMk id="10242" creationId="{00000000-0000-0000-0000-000000000000}"/>
          </ac:picMkLst>
        </pc:picChg>
      </pc:sldChg>
      <pc:sldChg chg="modSp mod">
        <pc:chgData name="Dr. Deepak S Sakkari Assistant Professor( CSE)" userId="6d73bcb8-5d92-40b8-9132-40f6303b79fc" providerId="ADAL" clId="{6A6CE88C-C1CC-4F3A-B486-05240001B6BF}" dt="2020-08-16T17:55:23.973" v="666" actId="1076"/>
        <pc:sldMkLst>
          <pc:docMk/>
          <pc:sldMk cId="1866790028" sldId="288"/>
        </pc:sldMkLst>
        <pc:spChg chg="mod">
          <ac:chgData name="Dr. Deepak S Sakkari Assistant Professor( CSE)" userId="6d73bcb8-5d92-40b8-9132-40f6303b79fc" providerId="ADAL" clId="{6A6CE88C-C1CC-4F3A-B486-05240001B6BF}" dt="2020-08-16T17:55:16.732" v="665" actId="6549"/>
          <ac:spMkLst>
            <pc:docMk/>
            <pc:sldMk cId="1866790028" sldId="288"/>
            <ac:spMk id="5" creationId="{00000000-0000-0000-0000-000000000000}"/>
          </ac:spMkLst>
        </pc:spChg>
        <pc:picChg chg="mod">
          <ac:chgData name="Dr. Deepak S Sakkari Assistant Professor( CSE)" userId="6d73bcb8-5d92-40b8-9132-40f6303b79fc" providerId="ADAL" clId="{6A6CE88C-C1CC-4F3A-B486-05240001B6BF}" dt="2020-08-16T17:55:23.973" v="666" actId="1076"/>
          <ac:picMkLst>
            <pc:docMk/>
            <pc:sldMk cId="1866790028" sldId="288"/>
            <ac:picMk id="11266" creationId="{00000000-0000-0000-0000-000000000000}"/>
          </ac:picMkLst>
        </pc:picChg>
      </pc:sldChg>
      <pc:sldChg chg="addSp modSp mod">
        <pc:chgData name="Dr. Deepak S Sakkari Assistant Professor( CSE)" userId="6d73bcb8-5d92-40b8-9132-40f6303b79fc" providerId="ADAL" clId="{6A6CE88C-C1CC-4F3A-B486-05240001B6BF}" dt="2020-08-16T17:58:28.723" v="747" actId="1035"/>
        <pc:sldMkLst>
          <pc:docMk/>
          <pc:sldMk cId="3266059444" sldId="289"/>
        </pc:sldMkLst>
        <pc:spChg chg="mod">
          <ac:chgData name="Dr. Deepak S Sakkari Assistant Professor( CSE)" userId="6d73bcb8-5d92-40b8-9132-40f6303b79fc" providerId="ADAL" clId="{6A6CE88C-C1CC-4F3A-B486-05240001B6BF}" dt="2020-08-16T17:57:17.871" v="672" actId="255"/>
          <ac:spMkLst>
            <pc:docMk/>
            <pc:sldMk cId="3266059444" sldId="289"/>
            <ac:spMk id="2" creationId="{00000000-0000-0000-0000-000000000000}"/>
          </ac:spMkLst>
        </pc:spChg>
        <pc:spChg chg="mod">
          <ac:chgData name="Dr. Deepak S Sakkari Assistant Professor( CSE)" userId="6d73bcb8-5d92-40b8-9132-40f6303b79fc" providerId="ADAL" clId="{6A6CE88C-C1CC-4F3A-B486-05240001B6BF}" dt="2020-08-16T17:57:45.493" v="677" actId="20577"/>
          <ac:spMkLst>
            <pc:docMk/>
            <pc:sldMk cId="3266059444" sldId="289"/>
            <ac:spMk id="3" creationId="{00000000-0000-0000-0000-000000000000}"/>
          </ac:spMkLst>
        </pc:spChg>
        <pc:picChg chg="add mod">
          <ac:chgData name="Dr. Deepak S Sakkari Assistant Professor( CSE)" userId="6d73bcb8-5d92-40b8-9132-40f6303b79fc" providerId="ADAL" clId="{6A6CE88C-C1CC-4F3A-B486-05240001B6BF}" dt="2020-08-16T17:58:28.723" v="747" actId="1035"/>
          <ac:picMkLst>
            <pc:docMk/>
            <pc:sldMk cId="3266059444" sldId="289"/>
            <ac:picMk id="7" creationId="{4226936F-2BC6-4083-B1A0-1A7E7C42EC5D}"/>
          </ac:picMkLst>
        </pc:picChg>
      </pc:sldChg>
      <pc:sldChg chg="del">
        <pc:chgData name="Dr. Deepak S Sakkari Assistant Professor( CSE)" userId="6d73bcb8-5d92-40b8-9132-40f6303b79fc" providerId="ADAL" clId="{6A6CE88C-C1CC-4F3A-B486-05240001B6BF}" dt="2020-08-16T17:58:42.160" v="748" actId="2696"/>
        <pc:sldMkLst>
          <pc:docMk/>
          <pc:sldMk cId="2059104741" sldId="290"/>
        </pc:sldMkLst>
      </pc:sldChg>
      <pc:sldChg chg="modSp mod">
        <pc:chgData name="Dr. Deepak S Sakkari Assistant Professor( CSE)" userId="6d73bcb8-5d92-40b8-9132-40f6303b79fc" providerId="ADAL" clId="{6A6CE88C-C1CC-4F3A-B486-05240001B6BF}" dt="2020-08-16T17:59:20.322" v="754" actId="1076"/>
        <pc:sldMkLst>
          <pc:docMk/>
          <pc:sldMk cId="3191863920" sldId="291"/>
        </pc:sldMkLst>
        <pc:spChg chg="mod">
          <ac:chgData name="Dr. Deepak S Sakkari Assistant Professor( CSE)" userId="6d73bcb8-5d92-40b8-9132-40f6303b79fc" providerId="ADAL" clId="{6A6CE88C-C1CC-4F3A-B486-05240001B6BF}" dt="2020-08-16T17:59:11.977" v="753" actId="404"/>
          <ac:spMkLst>
            <pc:docMk/>
            <pc:sldMk cId="3191863920" sldId="291"/>
            <ac:spMk id="3" creationId="{00000000-0000-0000-0000-000000000000}"/>
          </ac:spMkLst>
        </pc:spChg>
        <pc:picChg chg="mod">
          <ac:chgData name="Dr. Deepak S Sakkari Assistant Professor( CSE)" userId="6d73bcb8-5d92-40b8-9132-40f6303b79fc" providerId="ADAL" clId="{6A6CE88C-C1CC-4F3A-B486-05240001B6BF}" dt="2020-08-16T17:59:20.322" v="754" actId="1076"/>
          <ac:picMkLst>
            <pc:docMk/>
            <pc:sldMk cId="3191863920" sldId="291"/>
            <ac:picMk id="13314" creationId="{00000000-0000-0000-0000-000000000000}"/>
          </ac:picMkLst>
        </pc:picChg>
      </pc:sldChg>
      <pc:sldChg chg="modSp mod">
        <pc:chgData name="Dr. Deepak S Sakkari Assistant Professor( CSE)" userId="6d73bcb8-5d92-40b8-9132-40f6303b79fc" providerId="ADAL" clId="{6A6CE88C-C1CC-4F3A-B486-05240001B6BF}" dt="2020-08-16T18:10:50.782" v="804" actId="255"/>
        <pc:sldMkLst>
          <pc:docMk/>
          <pc:sldMk cId="2904947208" sldId="292"/>
        </pc:sldMkLst>
        <pc:spChg chg="mod">
          <ac:chgData name="Dr. Deepak S Sakkari Assistant Professor( CSE)" userId="6d73bcb8-5d92-40b8-9132-40f6303b79fc" providerId="ADAL" clId="{6A6CE88C-C1CC-4F3A-B486-05240001B6BF}" dt="2020-08-16T18:10:50.782" v="804" actId="255"/>
          <ac:spMkLst>
            <pc:docMk/>
            <pc:sldMk cId="2904947208" sldId="292"/>
            <ac:spMk id="3" creationId="{00000000-0000-0000-0000-000000000000}"/>
          </ac:spMkLst>
        </pc:spChg>
      </pc:sldChg>
      <pc:sldChg chg="modSp mod">
        <pc:chgData name="Dr. Deepak S Sakkari Assistant Professor( CSE)" userId="6d73bcb8-5d92-40b8-9132-40f6303b79fc" providerId="ADAL" clId="{6A6CE88C-C1CC-4F3A-B486-05240001B6BF}" dt="2020-08-16T18:01:00.044" v="771" actId="1076"/>
        <pc:sldMkLst>
          <pc:docMk/>
          <pc:sldMk cId="1145221943" sldId="293"/>
        </pc:sldMkLst>
        <pc:spChg chg="mod">
          <ac:chgData name="Dr. Deepak S Sakkari Assistant Professor( CSE)" userId="6d73bcb8-5d92-40b8-9132-40f6303b79fc" providerId="ADAL" clId="{6A6CE88C-C1CC-4F3A-B486-05240001B6BF}" dt="2020-08-16T18:00:50.359" v="769" actId="948"/>
          <ac:spMkLst>
            <pc:docMk/>
            <pc:sldMk cId="1145221943" sldId="293"/>
            <ac:spMk id="3" creationId="{00000000-0000-0000-0000-000000000000}"/>
          </ac:spMkLst>
        </pc:spChg>
        <pc:picChg chg="mod">
          <ac:chgData name="Dr. Deepak S Sakkari Assistant Professor( CSE)" userId="6d73bcb8-5d92-40b8-9132-40f6303b79fc" providerId="ADAL" clId="{6A6CE88C-C1CC-4F3A-B486-05240001B6BF}" dt="2020-08-16T18:00:54.771" v="770" actId="1076"/>
          <ac:picMkLst>
            <pc:docMk/>
            <pc:sldMk cId="1145221943" sldId="293"/>
            <ac:picMk id="14338" creationId="{00000000-0000-0000-0000-000000000000}"/>
          </ac:picMkLst>
        </pc:picChg>
        <pc:picChg chg="mod">
          <ac:chgData name="Dr. Deepak S Sakkari Assistant Professor( CSE)" userId="6d73bcb8-5d92-40b8-9132-40f6303b79fc" providerId="ADAL" clId="{6A6CE88C-C1CC-4F3A-B486-05240001B6BF}" dt="2020-08-16T18:01:00.044" v="771" actId="1076"/>
          <ac:picMkLst>
            <pc:docMk/>
            <pc:sldMk cId="1145221943" sldId="293"/>
            <ac:picMk id="14340" creationId="{00000000-0000-0000-0000-000000000000}"/>
          </ac:picMkLst>
        </pc:picChg>
      </pc:sldChg>
      <pc:sldChg chg="modSp mod">
        <pc:chgData name="Dr. Deepak S Sakkari Assistant Professor( CSE)" userId="6d73bcb8-5d92-40b8-9132-40f6303b79fc" providerId="ADAL" clId="{6A6CE88C-C1CC-4F3A-B486-05240001B6BF}" dt="2020-08-16T18:09:57.766" v="796" actId="313"/>
        <pc:sldMkLst>
          <pc:docMk/>
          <pc:sldMk cId="1457111660" sldId="294"/>
        </pc:sldMkLst>
        <pc:spChg chg="mod">
          <ac:chgData name="Dr. Deepak S Sakkari Assistant Professor( CSE)" userId="6d73bcb8-5d92-40b8-9132-40f6303b79fc" providerId="ADAL" clId="{6A6CE88C-C1CC-4F3A-B486-05240001B6BF}" dt="2020-08-16T18:09:57.766" v="796" actId="313"/>
          <ac:spMkLst>
            <pc:docMk/>
            <pc:sldMk cId="1457111660" sldId="294"/>
            <ac:spMk id="3" creationId="{00000000-0000-0000-0000-000000000000}"/>
          </ac:spMkLst>
        </pc:spChg>
      </pc:sldChg>
      <pc:sldChg chg="del">
        <pc:chgData name="Dr. Deepak S Sakkari Assistant Professor( CSE)" userId="6d73bcb8-5d92-40b8-9132-40f6303b79fc" providerId="ADAL" clId="{6A6CE88C-C1CC-4F3A-B486-05240001B6BF}" dt="2020-08-16T18:11:20.117" v="805" actId="2696"/>
        <pc:sldMkLst>
          <pc:docMk/>
          <pc:sldMk cId="3110987420" sldId="295"/>
        </pc:sldMkLst>
      </pc:sldChg>
      <pc:sldChg chg="modSp mod">
        <pc:chgData name="Dr. Deepak S Sakkari Assistant Professor( CSE)" userId="6d73bcb8-5d92-40b8-9132-40f6303b79fc" providerId="ADAL" clId="{6A6CE88C-C1CC-4F3A-B486-05240001B6BF}" dt="2020-08-16T18:11:54.808" v="811" actId="404"/>
        <pc:sldMkLst>
          <pc:docMk/>
          <pc:sldMk cId="2011300504" sldId="296"/>
        </pc:sldMkLst>
        <pc:spChg chg="mod">
          <ac:chgData name="Dr. Deepak S Sakkari Assistant Professor( CSE)" userId="6d73bcb8-5d92-40b8-9132-40f6303b79fc" providerId="ADAL" clId="{6A6CE88C-C1CC-4F3A-B486-05240001B6BF}" dt="2020-08-16T18:11:54.808" v="811" actId="404"/>
          <ac:spMkLst>
            <pc:docMk/>
            <pc:sldMk cId="2011300504" sldId="296"/>
            <ac:spMk id="3" creationId="{00000000-0000-0000-0000-000000000000}"/>
          </ac:spMkLst>
        </pc:spChg>
      </pc:sldChg>
      <pc:sldChg chg="modSp del mod">
        <pc:chgData name="Dr. Deepak S Sakkari Assistant Professor( CSE)" userId="6d73bcb8-5d92-40b8-9132-40f6303b79fc" providerId="ADAL" clId="{6A6CE88C-C1CC-4F3A-B486-05240001B6BF}" dt="2020-08-16T18:12:16.452" v="813" actId="2696"/>
        <pc:sldMkLst>
          <pc:docMk/>
          <pc:sldMk cId="422380363" sldId="297"/>
        </pc:sldMkLst>
        <pc:spChg chg="mod">
          <ac:chgData name="Dr. Deepak S Sakkari Assistant Professor( CSE)" userId="6d73bcb8-5d92-40b8-9132-40f6303b79fc" providerId="ADAL" clId="{6A6CE88C-C1CC-4F3A-B486-05240001B6BF}" dt="2020-08-16T18:11:47.295" v="808" actId="21"/>
          <ac:spMkLst>
            <pc:docMk/>
            <pc:sldMk cId="422380363" sldId="297"/>
            <ac:spMk id="3" creationId="{00000000-0000-0000-0000-000000000000}"/>
          </ac:spMkLst>
        </pc:spChg>
        <pc:picChg chg="mod">
          <ac:chgData name="Dr. Deepak S Sakkari Assistant Professor( CSE)" userId="6d73bcb8-5d92-40b8-9132-40f6303b79fc" providerId="ADAL" clId="{6A6CE88C-C1CC-4F3A-B486-05240001B6BF}" dt="2020-08-16T18:12:10.728" v="812" actId="1076"/>
          <ac:picMkLst>
            <pc:docMk/>
            <pc:sldMk cId="422380363" sldId="297"/>
            <ac:picMk id="15363" creationId="{00000000-0000-0000-0000-000000000000}"/>
          </ac:picMkLst>
        </pc:picChg>
      </pc:sldChg>
      <pc:sldChg chg="modSp mod">
        <pc:chgData name="Dr. Deepak S Sakkari Assistant Professor( CSE)" userId="6d73bcb8-5d92-40b8-9132-40f6303b79fc" providerId="ADAL" clId="{6A6CE88C-C1CC-4F3A-B486-05240001B6BF}" dt="2020-08-16T18:12:35.971" v="818" actId="20577"/>
        <pc:sldMkLst>
          <pc:docMk/>
          <pc:sldMk cId="761635623" sldId="298"/>
        </pc:sldMkLst>
        <pc:spChg chg="mod">
          <ac:chgData name="Dr. Deepak S Sakkari Assistant Professor( CSE)" userId="6d73bcb8-5d92-40b8-9132-40f6303b79fc" providerId="ADAL" clId="{6A6CE88C-C1CC-4F3A-B486-05240001B6BF}" dt="2020-08-16T18:12:35.971" v="818" actId="20577"/>
          <ac:spMkLst>
            <pc:docMk/>
            <pc:sldMk cId="761635623" sldId="298"/>
            <ac:spMk id="3" creationId="{00000000-0000-0000-0000-000000000000}"/>
          </ac:spMkLst>
        </pc:spChg>
      </pc:sldChg>
      <pc:sldChg chg="modSp">
        <pc:chgData name="Dr. Deepak S Sakkari Assistant Professor( CSE)" userId="6d73bcb8-5d92-40b8-9132-40f6303b79fc" providerId="ADAL" clId="{6A6CE88C-C1CC-4F3A-B486-05240001B6BF}" dt="2020-08-16T18:13:08.143" v="858" actId="1035"/>
        <pc:sldMkLst>
          <pc:docMk/>
          <pc:sldMk cId="2659602100" sldId="299"/>
        </pc:sldMkLst>
        <pc:picChg chg="mod">
          <ac:chgData name="Dr. Deepak S Sakkari Assistant Professor( CSE)" userId="6d73bcb8-5d92-40b8-9132-40f6303b79fc" providerId="ADAL" clId="{6A6CE88C-C1CC-4F3A-B486-05240001B6BF}" dt="2020-08-16T18:13:08.143" v="858" actId="1035"/>
          <ac:picMkLst>
            <pc:docMk/>
            <pc:sldMk cId="2659602100" sldId="299"/>
            <ac:picMk id="16387" creationId="{00000000-0000-0000-0000-000000000000}"/>
          </ac:picMkLst>
        </pc:picChg>
      </pc:sldChg>
      <pc:sldChg chg="modSp">
        <pc:chgData name="Dr. Deepak S Sakkari Assistant Professor( CSE)" userId="6d73bcb8-5d92-40b8-9132-40f6303b79fc" providerId="ADAL" clId="{6A6CE88C-C1CC-4F3A-B486-05240001B6BF}" dt="2020-08-16T18:14:25.007" v="975" actId="732"/>
        <pc:sldMkLst>
          <pc:docMk/>
          <pc:sldMk cId="1639119821" sldId="300"/>
        </pc:sldMkLst>
        <pc:picChg chg="mod">
          <ac:chgData name="Dr. Deepak S Sakkari Assistant Professor( CSE)" userId="6d73bcb8-5d92-40b8-9132-40f6303b79fc" providerId="ADAL" clId="{6A6CE88C-C1CC-4F3A-B486-05240001B6BF}" dt="2020-08-16T18:14:25.007" v="975" actId="732"/>
          <ac:picMkLst>
            <pc:docMk/>
            <pc:sldMk cId="1639119821" sldId="300"/>
            <ac:picMk id="17410" creationId="{00000000-0000-0000-0000-000000000000}"/>
          </ac:picMkLst>
        </pc:picChg>
      </pc:sldChg>
      <pc:sldMasterChg chg="addSp delSp modSp mod modSldLayout">
        <pc:chgData name="Dr. Deepak S Sakkari Assistant Professor( CSE)" userId="6d73bcb8-5d92-40b8-9132-40f6303b79fc" providerId="ADAL" clId="{6A6CE88C-C1CC-4F3A-B486-05240001B6BF}" dt="2020-08-16T17:22:17.156" v="59" actId="2711"/>
        <pc:sldMasterMkLst>
          <pc:docMk/>
          <pc:sldMasterMk cId="2257922174" sldId="2147483684"/>
        </pc:sldMasterMkLst>
        <pc:spChg chg="del">
          <ac:chgData name="Dr. Deepak S Sakkari Assistant Professor( CSE)" userId="6d73bcb8-5d92-40b8-9132-40f6303b79fc" providerId="ADAL" clId="{6A6CE88C-C1CC-4F3A-B486-05240001B6BF}" dt="2020-08-16T17:18:55.997" v="14" actId="478"/>
          <ac:spMkLst>
            <pc:docMk/>
            <pc:sldMasterMk cId="2257922174" sldId="2147483684"/>
            <ac:spMk id="7" creationId="{00000000-0000-0000-0000-000000000000}"/>
          </ac:spMkLst>
        </pc:spChg>
        <pc:spChg chg="mod">
          <ac:chgData name="Dr. Deepak S Sakkari Assistant Professor( CSE)" userId="6d73bcb8-5d92-40b8-9132-40f6303b79fc" providerId="ADAL" clId="{6A6CE88C-C1CC-4F3A-B486-05240001B6BF}" dt="2020-08-16T17:22:09.695" v="58"/>
          <ac:spMkLst>
            <pc:docMk/>
            <pc:sldMasterMk cId="2257922174" sldId="2147483684"/>
            <ac:spMk id="1026" creationId="{00000000-0000-0000-0000-000000000000}"/>
          </ac:spMkLst>
        </pc:spChg>
        <pc:spChg chg="mod">
          <ac:chgData name="Dr. Deepak S Sakkari Assistant Professor( CSE)" userId="6d73bcb8-5d92-40b8-9132-40f6303b79fc" providerId="ADAL" clId="{6A6CE88C-C1CC-4F3A-B486-05240001B6BF}" dt="2020-08-16T17:22:17.156" v="59" actId="2711"/>
          <ac:spMkLst>
            <pc:docMk/>
            <pc:sldMasterMk cId="2257922174" sldId="2147483684"/>
            <ac:spMk id="1027" creationId="{00000000-0000-0000-0000-000000000000}"/>
          </ac:spMkLst>
        </pc:spChg>
        <pc:picChg chg="add">
          <ac:chgData name="Dr. Deepak S Sakkari Assistant Professor( CSE)" userId="6d73bcb8-5d92-40b8-9132-40f6303b79fc" providerId="ADAL" clId="{6A6CE88C-C1CC-4F3A-B486-05240001B6BF}" dt="2020-08-16T17:18:50.359" v="13" actId="22"/>
          <ac:picMkLst>
            <pc:docMk/>
            <pc:sldMasterMk cId="2257922174" sldId="2147483684"/>
            <ac:picMk id="2" creationId="{D556AC99-D25B-44D7-B4D4-56DFBA9A948D}"/>
          </ac:picMkLst>
        </pc:picChg>
        <pc:cxnChg chg="add mod">
          <ac:chgData name="Dr. Deepak S Sakkari Assistant Professor( CSE)" userId="6d73bcb8-5d92-40b8-9132-40f6303b79fc" providerId="ADAL" clId="{6A6CE88C-C1CC-4F3A-B486-05240001B6BF}" dt="2020-08-16T17:20:46.450" v="41" actId="692"/>
          <ac:cxnSpMkLst>
            <pc:docMk/>
            <pc:sldMasterMk cId="2257922174" sldId="2147483684"/>
            <ac:cxnSpMk id="9" creationId="{3B5F36A5-15D8-4D7C-9B1D-11E3C685F0D5}"/>
          </ac:cxnSpMkLst>
        </pc:cxnChg>
        <pc:sldLayoutChg chg="addSp modSp mod">
          <pc:chgData name="Dr. Deepak S Sakkari Assistant Professor( CSE)" userId="6d73bcb8-5d92-40b8-9132-40f6303b79fc" providerId="ADAL" clId="{6A6CE88C-C1CC-4F3A-B486-05240001B6BF}" dt="2020-08-16T17:18:26.126" v="12" actId="1036"/>
          <pc:sldLayoutMkLst>
            <pc:docMk/>
            <pc:sldMasterMk cId="2257922174" sldId="2147483684"/>
            <pc:sldLayoutMk cId="3379957623" sldId="2147483685"/>
          </pc:sldLayoutMkLst>
          <pc:picChg chg="add mod">
            <ac:chgData name="Dr. Deepak S Sakkari Assistant Professor( CSE)" userId="6d73bcb8-5d92-40b8-9132-40f6303b79fc" providerId="ADAL" clId="{6A6CE88C-C1CC-4F3A-B486-05240001B6BF}" dt="2020-08-16T17:18:26.126" v="12" actId="1036"/>
            <ac:picMkLst>
              <pc:docMk/>
              <pc:sldMasterMk cId="2257922174" sldId="2147483684"/>
              <pc:sldLayoutMk cId="3379957623" sldId="2147483685"/>
              <ac:picMk id="8" creationId="{EE652140-DF33-42B2-90EF-9E9B8553CD93}"/>
            </ac:picMkLst>
          </pc:picChg>
        </pc:sldLayoutChg>
      </pc:sldMasterChg>
    </pc:docChg>
  </pc:docChgLst>
  <pc:docChgLst>
    <pc:chgData name="Ashishika Singh" userId="2c5215269e6e15b9" providerId="LiveId" clId="{7EFFCCAC-AC97-40B9-BB19-E54196DF870C}"/>
    <pc:docChg chg="modSld">
      <pc:chgData name="Ashishika Singh" userId="2c5215269e6e15b9" providerId="LiveId" clId="{7EFFCCAC-AC97-40B9-BB19-E54196DF870C}" dt="2024-02-07T05:06:48.533" v="0" actId="20577"/>
      <pc:docMkLst>
        <pc:docMk/>
      </pc:docMkLst>
      <pc:sldChg chg="modSp mod">
        <pc:chgData name="Ashishika Singh" userId="2c5215269e6e15b9" providerId="LiveId" clId="{7EFFCCAC-AC97-40B9-BB19-E54196DF870C}" dt="2024-02-07T05:06:48.533" v="0" actId="20577"/>
        <pc:sldMkLst>
          <pc:docMk/>
          <pc:sldMk cId="48459217" sldId="544"/>
        </pc:sldMkLst>
        <pc:spChg chg="mod">
          <ac:chgData name="Ashishika Singh" userId="2c5215269e6e15b9" providerId="LiveId" clId="{7EFFCCAC-AC97-40B9-BB19-E54196DF870C}" dt="2024-02-07T05:06:48.533" v="0" actId="20577"/>
          <ac:spMkLst>
            <pc:docMk/>
            <pc:sldMk cId="48459217" sldId="544"/>
            <ac:spMk id="8"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0C24494-34C8-4B85-95EC-EFB8BC02FE7F}" type="datetimeFigureOut">
              <a:rPr lang="en-US" smtClean="0"/>
              <a:t>9/24/2025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D0F90C-8AF4-4E3E-8FFD-30D2A3D6204D}" type="slidenum">
              <a:rPr lang="en-US" smtClean="0"/>
              <a:t>‹#›</a:t>
            </a:fld>
            <a:endParaRPr lang="en-US"/>
          </a:p>
        </p:txBody>
      </p:sp>
    </p:spTree>
    <p:extLst>
      <p:ext uri="{BB962C8B-B14F-4D97-AF65-F5344CB8AC3E}">
        <p14:creationId xmlns:p14="http://schemas.microsoft.com/office/powerpoint/2010/main" val="33018052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911B5A-781F-4560-A1CC-D59FB8C1A7F6}" type="datetimeFigureOut">
              <a:rPr lang="en-US" smtClean="0"/>
              <a:t>9/24/2025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24ADE7-A6F4-4046-A847-5DCBEEEA65FB}" type="slidenum">
              <a:rPr lang="en-US" smtClean="0"/>
              <a:t>‹#›</a:t>
            </a:fld>
            <a:endParaRPr lang="en-US"/>
          </a:p>
        </p:txBody>
      </p:sp>
    </p:spTree>
    <p:extLst>
      <p:ext uri="{BB962C8B-B14F-4D97-AF65-F5344CB8AC3E}">
        <p14:creationId xmlns:p14="http://schemas.microsoft.com/office/powerpoint/2010/main" val="2677811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24ADE7-A6F4-4046-A847-5DCBEEEA65FB}" type="slidenum">
              <a:rPr lang="en-US" smtClean="0"/>
              <a:t>1</a:t>
            </a:fld>
            <a:endParaRPr lang="en-US"/>
          </a:p>
        </p:txBody>
      </p:sp>
    </p:spTree>
    <p:extLst>
      <p:ext uri="{BB962C8B-B14F-4D97-AF65-F5344CB8AC3E}">
        <p14:creationId xmlns:p14="http://schemas.microsoft.com/office/powerpoint/2010/main" val="21879802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2961D096-7E3B-4901-842A-409E8605E423}" type="datetime1">
              <a:rPr lang="en-US" smtClean="0"/>
              <a:t>9/24/2025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EE652140-DF33-42B2-90EF-9E9B8553CD9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9957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3715BC48-F514-41A9-A06B-89726FEA9A41}" type="datetime1">
              <a:rPr lang="en-US" smtClean="0"/>
              <a:t>9/24/2025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5227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79382B1-A318-4E25-8B63-3F37CB0D7274}" type="datetime1">
              <a:rPr lang="en-US" smtClean="0"/>
              <a:t>9/24/2025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6071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9AD08C1B-89CC-4E1C-BEAF-FABC3A03FD30}" type="datetime1">
              <a:rPr lang="en-US" smtClean="0"/>
              <a:t>9/24/2025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49585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F9680425-9698-4DA0-B543-89E03CD4FF44}" type="datetime1">
              <a:rPr lang="en-US" smtClean="0"/>
              <a:t>9/24/2025</a:t>
            </a:fld>
            <a:endParaRPr lang="en-US"/>
          </a:p>
        </p:txBody>
      </p:sp>
      <p:sp>
        <p:nvSpPr>
          <p:cNvPr id="8" name="Footer Placeholder 4"/>
          <p:cNvSpPr>
            <a:spLocks noGrp="1"/>
          </p:cNvSpPr>
          <p:nvPr>
            <p:ph type="ftr" sz="quarter" idx="11"/>
          </p:nvPr>
        </p:nvSpPr>
        <p:spPr/>
        <p:txBody>
          <a:bodyPr/>
          <a:lstStyle>
            <a:lvl1pPr>
              <a:defRPr/>
            </a:lvl1pPr>
          </a:lstStyle>
          <a:p>
            <a:r>
              <a:rPr lang="en-US"/>
              <a:t>CSE2024 NoSQL Databases</a:t>
            </a:r>
          </a:p>
        </p:txBody>
      </p:sp>
      <p:sp>
        <p:nvSpPr>
          <p:cNvPr id="9"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561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ADDF3898-51C9-42CA-AFF7-14A768C26905}" type="datetime1">
              <a:rPr lang="en-US" smtClean="0"/>
              <a:t>9/24/2025</a:t>
            </a:fld>
            <a:endParaRPr lang="en-US"/>
          </a:p>
        </p:txBody>
      </p:sp>
      <p:sp>
        <p:nvSpPr>
          <p:cNvPr id="4" name="Footer Placeholder 4"/>
          <p:cNvSpPr>
            <a:spLocks noGrp="1"/>
          </p:cNvSpPr>
          <p:nvPr>
            <p:ph type="ftr" sz="quarter" idx="11"/>
          </p:nvPr>
        </p:nvSpPr>
        <p:spPr/>
        <p:txBody>
          <a:bodyPr/>
          <a:lstStyle>
            <a:lvl1pPr>
              <a:defRPr/>
            </a:lvl1pPr>
          </a:lstStyle>
          <a:p>
            <a:r>
              <a:rPr lang="en-US"/>
              <a:t>CSE2024 NoSQL Databases</a:t>
            </a:r>
          </a:p>
        </p:txBody>
      </p:sp>
      <p:sp>
        <p:nvSpPr>
          <p:cNvPr id="5"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1660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7C9E076F-7826-4434-B030-EF730E273267}" type="datetime1">
              <a:rPr lang="en-US" smtClean="0"/>
              <a:t>9/24/2025</a:t>
            </a:fld>
            <a:endParaRPr lang="en-US"/>
          </a:p>
        </p:txBody>
      </p:sp>
      <p:sp>
        <p:nvSpPr>
          <p:cNvPr id="3" name="Footer Placeholder 4"/>
          <p:cNvSpPr>
            <a:spLocks noGrp="1"/>
          </p:cNvSpPr>
          <p:nvPr>
            <p:ph type="ftr" sz="quarter" idx="11"/>
          </p:nvPr>
        </p:nvSpPr>
        <p:spPr/>
        <p:txBody>
          <a:bodyPr/>
          <a:lstStyle>
            <a:lvl1pPr>
              <a:defRPr/>
            </a:lvl1pPr>
          </a:lstStyle>
          <a:p>
            <a:r>
              <a:rPr lang="en-US"/>
              <a:t>CSE2024 NoSQL Databases</a:t>
            </a:r>
          </a:p>
        </p:txBody>
      </p:sp>
      <p:sp>
        <p:nvSpPr>
          <p:cNvPr id="4"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07572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2A09F549-E219-413D-B622-4D983791557B}" type="datetime1">
              <a:rPr lang="en-US" smtClean="0"/>
              <a:t>9/24/2025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87676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58942CD6-7FAF-40A4-81AA-297C9A9B6773}" type="datetime1">
              <a:rPr lang="en-US" smtClean="0"/>
              <a:t>9/24/2025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42432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6938856-79CA-49AF-934C-26554E0FC8D3}" type="datetime1">
              <a:rPr lang="en-US" smtClean="0"/>
              <a:t>9/24/2025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44776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ACC4072-E3E6-4B98-A2C1-5BEC13CB7DE0}" type="datetime1">
              <a:rPr lang="en-US" smtClean="0"/>
              <a:t>9/24/2025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26411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0687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110762"/>
            <a:ext cx="8229600" cy="468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EE2650-6778-464F-AABC-7C744B7A5C3B}" type="datetime1">
              <a:rPr lang="en-US" smtClean="0"/>
              <a:t>9/24/2025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CSE2024 NoSQL Databases</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6F15528-21DE-4FAA-801E-634DDDAF4B2B}" type="slidenum">
              <a:rPr lang="en-US" smtClean="0"/>
              <a:pPr/>
              <a:t>‹#›</a:t>
            </a:fld>
            <a:endParaRPr lang="en-US"/>
          </a:p>
        </p:txBody>
      </p:sp>
      <p:pic>
        <p:nvPicPr>
          <p:cNvPr id="2" name="Picture 1">
            <a:extLst>
              <a:ext uri="{FF2B5EF4-FFF2-40B4-BE49-F238E27FC236}">
                <a16:creationId xmlns:a16="http://schemas.microsoft.com/office/drawing/2014/main" id="{D556AC99-D25B-44D7-B4D4-56DFBA9A948D}"/>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a:extLst>
              <a:ext uri="{FF2B5EF4-FFF2-40B4-BE49-F238E27FC236}">
                <a16:creationId xmlns:a16="http://schemas.microsoft.com/office/drawing/2014/main" id="{3B5F36A5-15D8-4D7C-9B1D-11E3C685F0D5}"/>
              </a:ext>
            </a:extLst>
          </p:cNvPr>
          <p:cNvCxnSpPr>
            <a:cxnSpLocks/>
          </p:cNvCxnSpPr>
          <p:nvPr userDrawn="1"/>
        </p:nvCxnSpPr>
        <p:spPr>
          <a:xfrm>
            <a:off x="72000" y="1066800"/>
            <a:ext cx="9000000" cy="0"/>
          </a:xfrm>
          <a:prstGeom prst="line">
            <a:avLst/>
          </a:prstGeom>
          <a:ln w="50800" cmpd="thinThick">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79221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rtl="0" eaLnBrk="1" fontAlgn="base" hangingPunct="1">
        <a:spcBef>
          <a:spcPct val="0"/>
        </a:spcBef>
        <a:spcAft>
          <a:spcPct val="0"/>
        </a:spcAft>
        <a:defRPr sz="2800" b="1" kern="1200">
          <a:solidFill>
            <a:schemeClr val="tx1"/>
          </a:solidFill>
          <a:latin typeface="Bookman Old Style" panose="02050604050505020204" pitchFamily="18" charset="0"/>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Bookman Old Style" panose="02050604050505020204" pitchFamily="18" charset="0"/>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Bookman Old Style" panose="02050604050505020204" pitchFamily="18" charset="0"/>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Bookman Old Style" panose="02050604050505020204" pitchFamily="18" charset="0"/>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brainkart.com/subject/Web-Technology_169/"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6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6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6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6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6E4517-6C23-48B3-9024-02BD16E6294C}"/>
              </a:ext>
            </a:extLst>
          </p:cNvPr>
          <p:cNvPicPr>
            <a:picLocks noChangeAspect="1"/>
          </p:cNvPicPr>
          <p:nvPr/>
        </p:nvPicPr>
        <p:blipFill>
          <a:blip r:embed="rId3"/>
          <a:stretch>
            <a:fillRect/>
          </a:stretch>
        </p:blipFill>
        <p:spPr>
          <a:xfrm>
            <a:off x="0" y="0"/>
            <a:ext cx="9144000" cy="6858000"/>
          </a:xfrm>
          <a:prstGeom prst="rect">
            <a:avLst/>
          </a:prstGeom>
        </p:spPr>
      </p:pic>
      <p:pic>
        <p:nvPicPr>
          <p:cNvPr id="7" name="Graphic 6">
            <a:extLst>
              <a:ext uri="{FF2B5EF4-FFF2-40B4-BE49-F238E27FC236}">
                <a16:creationId xmlns:a16="http://schemas.microsoft.com/office/drawing/2014/main" id="{D99F73C4-29F8-4839-BE55-9531647113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682460" y="0"/>
            <a:ext cx="7779079" cy="1309350"/>
          </a:xfrm>
          <a:prstGeom prst="rect">
            <a:avLst/>
          </a:prstGeom>
        </p:spPr>
      </p:pic>
      <p:sp>
        <p:nvSpPr>
          <p:cNvPr id="9" name="Title 1">
            <a:extLst>
              <a:ext uri="{FF2B5EF4-FFF2-40B4-BE49-F238E27FC236}">
                <a16:creationId xmlns:a16="http://schemas.microsoft.com/office/drawing/2014/main" id="{95994CEF-AC9F-45F1-B856-7E13245F08BF}"/>
              </a:ext>
            </a:extLst>
          </p:cNvPr>
          <p:cNvSpPr txBox="1">
            <a:spLocks/>
          </p:cNvSpPr>
          <p:nvPr/>
        </p:nvSpPr>
        <p:spPr bwMode="auto">
          <a:xfrm>
            <a:off x="0" y="1329546"/>
            <a:ext cx="9144000" cy="1219200"/>
          </a:xfrm>
          <a:prstGeom prst="rect">
            <a:avLst/>
          </a:prstGeom>
          <a:noFill/>
          <a:ln w="12700">
            <a:noFill/>
            <a:miter lim="800000"/>
            <a:headEnd/>
            <a:tailEnd/>
          </a:ln>
        </p:spPr>
        <p:txBody>
          <a:bodyPr vert="horz" wrap="none" lIns="63500" tIns="25400" rIns="63500" bIns="25400" numCol="1" anchor="t" anchorCtr="0" compatLnSpc="1">
            <a:prstTxWarp prst="textNoShape">
              <a:avLst/>
            </a:prstTxWarp>
            <a:noAutofit/>
          </a:bodyPr>
          <a:lstStyle>
            <a:defPPr>
              <a:defRPr lang="en-US"/>
            </a:defPPr>
            <a:lvl1pPr algn="ctr" eaLnBrk="0" fontAlgn="base" hangingPunct="0">
              <a:lnSpc>
                <a:spcPct val="120000"/>
              </a:lnSpc>
              <a:spcBef>
                <a:spcPct val="0"/>
              </a:spcBef>
              <a:spcAft>
                <a:spcPct val="0"/>
              </a:spcAft>
              <a:defRPr sz="2400" b="1">
                <a:latin typeface="Bookman Old Style" panose="02050604050505020204" pitchFamily="18" charset="0"/>
                <a:ea typeface="+mj-ea"/>
                <a:cs typeface="+mj-cs"/>
              </a:defRPr>
            </a:lvl1pPr>
            <a:lvl2pPr eaLnBrk="0" fontAlgn="base" hangingPunct="0">
              <a:lnSpc>
                <a:spcPct val="87000"/>
              </a:lnSpc>
              <a:spcBef>
                <a:spcPct val="0"/>
              </a:spcBef>
              <a:spcAft>
                <a:spcPct val="0"/>
              </a:spcAft>
              <a:defRPr b="1">
                <a:solidFill>
                  <a:schemeClr val="tx2"/>
                </a:solidFill>
                <a:latin typeface="Arial" charset="0"/>
              </a:defRPr>
            </a:lvl2pPr>
            <a:lvl3pPr eaLnBrk="0" fontAlgn="base" hangingPunct="0">
              <a:lnSpc>
                <a:spcPct val="87000"/>
              </a:lnSpc>
              <a:spcBef>
                <a:spcPct val="0"/>
              </a:spcBef>
              <a:spcAft>
                <a:spcPct val="0"/>
              </a:spcAft>
              <a:defRPr b="1">
                <a:solidFill>
                  <a:schemeClr val="tx2"/>
                </a:solidFill>
                <a:latin typeface="Arial" charset="0"/>
              </a:defRPr>
            </a:lvl3pPr>
            <a:lvl4pPr eaLnBrk="0" fontAlgn="base" hangingPunct="0">
              <a:lnSpc>
                <a:spcPct val="87000"/>
              </a:lnSpc>
              <a:spcBef>
                <a:spcPct val="0"/>
              </a:spcBef>
              <a:spcAft>
                <a:spcPct val="0"/>
              </a:spcAft>
              <a:defRPr b="1">
                <a:solidFill>
                  <a:schemeClr val="tx2"/>
                </a:solidFill>
                <a:latin typeface="Arial" charset="0"/>
              </a:defRPr>
            </a:lvl4pPr>
            <a:lvl5pPr eaLnBrk="0" fontAlgn="base" hangingPunct="0">
              <a:lnSpc>
                <a:spcPct val="87000"/>
              </a:lnSpc>
              <a:spcBef>
                <a:spcPct val="0"/>
              </a:spcBef>
              <a:spcAft>
                <a:spcPct val="0"/>
              </a:spcAft>
              <a:defRPr b="1">
                <a:solidFill>
                  <a:schemeClr val="tx2"/>
                </a:solidFill>
                <a:latin typeface="Arial" charset="0"/>
              </a:defRPr>
            </a:lvl5pPr>
            <a:lvl6pPr marL="342900" eaLnBrk="0" fontAlgn="base" hangingPunct="0">
              <a:lnSpc>
                <a:spcPct val="87000"/>
              </a:lnSpc>
              <a:spcBef>
                <a:spcPct val="0"/>
              </a:spcBef>
              <a:spcAft>
                <a:spcPct val="0"/>
              </a:spcAft>
              <a:defRPr b="1">
                <a:solidFill>
                  <a:schemeClr val="tx2"/>
                </a:solidFill>
                <a:latin typeface="Arial" charset="0"/>
              </a:defRPr>
            </a:lvl6pPr>
            <a:lvl7pPr marL="685800" eaLnBrk="0" fontAlgn="base" hangingPunct="0">
              <a:lnSpc>
                <a:spcPct val="87000"/>
              </a:lnSpc>
              <a:spcBef>
                <a:spcPct val="0"/>
              </a:spcBef>
              <a:spcAft>
                <a:spcPct val="0"/>
              </a:spcAft>
              <a:defRPr b="1">
                <a:solidFill>
                  <a:schemeClr val="tx2"/>
                </a:solidFill>
                <a:latin typeface="Arial" charset="0"/>
              </a:defRPr>
            </a:lvl7pPr>
            <a:lvl8pPr marL="1028700" eaLnBrk="0" fontAlgn="base" hangingPunct="0">
              <a:lnSpc>
                <a:spcPct val="87000"/>
              </a:lnSpc>
              <a:spcBef>
                <a:spcPct val="0"/>
              </a:spcBef>
              <a:spcAft>
                <a:spcPct val="0"/>
              </a:spcAft>
              <a:defRPr b="1">
                <a:solidFill>
                  <a:schemeClr val="tx2"/>
                </a:solidFill>
                <a:latin typeface="Arial" charset="0"/>
              </a:defRPr>
            </a:lvl8pPr>
            <a:lvl9pPr marL="1371600" eaLnBrk="0" fontAlgn="base" hangingPunct="0">
              <a:lnSpc>
                <a:spcPct val="87000"/>
              </a:lnSpc>
              <a:spcBef>
                <a:spcPct val="0"/>
              </a:spcBef>
              <a:spcAft>
                <a:spcPct val="0"/>
              </a:spcAft>
              <a:defRPr b="1">
                <a:solidFill>
                  <a:schemeClr val="tx2"/>
                </a:solidFill>
                <a:latin typeface="Arial" charset="0"/>
              </a:defRPr>
            </a:lvl9pPr>
          </a:lstStyle>
          <a:p>
            <a:r>
              <a:rPr lang="en-IN" sz="2800" dirty="0">
                <a:hlinkClick r:id="rId6">
                  <a:extLst>
                    <a:ext uri="{A12FA001-AC4F-418D-AE19-62706E023703}">
                      <ahyp:hlinkClr xmlns="" xmlns:ahyp="http://schemas.microsoft.com/office/drawing/2018/hyperlinkcolor" val="tx"/>
                    </a:ext>
                  </a:extLst>
                </a:hlinkClick>
              </a:rPr>
              <a:t>NoSQL </a:t>
            </a:r>
            <a:r>
              <a:rPr lang="en-IN" sz="2800" dirty="0" smtClean="0">
                <a:hlinkClick r:id="rId6">
                  <a:extLst>
                    <a:ext uri="{A12FA001-AC4F-418D-AE19-62706E023703}">
                      <ahyp:hlinkClr xmlns="" xmlns:ahyp="http://schemas.microsoft.com/office/drawing/2018/hyperlinkcolor" val="tx"/>
                    </a:ext>
                  </a:extLst>
                </a:hlinkClick>
              </a:rPr>
              <a:t>Data Management</a:t>
            </a:r>
            <a:endParaRPr lang="en-IN" sz="2800" dirty="0">
              <a:hlinkClick r:id="rId6">
                <a:extLst>
                  <a:ext uri="{A12FA001-AC4F-418D-AE19-62706E023703}">
                    <ahyp:hlinkClr xmlns="" xmlns:ahyp="http://schemas.microsoft.com/office/drawing/2018/hyperlinkcolor" val="tx"/>
                  </a:ext>
                </a:extLst>
              </a:hlinkClick>
            </a:endParaRPr>
          </a:p>
          <a:p>
            <a:r>
              <a:rPr lang="en-IN" dirty="0"/>
              <a:t/>
            </a:r>
            <a:br>
              <a:rPr lang="en-IN" dirty="0"/>
            </a:br>
            <a:endParaRPr lang="en-IN" dirty="0"/>
          </a:p>
        </p:txBody>
      </p:sp>
      <p:sp>
        <p:nvSpPr>
          <p:cNvPr id="11" name="Subtitle 2">
            <a:extLst>
              <a:ext uri="{FF2B5EF4-FFF2-40B4-BE49-F238E27FC236}">
                <a16:creationId xmlns:a16="http://schemas.microsoft.com/office/drawing/2014/main" id="{767D772C-CE7C-4E6F-8FFF-BDAD62483336}"/>
              </a:ext>
            </a:extLst>
          </p:cNvPr>
          <p:cNvSpPr txBox="1">
            <a:spLocks/>
          </p:cNvSpPr>
          <p:nvPr/>
        </p:nvSpPr>
        <p:spPr bwMode="auto">
          <a:xfrm>
            <a:off x="706474" y="5613718"/>
            <a:ext cx="7772400" cy="899624"/>
          </a:xfrm>
          <a:prstGeom prst="rect">
            <a:avLst/>
          </a:prstGeom>
          <a:noFill/>
          <a:ln w="12700">
            <a:noFill/>
            <a:miter lim="800000"/>
            <a:headEnd/>
            <a:tailEnd/>
          </a:ln>
        </p:spPr>
        <p:txBody>
          <a:bodyPr vert="horz" wrap="square" lIns="63500" tIns="25400" rIns="63500" bIns="25400" numCol="1" anchor="t" anchorCtr="0" compatLnSpc="1">
            <a:prstTxWarp prst="textNoShape">
              <a:avLst/>
            </a:prstTxWarp>
            <a:normAutofit fontScale="92500" lnSpcReduction="20000"/>
          </a:bodyPr>
          <a:lstStyle>
            <a:lvl1pPr marL="152400" indent="-152400" algn="l" rtl="0" eaLnBrk="0" fontAlgn="base" hangingPunct="0">
              <a:lnSpc>
                <a:spcPct val="75000"/>
              </a:lnSpc>
              <a:spcBef>
                <a:spcPct val="65000"/>
              </a:spcBef>
              <a:spcAft>
                <a:spcPct val="0"/>
              </a:spcAft>
              <a:buSzPct val="100000"/>
              <a:buFont typeface="Arial" charset="0"/>
              <a:buChar char="•"/>
              <a:defRPr sz="1800" b="1">
                <a:solidFill>
                  <a:schemeClr val="tx1"/>
                </a:solidFill>
                <a:latin typeface="Bookman Old Style" panose="02050604050505020204" pitchFamily="18" charset="0"/>
                <a:ea typeface="+mn-ea"/>
                <a:cs typeface="+mn-cs"/>
              </a:defRPr>
            </a:lvl1pPr>
            <a:lvl2pPr marL="514350" indent="-142875" algn="l" rtl="0" eaLnBrk="0" fontAlgn="base" hangingPunct="0">
              <a:lnSpc>
                <a:spcPct val="85000"/>
              </a:lnSpc>
              <a:spcBef>
                <a:spcPct val="40000"/>
              </a:spcBef>
              <a:spcAft>
                <a:spcPct val="0"/>
              </a:spcAft>
              <a:buSzPct val="100000"/>
              <a:buFont typeface="Courier New" pitchFamily="49" charset="0"/>
              <a:buChar char="o"/>
              <a:defRPr sz="1800" b="1">
                <a:solidFill>
                  <a:schemeClr val="tx1"/>
                </a:solidFill>
                <a:latin typeface="Bookman Old Style" panose="02050604050505020204" pitchFamily="18" charset="0"/>
              </a:defRPr>
            </a:lvl2pPr>
            <a:lvl3pPr marL="942975" indent="-257175" algn="l" rtl="0" eaLnBrk="0" fontAlgn="base" hangingPunct="0">
              <a:lnSpc>
                <a:spcPct val="85000"/>
              </a:lnSpc>
              <a:spcBef>
                <a:spcPct val="40000"/>
              </a:spcBef>
              <a:spcAft>
                <a:spcPct val="0"/>
              </a:spcAft>
              <a:buSzPct val="100000"/>
              <a:buFont typeface="Wingdings" pitchFamily="2" charset="2"/>
              <a:buChar char="Ø"/>
              <a:defRPr sz="1800" b="1">
                <a:solidFill>
                  <a:schemeClr val="tx1"/>
                </a:solidFill>
                <a:latin typeface="Bookman Old Style" panose="02050604050505020204" pitchFamily="18" charset="0"/>
              </a:defRPr>
            </a:lvl3pPr>
            <a:lvl4pPr marL="12858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4pPr>
            <a:lvl5pPr marL="16287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5pPr>
            <a:lvl6pPr marL="1971675" indent="-257175" algn="l" rtl="0" fontAlgn="base">
              <a:spcBef>
                <a:spcPct val="20000"/>
              </a:spcBef>
              <a:spcAft>
                <a:spcPct val="0"/>
              </a:spcAft>
              <a:buChar char="»"/>
              <a:defRPr sz="1500">
                <a:solidFill>
                  <a:schemeClr val="tx1"/>
                </a:solidFill>
                <a:latin typeface="Times New Roman" charset="0"/>
              </a:defRPr>
            </a:lvl6pPr>
            <a:lvl7pPr marL="2314575" indent="-257175" algn="l" rtl="0" fontAlgn="base">
              <a:spcBef>
                <a:spcPct val="20000"/>
              </a:spcBef>
              <a:spcAft>
                <a:spcPct val="0"/>
              </a:spcAft>
              <a:buChar char="»"/>
              <a:defRPr sz="1500">
                <a:solidFill>
                  <a:schemeClr val="tx1"/>
                </a:solidFill>
                <a:latin typeface="Times New Roman" charset="0"/>
              </a:defRPr>
            </a:lvl7pPr>
            <a:lvl8pPr marL="2657475" indent="-257175" algn="l" rtl="0" fontAlgn="base">
              <a:spcBef>
                <a:spcPct val="20000"/>
              </a:spcBef>
              <a:spcAft>
                <a:spcPct val="0"/>
              </a:spcAft>
              <a:buChar char="»"/>
              <a:defRPr sz="1500">
                <a:solidFill>
                  <a:schemeClr val="tx1"/>
                </a:solidFill>
                <a:latin typeface="Times New Roman" charset="0"/>
              </a:defRPr>
            </a:lvl8pPr>
            <a:lvl9pPr marL="3000375" indent="-257175" algn="l" rtl="0" fontAlgn="base">
              <a:spcBef>
                <a:spcPct val="20000"/>
              </a:spcBef>
              <a:spcAft>
                <a:spcPct val="0"/>
              </a:spcAft>
              <a:buChar char="»"/>
              <a:defRPr sz="1500">
                <a:solidFill>
                  <a:schemeClr val="tx1"/>
                </a:solidFill>
                <a:latin typeface="Times New Roman" charset="0"/>
              </a:defRPr>
            </a:lvl9pPr>
          </a:lstStyle>
          <a:p>
            <a:pPr marL="0" indent="0" algn="ctr">
              <a:lnSpc>
                <a:spcPct val="120000"/>
              </a:lnSpc>
              <a:spcBef>
                <a:spcPts val="0"/>
              </a:spcBef>
              <a:buNone/>
            </a:pPr>
            <a:r>
              <a:rPr lang="en-IN" sz="2000" kern="0" dirty="0"/>
              <a:t>Department of Computer Science Engineering</a:t>
            </a:r>
          </a:p>
          <a:p>
            <a:pPr marL="0" indent="0" algn="ctr">
              <a:lnSpc>
                <a:spcPct val="120000"/>
              </a:lnSpc>
              <a:spcBef>
                <a:spcPts val="0"/>
              </a:spcBef>
              <a:buNone/>
            </a:pPr>
            <a:r>
              <a:rPr lang="en-IN" sz="3600" kern="0" dirty="0"/>
              <a:t>School of Engineering</a:t>
            </a:r>
          </a:p>
        </p:txBody>
      </p:sp>
    </p:spTree>
    <p:extLst>
      <p:ext uri="{BB962C8B-B14F-4D97-AF65-F5344CB8AC3E}">
        <p14:creationId xmlns:p14="http://schemas.microsoft.com/office/powerpoint/2010/main" val="3470910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Module </a:t>
            </a:r>
            <a:r>
              <a:rPr lang="en-GB" dirty="0"/>
              <a:t>2</a:t>
            </a:r>
            <a:r>
              <a:rPr lang="en-GB" dirty="0" smtClean="0"/>
              <a:t> </a:t>
            </a:r>
            <a:r>
              <a:rPr lang="en-GB" dirty="0"/>
              <a:t>: </a:t>
            </a:r>
            <a:r>
              <a:rPr lang="en-US" dirty="0"/>
              <a:t>Distributed Data Systems and Consistency Models</a:t>
            </a:r>
            <a:endParaRPr lang="en-IN" dirty="0"/>
          </a:p>
        </p:txBody>
      </p:sp>
      <p:sp>
        <p:nvSpPr>
          <p:cNvPr id="3" name="Content Placeholder 2"/>
          <p:cNvSpPr>
            <a:spLocks noGrp="1"/>
          </p:cNvSpPr>
          <p:nvPr>
            <p:ph idx="1"/>
          </p:nvPr>
        </p:nvSpPr>
        <p:spPr>
          <a:xfrm>
            <a:off x="457200" y="1110762"/>
            <a:ext cx="8229600" cy="4909038"/>
          </a:xfrm>
        </p:spPr>
        <p:txBody>
          <a:bodyPr/>
          <a:lstStyle/>
          <a:p>
            <a:pPr algn="just"/>
            <a:r>
              <a:rPr lang="en-US" sz="1800" b="1" dirty="0"/>
              <a:t>Distributed Data Systems and Consistency Models </a:t>
            </a:r>
            <a:r>
              <a:rPr lang="en-IN" sz="1800" b="1" dirty="0" smtClean="0"/>
              <a:t>Distribution Models</a:t>
            </a:r>
            <a:r>
              <a:rPr lang="en-IN" sz="2000" b="1" dirty="0" smtClean="0"/>
              <a:t>:</a:t>
            </a:r>
            <a:r>
              <a:rPr lang="en-IN" sz="2000" dirty="0" smtClean="0"/>
              <a:t> </a:t>
            </a:r>
            <a:r>
              <a:rPr lang="en-IN" sz="2000" dirty="0"/>
              <a:t>Single Server, </a:t>
            </a:r>
            <a:r>
              <a:rPr lang="en-IN" sz="2000" dirty="0" err="1"/>
              <a:t>Sharding</a:t>
            </a:r>
            <a:r>
              <a:rPr lang="en-IN" sz="2000" dirty="0"/>
              <a:t>, Master-Slave Replication, Peer-to-Peer Replication, Combining </a:t>
            </a:r>
            <a:r>
              <a:rPr lang="en-IN" sz="2000" dirty="0" err="1"/>
              <a:t>Sharding</a:t>
            </a:r>
            <a:r>
              <a:rPr lang="en-IN" sz="2000" dirty="0"/>
              <a:t> and Replication Consistency, Update Consistency, Read Consistency, Relaxing Consistency, The CAP Theorem, Relaxing Durability, Quorums. Version Stamps, Business and System Transactions, Version Stamps on Multiple Nodes.</a:t>
            </a:r>
            <a:r>
              <a:rPr lang="en-IN" sz="1800" dirty="0"/>
              <a:t>		</a:t>
            </a:r>
          </a:p>
        </p:txBody>
      </p:sp>
      <p:sp>
        <p:nvSpPr>
          <p:cNvPr id="4" name="Footer Placeholder 3"/>
          <p:cNvSpPr>
            <a:spLocks noGrp="1"/>
          </p:cNvSpPr>
          <p:nvPr>
            <p:ph type="ftr" sz="quarter" idx="11"/>
          </p:nvPr>
        </p:nvSpPr>
        <p:spPr/>
        <p:txBody>
          <a:bodyPr/>
          <a:lstStyle/>
          <a:p>
            <a:r>
              <a:rPr lang="en-US" dirty="0" smtClean="0"/>
              <a:t>CSE3513 </a:t>
            </a:r>
            <a:r>
              <a:rPr lang="en-US" dirty="0"/>
              <a:t>NoSQL </a:t>
            </a:r>
            <a:r>
              <a:rPr lang="en-US" dirty="0" smtClean="0"/>
              <a:t>Data Management</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0972649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683C38-AC44-03AD-5D55-732744AFCB83}"/>
              </a:ext>
            </a:extLst>
          </p:cNvPr>
          <p:cNvSpPr>
            <a:spLocks noGrp="1"/>
          </p:cNvSpPr>
          <p:nvPr>
            <p:ph type="ftr" sz="quarter" idx="11"/>
          </p:nvPr>
        </p:nvSpPr>
        <p:spPr/>
        <p:txBody>
          <a:bodyPr/>
          <a:lstStyle/>
          <a:p>
            <a:r>
              <a:rPr lang="en-US" dirty="0"/>
              <a:t>CSE3513 NoSQL Data Management</a:t>
            </a:r>
          </a:p>
        </p:txBody>
      </p:sp>
      <p:sp>
        <p:nvSpPr>
          <p:cNvPr id="3" name="Slide Number Placeholder 2">
            <a:extLst>
              <a:ext uri="{FF2B5EF4-FFF2-40B4-BE49-F238E27FC236}">
                <a16:creationId xmlns:a16="http://schemas.microsoft.com/office/drawing/2014/main" id="{667DFAE2-9551-73A5-D73B-0A79D0E09258}"/>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4" name="TextBox 3">
            <a:extLst>
              <a:ext uri="{FF2B5EF4-FFF2-40B4-BE49-F238E27FC236}">
                <a16:creationId xmlns:a16="http://schemas.microsoft.com/office/drawing/2014/main" id="{8804667C-97E7-CFA4-9E93-D6BF82DA6FF3}"/>
              </a:ext>
            </a:extLst>
          </p:cNvPr>
          <p:cNvSpPr txBox="1"/>
          <p:nvPr/>
        </p:nvSpPr>
        <p:spPr>
          <a:xfrm>
            <a:off x="3390900" y="304800"/>
            <a:ext cx="2362200" cy="830997"/>
          </a:xfrm>
          <a:prstGeom prst="rect">
            <a:avLst/>
          </a:prstGeom>
          <a:noFill/>
        </p:spPr>
        <p:txBody>
          <a:bodyPr wrap="square" rtlCol="0">
            <a:spAutoFit/>
          </a:bodyPr>
          <a:lstStyle/>
          <a:p>
            <a:pPr algn="ctr"/>
            <a:r>
              <a:rPr lang="en-US" sz="2400" b="1" dirty="0" smtClean="0"/>
              <a:t>Session Summary</a:t>
            </a:r>
            <a:endParaRPr lang="en-IN" sz="2400" b="1" dirty="0"/>
          </a:p>
        </p:txBody>
      </p:sp>
      <p:sp>
        <p:nvSpPr>
          <p:cNvPr id="5" name="TextBox 4">
            <a:extLst>
              <a:ext uri="{FF2B5EF4-FFF2-40B4-BE49-F238E27FC236}">
                <a16:creationId xmlns:a16="http://schemas.microsoft.com/office/drawing/2014/main" id="{F78F9BFB-874F-26A1-7D38-3F1D596EFE31}"/>
              </a:ext>
            </a:extLst>
          </p:cNvPr>
          <p:cNvSpPr txBox="1"/>
          <p:nvPr/>
        </p:nvSpPr>
        <p:spPr>
          <a:xfrm>
            <a:off x="533400" y="1207665"/>
            <a:ext cx="7924800" cy="5078313"/>
          </a:xfrm>
          <a:prstGeom prst="rect">
            <a:avLst/>
          </a:prstGeom>
          <a:noFill/>
        </p:spPr>
        <p:txBody>
          <a:bodyPr wrap="square" rtlCol="0">
            <a:spAutoFit/>
          </a:bodyPr>
          <a:lstStyle/>
          <a:p>
            <a:r>
              <a:rPr lang="en-IN" b="1" dirty="0"/>
              <a:t>Topics </a:t>
            </a:r>
          </a:p>
          <a:p>
            <a:pPr marL="285750" indent="-285750">
              <a:buFont typeface="Arial" panose="020B0604020202020204" pitchFamily="34" charset="0"/>
              <a:buChar char="•"/>
            </a:pPr>
            <a:r>
              <a:rPr lang="en-IN" dirty="0" smtClean="0"/>
              <a:t>Distribution Models, Consistency Models</a:t>
            </a:r>
            <a:endParaRPr lang="en-IN" dirty="0"/>
          </a:p>
          <a:p>
            <a:pPr marL="285750" indent="-285750">
              <a:buFont typeface="Arial" panose="020B0604020202020204" pitchFamily="34" charset="0"/>
              <a:buChar char="•"/>
            </a:pPr>
            <a:r>
              <a:rPr lang="en-GB" dirty="0" smtClean="0"/>
              <a:t>Coordination &amp; Agreement Techniques</a:t>
            </a:r>
            <a:endParaRPr lang="en-GB" dirty="0"/>
          </a:p>
          <a:p>
            <a:pPr marL="285750" indent="-285750">
              <a:buFont typeface="Arial" panose="020B0604020202020204" pitchFamily="34" charset="0"/>
              <a:buChar char="•"/>
            </a:pPr>
            <a:r>
              <a:rPr lang="en-GB" dirty="0" smtClean="0"/>
              <a:t>CAP-Theorem, Version Stamps, Transactions, Quorums</a:t>
            </a:r>
            <a:endParaRPr lang="en-GB" dirty="0"/>
          </a:p>
          <a:p>
            <a:endParaRPr lang="en-GB" dirty="0"/>
          </a:p>
          <a:p>
            <a:r>
              <a:rPr lang="en-GB" b="1" dirty="0"/>
              <a:t>Learning Outcomes (LOs)</a:t>
            </a:r>
          </a:p>
          <a:p>
            <a:r>
              <a:rPr lang="en-GB" b="1" dirty="0"/>
              <a:t>LO1</a:t>
            </a:r>
            <a:r>
              <a:rPr lang="en-GB" dirty="0"/>
              <a:t>: </a:t>
            </a:r>
            <a:r>
              <a:rPr lang="en-US" b="1" dirty="0"/>
              <a:t>Explain</a:t>
            </a:r>
            <a:r>
              <a:rPr lang="en-US" dirty="0"/>
              <a:t> the different distribution models (single server, </a:t>
            </a:r>
            <a:r>
              <a:rPr lang="en-US" dirty="0" err="1"/>
              <a:t>sharding</a:t>
            </a:r>
            <a:r>
              <a:rPr lang="en-US" dirty="0"/>
              <a:t>, replication techniques) </a:t>
            </a:r>
            <a:endParaRPr lang="en-GB" dirty="0"/>
          </a:p>
          <a:p>
            <a:r>
              <a:rPr lang="en-GB" b="1" dirty="0"/>
              <a:t>LO2</a:t>
            </a:r>
            <a:r>
              <a:rPr lang="en-GB" dirty="0"/>
              <a:t>: </a:t>
            </a:r>
            <a:r>
              <a:rPr lang="en-US" b="1" dirty="0"/>
              <a:t>Differentiate</a:t>
            </a:r>
            <a:r>
              <a:rPr lang="en-US" dirty="0"/>
              <a:t> between update consistency, read consistency, and relaxed consistency models, and </a:t>
            </a:r>
            <a:r>
              <a:rPr lang="en-US" b="1" dirty="0"/>
              <a:t>analyze</a:t>
            </a:r>
            <a:r>
              <a:rPr lang="en-US" dirty="0"/>
              <a:t> how the CAP theorem influences distributed database design. </a:t>
            </a:r>
            <a:endParaRPr lang="en-US" dirty="0" smtClean="0"/>
          </a:p>
          <a:p>
            <a:r>
              <a:rPr lang="en-GB" b="1" dirty="0" smtClean="0"/>
              <a:t>LO3</a:t>
            </a:r>
            <a:r>
              <a:rPr lang="en-GB" b="1" dirty="0"/>
              <a:t>: </a:t>
            </a:r>
            <a:r>
              <a:rPr lang="en-US" b="1" dirty="0"/>
              <a:t>Apply</a:t>
            </a:r>
            <a:r>
              <a:rPr lang="en-US" dirty="0"/>
              <a:t> concepts of durability relaxation, quorum-based approaches, and version stamps to ensure reliability and fault tolerance in distributed data systems. </a:t>
            </a:r>
            <a:endParaRPr lang="en-US" dirty="0" smtClean="0"/>
          </a:p>
          <a:p>
            <a:r>
              <a:rPr lang="en-GB" b="1" dirty="0" smtClean="0"/>
              <a:t>LO4</a:t>
            </a:r>
            <a:r>
              <a:rPr lang="en-GB" b="1" dirty="0"/>
              <a:t>: </a:t>
            </a:r>
            <a:r>
              <a:rPr lang="en-US" b="1" dirty="0"/>
              <a:t>Integrate</a:t>
            </a:r>
            <a:r>
              <a:rPr lang="en-US" dirty="0"/>
              <a:t> business and system transaction requirements with version stamping across multiple nodes to </a:t>
            </a:r>
            <a:r>
              <a:rPr lang="en-US" b="1" dirty="0"/>
              <a:t>design</a:t>
            </a:r>
            <a:r>
              <a:rPr lang="en-US" dirty="0"/>
              <a:t> scalable and consistent distributed architectures.</a:t>
            </a:r>
            <a:endParaRPr lang="en-GB" dirty="0"/>
          </a:p>
          <a:p>
            <a:endParaRPr lang="en-IN" dirty="0"/>
          </a:p>
        </p:txBody>
      </p:sp>
    </p:spTree>
    <p:extLst>
      <p:ext uri="{BB962C8B-B14F-4D97-AF65-F5344CB8AC3E}">
        <p14:creationId xmlns:p14="http://schemas.microsoft.com/office/powerpoint/2010/main" val="17783455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CSE3513  NoSQL Databases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a:p>
        </p:txBody>
      </p:sp>
      <p:sp>
        <p:nvSpPr>
          <p:cNvPr id="4" name="Rectangle 3"/>
          <p:cNvSpPr/>
          <p:nvPr/>
        </p:nvSpPr>
        <p:spPr>
          <a:xfrm>
            <a:off x="1752600" y="2590800"/>
            <a:ext cx="5943600" cy="1200329"/>
          </a:xfrm>
          <a:prstGeom prst="rect">
            <a:avLst/>
          </a:prstGeom>
        </p:spPr>
        <p:txBody>
          <a:bodyPr wrap="square">
            <a:spAutoFit/>
          </a:bodyPr>
          <a:lstStyle/>
          <a:p>
            <a:r>
              <a:rPr lang="en-US" sz="3600" b="1" dirty="0"/>
              <a:t>Distributed Data Systems and Consistency Models</a:t>
            </a:r>
            <a:endParaRPr lang="en-IN" sz="3600" b="1" dirty="0"/>
          </a:p>
        </p:txBody>
      </p:sp>
    </p:spTree>
    <p:extLst>
      <p:ext uri="{BB962C8B-B14F-4D97-AF65-F5344CB8AC3E}">
        <p14:creationId xmlns:p14="http://schemas.microsoft.com/office/powerpoint/2010/main" val="9169432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2323713"/>
          </a:xfrm>
          <a:prstGeom prst="rect">
            <a:avLst/>
          </a:prstGeom>
          <a:noFill/>
        </p:spPr>
        <p:txBody>
          <a:bodyPr wrap="square" rtlCol="0">
            <a:spAutoFit/>
          </a:bodyPr>
          <a:lstStyle/>
          <a:p>
            <a:pPr algn="just"/>
            <a:r>
              <a:rPr lang="en-US" b="1" dirty="0"/>
              <a:t>What is </a:t>
            </a:r>
            <a:r>
              <a:rPr lang="en-US" b="1" dirty="0" smtClean="0"/>
              <a:t>a Distributed System?</a:t>
            </a:r>
          </a:p>
          <a:p>
            <a:pPr algn="just"/>
            <a:endParaRPr lang="en-US" b="1" dirty="0"/>
          </a:p>
          <a:p>
            <a:pPr algn="just"/>
            <a:r>
              <a:rPr lang="en-US" b="1" dirty="0"/>
              <a:t>Distributed Data Systems</a:t>
            </a:r>
            <a:r>
              <a:rPr lang="en-US" dirty="0"/>
              <a:t> – databases and storage systems that manage data across multiple servers or locations</a:t>
            </a:r>
            <a:r>
              <a:rPr lang="en-US" dirty="0" smtClean="0"/>
              <a:t>.</a:t>
            </a:r>
          </a:p>
          <a:p>
            <a:pPr algn="just"/>
            <a:r>
              <a:rPr lang="en-IN" altLang="en-US" dirty="0">
                <a:ea typeface="Aptos" pitchFamily="34" charset="0"/>
                <a:cs typeface="Times New Roman" panose="02020603050405020304" pitchFamily="18" charset="0"/>
              </a:rPr>
              <a:t>Modern applications (social media, e-commerce, banking) store </a:t>
            </a:r>
            <a:r>
              <a:rPr lang="en-IN" altLang="en-US" b="1" dirty="0">
                <a:ea typeface="Aptos" pitchFamily="34" charset="0"/>
                <a:cs typeface="Times New Roman" panose="02020603050405020304" pitchFamily="18" charset="0"/>
              </a:rPr>
              <a:t>huge amounts of data</a:t>
            </a:r>
            <a:r>
              <a:rPr lang="en-IN" altLang="en-US" dirty="0">
                <a:ea typeface="Aptos" pitchFamily="34" charset="0"/>
                <a:cs typeface="Times New Roman" panose="02020603050405020304" pitchFamily="18" charset="0"/>
              </a:rPr>
              <a:t>.</a:t>
            </a:r>
          </a:p>
          <a:p>
            <a:pPr algn="just"/>
            <a:endParaRPr lang="en-US" sz="2200" b="1" dirty="0"/>
          </a:p>
          <a:p>
            <a:pPr algn="just">
              <a:lnSpc>
                <a:spcPct val="150000"/>
              </a:lnSpc>
            </a:pPr>
            <a:r>
              <a:rPr lang="en-GB" sz="2200" dirty="0"/>
              <a:t> </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a:t>Introduction</a:t>
            </a:r>
            <a:endParaRPr lang="en-IN" sz="2800" dirty="0"/>
          </a:p>
        </p:txBody>
      </p:sp>
      <p:sp>
        <p:nvSpPr>
          <p:cNvPr id="7" name="Rectangle 6"/>
          <p:cNvSpPr/>
          <p:nvPr/>
        </p:nvSpPr>
        <p:spPr>
          <a:xfrm>
            <a:off x="1257300" y="2971800"/>
            <a:ext cx="6629400" cy="3139321"/>
          </a:xfrm>
          <a:prstGeom prst="rect">
            <a:avLst/>
          </a:prstGeom>
        </p:spPr>
        <p:txBody>
          <a:bodyPr wrap="square">
            <a:spAutoFit/>
          </a:bodyPr>
          <a:lstStyle/>
          <a:p>
            <a:r>
              <a:rPr lang="en-IN" dirty="0"/>
              <a:t> </a:t>
            </a:r>
            <a:r>
              <a:rPr lang="en-IN" dirty="0" smtClean="0"/>
              <a:t>                             ┌───────────────── ┐</a:t>
            </a:r>
            <a:endParaRPr lang="en-IN" dirty="0"/>
          </a:p>
          <a:p>
            <a:r>
              <a:rPr lang="en-IN" dirty="0"/>
              <a:t>               </a:t>
            </a:r>
            <a:r>
              <a:rPr lang="en-IN" dirty="0" smtClean="0"/>
              <a:t>               │             User </a:t>
            </a:r>
            <a:r>
              <a:rPr lang="en-IN" dirty="0"/>
              <a:t>Request  </a:t>
            </a:r>
            <a:r>
              <a:rPr lang="en-IN" dirty="0" smtClean="0"/>
              <a:t>           │</a:t>
            </a:r>
            <a:endParaRPr lang="en-IN" dirty="0"/>
          </a:p>
          <a:p>
            <a:r>
              <a:rPr lang="en-IN" dirty="0"/>
              <a:t>             </a:t>
            </a:r>
            <a:r>
              <a:rPr lang="en-IN" dirty="0" smtClean="0"/>
              <a:t>                 └────── ─┬─────────┘</a:t>
            </a:r>
            <a:endParaRPr lang="en-IN" dirty="0"/>
          </a:p>
          <a:p>
            <a:r>
              <a:rPr lang="en-IN" dirty="0"/>
              <a:t>                        </a:t>
            </a:r>
            <a:r>
              <a:rPr lang="en-IN" dirty="0" smtClean="0"/>
              <a:t>                               │</a:t>
            </a:r>
            <a:endParaRPr lang="en-IN" dirty="0"/>
          </a:p>
          <a:p>
            <a:r>
              <a:rPr lang="en-IN" dirty="0"/>
              <a:t>        ┌───────────────┼────────────────┐</a:t>
            </a:r>
          </a:p>
          <a:p>
            <a:r>
              <a:rPr lang="en-IN" dirty="0"/>
              <a:t>        │            </a:t>
            </a:r>
            <a:r>
              <a:rPr lang="en-IN" dirty="0" smtClean="0"/>
              <a:t>                                </a:t>
            </a:r>
            <a:r>
              <a:rPr lang="en-IN" dirty="0"/>
              <a:t>│              </a:t>
            </a:r>
            <a:r>
              <a:rPr lang="en-IN" dirty="0" smtClean="0"/>
              <a:t>                                 </a:t>
            </a:r>
            <a:r>
              <a:rPr lang="en-IN" dirty="0"/>
              <a:t>│</a:t>
            </a:r>
          </a:p>
          <a:p>
            <a:r>
              <a:rPr lang="en-IN" dirty="0"/>
              <a:t>        ▼              </a:t>
            </a:r>
            <a:r>
              <a:rPr lang="en-IN" dirty="0" smtClean="0"/>
              <a:t>                            </a:t>
            </a:r>
            <a:r>
              <a:rPr lang="en-IN" dirty="0"/>
              <a:t>▼               </a:t>
            </a:r>
            <a:r>
              <a:rPr lang="en-IN" dirty="0" smtClean="0"/>
              <a:t>                               ▼</a:t>
            </a:r>
            <a:endParaRPr lang="en-IN" dirty="0"/>
          </a:p>
          <a:p>
            <a:r>
              <a:rPr lang="en-IN" dirty="0"/>
              <a:t>   ┌───────────┐   ┌───────────┐   ┌───────────┐</a:t>
            </a:r>
          </a:p>
          <a:p>
            <a:r>
              <a:rPr lang="en-IN" dirty="0"/>
              <a:t>   │   Node A  </a:t>
            </a:r>
            <a:r>
              <a:rPr lang="en-IN" dirty="0" smtClean="0"/>
              <a:t>             │    │   </a:t>
            </a:r>
            <a:r>
              <a:rPr lang="en-IN" dirty="0"/>
              <a:t>Node B  </a:t>
            </a:r>
            <a:r>
              <a:rPr lang="en-IN" dirty="0" smtClean="0"/>
              <a:t>             │   │   </a:t>
            </a:r>
            <a:r>
              <a:rPr lang="en-IN" dirty="0"/>
              <a:t>Node C </a:t>
            </a:r>
            <a:r>
              <a:rPr lang="en-IN" dirty="0" smtClean="0"/>
              <a:t>              │</a:t>
            </a:r>
            <a:endParaRPr lang="en-IN" dirty="0"/>
          </a:p>
          <a:p>
            <a:r>
              <a:rPr lang="en-IN" dirty="0"/>
              <a:t>   │ (Shard 1) </a:t>
            </a:r>
            <a:r>
              <a:rPr lang="en-IN" dirty="0" smtClean="0"/>
              <a:t>            │    │ </a:t>
            </a:r>
            <a:r>
              <a:rPr lang="en-IN" dirty="0"/>
              <a:t>(Replica</a:t>
            </a:r>
            <a:r>
              <a:rPr lang="en-IN" dirty="0" smtClean="0"/>
              <a:t>)             </a:t>
            </a:r>
            <a:r>
              <a:rPr lang="en-IN" dirty="0"/>
              <a:t>│  </a:t>
            </a:r>
            <a:r>
              <a:rPr lang="en-IN" dirty="0" smtClean="0"/>
              <a:t> │  (</a:t>
            </a:r>
            <a:r>
              <a:rPr lang="en-IN" dirty="0"/>
              <a:t>Shard 2) </a:t>
            </a:r>
            <a:r>
              <a:rPr lang="en-IN" dirty="0" smtClean="0"/>
              <a:t>           │</a:t>
            </a:r>
            <a:endParaRPr lang="en-IN" dirty="0"/>
          </a:p>
          <a:p>
            <a:r>
              <a:rPr lang="en-IN" dirty="0"/>
              <a:t>   └───────────┘   └───────────┘   └───────────┘</a:t>
            </a:r>
          </a:p>
        </p:txBody>
      </p:sp>
    </p:spTree>
    <p:extLst>
      <p:ext uri="{BB962C8B-B14F-4D97-AF65-F5344CB8AC3E}">
        <p14:creationId xmlns:p14="http://schemas.microsoft.com/office/powerpoint/2010/main" val="33836821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3339376"/>
          </a:xfrm>
          <a:prstGeom prst="rect">
            <a:avLst/>
          </a:prstGeom>
          <a:noFill/>
        </p:spPr>
        <p:txBody>
          <a:bodyPr wrap="square" rtlCol="0">
            <a:spAutoFit/>
          </a:bodyPr>
          <a:lstStyle/>
          <a:p>
            <a:pPr algn="just"/>
            <a:r>
              <a:rPr lang="en-US" sz="2200" b="1" dirty="0" smtClean="0"/>
              <a:t>Why distribution is needed?</a:t>
            </a:r>
          </a:p>
          <a:p>
            <a:pPr algn="just"/>
            <a:endParaRPr lang="en-US" sz="2200" b="1" dirty="0"/>
          </a:p>
          <a:p>
            <a:pPr marL="285750" indent="-285750" algn="just">
              <a:buFont typeface="Wingdings" panose="05000000000000000000" pitchFamily="2" charset="2"/>
              <a:buChar char="ü"/>
            </a:pPr>
            <a:r>
              <a:rPr lang="en-IN" altLang="en-US" dirty="0" smtClean="0">
                <a:ea typeface="Aptos" pitchFamily="34" charset="0"/>
                <a:cs typeface="Times New Roman" panose="02020603050405020304" pitchFamily="18" charset="0"/>
              </a:rPr>
              <a:t>Modern </a:t>
            </a:r>
            <a:r>
              <a:rPr lang="en-IN" altLang="en-US" dirty="0">
                <a:ea typeface="Aptos" pitchFamily="34" charset="0"/>
                <a:cs typeface="Times New Roman" panose="02020603050405020304" pitchFamily="18" charset="0"/>
              </a:rPr>
              <a:t>applications (social media, e-commerce, banking) store </a:t>
            </a:r>
            <a:r>
              <a:rPr lang="en-IN" altLang="en-US" b="1" dirty="0">
                <a:ea typeface="Aptos" pitchFamily="34" charset="0"/>
                <a:cs typeface="Times New Roman" panose="02020603050405020304" pitchFamily="18" charset="0"/>
              </a:rPr>
              <a:t>huge amounts of data</a:t>
            </a:r>
            <a:r>
              <a:rPr lang="en-IN" altLang="en-US" dirty="0" smtClean="0">
                <a:ea typeface="Aptos" pitchFamily="34" charset="0"/>
                <a:cs typeface="Times New Roman" panose="02020603050405020304" pitchFamily="18" charset="0"/>
              </a:rPr>
              <a:t>.</a:t>
            </a:r>
          </a:p>
          <a:p>
            <a:pPr marL="285750" indent="-285750" algn="just">
              <a:buFont typeface="Wingdings" panose="05000000000000000000" pitchFamily="2" charset="2"/>
              <a:buChar char="ü"/>
            </a:pPr>
            <a:endParaRPr lang="en-IN" altLang="en-US" dirty="0">
              <a:ea typeface="Aptos" pitchFamily="34" charset="0"/>
              <a:cs typeface="Times New Roman" panose="02020603050405020304" pitchFamily="18" charset="0"/>
            </a:endParaRPr>
          </a:p>
          <a:p>
            <a:pPr marL="342900" indent="-342900" algn="just">
              <a:buFont typeface="Wingdings" panose="05000000000000000000" pitchFamily="2" charset="2"/>
              <a:buChar char="ü"/>
            </a:pPr>
            <a:r>
              <a:rPr lang="en-US" altLang="en-US" sz="2000" dirty="0">
                <a:ea typeface="Aptos" pitchFamily="34" charset="0"/>
                <a:cs typeface="Times New Roman" panose="02020603050405020304" pitchFamily="18" charset="0"/>
              </a:rPr>
              <a:t>Single Server can’t handle this data</a:t>
            </a:r>
            <a:r>
              <a:rPr lang="en-US" altLang="en-US" sz="2000" dirty="0" smtClean="0">
                <a:ea typeface="Aptos" pitchFamily="34" charset="0"/>
                <a:cs typeface="Times New Roman" panose="02020603050405020304" pitchFamily="18" charset="0"/>
              </a:rPr>
              <a:t>.</a:t>
            </a:r>
          </a:p>
          <a:p>
            <a:pPr marL="342900" indent="-342900" algn="just">
              <a:buFont typeface="Wingdings" panose="05000000000000000000" pitchFamily="2" charset="2"/>
              <a:buChar char="ü"/>
            </a:pPr>
            <a:endParaRPr lang="en-US" altLang="en-US" sz="2000" dirty="0">
              <a:ea typeface="Aptos" pitchFamily="34" charset="0"/>
              <a:cs typeface="Times New Roman" panose="02020603050405020304" pitchFamily="18" charset="0"/>
            </a:endParaRPr>
          </a:p>
          <a:p>
            <a:pPr marL="342900" indent="-342900" algn="just">
              <a:buFont typeface="Wingdings" panose="05000000000000000000" pitchFamily="2" charset="2"/>
              <a:buChar char="ü"/>
            </a:pPr>
            <a:r>
              <a:rPr lang="en-IN" altLang="en-US" sz="2000" dirty="0">
                <a:ea typeface="Aptos" pitchFamily="34" charset="0"/>
                <a:cs typeface="Times New Roman" panose="02020603050405020304" pitchFamily="18" charset="0"/>
              </a:rPr>
              <a:t>NoSQL databases (MongoDB, Cassandra, </a:t>
            </a:r>
            <a:r>
              <a:rPr lang="en-IN" altLang="en-US" sz="2000" dirty="0" err="1">
                <a:ea typeface="Aptos" pitchFamily="34" charset="0"/>
                <a:cs typeface="Times New Roman" panose="02020603050405020304" pitchFamily="18" charset="0"/>
              </a:rPr>
              <a:t>Couchbase</a:t>
            </a:r>
            <a:r>
              <a:rPr lang="en-IN" altLang="en-US" sz="2000" dirty="0">
                <a:ea typeface="Aptos" pitchFamily="34" charset="0"/>
                <a:cs typeface="Times New Roman" panose="02020603050405020304" pitchFamily="18" charset="0"/>
              </a:rPr>
              <a:t>, </a:t>
            </a:r>
            <a:r>
              <a:rPr lang="en-IN" altLang="en-US" sz="2000" dirty="0" err="1">
                <a:ea typeface="Aptos" pitchFamily="34" charset="0"/>
                <a:cs typeface="Times New Roman" panose="02020603050405020304" pitchFamily="18" charset="0"/>
              </a:rPr>
              <a:t>DynamoDB</a:t>
            </a:r>
            <a:r>
              <a:rPr lang="en-IN" altLang="en-US" sz="2000" dirty="0">
                <a:ea typeface="Aptos" pitchFamily="34" charset="0"/>
                <a:cs typeface="Times New Roman" panose="02020603050405020304" pitchFamily="18" charset="0"/>
              </a:rPr>
              <a:t>, etc.) are often distributed for scalability and fault tolerance</a:t>
            </a:r>
            <a:r>
              <a:rPr lang="en-IN" altLang="en-US" dirty="0">
                <a:ea typeface="Aptos" pitchFamily="34" charset="0"/>
                <a:cs typeface="Times New Roman" panose="02020603050405020304" pitchFamily="18" charset="0"/>
              </a:rPr>
              <a:t>.</a:t>
            </a:r>
          </a:p>
          <a:p>
            <a:pPr algn="just">
              <a:lnSpc>
                <a:spcPct val="150000"/>
              </a:lnSpc>
            </a:pPr>
            <a:endParaRPr lang="en-GB"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a:t>Introduction</a:t>
            </a:r>
            <a:endParaRPr lang="en-IN" sz="2800" dirty="0"/>
          </a:p>
        </p:txBody>
      </p:sp>
    </p:spTree>
    <p:extLst>
      <p:ext uri="{BB962C8B-B14F-4D97-AF65-F5344CB8AC3E}">
        <p14:creationId xmlns:p14="http://schemas.microsoft.com/office/powerpoint/2010/main" val="16888632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5062924"/>
          </a:xfrm>
          <a:prstGeom prst="rect">
            <a:avLst/>
          </a:prstGeom>
          <a:noFill/>
        </p:spPr>
        <p:txBody>
          <a:bodyPr wrap="square" rtlCol="0">
            <a:spAutoFit/>
          </a:bodyPr>
          <a:lstStyle/>
          <a:p>
            <a:pPr marL="457200" indent="-457200" algn="just">
              <a:buAutoNum type="arabicPeriod"/>
            </a:pPr>
            <a:r>
              <a:rPr lang="en-US" sz="2200" b="1" dirty="0" smtClean="0"/>
              <a:t>Data is stored in multiple machines.</a:t>
            </a:r>
          </a:p>
          <a:p>
            <a:pPr marL="342900" indent="-342900" algn="just">
              <a:buAutoNum type="arabicPeriod"/>
            </a:pPr>
            <a:r>
              <a:rPr lang="en-US" altLang="en-US" sz="2200" b="1" dirty="0" smtClean="0">
                <a:ea typeface="Aptos" pitchFamily="34" charset="0"/>
                <a:cs typeface="Times New Roman" panose="02020603050405020304" pitchFamily="18" charset="0"/>
              </a:rPr>
              <a:t>  Nodes communicate over a network</a:t>
            </a:r>
          </a:p>
          <a:p>
            <a:pPr marL="342900" indent="-342900" algn="just">
              <a:buAutoNum type="arabicPeriod"/>
            </a:pPr>
            <a:r>
              <a:rPr lang="en-US" altLang="en-US" sz="2200" b="1" dirty="0">
                <a:ea typeface="Aptos" pitchFamily="34" charset="0"/>
                <a:cs typeface="Times New Roman" panose="02020603050405020304" pitchFamily="18" charset="0"/>
              </a:rPr>
              <a:t> </a:t>
            </a:r>
            <a:r>
              <a:rPr lang="en-US" altLang="en-US" sz="2200" b="1" dirty="0" smtClean="0">
                <a:ea typeface="Aptos" pitchFamily="34" charset="0"/>
                <a:cs typeface="Times New Roman" panose="02020603050405020304" pitchFamily="18" charset="0"/>
              </a:rPr>
              <a:t> Users see it as one logical database</a:t>
            </a:r>
          </a:p>
          <a:p>
            <a:pPr algn="just"/>
            <a:endParaRPr lang="en-US" altLang="en-US" sz="2200" b="1" dirty="0" smtClean="0">
              <a:ea typeface="Aptos" pitchFamily="34" charset="0"/>
              <a:cs typeface="Times New Roman" panose="02020603050405020304" pitchFamily="18" charset="0"/>
            </a:endParaRPr>
          </a:p>
          <a:p>
            <a:pPr algn="just"/>
            <a:r>
              <a:rPr lang="en-US" altLang="en-US" sz="2200" b="1" dirty="0" smtClean="0">
                <a:ea typeface="Aptos" pitchFamily="34" charset="0"/>
                <a:cs typeface="Times New Roman" panose="02020603050405020304" pitchFamily="18" charset="0"/>
              </a:rPr>
              <a:t>Example:</a:t>
            </a:r>
          </a:p>
          <a:p>
            <a:pPr algn="just"/>
            <a:r>
              <a:rPr lang="en-US" altLang="en-US" b="1" dirty="0" smtClean="0">
                <a:ea typeface="Aptos" pitchFamily="34" charset="0"/>
                <a:cs typeface="Times New Roman" panose="02020603050405020304" pitchFamily="18" charset="0"/>
              </a:rPr>
              <a:t>Facebook</a:t>
            </a:r>
            <a:r>
              <a:rPr lang="en-US" altLang="en-US" dirty="0" smtClean="0">
                <a:ea typeface="Aptos" pitchFamily="34" charset="0"/>
                <a:cs typeface="Times New Roman" panose="02020603050405020304" pitchFamily="18" charset="0"/>
              </a:rPr>
              <a:t> : Your profile data is stored in one server, photos in another, messages in another --- all linked together.</a:t>
            </a:r>
          </a:p>
          <a:p>
            <a:pPr algn="just"/>
            <a:endParaRPr lang="en-US" altLang="en-US" dirty="0">
              <a:ea typeface="Aptos" pitchFamily="34" charset="0"/>
              <a:cs typeface="Times New Roman" panose="02020603050405020304" pitchFamily="18" charset="0"/>
            </a:endParaRPr>
          </a:p>
          <a:p>
            <a:pPr algn="just"/>
            <a:r>
              <a:rPr lang="en-US" altLang="en-US" b="1" dirty="0" smtClean="0">
                <a:ea typeface="Aptos" pitchFamily="34" charset="0"/>
                <a:cs typeface="Times New Roman" panose="02020603050405020304" pitchFamily="18" charset="0"/>
              </a:rPr>
              <a:t>Why NoSQL uses distributed systems ? </a:t>
            </a:r>
          </a:p>
          <a:p>
            <a:pPr algn="just"/>
            <a:endParaRPr lang="en-US" altLang="en-US" b="1" dirty="0" smtClean="0">
              <a:ea typeface="Aptos" pitchFamily="34" charset="0"/>
              <a:cs typeface="Times New Roman" panose="02020603050405020304" pitchFamily="18" charset="0"/>
            </a:endParaRPr>
          </a:p>
          <a:p>
            <a:pPr>
              <a:defRPr/>
            </a:pPr>
            <a:r>
              <a:rPr lang="en-IN" b="1" dirty="0"/>
              <a:t>Scalability</a:t>
            </a:r>
            <a:r>
              <a:rPr lang="en-IN" dirty="0"/>
              <a:t> – Handle billions of records by adding more machines.</a:t>
            </a:r>
          </a:p>
          <a:p>
            <a:pPr>
              <a:defRPr/>
            </a:pPr>
            <a:r>
              <a:rPr lang="en-IN" b="1" dirty="0"/>
              <a:t>Fault Tolerance</a:t>
            </a:r>
            <a:r>
              <a:rPr lang="en-IN" dirty="0"/>
              <a:t> – If one machine fails, others still serve data.</a:t>
            </a:r>
          </a:p>
          <a:p>
            <a:pPr>
              <a:defRPr/>
            </a:pPr>
            <a:r>
              <a:rPr lang="en-IN" b="1" dirty="0"/>
              <a:t>High Availability</a:t>
            </a:r>
            <a:r>
              <a:rPr lang="en-IN" dirty="0"/>
              <a:t> – Users can access data anytime, from anywhere.</a:t>
            </a:r>
          </a:p>
          <a:p>
            <a:pPr>
              <a:defRPr/>
            </a:pPr>
            <a:r>
              <a:rPr lang="en-IN" b="1" dirty="0"/>
              <a:t>Low Latency</a:t>
            </a:r>
            <a:r>
              <a:rPr lang="en-IN" dirty="0"/>
              <a:t> – Data stored close to where it’s used.</a:t>
            </a:r>
          </a:p>
          <a:p>
            <a:pPr algn="just"/>
            <a:endParaRPr lang="en-IN" altLang="en-US" b="1" dirty="0">
              <a:ea typeface="Aptos" pitchFamily="34" charset="0"/>
              <a:cs typeface="Times New Roman" panose="02020603050405020304" pitchFamily="18" charset="0"/>
            </a:endParaRPr>
          </a:p>
          <a:p>
            <a:pPr algn="just">
              <a:lnSpc>
                <a:spcPct val="150000"/>
              </a:lnSpc>
            </a:pPr>
            <a:endParaRPr lang="en-GB"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
        <p:nvSpPr>
          <p:cNvPr id="5" name="TextBox 4"/>
          <p:cNvSpPr txBox="1"/>
          <p:nvPr/>
        </p:nvSpPr>
        <p:spPr>
          <a:xfrm>
            <a:off x="228601" y="381000"/>
            <a:ext cx="2362200" cy="523220"/>
          </a:xfrm>
          <a:prstGeom prst="rect">
            <a:avLst/>
          </a:prstGeom>
          <a:noFill/>
        </p:spPr>
        <p:txBody>
          <a:bodyPr wrap="square" rtlCol="0">
            <a:spAutoFit/>
          </a:bodyPr>
          <a:lstStyle/>
          <a:p>
            <a:pPr algn="ctr"/>
            <a:r>
              <a:rPr lang="en-US" sz="2800" dirty="0" smtClean="0"/>
              <a:t>Key Features</a:t>
            </a:r>
            <a:endParaRPr lang="en-IN" sz="2800" dirty="0"/>
          </a:p>
        </p:txBody>
      </p:sp>
    </p:spTree>
    <p:extLst>
      <p:ext uri="{BB962C8B-B14F-4D97-AF65-F5344CB8AC3E}">
        <p14:creationId xmlns:p14="http://schemas.microsoft.com/office/powerpoint/2010/main" val="5553530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5055230"/>
          </a:xfrm>
          <a:prstGeom prst="rect">
            <a:avLst/>
          </a:prstGeom>
          <a:noFill/>
        </p:spPr>
        <p:txBody>
          <a:bodyPr wrap="square" rtlCol="0">
            <a:spAutoFit/>
          </a:bodyPr>
          <a:lstStyle/>
          <a:p>
            <a:pPr marL="457200" indent="-457200" algn="just">
              <a:buAutoNum type="arabicPeriod"/>
            </a:pPr>
            <a:r>
              <a:rPr lang="en-US" sz="2000" b="1" dirty="0" smtClean="0"/>
              <a:t>Data Duplication – Copies of the same data exists on multiple nodes.</a:t>
            </a:r>
          </a:p>
          <a:p>
            <a:pPr marL="342900" indent="-342900" algn="just">
              <a:buAutoNum type="arabicPeriod"/>
            </a:pPr>
            <a:r>
              <a:rPr lang="en-US" altLang="en-US" sz="2200" b="1" dirty="0" smtClean="0">
                <a:ea typeface="Aptos" pitchFamily="34" charset="0"/>
                <a:cs typeface="Times New Roman" panose="02020603050405020304" pitchFamily="18" charset="0"/>
              </a:rPr>
              <a:t>  </a:t>
            </a:r>
            <a:r>
              <a:rPr lang="en-US" altLang="en-US" sz="2000" b="1" dirty="0" smtClean="0">
                <a:ea typeface="Aptos" pitchFamily="34" charset="0"/>
                <a:cs typeface="Times New Roman" panose="02020603050405020304" pitchFamily="18" charset="0"/>
              </a:rPr>
              <a:t>Network Delays – Updates take time to reach all nodes.</a:t>
            </a:r>
          </a:p>
          <a:p>
            <a:pPr marL="342900" indent="-342900" algn="just">
              <a:buAutoNum type="arabicPeriod"/>
            </a:pPr>
            <a:r>
              <a:rPr lang="en-US" altLang="en-US" sz="2200" b="1" dirty="0" smtClean="0">
                <a:ea typeface="Aptos" pitchFamily="34" charset="0"/>
                <a:cs typeface="Times New Roman" panose="02020603050405020304" pitchFamily="18" charset="0"/>
              </a:rPr>
              <a:t>  </a:t>
            </a:r>
            <a:r>
              <a:rPr lang="en-US" altLang="en-US" sz="2000" b="1" dirty="0" smtClean="0">
                <a:ea typeface="Aptos" pitchFamily="34" charset="0"/>
                <a:cs typeface="Times New Roman" panose="02020603050405020304" pitchFamily="18" charset="0"/>
              </a:rPr>
              <a:t>Conflicts – What if two users update the same record at the   </a:t>
            </a:r>
          </a:p>
          <a:p>
            <a:pPr algn="just"/>
            <a:r>
              <a:rPr lang="en-US" altLang="en-US" sz="2000" b="1" dirty="0">
                <a:ea typeface="Aptos" pitchFamily="34" charset="0"/>
                <a:cs typeface="Times New Roman" panose="02020603050405020304" pitchFamily="18" charset="0"/>
              </a:rPr>
              <a:t> </a:t>
            </a:r>
            <a:r>
              <a:rPr lang="en-US" altLang="en-US" sz="2000" b="1" dirty="0" smtClean="0">
                <a:ea typeface="Aptos" pitchFamily="34" charset="0"/>
                <a:cs typeface="Times New Roman" panose="02020603050405020304" pitchFamily="18" charset="0"/>
              </a:rPr>
              <a:t>       same time.</a:t>
            </a:r>
          </a:p>
          <a:p>
            <a:pPr marL="457200" indent="-457200" algn="just">
              <a:buAutoNum type="arabicPeriod" startAt="4"/>
            </a:pPr>
            <a:r>
              <a:rPr lang="en-US" altLang="en-US" sz="2000" b="1" dirty="0" smtClean="0">
                <a:ea typeface="Aptos" pitchFamily="34" charset="0"/>
                <a:cs typeface="Times New Roman" panose="02020603050405020304" pitchFamily="18" charset="0"/>
              </a:rPr>
              <a:t>CAP Theorem – </a:t>
            </a:r>
          </a:p>
          <a:p>
            <a:pPr algn="just"/>
            <a:endParaRPr lang="en-US" altLang="en-US" sz="2200" b="1" dirty="0" smtClean="0">
              <a:ea typeface="Aptos" pitchFamily="34" charset="0"/>
              <a:cs typeface="Times New Roman" panose="02020603050405020304" pitchFamily="18" charset="0"/>
            </a:endParaRPr>
          </a:p>
          <a:p>
            <a:pPr algn="just"/>
            <a:r>
              <a:rPr lang="en-IN" b="1" kern="100" dirty="0" smtClean="0">
                <a:ea typeface="Aptos" panose="020B0004020202020204" pitchFamily="34" charset="0"/>
                <a:cs typeface="Times New Roman" panose="02020603050405020304" pitchFamily="18" charset="0"/>
              </a:rPr>
              <a:t>In </a:t>
            </a:r>
            <a:r>
              <a:rPr lang="en-IN" b="1" kern="100" dirty="0">
                <a:ea typeface="Aptos" panose="020B0004020202020204" pitchFamily="34" charset="0"/>
                <a:cs typeface="Times New Roman" panose="02020603050405020304" pitchFamily="18" charset="0"/>
              </a:rPr>
              <a:t>a distributed system, you can only guarantee two of the following at the same time:</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b="1" kern="100" dirty="0">
                <a:ea typeface="Aptos" panose="020B0004020202020204" pitchFamily="34" charset="0"/>
                <a:cs typeface="Times New Roman" panose="02020603050405020304" pitchFamily="18" charset="0"/>
              </a:rPr>
              <a:t>Consistency (C)</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b="1" kern="100" dirty="0">
                <a:ea typeface="Aptos" panose="020B0004020202020204" pitchFamily="34" charset="0"/>
                <a:cs typeface="Times New Roman" panose="02020603050405020304" pitchFamily="18" charset="0"/>
              </a:rPr>
              <a:t>Availability (A)</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b="1" kern="100" dirty="0">
                <a:ea typeface="Aptos" panose="020B0004020202020204" pitchFamily="34" charset="0"/>
                <a:cs typeface="Times New Roman" panose="02020603050405020304" pitchFamily="18" charset="0"/>
              </a:rPr>
              <a:t>Partition Tolerance (P</a:t>
            </a:r>
            <a:r>
              <a:rPr lang="en-IN" b="1" kern="100" dirty="0" smtClean="0">
                <a:ea typeface="Aptos" panose="020B0004020202020204" pitchFamily="34" charset="0"/>
                <a:cs typeface="Times New Roman" panose="02020603050405020304" pitchFamily="18" charset="0"/>
              </a:rPr>
              <a:t>)  :  </a:t>
            </a:r>
            <a:r>
              <a:rPr lang="en-US" dirty="0" smtClean="0"/>
              <a:t>The </a:t>
            </a:r>
            <a:r>
              <a:rPr lang="en-US" dirty="0"/>
              <a:t>system will continue to operate and process requests even if a network failure causes a communication breakdown, or "partition," between different nodes or parts of the system.</a:t>
            </a:r>
            <a:endParaRPr lang="en-IN" b="1" kern="100" dirty="0">
              <a:ea typeface="Aptos" panose="020B0004020202020204" pitchFamily="34" charset="0"/>
              <a:cs typeface="Times New Roman" panose="02020603050405020304" pitchFamily="18" charset="0"/>
            </a:endParaRPr>
          </a:p>
          <a:p>
            <a:pPr algn="just">
              <a:lnSpc>
                <a:spcPct val="150000"/>
              </a:lnSpc>
            </a:pPr>
            <a:endParaRPr lang="en-GB"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spTree>
    <p:extLst>
      <p:ext uri="{BB962C8B-B14F-4D97-AF65-F5344CB8AC3E}">
        <p14:creationId xmlns:p14="http://schemas.microsoft.com/office/powerpoint/2010/main" val="26160329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5029200" cy="5253746"/>
          </a:xfrm>
          <a:prstGeom prst="rect">
            <a:avLst/>
          </a:prstGeom>
          <a:noFill/>
        </p:spPr>
        <p:txBody>
          <a:bodyPr wrap="square" rtlCol="0">
            <a:spAutoFit/>
          </a:bodyPr>
          <a:lstStyle/>
          <a:p>
            <a:pPr algn="just"/>
            <a:r>
              <a:rPr lang="en-US" altLang="en-US" sz="1600" b="1" dirty="0" smtClean="0">
                <a:ea typeface="Aptos" pitchFamily="34" charset="0"/>
                <a:cs typeface="Times New Roman" panose="02020603050405020304" pitchFamily="18" charset="0"/>
              </a:rPr>
              <a:t>CAP Theorem – </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1600" b="1" kern="100" dirty="0" smtClean="0">
                <a:ea typeface="Aptos" panose="020B0004020202020204" pitchFamily="34" charset="0"/>
                <a:cs typeface="Times New Roman" panose="02020603050405020304" pitchFamily="18" charset="0"/>
              </a:rPr>
              <a:t>Consistency </a:t>
            </a:r>
            <a:r>
              <a:rPr lang="en-IN" sz="1600" b="1" kern="100" dirty="0">
                <a:ea typeface="Aptos" panose="020B0004020202020204" pitchFamily="34" charset="0"/>
                <a:cs typeface="Times New Roman" panose="02020603050405020304" pitchFamily="18" charset="0"/>
              </a:rPr>
              <a:t>(C</a:t>
            </a:r>
            <a:r>
              <a:rPr lang="en-IN" sz="1600" b="1" kern="100" dirty="0" smtClean="0">
                <a:ea typeface="Aptos" panose="020B0004020202020204" pitchFamily="34" charset="0"/>
                <a:cs typeface="Times New Roman" panose="02020603050405020304" pitchFamily="18" charset="0"/>
              </a:rPr>
              <a:t>) : </a:t>
            </a:r>
            <a:r>
              <a:rPr lang="en-US" sz="1600" dirty="0"/>
              <a:t>Every read gets the </a:t>
            </a:r>
            <a:r>
              <a:rPr lang="en-US" sz="1600" b="1" dirty="0"/>
              <a:t>latest, correct data</a:t>
            </a:r>
            <a:r>
              <a:rPr lang="en-US" sz="1600" dirty="0"/>
              <a:t> (same across all nodes</a:t>
            </a:r>
            <a:r>
              <a:rPr lang="en-US" sz="1600"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sz="1600" dirty="0"/>
              <a:t>After you write (update data), </a:t>
            </a:r>
            <a:r>
              <a:rPr lang="en-US" sz="1600" b="1" dirty="0"/>
              <a:t>all nodes</a:t>
            </a:r>
            <a:r>
              <a:rPr lang="en-US" sz="1600" dirty="0"/>
              <a:t> must agree before confirming success</a:t>
            </a:r>
            <a:r>
              <a:rPr lang="en-US" sz="1600"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sz="1600" dirty="0"/>
              <a:t>Systems prioritizing </a:t>
            </a:r>
            <a:r>
              <a:rPr lang="en-US" sz="1600" b="1" dirty="0"/>
              <a:t>Consistency</a:t>
            </a:r>
            <a:r>
              <a:rPr lang="en-US" sz="1600" dirty="0"/>
              <a:t> may delay responses but never show wrong balances.</a:t>
            </a:r>
            <a:endParaRPr lang="en-IN" sz="1600" b="1" kern="100" dirty="0">
              <a:ea typeface="Aptos" panose="020B0004020202020204" pitchFamily="34" charset="0"/>
              <a:cs typeface="Times New Roman" panose="02020603050405020304" pitchFamily="18" charset="0"/>
            </a:endParaRPr>
          </a:p>
          <a:p>
            <a:pPr algn="just">
              <a:lnSpc>
                <a:spcPct val="150000"/>
              </a:lnSpc>
            </a:pPr>
            <a:r>
              <a:rPr lang="en-IN" dirty="0"/>
              <a:t>Example</a:t>
            </a:r>
            <a:r>
              <a:rPr lang="en-IN" dirty="0" smtClean="0"/>
              <a:t>:</a:t>
            </a:r>
          </a:p>
          <a:p>
            <a:pPr algn="just">
              <a:lnSpc>
                <a:spcPct val="150000"/>
              </a:lnSpc>
            </a:pPr>
            <a:r>
              <a:rPr lang="en-US" dirty="0"/>
              <a:t>You transfer ₹1000 from Account A to Account B</a:t>
            </a:r>
            <a:r>
              <a:rPr lang="en-US" dirty="0" smtClean="0"/>
              <a:t>.</a:t>
            </a:r>
          </a:p>
          <a:p>
            <a:pPr algn="just">
              <a:lnSpc>
                <a:spcPct val="150000"/>
              </a:lnSpc>
            </a:pPr>
            <a:r>
              <a:rPr lang="en-US" dirty="0"/>
              <a:t>Once confirmed, </a:t>
            </a:r>
            <a:r>
              <a:rPr lang="en-US" b="1" dirty="0"/>
              <a:t>no matter which ATM or branch you check</a:t>
            </a:r>
            <a:r>
              <a:rPr lang="en-US" dirty="0"/>
              <a:t>, your balance is updated immediately</a:t>
            </a:r>
            <a:r>
              <a:rPr lang="en-US" dirty="0" smtClean="0"/>
              <a:t>.</a:t>
            </a:r>
          </a:p>
          <a:p>
            <a:pPr algn="just">
              <a:lnSpc>
                <a:spcPct val="150000"/>
              </a:lnSpc>
            </a:pPr>
            <a:r>
              <a:rPr lang="en-US" dirty="0"/>
              <a:t>Systems prioritizing </a:t>
            </a:r>
            <a:r>
              <a:rPr lang="en-US" b="1" dirty="0"/>
              <a:t>Consistency</a:t>
            </a:r>
            <a:r>
              <a:rPr lang="en-US" dirty="0"/>
              <a:t> may delay responses but never show wrong balances.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1105831"/>
            <a:ext cx="3918284" cy="4343400"/>
          </a:xfrm>
          <a:prstGeom prst="rect">
            <a:avLst/>
          </a:prstGeom>
        </p:spPr>
      </p:pic>
    </p:spTree>
    <p:extLst>
      <p:ext uri="{BB962C8B-B14F-4D97-AF65-F5344CB8AC3E}">
        <p14:creationId xmlns:p14="http://schemas.microsoft.com/office/powerpoint/2010/main" val="11447452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800600" cy="6041654"/>
          </a:xfrm>
          <a:prstGeom prst="rect">
            <a:avLst/>
          </a:prstGeom>
          <a:noFill/>
        </p:spPr>
        <p:txBody>
          <a:bodyPr wrap="square" rtlCol="0">
            <a:spAutoFit/>
          </a:bodyPr>
          <a:lstStyle/>
          <a:p>
            <a:pPr algn="just"/>
            <a:r>
              <a:rPr lang="en-US" altLang="en-US" sz="1600" b="1" dirty="0" smtClean="0">
                <a:ea typeface="Aptos" pitchFamily="34" charset="0"/>
                <a:cs typeface="Times New Roman" panose="02020603050405020304" pitchFamily="18" charset="0"/>
              </a:rPr>
              <a:t>CAP Theorem – </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1600" b="1" kern="100" dirty="0" smtClean="0">
                <a:ea typeface="Aptos" panose="020B0004020202020204" pitchFamily="34" charset="0"/>
                <a:cs typeface="Times New Roman" panose="02020603050405020304" pitchFamily="18" charset="0"/>
              </a:rPr>
              <a:t>Availability </a:t>
            </a:r>
            <a:r>
              <a:rPr lang="en-IN" sz="1600" b="1" kern="100" dirty="0">
                <a:ea typeface="Aptos" panose="020B0004020202020204" pitchFamily="34" charset="0"/>
                <a:cs typeface="Times New Roman" panose="02020603050405020304" pitchFamily="18" charset="0"/>
              </a:rPr>
              <a:t>(A</a:t>
            </a:r>
            <a:r>
              <a:rPr lang="en-IN" sz="1600" b="1" kern="100" dirty="0" smtClean="0">
                <a:ea typeface="Aptos" panose="020B0004020202020204" pitchFamily="34" charset="0"/>
                <a:cs typeface="Times New Roman" panose="02020603050405020304" pitchFamily="18" charset="0"/>
              </a:rPr>
              <a:t>): </a:t>
            </a:r>
            <a:r>
              <a:rPr lang="en-US" sz="1600" dirty="0"/>
              <a:t>Every request gets a response, even if it may not be the latest</a:t>
            </a:r>
            <a:r>
              <a:rPr lang="en-US" sz="1600"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dirty="0"/>
              <a:t>Each node responds with the data it has, even if it’s slightly outdated</a:t>
            </a:r>
            <a:r>
              <a:rPr lang="en-US"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dirty="0"/>
              <a:t>Fast responses, but sometimes stale or inconsistent data.</a:t>
            </a:r>
            <a:endParaRPr lang="en-IN" b="1" kern="100" dirty="0">
              <a:ea typeface="Aptos" panose="020B0004020202020204" pitchFamily="34" charset="0"/>
              <a:cs typeface="Times New Roman" panose="02020603050405020304" pitchFamily="18" charset="0"/>
            </a:endParaRPr>
          </a:p>
          <a:p>
            <a:pPr algn="just">
              <a:lnSpc>
                <a:spcPct val="150000"/>
              </a:lnSpc>
            </a:pPr>
            <a:r>
              <a:rPr lang="en-IN" sz="1600" dirty="0"/>
              <a:t>Example</a:t>
            </a:r>
            <a:r>
              <a:rPr lang="en-IN" sz="1600" dirty="0" smtClean="0"/>
              <a:t>:</a:t>
            </a:r>
          </a:p>
          <a:p>
            <a:pPr algn="just">
              <a:lnSpc>
                <a:spcPct val="150000"/>
              </a:lnSpc>
            </a:pPr>
            <a:r>
              <a:rPr lang="en-US" sz="1600" dirty="0"/>
              <a:t>In an </a:t>
            </a:r>
            <a:r>
              <a:rPr lang="en-US" sz="1600" b="1" dirty="0"/>
              <a:t>e-commerce site</a:t>
            </a:r>
            <a:r>
              <a:rPr lang="en-US" sz="1600" dirty="0"/>
              <a:t>, two users try to buy the last item</a:t>
            </a:r>
            <a:r>
              <a:rPr lang="en-US" sz="1600" dirty="0" smtClean="0"/>
              <a:t>.</a:t>
            </a:r>
          </a:p>
          <a:p>
            <a:pPr algn="just">
              <a:lnSpc>
                <a:spcPct val="150000"/>
              </a:lnSpc>
            </a:pPr>
            <a:r>
              <a:rPr lang="en-US" sz="1600" dirty="0"/>
              <a:t>System </a:t>
            </a:r>
            <a:r>
              <a:rPr lang="en-US" sz="1600" b="1" dirty="0"/>
              <a:t>allows both to purchase</a:t>
            </a:r>
            <a:r>
              <a:rPr lang="en-US" sz="1600" dirty="0"/>
              <a:t> (both get a response), but inventory may show negative temporarily</a:t>
            </a:r>
            <a:r>
              <a:rPr lang="en-US" sz="1600" dirty="0" smtClean="0"/>
              <a:t>.</a:t>
            </a:r>
          </a:p>
          <a:p>
            <a:pPr algn="just">
              <a:lnSpc>
                <a:spcPct val="150000"/>
              </a:lnSpc>
            </a:pPr>
            <a:r>
              <a:rPr lang="en-US" sz="1600" dirty="0"/>
              <a:t>Prioritizes </a:t>
            </a:r>
            <a:r>
              <a:rPr lang="en-US" sz="1600" b="1" dirty="0"/>
              <a:t>Availability</a:t>
            </a:r>
            <a:r>
              <a:rPr lang="en-US" sz="1600" dirty="0"/>
              <a:t> over strict correctness.</a:t>
            </a:r>
            <a:endParaRPr lang="en-US" sz="1600" dirty="0" smtClean="0"/>
          </a:p>
          <a:p>
            <a:pPr algn="just">
              <a:lnSpc>
                <a:spcPct val="150000"/>
              </a:lnSpc>
            </a:pPr>
            <a:endParaRPr lang="en-IN" sz="2000" dirty="0" smtClean="0"/>
          </a:p>
          <a:p>
            <a:pPr algn="just">
              <a:lnSpc>
                <a:spcPct val="150000"/>
              </a:lnSpc>
            </a:pPr>
            <a:endParaRPr lang="en-GB"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200" y="1371600"/>
            <a:ext cx="4291263" cy="4343400"/>
          </a:xfrm>
          <a:prstGeom prst="rect">
            <a:avLst/>
          </a:prstGeom>
        </p:spPr>
      </p:pic>
    </p:spTree>
    <p:extLst>
      <p:ext uri="{BB962C8B-B14F-4D97-AF65-F5344CB8AC3E}">
        <p14:creationId xmlns:p14="http://schemas.microsoft.com/office/powerpoint/2010/main" val="10572498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953000" cy="6107313"/>
          </a:xfrm>
          <a:prstGeom prst="rect">
            <a:avLst/>
          </a:prstGeom>
          <a:noFill/>
        </p:spPr>
        <p:txBody>
          <a:bodyPr wrap="square" rtlCol="0">
            <a:spAutoFit/>
          </a:bodyPr>
          <a:lstStyle/>
          <a:p>
            <a:pPr algn="just"/>
            <a:r>
              <a:rPr lang="en-US" altLang="en-US" sz="1600" b="1" dirty="0" smtClean="0">
                <a:ea typeface="Aptos" pitchFamily="34" charset="0"/>
                <a:cs typeface="Times New Roman" panose="02020603050405020304" pitchFamily="18" charset="0"/>
              </a:rPr>
              <a:t>CAP Theorem – </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1600" b="1" kern="100" dirty="0" smtClean="0">
                <a:ea typeface="Aptos" panose="020B0004020202020204" pitchFamily="34" charset="0"/>
                <a:cs typeface="Times New Roman" panose="02020603050405020304" pitchFamily="18" charset="0"/>
              </a:rPr>
              <a:t>Partition Tolerance (P): </a:t>
            </a:r>
            <a:r>
              <a:rPr lang="en-US" sz="1600" dirty="0"/>
              <a:t>The system continues to work even if </a:t>
            </a:r>
            <a:r>
              <a:rPr lang="en-US" sz="1600" b="1" dirty="0"/>
              <a:t>network breaks</a:t>
            </a:r>
            <a:r>
              <a:rPr lang="en-US" sz="1600" dirty="0"/>
              <a:t> and nodes can’t communicate</a:t>
            </a:r>
            <a:r>
              <a:rPr lang="en-US" sz="1600"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sz="1600" b="1" dirty="0" smtClean="0"/>
              <a:t>Partition</a:t>
            </a:r>
            <a:r>
              <a:rPr lang="en-US" sz="1600" dirty="0" smtClean="0"/>
              <a:t>: Part of a distributed System.</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sz="1600" dirty="0"/>
              <a:t>The cluster splits into “partitions” and each part keeps working independently</a:t>
            </a:r>
            <a:r>
              <a:rPr lang="en-US" sz="1600"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sz="1600" dirty="0"/>
              <a:t>You must choose between </a:t>
            </a:r>
            <a:r>
              <a:rPr lang="en-US" sz="1600" b="1" dirty="0"/>
              <a:t>Consistency</a:t>
            </a:r>
            <a:r>
              <a:rPr lang="en-US" sz="1600" dirty="0"/>
              <a:t> or </a:t>
            </a:r>
            <a:r>
              <a:rPr lang="en-US" sz="1600" b="1" dirty="0"/>
              <a:t>Availability</a:t>
            </a:r>
            <a:r>
              <a:rPr lang="en-US" sz="1600" dirty="0"/>
              <a:t> during the partition.</a:t>
            </a:r>
            <a:endParaRPr lang="en-US" sz="1600" dirty="0" smtClean="0"/>
          </a:p>
          <a:p>
            <a:pPr algn="just">
              <a:lnSpc>
                <a:spcPct val="150000"/>
              </a:lnSpc>
            </a:pPr>
            <a:r>
              <a:rPr lang="en-IN" sz="1600" dirty="0" smtClean="0"/>
              <a:t>Example:</a:t>
            </a:r>
          </a:p>
          <a:p>
            <a:pPr algn="just">
              <a:lnSpc>
                <a:spcPct val="150000"/>
              </a:lnSpc>
            </a:pPr>
            <a:r>
              <a:rPr lang="en-US" sz="1600" dirty="0"/>
              <a:t>A </a:t>
            </a:r>
            <a:r>
              <a:rPr lang="en-US" sz="1600" b="1" dirty="0"/>
              <a:t>global social network</a:t>
            </a:r>
            <a:r>
              <a:rPr lang="en-US" sz="1600" dirty="0"/>
              <a:t> (like Facebook) with servers in India and the US</a:t>
            </a:r>
            <a:r>
              <a:rPr lang="en-US" sz="1600" dirty="0" smtClean="0"/>
              <a:t>.</a:t>
            </a:r>
          </a:p>
          <a:p>
            <a:pPr algn="just">
              <a:lnSpc>
                <a:spcPct val="150000"/>
              </a:lnSpc>
            </a:pPr>
            <a:r>
              <a:rPr lang="en-US" sz="1600" dirty="0"/>
              <a:t>If the link between them breaks, users in India can still post, and users in the US can still post — but they won’t see each other’s updates until the partition is fixed.</a:t>
            </a:r>
            <a:endParaRPr lang="en-IN" sz="2000" dirty="0" smtClean="0"/>
          </a:p>
          <a:p>
            <a:pPr algn="just">
              <a:lnSpc>
                <a:spcPct val="150000"/>
              </a:lnSpc>
            </a:pPr>
            <a:endParaRPr lang="en-GB"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876146"/>
            <a:ext cx="3962400" cy="4343400"/>
          </a:xfrm>
          <a:prstGeom prst="rect">
            <a:avLst/>
          </a:prstGeom>
        </p:spPr>
      </p:pic>
    </p:spTree>
    <p:extLst>
      <p:ext uri="{BB962C8B-B14F-4D97-AF65-F5344CB8AC3E}">
        <p14:creationId xmlns:p14="http://schemas.microsoft.com/office/powerpoint/2010/main" val="3411777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800600" cy="2600712"/>
          </a:xfrm>
          <a:prstGeom prst="rect">
            <a:avLst/>
          </a:prstGeom>
          <a:noFill/>
        </p:spPr>
        <p:txBody>
          <a:bodyPr wrap="square" rtlCol="0">
            <a:spAutoFit/>
          </a:bodyPr>
          <a:lstStyle/>
          <a:p>
            <a:pPr algn="just"/>
            <a:r>
              <a:rPr lang="en-US" altLang="en-US" sz="1600" b="1" dirty="0" smtClean="0">
                <a:ea typeface="Aptos" pitchFamily="34" charset="0"/>
                <a:cs typeface="Times New Roman" panose="02020603050405020304" pitchFamily="18" charset="0"/>
              </a:rPr>
              <a:t>CAP Theorem </a:t>
            </a:r>
            <a:r>
              <a:rPr lang="en-US" altLang="en-US" sz="1600" b="1" dirty="0">
                <a:ea typeface="Aptos" pitchFamily="34" charset="0"/>
                <a:cs typeface="Times New Roman" panose="02020603050405020304" pitchFamily="18" charset="0"/>
              </a:rPr>
              <a:t>:</a:t>
            </a:r>
            <a:r>
              <a:rPr lang="en-US" altLang="en-US" sz="1600" b="1" dirty="0" smtClean="0">
                <a:ea typeface="Aptos" pitchFamily="34" charset="0"/>
                <a:cs typeface="Times New Roman" panose="02020603050405020304" pitchFamily="18" charset="0"/>
              </a:rPr>
              <a:t> Trade-offs</a:t>
            </a:r>
            <a:endParaRPr lang="en-US" altLang="en-US" sz="1600" b="1" dirty="0" smtClean="0">
              <a:ea typeface="Aptos" pitchFamily="34" charset="0"/>
              <a:cs typeface="Times New Roman" panose="02020603050405020304" pitchFamily="18" charset="0"/>
            </a:endParaRPr>
          </a:p>
          <a:p>
            <a:pPr algn="just">
              <a:lnSpc>
                <a:spcPct val="150000"/>
              </a:lnSpc>
            </a:pPr>
            <a:r>
              <a:rPr lang="en-US" sz="1600" dirty="0"/>
              <a:t>Each distributed system can </a:t>
            </a:r>
            <a:r>
              <a:rPr lang="en-US" sz="1600" b="1" dirty="0"/>
              <a:t>choose only two guarantees</a:t>
            </a:r>
            <a:r>
              <a:rPr lang="en-US" sz="1600" dirty="0" smtClean="0"/>
              <a:t>:</a:t>
            </a:r>
          </a:p>
          <a:p>
            <a:pPr marL="342900" indent="-342900" algn="just">
              <a:lnSpc>
                <a:spcPct val="150000"/>
              </a:lnSpc>
              <a:buAutoNum type="arabicPeriod"/>
            </a:pPr>
            <a:r>
              <a:rPr lang="en-US" sz="1600" b="1" dirty="0" smtClean="0"/>
              <a:t>CA</a:t>
            </a:r>
            <a:r>
              <a:rPr lang="en-US" sz="1600" dirty="0" smtClean="0"/>
              <a:t> </a:t>
            </a:r>
            <a:r>
              <a:rPr lang="en-US" sz="1600" dirty="0"/>
              <a:t>→ Consistency + Availability (possible only in single-node or non-partitioned systems</a:t>
            </a:r>
            <a:r>
              <a:rPr lang="en-US" sz="1600" dirty="0" smtClean="0"/>
              <a:t>).</a:t>
            </a:r>
          </a:p>
          <a:p>
            <a:pPr marL="342900" indent="-342900" algn="just">
              <a:lnSpc>
                <a:spcPct val="150000"/>
              </a:lnSpc>
              <a:buAutoNum type="arabicPeriod"/>
            </a:pPr>
            <a:r>
              <a:rPr lang="en-IN" sz="1600" b="1" dirty="0"/>
              <a:t>CP</a:t>
            </a:r>
            <a:r>
              <a:rPr lang="en-IN" sz="1600" dirty="0"/>
              <a:t> → Consistency + Partition tolerance</a:t>
            </a:r>
            <a:r>
              <a:rPr lang="en-IN" sz="1600" dirty="0" smtClean="0"/>
              <a:t>.</a:t>
            </a:r>
          </a:p>
          <a:p>
            <a:pPr marL="342900" indent="-342900" algn="just">
              <a:lnSpc>
                <a:spcPct val="150000"/>
              </a:lnSpc>
              <a:buAutoNum type="arabicPeriod"/>
            </a:pPr>
            <a:r>
              <a:rPr lang="en-IN" sz="1600" b="1" dirty="0"/>
              <a:t>AP</a:t>
            </a:r>
            <a:r>
              <a:rPr lang="en-IN" sz="1600" dirty="0"/>
              <a:t> → Availability + Partition tolerance.</a:t>
            </a:r>
            <a:endParaRPr lang="en-GB" sz="16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1371600"/>
            <a:ext cx="3681663" cy="4343400"/>
          </a:xfrm>
          <a:prstGeom prst="rect">
            <a:avLst/>
          </a:prstGeom>
        </p:spPr>
      </p:pic>
    </p:spTree>
    <p:extLst>
      <p:ext uri="{BB962C8B-B14F-4D97-AF65-F5344CB8AC3E}">
        <p14:creationId xmlns:p14="http://schemas.microsoft.com/office/powerpoint/2010/main" val="8433294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5181600" cy="4124206"/>
          </a:xfrm>
          <a:prstGeom prst="rect">
            <a:avLst/>
          </a:prstGeom>
          <a:noFill/>
        </p:spPr>
        <p:txBody>
          <a:bodyPr wrap="square" rtlCol="0">
            <a:spAutoFit/>
          </a:bodyPr>
          <a:lstStyle/>
          <a:p>
            <a:pPr algn="just"/>
            <a:r>
              <a:rPr lang="en-US" altLang="en-US" sz="1600" b="1" dirty="0" smtClean="0">
                <a:ea typeface="Aptos" pitchFamily="34" charset="0"/>
                <a:cs typeface="Times New Roman" panose="02020603050405020304" pitchFamily="18" charset="0"/>
              </a:rPr>
              <a:t>CAP Theorem </a:t>
            </a:r>
            <a:r>
              <a:rPr lang="en-US" altLang="en-US" sz="1600" b="1" dirty="0" smtClean="0">
                <a:ea typeface="Aptos" pitchFamily="34" charset="0"/>
                <a:cs typeface="Times New Roman" panose="02020603050405020304" pitchFamily="18" charset="0"/>
              </a:rPr>
              <a:t>– Trade offs  (Social Media Example)</a:t>
            </a:r>
          </a:p>
          <a:p>
            <a:pPr algn="just"/>
            <a:endParaRPr lang="en-US" altLang="en-US" sz="1600" b="1" dirty="0">
              <a:ea typeface="Aptos" pitchFamily="34" charset="0"/>
              <a:cs typeface="Times New Roman" panose="02020603050405020304" pitchFamily="18" charset="0"/>
            </a:endParaRPr>
          </a:p>
          <a:p>
            <a:pPr algn="just"/>
            <a:endParaRPr lang="en-US" altLang="en-US" sz="1600" b="1" dirty="0" smtClean="0">
              <a:ea typeface="Aptos" pitchFamily="34" charset="0"/>
              <a:cs typeface="Times New Roman" panose="02020603050405020304" pitchFamily="18" charset="0"/>
            </a:endParaRPr>
          </a:p>
          <a:p>
            <a:pPr lvl="0"/>
            <a:r>
              <a:rPr lang="en-IN" dirty="0"/>
              <a:t>Social media feed → must be </a:t>
            </a:r>
            <a:r>
              <a:rPr lang="en-IN" b="1" dirty="0"/>
              <a:t>highly available</a:t>
            </a:r>
            <a:r>
              <a:rPr lang="en-IN" dirty="0"/>
              <a:t> (A).</a:t>
            </a:r>
          </a:p>
          <a:p>
            <a:pPr lvl="0"/>
            <a:r>
              <a:rPr lang="en-IN" b="1" dirty="0"/>
              <a:t>Partition tolerance (P)</a:t>
            </a:r>
            <a:r>
              <a:rPr lang="en-IN" dirty="0"/>
              <a:t> always required in distributed systems.</a:t>
            </a:r>
          </a:p>
          <a:p>
            <a:pPr lvl="0"/>
            <a:r>
              <a:rPr lang="en-IN" dirty="0"/>
              <a:t>Trade-off:</a:t>
            </a:r>
          </a:p>
          <a:p>
            <a:pPr lvl="1"/>
            <a:r>
              <a:rPr lang="en-IN" dirty="0"/>
              <a:t>Relax </a:t>
            </a:r>
            <a:r>
              <a:rPr lang="en-IN" b="1" dirty="0"/>
              <a:t>Consistency (C)</a:t>
            </a:r>
            <a:r>
              <a:rPr lang="en-IN" dirty="0"/>
              <a:t> → accept eventual consistency (feeds may update later).</a:t>
            </a:r>
          </a:p>
          <a:p>
            <a:pPr lvl="0"/>
            <a:r>
              <a:rPr lang="en-IN" dirty="0"/>
              <a:t>Practical design:</a:t>
            </a:r>
          </a:p>
          <a:p>
            <a:pPr lvl="1"/>
            <a:r>
              <a:rPr lang="en-IN" dirty="0"/>
              <a:t>Timeline/feed updates → eventually consistent.</a:t>
            </a:r>
          </a:p>
          <a:p>
            <a:pPr lvl="1"/>
            <a:r>
              <a:rPr lang="en-IN" dirty="0"/>
              <a:t>Critical data (passwords, payments) → strong consistency.</a:t>
            </a:r>
          </a:p>
          <a:p>
            <a:pPr algn="just"/>
            <a:endParaRPr lang="en-US" altLang="en-US" sz="1600" b="1" dirty="0" smtClean="0">
              <a:ea typeface="Aptos"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00" y="1143000"/>
            <a:ext cx="3300663" cy="4343400"/>
          </a:xfrm>
          <a:prstGeom prst="rect">
            <a:avLst/>
          </a:prstGeom>
        </p:spPr>
      </p:pic>
    </p:spTree>
    <p:extLst>
      <p:ext uri="{BB962C8B-B14F-4D97-AF65-F5344CB8AC3E}">
        <p14:creationId xmlns:p14="http://schemas.microsoft.com/office/powerpoint/2010/main" val="16184481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5181600" cy="4124206"/>
          </a:xfrm>
          <a:prstGeom prst="rect">
            <a:avLst/>
          </a:prstGeom>
          <a:noFill/>
        </p:spPr>
        <p:txBody>
          <a:bodyPr wrap="square" rtlCol="0">
            <a:spAutoFit/>
          </a:bodyPr>
          <a:lstStyle/>
          <a:p>
            <a:pPr algn="just"/>
            <a:r>
              <a:rPr lang="en-US" altLang="en-US" sz="1600" b="1" dirty="0" smtClean="0">
                <a:ea typeface="Aptos" pitchFamily="34" charset="0"/>
                <a:cs typeface="Times New Roman" panose="02020603050405020304" pitchFamily="18" charset="0"/>
              </a:rPr>
              <a:t>CAP Theorem </a:t>
            </a:r>
            <a:r>
              <a:rPr lang="en-US" altLang="en-US" sz="1600" b="1" dirty="0" smtClean="0">
                <a:ea typeface="Aptos" pitchFamily="34" charset="0"/>
                <a:cs typeface="Times New Roman" panose="02020603050405020304" pitchFamily="18" charset="0"/>
              </a:rPr>
              <a:t>– Trade offs  (Stock Trading System)</a:t>
            </a:r>
          </a:p>
          <a:p>
            <a:pPr algn="just"/>
            <a:endParaRPr lang="en-US" altLang="en-US" sz="1600" b="1" dirty="0">
              <a:ea typeface="Aptos" pitchFamily="34" charset="0"/>
              <a:cs typeface="Times New Roman" panose="02020603050405020304" pitchFamily="18" charset="0"/>
            </a:endParaRPr>
          </a:p>
          <a:p>
            <a:pPr algn="just"/>
            <a:endParaRPr lang="en-US" altLang="en-US" sz="1600" b="1" dirty="0" smtClean="0">
              <a:ea typeface="Aptos" pitchFamily="34" charset="0"/>
              <a:cs typeface="Times New Roman" panose="02020603050405020304" pitchFamily="18" charset="0"/>
            </a:endParaRPr>
          </a:p>
          <a:p>
            <a:pPr lvl="0"/>
            <a:r>
              <a:rPr lang="en-IN" dirty="0"/>
              <a:t>Real-time stock trading requires:</a:t>
            </a:r>
          </a:p>
          <a:p>
            <a:pPr lvl="1"/>
            <a:r>
              <a:rPr lang="en-IN" b="1" dirty="0"/>
              <a:t>Consistency (C)</a:t>
            </a:r>
            <a:r>
              <a:rPr lang="en-IN" dirty="0"/>
              <a:t>: Balances &amp; transactions must be correct.</a:t>
            </a:r>
          </a:p>
          <a:p>
            <a:pPr lvl="1"/>
            <a:r>
              <a:rPr lang="en-IN" b="1" dirty="0"/>
              <a:t>Partition Tolerance (P)</a:t>
            </a:r>
            <a:r>
              <a:rPr lang="en-IN" dirty="0"/>
              <a:t>: Network failures possible.</a:t>
            </a:r>
          </a:p>
          <a:p>
            <a:pPr lvl="0"/>
            <a:r>
              <a:rPr lang="en-IN" dirty="0"/>
              <a:t>Trade-off:</a:t>
            </a:r>
          </a:p>
          <a:p>
            <a:pPr lvl="1"/>
            <a:r>
              <a:rPr lang="en-IN" dirty="0"/>
              <a:t>Sacrifice </a:t>
            </a:r>
            <a:r>
              <a:rPr lang="en-IN" b="1" dirty="0"/>
              <a:t>Availability (A)</a:t>
            </a:r>
            <a:r>
              <a:rPr lang="en-IN" dirty="0"/>
              <a:t> (better to block transactions than allow inconsistent trades).</a:t>
            </a:r>
          </a:p>
          <a:p>
            <a:pPr lvl="0"/>
            <a:r>
              <a:rPr lang="en-IN" dirty="0"/>
              <a:t>Example:</a:t>
            </a:r>
          </a:p>
          <a:p>
            <a:pPr lvl="1"/>
            <a:r>
              <a:rPr lang="en-IN" dirty="0"/>
              <a:t>Banking/Trading → prefer </a:t>
            </a:r>
            <a:r>
              <a:rPr lang="en-IN" b="1" dirty="0"/>
              <a:t>CP</a:t>
            </a:r>
            <a:r>
              <a:rPr lang="en-IN" dirty="0"/>
              <a:t> system.</a:t>
            </a:r>
          </a:p>
          <a:p>
            <a:pPr lvl="1"/>
            <a:r>
              <a:rPr lang="en-IN" dirty="0"/>
              <a:t>Social media → prefer </a:t>
            </a:r>
            <a:r>
              <a:rPr lang="en-IN" b="1" dirty="0"/>
              <a:t>AP</a:t>
            </a:r>
            <a:r>
              <a:rPr lang="en-IN" dirty="0"/>
              <a:t> system.</a:t>
            </a:r>
          </a:p>
          <a:p>
            <a:pPr algn="just"/>
            <a:endParaRPr lang="en-US" altLang="en-US" sz="1600" b="1" dirty="0" smtClean="0">
              <a:ea typeface="Aptos"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00" y="1143000"/>
            <a:ext cx="3300663" cy="4343400"/>
          </a:xfrm>
          <a:prstGeom prst="rect">
            <a:avLst/>
          </a:prstGeom>
        </p:spPr>
      </p:pic>
    </p:spTree>
    <p:extLst>
      <p:ext uri="{BB962C8B-B14F-4D97-AF65-F5344CB8AC3E}">
        <p14:creationId xmlns:p14="http://schemas.microsoft.com/office/powerpoint/2010/main" val="13781864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
        <p:nvSpPr>
          <p:cNvPr id="5" name="TextBox 4"/>
          <p:cNvSpPr txBox="1"/>
          <p:nvPr/>
        </p:nvSpPr>
        <p:spPr>
          <a:xfrm>
            <a:off x="-457200" y="543580"/>
            <a:ext cx="4239904" cy="523220"/>
          </a:xfrm>
          <a:prstGeom prst="rect">
            <a:avLst/>
          </a:prstGeom>
          <a:noFill/>
        </p:spPr>
        <p:txBody>
          <a:bodyPr wrap="square" rtlCol="0">
            <a:spAutoFit/>
          </a:bodyPr>
          <a:lstStyle/>
          <a:p>
            <a:pPr algn="ctr"/>
            <a:r>
              <a:rPr lang="en-US" sz="2800" dirty="0" smtClean="0"/>
              <a:t>Distribution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070811"/>
            <a:ext cx="8077200" cy="4720389"/>
          </a:xfrm>
          <a:prstGeom prst="rect">
            <a:avLst/>
          </a:prstGeom>
        </p:spPr>
      </p:pic>
    </p:spTree>
    <p:extLst>
      <p:ext uri="{BB962C8B-B14F-4D97-AF65-F5344CB8AC3E}">
        <p14:creationId xmlns:p14="http://schemas.microsoft.com/office/powerpoint/2010/main" val="10479896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5078313"/>
          </a:xfrm>
          <a:prstGeom prst="rect">
            <a:avLst/>
          </a:prstGeom>
          <a:noFill/>
        </p:spPr>
        <p:txBody>
          <a:bodyPr wrap="square" rtlCol="0">
            <a:spAutoFit/>
          </a:bodyPr>
          <a:lstStyle/>
          <a:p>
            <a:pPr algn="just"/>
            <a:r>
              <a:rPr lang="en-US" u="sng" dirty="0" smtClean="0">
                <a:solidFill>
                  <a:srgbClr val="FF0000"/>
                </a:solidFill>
              </a:rPr>
              <a:t>1. </a:t>
            </a:r>
            <a:r>
              <a:rPr lang="en-US" b="1" u="sng" dirty="0" smtClean="0">
                <a:solidFill>
                  <a:srgbClr val="FF0000"/>
                </a:solidFill>
              </a:rPr>
              <a:t>Single Server (centralized): </a:t>
            </a:r>
          </a:p>
          <a:p>
            <a:pPr algn="just"/>
            <a:r>
              <a:rPr lang="en-US" dirty="0" smtClean="0"/>
              <a:t>A System where all data storage, processing, and management occur in a single machine. </a:t>
            </a:r>
          </a:p>
          <a:p>
            <a:pPr algn="just"/>
            <a:r>
              <a:rPr lang="en-US" dirty="0" smtClean="0"/>
              <a:t>Clients connect to only one server for all </a:t>
            </a:r>
            <a:r>
              <a:rPr lang="en-US" b="1" dirty="0" smtClean="0"/>
              <a:t>reads and writes</a:t>
            </a:r>
            <a:r>
              <a:rPr lang="en-US" dirty="0" smtClean="0"/>
              <a:t>.</a:t>
            </a:r>
          </a:p>
          <a:p>
            <a:pPr algn="just"/>
            <a:r>
              <a:rPr lang="en-US" b="1" dirty="0"/>
              <a:t>Advantages:</a:t>
            </a:r>
            <a:endParaRPr lang="en-US" dirty="0"/>
          </a:p>
          <a:p>
            <a:pPr algn="just"/>
            <a:r>
              <a:rPr lang="en-US" dirty="0"/>
              <a:t>Simple to design and manage</a:t>
            </a:r>
            <a:r>
              <a:rPr lang="en-US" dirty="0" smtClean="0"/>
              <a:t>.</a:t>
            </a:r>
          </a:p>
          <a:p>
            <a:pPr algn="just"/>
            <a:r>
              <a:rPr lang="en-US" dirty="0" smtClean="0"/>
              <a:t>Centralized data.</a:t>
            </a:r>
            <a:endParaRPr lang="en-US" dirty="0"/>
          </a:p>
          <a:p>
            <a:pPr algn="just"/>
            <a:r>
              <a:rPr lang="en-US" dirty="0"/>
              <a:t>Strong consistency (only one copy of data).</a:t>
            </a:r>
          </a:p>
          <a:p>
            <a:pPr algn="just"/>
            <a:r>
              <a:rPr lang="en-US" b="1" dirty="0"/>
              <a:t>Limitations:</a:t>
            </a:r>
            <a:endParaRPr lang="en-US" dirty="0"/>
          </a:p>
          <a:p>
            <a:pPr algn="just"/>
            <a:r>
              <a:rPr lang="en-US" dirty="0"/>
              <a:t>Not scalable for large datasets or high traffic.</a:t>
            </a:r>
          </a:p>
          <a:p>
            <a:pPr algn="just"/>
            <a:r>
              <a:rPr lang="en-US" dirty="0"/>
              <a:t>Single point of failure (if the server goes down, the system is unavailable).</a:t>
            </a:r>
          </a:p>
          <a:p>
            <a:pPr algn="just"/>
            <a:r>
              <a:rPr lang="en-US" b="1" dirty="0" smtClean="0"/>
              <a:t>Example</a:t>
            </a:r>
            <a:r>
              <a:rPr lang="en-US" b="1" dirty="0"/>
              <a:t>:</a:t>
            </a:r>
            <a:r>
              <a:rPr lang="en-US" dirty="0"/>
              <a:t> Small websites or applications with limited users.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5" name="TextBox 4"/>
          <p:cNvSpPr txBox="1"/>
          <p:nvPr/>
        </p:nvSpPr>
        <p:spPr>
          <a:xfrm>
            <a:off x="76200" y="208435"/>
            <a:ext cx="8001000" cy="954107"/>
          </a:xfrm>
          <a:prstGeom prst="rect">
            <a:avLst/>
          </a:prstGeom>
          <a:noFill/>
        </p:spPr>
        <p:txBody>
          <a:bodyPr wrap="square" rtlCol="0">
            <a:spAutoFit/>
          </a:bodyPr>
          <a:lstStyle/>
          <a:p>
            <a:pPr algn="ctr"/>
            <a:r>
              <a:rPr lang="en-US" sz="2800" dirty="0" smtClean="0"/>
              <a:t>Distribution Models: </a:t>
            </a:r>
            <a:r>
              <a:rPr lang="en-US" sz="2800" b="1" u="sng" dirty="0">
                <a:solidFill>
                  <a:srgbClr val="FF0000"/>
                </a:solidFill>
              </a:rPr>
              <a:t>Single Server (centralized): </a:t>
            </a:r>
          </a:p>
          <a:p>
            <a:pPr algn="ct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4426" y="3114256"/>
            <a:ext cx="4190999" cy="2924392"/>
          </a:xfrm>
          <a:prstGeom prst="rect">
            <a:avLst/>
          </a:prstGeom>
        </p:spPr>
      </p:pic>
      <p:sp>
        <p:nvSpPr>
          <p:cNvPr id="8" name="Rectangle 7"/>
          <p:cNvSpPr/>
          <p:nvPr/>
        </p:nvSpPr>
        <p:spPr>
          <a:xfrm>
            <a:off x="4495800" y="1086853"/>
            <a:ext cx="4668253" cy="1709699"/>
          </a:xfrm>
          <a:prstGeom prst="rect">
            <a:avLst/>
          </a:prstGeom>
        </p:spPr>
        <p:txBody>
          <a:bodyPr wrap="square">
            <a:spAutoFit/>
          </a:bodyPr>
          <a:lstStyle/>
          <a:p>
            <a:pPr>
              <a:lnSpc>
                <a:spcPct val="115000"/>
              </a:lnSpc>
              <a:spcAft>
                <a:spcPts val="800"/>
              </a:spcAft>
              <a:defRPr/>
            </a:pPr>
            <a:r>
              <a:rPr lang="en-IN" sz="2000" b="1" kern="100" dirty="0">
                <a:latin typeface="Aptos" panose="020B0004020202020204" pitchFamily="34" charset="0"/>
                <a:ea typeface="Aptos" panose="020B0004020202020204" pitchFamily="34" charset="0"/>
                <a:cs typeface="Times New Roman" panose="02020603050405020304" pitchFamily="18" charset="0"/>
              </a:rPr>
              <a:t>Architecture Overview</a:t>
            </a:r>
            <a:endParaRPr lang="en-IN" sz="2000" kern="100" dirty="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defRPr/>
            </a:pPr>
            <a:r>
              <a:rPr lang="en-IN" kern="100" dirty="0">
                <a:latin typeface="Aptos" panose="020B0004020202020204" pitchFamily="34" charset="0"/>
                <a:ea typeface="Aptos" panose="020B0004020202020204" pitchFamily="34" charset="0"/>
                <a:cs typeface="Times New Roman" panose="02020603050405020304" pitchFamily="18" charset="0"/>
              </a:rPr>
              <a:t>[Client 1]  \</a:t>
            </a:r>
          </a:p>
          <a:p>
            <a:pPr>
              <a:lnSpc>
                <a:spcPct val="115000"/>
              </a:lnSpc>
              <a:spcAft>
                <a:spcPts val="800"/>
              </a:spcAft>
              <a:defRPr/>
            </a:pPr>
            <a:r>
              <a:rPr lang="en-IN" kern="100" dirty="0">
                <a:latin typeface="Aptos" panose="020B0004020202020204" pitchFamily="34" charset="0"/>
                <a:ea typeface="Aptos" panose="020B0004020202020204" pitchFamily="34" charset="0"/>
                <a:cs typeface="Times New Roman" panose="02020603050405020304" pitchFamily="18" charset="0"/>
              </a:rPr>
              <a:t>[Client 2]   &gt; ----&gt; [ Single Server: Data + Query Processing ]</a:t>
            </a:r>
          </a:p>
          <a:p>
            <a:pPr>
              <a:lnSpc>
                <a:spcPct val="115000"/>
              </a:lnSpc>
              <a:spcAft>
                <a:spcPts val="800"/>
              </a:spcAft>
              <a:defRPr/>
            </a:pPr>
            <a:r>
              <a:rPr lang="en-IN" kern="100" dirty="0">
                <a:latin typeface="Aptos" panose="020B0004020202020204" pitchFamily="34" charset="0"/>
                <a:ea typeface="Aptos" panose="020B0004020202020204" pitchFamily="34" charset="0"/>
                <a:cs typeface="Times New Roman" panose="02020603050405020304" pitchFamily="18" charset="0"/>
              </a:rPr>
              <a:t>[Client 3]  /</a:t>
            </a:r>
          </a:p>
        </p:txBody>
      </p:sp>
    </p:spTree>
    <p:extLst>
      <p:ext uri="{BB962C8B-B14F-4D97-AF65-F5344CB8AC3E}">
        <p14:creationId xmlns:p14="http://schemas.microsoft.com/office/powerpoint/2010/main" val="31316582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4247317"/>
          </a:xfrm>
          <a:prstGeom prst="rect">
            <a:avLst/>
          </a:prstGeom>
          <a:noFill/>
        </p:spPr>
        <p:txBody>
          <a:bodyPr wrap="square" rtlCol="0">
            <a:spAutoFit/>
          </a:bodyPr>
          <a:lstStyle/>
          <a:p>
            <a:pPr algn="just"/>
            <a:r>
              <a:rPr lang="en-US" u="sng" dirty="0">
                <a:solidFill>
                  <a:srgbClr val="FF0000"/>
                </a:solidFill>
              </a:rPr>
              <a:t>2</a:t>
            </a:r>
            <a:r>
              <a:rPr lang="en-US" u="sng" dirty="0" smtClean="0">
                <a:solidFill>
                  <a:srgbClr val="FF0000"/>
                </a:solidFill>
              </a:rPr>
              <a:t>. </a:t>
            </a:r>
            <a:r>
              <a:rPr lang="en-IN" b="1" u="sng" dirty="0" err="1">
                <a:solidFill>
                  <a:srgbClr val="FF0000"/>
                </a:solidFill>
              </a:rPr>
              <a:t>Sharding</a:t>
            </a:r>
            <a:r>
              <a:rPr lang="en-IN" b="1" u="sng" dirty="0">
                <a:solidFill>
                  <a:srgbClr val="FF0000"/>
                </a:solidFill>
              </a:rPr>
              <a:t> (Horizontal Partitioning</a:t>
            </a:r>
            <a:r>
              <a:rPr lang="en-IN" b="1" u="sng" dirty="0" smtClean="0">
                <a:solidFill>
                  <a:srgbClr val="FF0000"/>
                </a:solidFill>
              </a:rPr>
              <a:t>):</a:t>
            </a:r>
            <a:endParaRPr lang="en-US" b="1" u="sng" dirty="0" smtClean="0">
              <a:solidFill>
                <a:srgbClr val="FF0000"/>
              </a:solidFill>
            </a:endParaRPr>
          </a:p>
          <a:p>
            <a:pPr algn="just"/>
            <a:r>
              <a:rPr lang="en-US" dirty="0"/>
              <a:t>The dataset is split into </a:t>
            </a:r>
            <a:r>
              <a:rPr lang="en-US" b="1" dirty="0"/>
              <a:t>partitions (shards)</a:t>
            </a:r>
            <a:r>
              <a:rPr lang="en-US" dirty="0"/>
              <a:t>, and each shard is stored on a different </a:t>
            </a:r>
            <a:r>
              <a:rPr lang="en-US" dirty="0" smtClean="0"/>
              <a:t>server.</a:t>
            </a:r>
          </a:p>
          <a:p>
            <a:pPr algn="just"/>
            <a:r>
              <a:rPr lang="en-US" b="1" dirty="0"/>
              <a:t>Advantages:</a:t>
            </a:r>
            <a:endParaRPr lang="en-US" dirty="0"/>
          </a:p>
          <a:p>
            <a:pPr algn="just"/>
            <a:r>
              <a:rPr lang="en-US" dirty="0"/>
              <a:t>Improves scalability (data spread across multiple machines</a:t>
            </a:r>
            <a:r>
              <a:rPr lang="en-US" dirty="0" smtClean="0"/>
              <a:t>).</a:t>
            </a:r>
            <a:endParaRPr lang="en-US" dirty="0"/>
          </a:p>
          <a:p>
            <a:pPr algn="just"/>
            <a:r>
              <a:rPr lang="en-US" dirty="0"/>
              <a:t>Balances load by distributing queries</a:t>
            </a:r>
            <a:r>
              <a:rPr lang="en-US" dirty="0" smtClean="0"/>
              <a:t>.</a:t>
            </a:r>
            <a:endParaRPr lang="en-US" dirty="0"/>
          </a:p>
          <a:p>
            <a:pPr algn="just"/>
            <a:r>
              <a:rPr lang="en-US" b="1" dirty="0"/>
              <a:t>Limitations:</a:t>
            </a:r>
            <a:endParaRPr lang="en-US" dirty="0"/>
          </a:p>
          <a:p>
            <a:pPr algn="just"/>
            <a:r>
              <a:rPr lang="en-US" dirty="0"/>
              <a:t>Complex to manage queries (must know which shard has the data</a:t>
            </a:r>
            <a:r>
              <a:rPr lang="en-US" dirty="0" smtClean="0"/>
              <a:t>).</a:t>
            </a:r>
            <a:endParaRPr lang="en-US" dirty="0"/>
          </a:p>
          <a:p>
            <a:pPr algn="just"/>
            <a:r>
              <a:rPr lang="en-US" dirty="0"/>
              <a:t>Rebalancing is required if shards grow unevenly</a:t>
            </a:r>
            <a:r>
              <a:rPr lang="en-US" dirty="0" smtClean="0"/>
              <a:t>.</a:t>
            </a:r>
          </a:p>
          <a:p>
            <a:pPr algn="just"/>
            <a:r>
              <a:rPr lang="en-US" b="1" dirty="0" smtClean="0"/>
              <a:t>Example</a:t>
            </a:r>
            <a:r>
              <a:rPr lang="en-US" b="1" dirty="0"/>
              <a:t>:</a:t>
            </a:r>
            <a:r>
              <a:rPr lang="en-US" dirty="0"/>
              <a:t> </a:t>
            </a:r>
            <a:r>
              <a:rPr lang="en-IN" dirty="0"/>
              <a:t>MongoDB, Cassandra use </a:t>
            </a:r>
            <a:r>
              <a:rPr lang="en-IN" dirty="0" err="1"/>
              <a:t>sharding</a:t>
            </a:r>
            <a:r>
              <a:rPr lang="en-IN" dirty="0"/>
              <a:t> for handling massive datasets.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
        <p:nvSpPr>
          <p:cNvPr id="5" name="TextBox 4"/>
          <p:cNvSpPr txBox="1"/>
          <p:nvPr/>
        </p:nvSpPr>
        <p:spPr>
          <a:xfrm>
            <a:off x="-190500" y="304800"/>
            <a:ext cx="9525000"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IN" sz="2800" b="1" u="sng" dirty="0" smtClean="0">
                <a:solidFill>
                  <a:srgbClr val="FF0000"/>
                </a:solidFill>
              </a:rPr>
              <a:t>)</a:t>
            </a:r>
            <a:r>
              <a:rPr lang="en-US" sz="2800" b="1" u="sng" dirty="0" smtClean="0">
                <a:solidFill>
                  <a:srgbClr val="FF0000"/>
                </a:solidFill>
              </a:rPr>
              <a:t>: </a:t>
            </a:r>
            <a:endParaRPr lang="en-US" sz="2800" b="1" u="sng" dirty="0">
              <a:solidFill>
                <a:srgbClr val="FF0000"/>
              </a:solidFill>
            </a:endParaRPr>
          </a:p>
          <a:p>
            <a:pPr algn="ct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1600200"/>
            <a:ext cx="3124200" cy="3332917"/>
          </a:xfrm>
          <a:prstGeom prst="rect">
            <a:avLst/>
          </a:prstGeom>
        </p:spPr>
      </p:pic>
    </p:spTree>
    <p:extLst>
      <p:ext uri="{BB962C8B-B14F-4D97-AF65-F5344CB8AC3E}">
        <p14:creationId xmlns:p14="http://schemas.microsoft.com/office/powerpoint/2010/main" val="28121533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4365939"/>
          </a:xfrm>
          <a:prstGeom prst="rect">
            <a:avLst/>
          </a:prstGeom>
          <a:noFill/>
        </p:spPr>
        <p:txBody>
          <a:bodyPr wrap="square" rtlCol="0">
            <a:spAutoFit/>
          </a:bodyPr>
          <a:lstStyle/>
          <a:p>
            <a:pPr>
              <a:lnSpc>
                <a:spcPct val="115000"/>
              </a:lnSpc>
              <a:spcAft>
                <a:spcPts val="800"/>
              </a:spcAft>
              <a:defRPr/>
            </a:pPr>
            <a:r>
              <a:rPr lang="en-IN" sz="2000" b="1" kern="100" dirty="0">
                <a:solidFill>
                  <a:srgbClr val="000000"/>
                </a:solidFill>
                <a:ea typeface="Aptos" panose="020B0004020202020204" pitchFamily="34" charset="0"/>
                <a:cs typeface="Times New Roman" panose="02020603050405020304" pitchFamily="18" charset="0"/>
              </a:rPr>
              <a:t> </a:t>
            </a:r>
            <a:r>
              <a:rPr lang="en-IN" sz="2000" b="1" kern="100" dirty="0" err="1">
                <a:solidFill>
                  <a:srgbClr val="000000"/>
                </a:solidFill>
                <a:ea typeface="Aptos" panose="020B0004020202020204" pitchFamily="34" charset="0"/>
                <a:cs typeface="Times New Roman" panose="02020603050405020304" pitchFamily="18" charset="0"/>
              </a:rPr>
              <a:t>Sharding</a:t>
            </a:r>
            <a:r>
              <a:rPr lang="en-IN" sz="2000" kern="100" dirty="0">
                <a:solidFill>
                  <a:srgbClr val="000000"/>
                </a:solidFill>
                <a:ea typeface="Aptos" panose="020B0004020202020204" pitchFamily="34" charset="0"/>
                <a:cs typeface="Times New Roman" panose="02020603050405020304" pitchFamily="18" charset="0"/>
              </a:rPr>
              <a:t> = </a:t>
            </a:r>
            <a:r>
              <a:rPr lang="en-IN" sz="2000" b="1" kern="100" dirty="0">
                <a:solidFill>
                  <a:srgbClr val="000000"/>
                </a:solidFill>
                <a:ea typeface="Aptos" panose="020B0004020202020204" pitchFamily="34" charset="0"/>
                <a:cs typeface="Times New Roman" panose="02020603050405020304" pitchFamily="18" charset="0"/>
              </a:rPr>
              <a:t>Horizontal Partitioning</a:t>
            </a:r>
            <a:r>
              <a:rPr lang="en-IN" sz="2000" kern="100" dirty="0">
                <a:solidFill>
                  <a:srgbClr val="000000"/>
                </a:solidFill>
                <a:ea typeface="Aptos" panose="020B0004020202020204" pitchFamily="34" charset="0"/>
                <a:cs typeface="Times New Roman" panose="02020603050405020304" pitchFamily="18" charset="0"/>
              </a:rPr>
              <a:t> of data.</a:t>
            </a:r>
            <a:endParaRPr lang="en-IN" sz="2000" kern="100" dirty="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Each shard contains a </a:t>
            </a:r>
            <a:r>
              <a:rPr lang="en-IN" sz="2000" b="1" kern="100" dirty="0">
                <a:solidFill>
                  <a:srgbClr val="000000"/>
                </a:solidFill>
                <a:ea typeface="Aptos" panose="020B0004020202020204" pitchFamily="34" charset="0"/>
                <a:cs typeface="Times New Roman" panose="02020603050405020304" pitchFamily="18" charset="0"/>
              </a:rPr>
              <a:t>subset</a:t>
            </a:r>
            <a:r>
              <a:rPr lang="en-IN" sz="2000" kern="100" dirty="0">
                <a:solidFill>
                  <a:srgbClr val="000000"/>
                </a:solidFill>
                <a:ea typeface="Aptos" panose="020B0004020202020204" pitchFamily="34" charset="0"/>
                <a:cs typeface="Times New Roman" panose="02020603050405020304" pitchFamily="18" charset="0"/>
              </a:rPr>
              <a:t> of the total data.</a:t>
            </a:r>
          </a:p>
          <a:p>
            <a:pPr marL="342900" indent="-342900">
              <a:lnSpc>
                <a:spcPct val="115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Each shard is stored on a </a:t>
            </a:r>
            <a:r>
              <a:rPr lang="en-IN" sz="2000" b="1" kern="100" dirty="0">
                <a:solidFill>
                  <a:srgbClr val="000000"/>
                </a:solidFill>
                <a:ea typeface="Aptos" panose="020B0004020202020204" pitchFamily="34" charset="0"/>
                <a:cs typeface="Times New Roman" panose="02020603050405020304" pitchFamily="18" charset="0"/>
              </a:rPr>
              <a:t>different server</a:t>
            </a:r>
            <a:r>
              <a:rPr lang="en-IN" sz="2000" kern="100" dirty="0">
                <a:solidFill>
                  <a:srgbClr val="000000"/>
                </a:solidFill>
                <a:ea typeface="Aptos" panose="020B0004020202020204" pitchFamily="34" charset="0"/>
                <a:cs typeface="Times New Roman" panose="02020603050405020304" pitchFamily="18" charset="0"/>
              </a:rPr>
              <a:t>.</a:t>
            </a:r>
          </a:p>
          <a:p>
            <a:pPr marL="342900" indent="-342900">
              <a:lnSpc>
                <a:spcPct val="115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Together, all shards make up the full dataset.</a:t>
            </a:r>
          </a:p>
          <a:p>
            <a:pPr>
              <a:lnSpc>
                <a:spcPct val="115000"/>
              </a:lnSpc>
              <a:spcAft>
                <a:spcPts val="800"/>
              </a:spcAft>
              <a:defRPr/>
            </a:pPr>
            <a:r>
              <a:rPr lang="en-IN" sz="2000" b="1" kern="100" dirty="0">
                <a:solidFill>
                  <a:srgbClr val="000000"/>
                </a:solidFill>
                <a:ea typeface="Aptos" panose="020B0004020202020204" pitchFamily="34" charset="0"/>
                <a:cs typeface="Times New Roman" panose="02020603050405020304" pitchFamily="18" charset="0"/>
              </a:rPr>
              <a:t>    Horizontal partitioning</a:t>
            </a:r>
            <a:r>
              <a:rPr lang="en-IN" sz="2000" kern="100" dirty="0">
                <a:solidFill>
                  <a:srgbClr val="000000"/>
                </a:solidFill>
                <a:ea typeface="Aptos" panose="020B0004020202020204" pitchFamily="34" charset="0"/>
                <a:cs typeface="Times New Roman" panose="02020603050405020304" pitchFamily="18" charset="0"/>
              </a:rPr>
              <a:t> means splitting rows/documents,    not columns/fields.</a:t>
            </a:r>
            <a:endParaRPr lang="en-IN" sz="2000" kern="100" dirty="0">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5" name="TextBox 4"/>
          <p:cNvSpPr txBox="1"/>
          <p:nvPr/>
        </p:nvSpPr>
        <p:spPr>
          <a:xfrm>
            <a:off x="-152400" y="361523"/>
            <a:ext cx="9296400"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1752600"/>
            <a:ext cx="3136904" cy="3212675"/>
          </a:xfrm>
          <a:prstGeom prst="rect">
            <a:avLst/>
          </a:prstGeom>
        </p:spPr>
      </p:pic>
    </p:spTree>
    <p:extLst>
      <p:ext uri="{BB962C8B-B14F-4D97-AF65-F5344CB8AC3E}">
        <p14:creationId xmlns:p14="http://schemas.microsoft.com/office/powerpoint/2010/main" val="42111631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
        <p:nvSpPr>
          <p:cNvPr id="5" name="TextBox 4"/>
          <p:cNvSpPr txBox="1"/>
          <p:nvPr/>
        </p:nvSpPr>
        <p:spPr>
          <a:xfrm>
            <a:off x="-359702" y="275714"/>
            <a:ext cx="9881938"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pic>
        <p:nvPicPr>
          <p:cNvPr id="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35" y="1066800"/>
            <a:ext cx="9125465" cy="4653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80242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TextBox 4"/>
          <p:cNvSpPr txBox="1"/>
          <p:nvPr/>
        </p:nvSpPr>
        <p:spPr>
          <a:xfrm>
            <a:off x="-16042" y="176994"/>
            <a:ext cx="9119937"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0600"/>
            <a:ext cx="9144000" cy="5029200"/>
          </a:xfrm>
          <a:prstGeom prst="rect">
            <a:avLst/>
          </a:prstGeom>
        </p:spPr>
      </p:pic>
    </p:spTree>
    <p:extLst>
      <p:ext uri="{BB962C8B-B14F-4D97-AF65-F5344CB8AC3E}">
        <p14:creationId xmlns:p14="http://schemas.microsoft.com/office/powerpoint/2010/main" val="1689409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623888" y="1404937"/>
            <a:ext cx="7886700" cy="2139554"/>
          </a:xfrm>
        </p:spPr>
        <p:txBody>
          <a:bodyPr/>
          <a:lstStyle/>
          <a:p>
            <a:endParaRPr lang="en-IN" altLang="en-US" smtClean="0"/>
          </a:p>
        </p:txBody>
      </p:sp>
      <p:sp>
        <p:nvSpPr>
          <p:cNvPr id="52227" name="Text Placeholder 4"/>
          <p:cNvSpPr>
            <a:spLocks noGrp="1"/>
          </p:cNvSpPr>
          <p:nvPr>
            <p:ph type="body" idx="1"/>
          </p:nvPr>
        </p:nvSpPr>
        <p:spPr>
          <a:xfrm>
            <a:off x="623888" y="3652838"/>
            <a:ext cx="7886700" cy="1125141"/>
          </a:xfrm>
        </p:spPr>
        <p:txBody>
          <a:bodyPr/>
          <a:lstStyle/>
          <a:p>
            <a:endParaRPr lang="en-IN" altLang="en-US" smtClean="0"/>
          </a:p>
        </p:txBody>
      </p:sp>
      <p:sp>
        <p:nvSpPr>
          <p:cNvPr id="5222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557213" indent="-214313">
              <a:lnSpc>
                <a:spcPct val="90000"/>
              </a:lnSpc>
              <a:spcBef>
                <a:spcPts val="375"/>
              </a:spcBef>
              <a:buFont typeface="Arial" panose="020B0604020202020204" pitchFamily="34" charset="0"/>
              <a:buChar char="•"/>
              <a:defRPr sz="18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857250" indent="-171450">
              <a:lnSpc>
                <a:spcPct val="90000"/>
              </a:lnSpc>
              <a:spcBef>
                <a:spcPts val="375"/>
              </a:spcBef>
              <a:buFont typeface="Arial" panose="020B0604020202020204" pitchFamily="34" charset="0"/>
              <a:buChar char="•"/>
              <a:defRPr sz="15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2001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15430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fld id="{CF1F355C-2C0D-4974-8054-59FE2E5276D7}" type="slidenum">
              <a:rPr lang="en-US" altLang="en-US"/>
              <a:pPr/>
              <a:t>21</a:t>
            </a:fld>
            <a:endParaRPr lang="en-US" altLang="en-US"/>
          </a:p>
        </p:txBody>
      </p:sp>
      <p:pic>
        <p:nvPicPr>
          <p:cNvPr id="52229"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858441"/>
            <a:ext cx="9144000" cy="51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2875" y="858441"/>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1" name="Picture 1" descr="A close up of a logo&#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3604" y="5395913"/>
            <a:ext cx="457200"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0" y="350133"/>
            <a:ext cx="6748463" cy="707886"/>
          </a:xfrm>
          <a:prstGeom prst="rect">
            <a:avLst/>
          </a:prstGeom>
          <a:noFill/>
        </p:spPr>
        <p:txBody>
          <a:bodyPr>
            <a:spAutoFit/>
          </a:bodyPr>
          <a:lstStyle/>
          <a:p>
            <a:pPr algn="ctr"/>
            <a:r>
              <a:rPr lang="en-US" sz="2000" dirty="0"/>
              <a:t>Distribution Models: </a:t>
            </a:r>
            <a:r>
              <a:rPr lang="en-IN" sz="2000" b="1" u="sng" dirty="0" err="1">
                <a:solidFill>
                  <a:srgbClr val="FF0000"/>
                </a:solidFill>
              </a:rPr>
              <a:t>Sharding</a:t>
            </a:r>
            <a:r>
              <a:rPr lang="en-IN" sz="2000" b="1" u="sng" dirty="0">
                <a:solidFill>
                  <a:srgbClr val="FF0000"/>
                </a:solidFill>
              </a:rPr>
              <a:t> (Horizontal Partitioning)</a:t>
            </a:r>
            <a:r>
              <a:rPr lang="en-US" sz="2000" b="1" u="sng" dirty="0">
                <a:solidFill>
                  <a:srgbClr val="FF0000"/>
                </a:solidFill>
              </a:rPr>
              <a:t>: </a:t>
            </a:r>
          </a:p>
          <a:p>
            <a:pPr algn="ctr"/>
            <a:endParaRPr lang="en-IN" sz="2000" dirty="0"/>
          </a:p>
        </p:txBody>
      </p:sp>
      <p:pic>
        <p:nvPicPr>
          <p:cNvPr id="5223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295401"/>
            <a:ext cx="9144000" cy="399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4"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1129" y="4165998"/>
            <a:ext cx="2012156" cy="1125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3511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3"/>
          <p:cNvSpPr>
            <a:spLocks noGrp="1"/>
          </p:cNvSpPr>
          <p:nvPr>
            <p:ph type="title"/>
          </p:nvPr>
        </p:nvSpPr>
        <p:spPr>
          <a:xfrm>
            <a:off x="623888" y="1404937"/>
            <a:ext cx="7886700" cy="2139554"/>
          </a:xfrm>
        </p:spPr>
        <p:txBody>
          <a:bodyPr/>
          <a:lstStyle/>
          <a:p>
            <a:endParaRPr lang="en-IN" altLang="en-US" smtClean="0"/>
          </a:p>
        </p:txBody>
      </p:sp>
      <p:sp>
        <p:nvSpPr>
          <p:cNvPr id="53251" name="Text Placeholder 4"/>
          <p:cNvSpPr>
            <a:spLocks noGrp="1"/>
          </p:cNvSpPr>
          <p:nvPr>
            <p:ph type="body" idx="1"/>
          </p:nvPr>
        </p:nvSpPr>
        <p:spPr>
          <a:xfrm>
            <a:off x="623888" y="3652838"/>
            <a:ext cx="7886700" cy="1125141"/>
          </a:xfrm>
        </p:spPr>
        <p:txBody>
          <a:bodyPr/>
          <a:lstStyle/>
          <a:p>
            <a:endParaRPr lang="en-IN" altLang="en-US" smtClean="0"/>
          </a:p>
        </p:txBody>
      </p:sp>
      <p:sp>
        <p:nvSpPr>
          <p:cNvPr id="5325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557213" indent="-214313">
              <a:lnSpc>
                <a:spcPct val="90000"/>
              </a:lnSpc>
              <a:spcBef>
                <a:spcPts val="375"/>
              </a:spcBef>
              <a:buFont typeface="Arial" panose="020B0604020202020204" pitchFamily="34" charset="0"/>
              <a:buChar char="•"/>
              <a:defRPr sz="18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857250" indent="-171450">
              <a:lnSpc>
                <a:spcPct val="90000"/>
              </a:lnSpc>
              <a:spcBef>
                <a:spcPts val="375"/>
              </a:spcBef>
              <a:buFont typeface="Arial" panose="020B0604020202020204" pitchFamily="34" charset="0"/>
              <a:buChar char="•"/>
              <a:defRPr sz="15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2001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15430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fld id="{82C6EA7A-A865-49BC-99E5-D7D0BCA4A93F}" type="slidenum">
              <a:rPr lang="en-US" altLang="en-US"/>
              <a:pPr/>
              <a:t>22</a:t>
            </a:fld>
            <a:endParaRPr lang="en-US" altLang="en-US"/>
          </a:p>
        </p:txBody>
      </p:sp>
      <p:pic>
        <p:nvPicPr>
          <p:cNvPr id="53253"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858441"/>
            <a:ext cx="9144000" cy="51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91" y="857250"/>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1" descr="A close up of a logo&#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3604" y="5395913"/>
            <a:ext cx="457200"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202568" y="334043"/>
            <a:ext cx="8636632" cy="830997"/>
          </a:xfrm>
          <a:prstGeom prst="rect">
            <a:avLst/>
          </a:prstGeom>
          <a:noFill/>
        </p:spPr>
        <p:txBody>
          <a:bodyPr wrap="square">
            <a:spAutoFit/>
          </a:bodyPr>
          <a:lstStyle/>
          <a:p>
            <a:pPr algn="ctr"/>
            <a:r>
              <a:rPr lang="en-US" sz="2400" dirty="0"/>
              <a:t>Distribution Models: </a:t>
            </a:r>
            <a:r>
              <a:rPr lang="en-IN" sz="2400" b="1" u="sng" dirty="0" err="1">
                <a:solidFill>
                  <a:srgbClr val="FF0000"/>
                </a:solidFill>
              </a:rPr>
              <a:t>Sharding</a:t>
            </a:r>
            <a:r>
              <a:rPr lang="en-IN" sz="2400" b="1" u="sng" dirty="0">
                <a:solidFill>
                  <a:srgbClr val="FF0000"/>
                </a:solidFill>
              </a:rPr>
              <a:t> (Horizontal Partitioning)</a:t>
            </a:r>
            <a:r>
              <a:rPr lang="en-US" sz="2400" b="1" u="sng" dirty="0">
                <a:solidFill>
                  <a:srgbClr val="FF0000"/>
                </a:solidFill>
              </a:rPr>
              <a:t>: </a:t>
            </a:r>
          </a:p>
          <a:p>
            <a:pPr algn="ctr"/>
            <a:endParaRPr lang="en-IN" sz="2400" dirty="0"/>
          </a:p>
        </p:txBody>
      </p:sp>
      <p:pic>
        <p:nvPicPr>
          <p:cNvPr id="5325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403747"/>
            <a:ext cx="9144000" cy="389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8"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1850" y="3874294"/>
            <a:ext cx="1951435" cy="142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4364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4257576"/>
          </a:xfrm>
          <a:prstGeom prst="rect">
            <a:avLst/>
          </a:prstGeom>
          <a:noFill/>
        </p:spPr>
        <p:txBody>
          <a:bodyPr wrap="square" rtlCol="0">
            <a:spAutoFit/>
          </a:bodyPr>
          <a:lstStyle/>
          <a:p>
            <a:pPr>
              <a:lnSpc>
                <a:spcPct val="115000"/>
              </a:lnSpc>
              <a:spcAft>
                <a:spcPts val="800"/>
              </a:spcAft>
              <a:buSzPts val="1000"/>
              <a:tabLst>
                <a:tab pos="457200" algn="l"/>
              </a:tabLst>
              <a:defRPr/>
            </a:pPr>
            <a:r>
              <a:rPr lang="en-US" sz="2000" b="1" kern="100" dirty="0" smtClean="0">
                <a:solidFill>
                  <a:srgbClr val="000000"/>
                </a:solidFill>
                <a:ea typeface="Aptos" panose="020B0004020202020204" pitchFamily="34" charset="0"/>
                <a:cs typeface="Times New Roman" panose="02020603050405020304" pitchFamily="18" charset="0"/>
              </a:rPr>
              <a:t>Purpose:</a:t>
            </a:r>
            <a:endParaRPr lang="en-IN" sz="2000" b="1" kern="100" dirty="0" smtClean="0">
              <a:solidFill>
                <a:srgbClr val="000000"/>
              </a:solidFill>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sz="2000" b="1" kern="100" dirty="0" smtClean="0">
                <a:solidFill>
                  <a:srgbClr val="000000"/>
                </a:solidFill>
                <a:ea typeface="Aptos" panose="020B0004020202020204" pitchFamily="34" charset="0"/>
                <a:cs typeface="Times New Roman" panose="02020603050405020304" pitchFamily="18" charset="0"/>
              </a:rPr>
              <a:t>Scale </a:t>
            </a:r>
            <a:r>
              <a:rPr lang="en-IN" sz="2000" b="1" kern="100" dirty="0">
                <a:solidFill>
                  <a:srgbClr val="000000"/>
                </a:solidFill>
                <a:ea typeface="Aptos" panose="020B0004020202020204" pitchFamily="34" charset="0"/>
                <a:cs typeface="Times New Roman" panose="02020603050405020304" pitchFamily="18" charset="0"/>
              </a:rPr>
              <a:t>out</a:t>
            </a:r>
            <a:r>
              <a:rPr lang="en-IN" sz="2000" kern="100" dirty="0">
                <a:solidFill>
                  <a:srgbClr val="000000"/>
                </a:solidFill>
                <a:ea typeface="Aptos" panose="020B0004020202020204" pitchFamily="34" charset="0"/>
                <a:cs typeface="Times New Roman" panose="02020603050405020304" pitchFamily="18" charset="0"/>
              </a:rPr>
              <a:t>: Add more servers to handle more data/traffic</a:t>
            </a:r>
            <a:r>
              <a:rPr lang="en-IN" sz="2000" kern="100" dirty="0" smtClean="0">
                <a:solidFill>
                  <a:srgbClr val="000000"/>
                </a:solidFill>
                <a:ea typeface="Aptos" panose="020B0004020202020204" pitchFamily="34" charset="0"/>
                <a:cs typeface="Times New Roman" panose="02020603050405020304" pitchFamily="18" charset="0"/>
              </a:rPr>
              <a:t>.</a:t>
            </a:r>
            <a:endParaRPr lang="en-IN" sz="2400" kern="100" dirty="0">
              <a:solidFill>
                <a:srgbClr val="000000"/>
              </a:solidFill>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Avoid bottlenecks</a:t>
            </a:r>
            <a:r>
              <a:rPr lang="en-IN" sz="2000" kern="100" dirty="0">
                <a:solidFill>
                  <a:srgbClr val="000000"/>
                </a:solidFill>
                <a:ea typeface="Aptos" panose="020B0004020202020204" pitchFamily="34" charset="0"/>
                <a:cs typeface="Times New Roman" panose="02020603050405020304" pitchFamily="18" charset="0"/>
              </a:rPr>
              <a:t>: No single server does all the work</a:t>
            </a:r>
            <a:r>
              <a:rPr lang="en-IN" sz="2000" kern="100" dirty="0" smtClean="0">
                <a:solidFill>
                  <a:srgbClr val="000000"/>
                </a:solidFill>
                <a:ea typeface="Aptos" panose="020B0004020202020204" pitchFamily="34" charset="0"/>
                <a:cs typeface="Times New Roman" panose="02020603050405020304" pitchFamily="18" charset="0"/>
              </a:rPr>
              <a:t>.</a:t>
            </a:r>
            <a:endParaRPr lang="en-IN" sz="2000" kern="100" dirty="0">
              <a:solidFill>
                <a:srgbClr val="000000"/>
              </a:solidFill>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Improve performance</a:t>
            </a:r>
            <a:r>
              <a:rPr lang="en-IN" sz="2000" kern="100" dirty="0">
                <a:solidFill>
                  <a:srgbClr val="000000"/>
                </a:solidFill>
                <a:ea typeface="Aptos" panose="020B0004020202020204" pitchFamily="34" charset="0"/>
                <a:cs typeface="Times New Roman" panose="02020603050405020304" pitchFamily="18" charset="0"/>
              </a:rPr>
              <a:t>: Queries hit only the shard that has the data</a:t>
            </a:r>
            <a:r>
              <a:rPr lang="en-IN" sz="2000" kern="100" dirty="0" smtClean="0">
                <a:solidFill>
                  <a:srgbClr val="000000"/>
                </a:solidFill>
                <a:ea typeface="Aptos" panose="020B0004020202020204" pitchFamily="34" charset="0"/>
                <a:cs typeface="Times New Roman" panose="02020603050405020304" pitchFamily="18" charset="0"/>
              </a:rPr>
              <a:t>.</a:t>
            </a:r>
            <a:endParaRPr lang="en-IN" sz="2000" kern="100" dirty="0">
              <a:solidFill>
                <a:srgbClr val="000000"/>
              </a:solidFill>
              <a:ea typeface="Aptos" panose="020B0004020202020204" pitchFamily="34" charset="0"/>
              <a:cs typeface="Times New Roman" panose="02020603050405020304" pitchFamily="18" charset="0"/>
            </a:endParaRPr>
          </a:p>
          <a:p>
            <a:pPr>
              <a:defRPr/>
            </a:pPr>
            <a:r>
              <a:rPr lang="en-IN" sz="2000" b="1" dirty="0">
                <a:solidFill>
                  <a:srgbClr val="000000"/>
                </a:solidFill>
                <a:ea typeface="Aptos" panose="020B0004020202020204" pitchFamily="34" charset="0"/>
                <a:cs typeface="Times New Roman" panose="02020603050405020304" pitchFamily="18" charset="0"/>
              </a:rPr>
              <a:t>     Handle big data</a:t>
            </a:r>
            <a:r>
              <a:rPr lang="en-IN" sz="2000" dirty="0">
                <a:solidFill>
                  <a:srgbClr val="000000"/>
                </a:solidFill>
                <a:ea typeface="Aptos" panose="020B0004020202020204" pitchFamily="34" charset="0"/>
                <a:cs typeface="Times New Roman" panose="02020603050405020304" pitchFamily="18" charset="0"/>
              </a:rPr>
              <a:t>: Store datasets larger than a single          machine’s capacity </a:t>
            </a:r>
            <a:endParaRPr lang="en-IN" sz="20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5" name="TextBox 4"/>
          <p:cNvSpPr txBox="1"/>
          <p:nvPr/>
        </p:nvSpPr>
        <p:spPr>
          <a:xfrm>
            <a:off x="-190500" y="282505"/>
            <a:ext cx="9524999"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1752600"/>
            <a:ext cx="3136904" cy="3212675"/>
          </a:xfrm>
          <a:prstGeom prst="rect">
            <a:avLst/>
          </a:prstGeom>
        </p:spPr>
      </p:pic>
    </p:spTree>
    <p:extLst>
      <p:ext uri="{BB962C8B-B14F-4D97-AF65-F5344CB8AC3E}">
        <p14:creationId xmlns:p14="http://schemas.microsoft.com/office/powerpoint/2010/main" val="33486561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872675"/>
          </a:xfrm>
          <a:prstGeom prst="rect">
            <a:avLst/>
          </a:prstGeom>
          <a:noFill/>
        </p:spPr>
        <p:txBody>
          <a:bodyPr wrap="square" rtlCol="0">
            <a:spAutoFit/>
          </a:bodyPr>
          <a:lstStyle/>
          <a:p>
            <a:pPr>
              <a:lnSpc>
                <a:spcPct val="115000"/>
              </a:lnSpc>
              <a:spcAft>
                <a:spcPts val="800"/>
              </a:spcAft>
              <a:buSzPts val="1000"/>
              <a:tabLst>
                <a:tab pos="457200" algn="l"/>
              </a:tabLst>
              <a:defRPr/>
            </a:pPr>
            <a:r>
              <a:rPr lang="en-US" sz="2000" b="1" kern="100" dirty="0" smtClean="0">
                <a:solidFill>
                  <a:srgbClr val="000000"/>
                </a:solidFill>
                <a:ea typeface="Aptos" panose="020B0004020202020204" pitchFamily="34" charset="0"/>
                <a:cs typeface="Times New Roman" panose="02020603050405020304" pitchFamily="18" charset="0"/>
              </a:rPr>
              <a:t>Key Concepts:</a:t>
            </a: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5" name="TextBox 4"/>
          <p:cNvSpPr txBox="1"/>
          <p:nvPr/>
        </p:nvSpPr>
        <p:spPr>
          <a:xfrm>
            <a:off x="-483270" y="304800"/>
            <a:ext cx="10186737"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pic>
        <p:nvPicPr>
          <p:cNvPr id="6" name="Picture 5"/>
          <p:cNvPicPr>
            <a:picLocks noChangeAspect="1"/>
          </p:cNvPicPr>
          <p:nvPr/>
        </p:nvPicPr>
        <p:blipFill>
          <a:blip r:embed="rId2"/>
          <a:stretch>
            <a:fillRect/>
          </a:stretch>
        </p:blipFill>
        <p:spPr>
          <a:xfrm>
            <a:off x="181127" y="1752600"/>
            <a:ext cx="8857945" cy="4185903"/>
          </a:xfrm>
          <a:prstGeom prst="rect">
            <a:avLst/>
          </a:prstGeom>
        </p:spPr>
      </p:pic>
    </p:spTree>
    <p:extLst>
      <p:ext uri="{BB962C8B-B14F-4D97-AF65-F5344CB8AC3E}">
        <p14:creationId xmlns:p14="http://schemas.microsoft.com/office/powerpoint/2010/main" val="34296043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979825"/>
          </a:xfrm>
          <a:prstGeom prst="rect">
            <a:avLst/>
          </a:prstGeom>
          <a:noFill/>
        </p:spPr>
        <p:txBody>
          <a:bodyPr wrap="square" rtlCol="0">
            <a:spAutoFit/>
          </a:bodyPr>
          <a:lstStyle/>
          <a:p>
            <a:pPr>
              <a:lnSpc>
                <a:spcPct val="115000"/>
              </a:lnSpc>
              <a:spcAft>
                <a:spcPts val="800"/>
              </a:spcAft>
              <a:buSzPts val="1000"/>
              <a:tabLst>
                <a:tab pos="457200" algn="l"/>
              </a:tabLst>
              <a:defRPr/>
            </a:pPr>
            <a:r>
              <a:rPr lang="en-US" sz="2000" b="1" u="sng" kern="100" dirty="0" err="1" smtClean="0">
                <a:solidFill>
                  <a:srgbClr val="000000"/>
                </a:solidFill>
                <a:ea typeface="Aptos" panose="020B0004020202020204" pitchFamily="34" charset="0"/>
                <a:cs typeface="Times New Roman" panose="02020603050405020304" pitchFamily="18" charset="0"/>
              </a:rPr>
              <a:t>Sharding</a:t>
            </a:r>
            <a:r>
              <a:rPr lang="en-US" sz="2000" b="1" u="sng" kern="100" dirty="0" smtClean="0">
                <a:solidFill>
                  <a:srgbClr val="000000"/>
                </a:solidFill>
                <a:ea typeface="Aptos" panose="020B0004020202020204" pitchFamily="34" charset="0"/>
                <a:cs typeface="Times New Roman" panose="02020603050405020304" pitchFamily="18" charset="0"/>
              </a:rPr>
              <a:t> Strategies</a:t>
            </a:r>
          </a:p>
          <a:p>
            <a:pPr>
              <a:lnSpc>
                <a:spcPct val="115000"/>
              </a:lnSpc>
              <a:spcAft>
                <a:spcPts val="800"/>
              </a:spcAft>
              <a:buSzPts val="1000"/>
              <a:tabLst>
                <a:tab pos="457200" algn="l"/>
              </a:tabLst>
              <a:defRPr/>
            </a:pPr>
            <a:r>
              <a:rPr lang="en-US" sz="2000" b="1" kern="100" dirty="0" smtClean="0">
                <a:solidFill>
                  <a:srgbClr val="000000"/>
                </a:solidFill>
                <a:ea typeface="Aptos" panose="020B0004020202020204" pitchFamily="34" charset="0"/>
                <a:cs typeface="Times New Roman" panose="02020603050405020304" pitchFamily="18" charset="0"/>
              </a:rPr>
              <a:t>1. Range-based </a:t>
            </a:r>
            <a:r>
              <a:rPr lang="en-US" sz="2000" b="1" kern="100" dirty="0" err="1" smtClean="0">
                <a:solidFill>
                  <a:srgbClr val="000000"/>
                </a:solidFill>
                <a:ea typeface="Aptos" panose="020B0004020202020204" pitchFamily="34" charset="0"/>
                <a:cs typeface="Times New Roman" panose="02020603050405020304" pitchFamily="18" charset="0"/>
              </a:rPr>
              <a:t>Sharding</a:t>
            </a:r>
            <a:endParaRPr lang="en-US" sz="2000" b="1" kern="100" dirty="0" smtClean="0">
              <a:solidFill>
                <a:srgbClr val="000000"/>
              </a:solidFill>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sz="2400" kern="100" dirty="0">
                <a:solidFill>
                  <a:srgbClr val="000000"/>
                </a:solidFill>
                <a:ea typeface="Aptos" panose="020B0004020202020204" pitchFamily="34" charset="0"/>
                <a:cs typeface="Times New Roman" panose="02020603050405020304" pitchFamily="18" charset="0"/>
              </a:rPr>
              <a:t>Data divided into continuous ranges of values.</a:t>
            </a:r>
          </a:p>
          <a:p>
            <a:pPr marL="342900" indent="-342900">
              <a:lnSpc>
                <a:spcPct val="115000"/>
              </a:lnSpc>
              <a:spcAft>
                <a:spcPts val="800"/>
              </a:spcAft>
              <a:buSzPts val="1000"/>
              <a:buFont typeface="Symbol" panose="05050102010706020507" pitchFamily="18" charset="2"/>
              <a:buChar char=""/>
              <a:tabLst>
                <a:tab pos="457200" algn="l"/>
              </a:tabLst>
              <a:defRPr/>
            </a:pPr>
            <a:r>
              <a:rPr lang="en-IN" sz="2400" kern="100" dirty="0">
                <a:solidFill>
                  <a:srgbClr val="000000"/>
                </a:solidFill>
                <a:ea typeface="Aptos" panose="020B0004020202020204" pitchFamily="34" charset="0"/>
                <a:cs typeface="Times New Roman" panose="02020603050405020304" pitchFamily="18" charset="0"/>
              </a:rPr>
              <a:t>Example:</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400" kern="100" dirty="0">
                <a:solidFill>
                  <a:srgbClr val="000000"/>
                </a:solidFill>
                <a:ea typeface="Aptos" panose="020B0004020202020204" pitchFamily="34" charset="0"/>
                <a:cs typeface="Times New Roman" panose="02020603050405020304" pitchFamily="18" charset="0"/>
              </a:rPr>
              <a:t>Shard 1: IDs 1–1000 OR A-G</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400" kern="100" dirty="0">
                <a:solidFill>
                  <a:srgbClr val="000000"/>
                </a:solidFill>
                <a:ea typeface="Aptos" panose="020B0004020202020204" pitchFamily="34" charset="0"/>
                <a:cs typeface="Times New Roman" panose="02020603050405020304" pitchFamily="18" charset="0"/>
              </a:rPr>
              <a:t>Shard 2: IDs 1001–2000 OR G-S</a:t>
            </a:r>
          </a:p>
          <a:p>
            <a:pPr marL="342900" indent="-342900">
              <a:lnSpc>
                <a:spcPct val="115000"/>
              </a:lnSpc>
              <a:spcAft>
                <a:spcPts val="800"/>
              </a:spcAft>
              <a:buSzPts val="1000"/>
              <a:buFont typeface="Symbol" panose="05050102010706020507" pitchFamily="18" charset="2"/>
              <a:buChar char=""/>
              <a:tabLst>
                <a:tab pos="457200" algn="l"/>
              </a:tabLst>
              <a:defRPr/>
            </a:pPr>
            <a:r>
              <a:rPr lang="en-IN" sz="2400" b="1" kern="100" dirty="0">
                <a:solidFill>
                  <a:srgbClr val="000000"/>
                </a:solidFill>
                <a:ea typeface="Aptos" panose="020B0004020202020204" pitchFamily="34" charset="0"/>
                <a:cs typeface="Times New Roman" panose="02020603050405020304" pitchFamily="18" charset="0"/>
              </a:rPr>
              <a:t>Pros:</a:t>
            </a:r>
            <a:r>
              <a:rPr lang="en-IN" sz="2400" kern="100" dirty="0">
                <a:solidFill>
                  <a:srgbClr val="000000"/>
                </a:solidFill>
                <a:ea typeface="Aptos" panose="020B0004020202020204" pitchFamily="34" charset="0"/>
                <a:cs typeface="Times New Roman" panose="02020603050405020304" pitchFamily="18" charset="0"/>
              </a:rPr>
              <a:t> Efficient range queries.</a:t>
            </a:r>
          </a:p>
          <a:p>
            <a:pPr marL="342900" indent="-342900">
              <a:lnSpc>
                <a:spcPct val="115000"/>
              </a:lnSpc>
              <a:spcAft>
                <a:spcPts val="800"/>
              </a:spcAft>
              <a:buSzPts val="1000"/>
              <a:buFont typeface="Symbol" panose="05050102010706020507" pitchFamily="18" charset="2"/>
              <a:buChar char=""/>
              <a:tabLst>
                <a:tab pos="457200" algn="l"/>
              </a:tabLst>
              <a:defRPr/>
            </a:pPr>
            <a:r>
              <a:rPr lang="en-IN" sz="2400" b="1" kern="100" dirty="0">
                <a:solidFill>
                  <a:srgbClr val="000000"/>
                </a:solidFill>
                <a:ea typeface="Aptos" panose="020B0004020202020204" pitchFamily="34" charset="0"/>
                <a:cs typeface="Times New Roman" panose="02020603050405020304" pitchFamily="18" charset="0"/>
              </a:rPr>
              <a:t>Cons:</a:t>
            </a:r>
            <a:r>
              <a:rPr lang="en-IN" sz="2400" kern="100" dirty="0">
                <a:solidFill>
                  <a:srgbClr val="000000"/>
                </a:solidFill>
                <a:ea typeface="Aptos" panose="020B0004020202020204" pitchFamily="34" charset="0"/>
                <a:cs typeface="Times New Roman" panose="02020603050405020304" pitchFamily="18" charset="0"/>
              </a:rPr>
              <a:t> Risk of “hot spots” if one range is accessed too much.</a:t>
            </a: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5" name="TextBox 4"/>
          <p:cNvSpPr txBox="1"/>
          <p:nvPr/>
        </p:nvSpPr>
        <p:spPr>
          <a:xfrm>
            <a:off x="0" y="223450"/>
            <a:ext cx="9144000"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spTree>
    <p:extLst>
      <p:ext uri="{BB962C8B-B14F-4D97-AF65-F5344CB8AC3E}">
        <p14:creationId xmlns:p14="http://schemas.microsoft.com/office/powerpoint/2010/main" val="16962509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1359346"/>
          </a:xfrm>
          <a:prstGeom prst="rect">
            <a:avLst/>
          </a:prstGeom>
          <a:noFill/>
        </p:spPr>
        <p:txBody>
          <a:bodyPr wrap="square" rtlCol="0">
            <a:spAutoFit/>
          </a:bodyPr>
          <a:lstStyle/>
          <a:p>
            <a:pPr>
              <a:lnSpc>
                <a:spcPct val="115000"/>
              </a:lnSpc>
              <a:spcAft>
                <a:spcPts val="800"/>
              </a:spcAft>
              <a:buSzPts val="1000"/>
              <a:tabLst>
                <a:tab pos="457200" algn="l"/>
              </a:tabLst>
              <a:defRPr/>
            </a:pPr>
            <a:r>
              <a:rPr lang="en-US" sz="2000" b="1" u="sng" kern="100" dirty="0" err="1" smtClean="0">
                <a:solidFill>
                  <a:srgbClr val="000000"/>
                </a:solidFill>
                <a:ea typeface="Aptos" panose="020B0004020202020204" pitchFamily="34" charset="0"/>
                <a:cs typeface="Times New Roman" panose="02020603050405020304" pitchFamily="18" charset="0"/>
              </a:rPr>
              <a:t>Sharding</a:t>
            </a:r>
            <a:r>
              <a:rPr lang="en-US" sz="2000" b="1" u="sng" kern="100" dirty="0" smtClean="0">
                <a:solidFill>
                  <a:srgbClr val="000000"/>
                </a:solidFill>
                <a:ea typeface="Aptos" panose="020B0004020202020204" pitchFamily="34" charset="0"/>
                <a:cs typeface="Times New Roman" panose="02020603050405020304" pitchFamily="18" charset="0"/>
              </a:rPr>
              <a:t> Strategies</a:t>
            </a: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
        <p:nvSpPr>
          <p:cNvPr id="5" name="TextBox 4"/>
          <p:cNvSpPr txBox="1"/>
          <p:nvPr/>
        </p:nvSpPr>
        <p:spPr>
          <a:xfrm>
            <a:off x="0" y="296758"/>
            <a:ext cx="9196137"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38" y="1600200"/>
            <a:ext cx="9040562" cy="441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23628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452501"/>
          </a:xfrm>
          <a:prstGeom prst="rect">
            <a:avLst/>
          </a:prstGeom>
          <a:noFill/>
        </p:spPr>
        <p:txBody>
          <a:bodyPr wrap="square" rtlCol="0">
            <a:spAutoFit/>
          </a:bodyPr>
          <a:lstStyle/>
          <a:p>
            <a:pPr>
              <a:lnSpc>
                <a:spcPct val="115000"/>
              </a:lnSpc>
              <a:spcAft>
                <a:spcPts val="800"/>
              </a:spcAft>
              <a:buSzPts val="1000"/>
              <a:tabLst>
                <a:tab pos="457200" algn="l"/>
              </a:tabLst>
              <a:defRPr/>
            </a:pPr>
            <a:r>
              <a:rPr lang="en-US" sz="2000" b="1" u="sng" kern="100" dirty="0" err="1" smtClean="0">
                <a:solidFill>
                  <a:srgbClr val="000000"/>
                </a:solidFill>
                <a:ea typeface="Aptos" panose="020B0004020202020204" pitchFamily="34" charset="0"/>
                <a:cs typeface="Times New Roman" panose="02020603050405020304" pitchFamily="18" charset="0"/>
              </a:rPr>
              <a:t>Sharding</a:t>
            </a:r>
            <a:r>
              <a:rPr lang="en-US" sz="2000" b="1" u="sng" kern="100" dirty="0" smtClean="0">
                <a:solidFill>
                  <a:srgbClr val="000000"/>
                </a:solidFill>
                <a:ea typeface="Aptos" panose="020B0004020202020204" pitchFamily="34" charset="0"/>
                <a:cs typeface="Times New Roman" panose="02020603050405020304" pitchFamily="18" charset="0"/>
              </a:rPr>
              <a:t> Strategies</a:t>
            </a:r>
          </a:p>
          <a:p>
            <a:pPr>
              <a:lnSpc>
                <a:spcPct val="115000"/>
              </a:lnSpc>
              <a:spcAft>
                <a:spcPts val="800"/>
              </a:spcAft>
              <a:buSzPts val="1000"/>
              <a:tabLst>
                <a:tab pos="457200" algn="l"/>
              </a:tabLst>
              <a:defRPr/>
            </a:pPr>
            <a:r>
              <a:rPr lang="en-US" sz="2000" b="1" kern="100" dirty="0">
                <a:solidFill>
                  <a:srgbClr val="000000"/>
                </a:solidFill>
                <a:ea typeface="Aptos" panose="020B0004020202020204" pitchFamily="34" charset="0"/>
                <a:cs typeface="Times New Roman" panose="02020603050405020304" pitchFamily="18" charset="0"/>
              </a:rPr>
              <a:t>2</a:t>
            </a:r>
            <a:r>
              <a:rPr lang="en-US" sz="2000" b="1" kern="100" dirty="0" smtClean="0">
                <a:solidFill>
                  <a:srgbClr val="000000"/>
                </a:solidFill>
                <a:ea typeface="Aptos" panose="020B0004020202020204" pitchFamily="34" charset="0"/>
                <a:cs typeface="Times New Roman" panose="02020603050405020304" pitchFamily="18" charset="0"/>
              </a:rPr>
              <a:t>. Hash-based </a:t>
            </a:r>
            <a:r>
              <a:rPr lang="en-US" sz="2000" b="1" kern="100" dirty="0" err="1" smtClean="0">
                <a:solidFill>
                  <a:srgbClr val="000000"/>
                </a:solidFill>
                <a:ea typeface="Aptos" panose="020B0004020202020204" pitchFamily="34" charset="0"/>
                <a:cs typeface="Times New Roman" panose="02020603050405020304" pitchFamily="18" charset="0"/>
              </a:rPr>
              <a:t>Sharding</a:t>
            </a:r>
            <a:endParaRPr lang="en-US" sz="2000" b="1" kern="100" dirty="0" smtClean="0">
              <a:solidFill>
                <a:srgbClr val="000000"/>
              </a:solidFill>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sz="2400" kern="100" dirty="0">
                <a:solidFill>
                  <a:srgbClr val="000000"/>
                </a:solidFill>
                <a:ea typeface="Aptos" panose="020B0004020202020204" pitchFamily="34" charset="0"/>
                <a:cs typeface="Times New Roman" panose="02020603050405020304" pitchFamily="18" charset="0"/>
              </a:rPr>
              <a:t>Apply a hash function to shard key → assign to shard.</a:t>
            </a:r>
          </a:p>
          <a:p>
            <a:pPr marL="342900" indent="-342900">
              <a:lnSpc>
                <a:spcPct val="115000"/>
              </a:lnSpc>
              <a:spcAft>
                <a:spcPts val="800"/>
              </a:spcAft>
              <a:buSzPts val="1000"/>
              <a:buFont typeface="Symbol" panose="05050102010706020507" pitchFamily="18" charset="2"/>
              <a:buChar char=""/>
              <a:tabLst>
                <a:tab pos="457200" algn="l"/>
              </a:tabLst>
              <a:defRPr/>
            </a:pPr>
            <a:r>
              <a:rPr lang="en-IN" sz="2400" kern="100" dirty="0">
                <a:solidFill>
                  <a:srgbClr val="000000"/>
                </a:solidFill>
                <a:ea typeface="Aptos" panose="020B0004020202020204" pitchFamily="34" charset="0"/>
                <a:cs typeface="Times New Roman" panose="02020603050405020304" pitchFamily="18" charset="0"/>
              </a:rPr>
              <a:t>Example:</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400" kern="100" dirty="0">
                <a:solidFill>
                  <a:srgbClr val="000000"/>
                </a:solidFill>
                <a:ea typeface="Aptos" panose="020B0004020202020204" pitchFamily="34" charset="0"/>
                <a:cs typeface="Times New Roman" panose="02020603050405020304" pitchFamily="18" charset="0"/>
              </a:rPr>
              <a:t>hash(</a:t>
            </a:r>
            <a:r>
              <a:rPr lang="en-IN" sz="2400" kern="100" dirty="0" err="1">
                <a:solidFill>
                  <a:srgbClr val="000000"/>
                </a:solidFill>
                <a:ea typeface="Aptos" panose="020B0004020202020204" pitchFamily="34" charset="0"/>
                <a:cs typeface="Times New Roman" panose="02020603050405020304" pitchFamily="18" charset="0"/>
              </a:rPr>
              <a:t>customer_id</a:t>
            </a:r>
            <a:r>
              <a:rPr lang="en-IN" sz="2400" kern="100" dirty="0">
                <a:solidFill>
                  <a:srgbClr val="000000"/>
                </a:solidFill>
                <a:ea typeface="Aptos" panose="020B0004020202020204" pitchFamily="34" charset="0"/>
                <a:cs typeface="Times New Roman" panose="02020603050405020304" pitchFamily="18" charset="0"/>
              </a:rPr>
              <a:t>) % 3 → gives shard number.</a:t>
            </a:r>
          </a:p>
          <a:p>
            <a:pPr marL="342900" indent="-342900">
              <a:lnSpc>
                <a:spcPct val="115000"/>
              </a:lnSpc>
              <a:spcAft>
                <a:spcPts val="800"/>
              </a:spcAft>
              <a:buSzPts val="1000"/>
              <a:buFont typeface="Symbol" panose="05050102010706020507" pitchFamily="18" charset="2"/>
              <a:buChar char=""/>
              <a:tabLst>
                <a:tab pos="457200" algn="l"/>
              </a:tabLst>
              <a:defRPr/>
            </a:pPr>
            <a:r>
              <a:rPr lang="en-IN" sz="2400" b="1" kern="100" dirty="0">
                <a:solidFill>
                  <a:srgbClr val="000000"/>
                </a:solidFill>
                <a:ea typeface="Aptos" panose="020B0004020202020204" pitchFamily="34" charset="0"/>
                <a:cs typeface="Times New Roman" panose="02020603050405020304" pitchFamily="18" charset="0"/>
              </a:rPr>
              <a:t>Pros:</a:t>
            </a:r>
            <a:r>
              <a:rPr lang="en-IN" sz="2400" kern="100" dirty="0">
                <a:solidFill>
                  <a:srgbClr val="000000"/>
                </a:solidFill>
                <a:ea typeface="Aptos" panose="020B0004020202020204" pitchFamily="34" charset="0"/>
                <a:cs typeface="Times New Roman" panose="02020603050405020304" pitchFamily="18" charset="0"/>
              </a:rPr>
              <a:t> Evenly distributes data.</a:t>
            </a:r>
          </a:p>
          <a:p>
            <a:pPr marL="342900" indent="-342900">
              <a:lnSpc>
                <a:spcPct val="115000"/>
              </a:lnSpc>
              <a:spcAft>
                <a:spcPts val="800"/>
              </a:spcAft>
              <a:buSzPts val="1000"/>
              <a:buFont typeface="Symbol" panose="05050102010706020507" pitchFamily="18" charset="2"/>
              <a:buChar char=""/>
              <a:tabLst>
                <a:tab pos="457200" algn="l"/>
              </a:tabLst>
              <a:defRPr/>
            </a:pPr>
            <a:r>
              <a:rPr lang="en-IN" sz="2400" b="1" kern="100" dirty="0">
                <a:solidFill>
                  <a:srgbClr val="000000"/>
                </a:solidFill>
                <a:ea typeface="Aptos" panose="020B0004020202020204" pitchFamily="34" charset="0"/>
                <a:cs typeface="Times New Roman" panose="02020603050405020304" pitchFamily="18" charset="0"/>
              </a:rPr>
              <a:t>Cons:</a:t>
            </a:r>
            <a:r>
              <a:rPr lang="en-IN" sz="2400" kern="100" dirty="0">
                <a:solidFill>
                  <a:srgbClr val="000000"/>
                </a:solidFill>
                <a:ea typeface="Aptos" panose="020B0004020202020204" pitchFamily="34" charset="0"/>
                <a:cs typeface="Times New Roman" panose="02020603050405020304" pitchFamily="18" charset="0"/>
              </a:rPr>
              <a:t> Range queries are harder.</a:t>
            </a: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5" name="TextBox 4"/>
          <p:cNvSpPr txBox="1"/>
          <p:nvPr/>
        </p:nvSpPr>
        <p:spPr>
          <a:xfrm>
            <a:off x="-76200" y="245791"/>
            <a:ext cx="9424737"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spTree>
    <p:extLst>
      <p:ext uri="{BB962C8B-B14F-4D97-AF65-F5344CB8AC3E}">
        <p14:creationId xmlns:p14="http://schemas.microsoft.com/office/powerpoint/2010/main" val="37241992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1359346"/>
          </a:xfrm>
          <a:prstGeom prst="rect">
            <a:avLst/>
          </a:prstGeom>
          <a:noFill/>
        </p:spPr>
        <p:txBody>
          <a:bodyPr wrap="square" rtlCol="0">
            <a:spAutoFit/>
          </a:bodyPr>
          <a:lstStyle/>
          <a:p>
            <a:pPr>
              <a:lnSpc>
                <a:spcPct val="115000"/>
              </a:lnSpc>
              <a:spcAft>
                <a:spcPts val="800"/>
              </a:spcAft>
              <a:buSzPts val="1000"/>
              <a:tabLst>
                <a:tab pos="457200" algn="l"/>
              </a:tabLst>
              <a:defRPr/>
            </a:pPr>
            <a:r>
              <a:rPr lang="en-US" sz="2000" b="1" u="sng" kern="100" dirty="0" err="1" smtClean="0">
                <a:solidFill>
                  <a:srgbClr val="000000"/>
                </a:solidFill>
                <a:ea typeface="Aptos" panose="020B0004020202020204" pitchFamily="34" charset="0"/>
                <a:cs typeface="Times New Roman" panose="02020603050405020304" pitchFamily="18" charset="0"/>
              </a:rPr>
              <a:t>Sharding</a:t>
            </a:r>
            <a:r>
              <a:rPr lang="en-US" sz="2000" b="1" u="sng" kern="100" dirty="0" smtClean="0">
                <a:solidFill>
                  <a:srgbClr val="000000"/>
                </a:solidFill>
                <a:ea typeface="Aptos" panose="020B0004020202020204" pitchFamily="34" charset="0"/>
                <a:cs typeface="Times New Roman" panose="02020603050405020304" pitchFamily="18" charset="0"/>
              </a:rPr>
              <a:t> Strategies</a:t>
            </a: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5" name="TextBox 4"/>
          <p:cNvSpPr txBox="1"/>
          <p:nvPr/>
        </p:nvSpPr>
        <p:spPr>
          <a:xfrm>
            <a:off x="0" y="228600"/>
            <a:ext cx="9272337"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32" y="1676400"/>
            <a:ext cx="9144000" cy="4319071"/>
          </a:xfrm>
          <a:prstGeom prst="rect">
            <a:avLst/>
          </a:prstGeom>
        </p:spPr>
      </p:pic>
    </p:spTree>
    <p:extLst>
      <p:ext uri="{BB962C8B-B14F-4D97-AF65-F5344CB8AC3E}">
        <p14:creationId xmlns:p14="http://schemas.microsoft.com/office/powerpoint/2010/main" val="35283146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3"/>
          <p:cNvSpPr>
            <a:spLocks noGrp="1"/>
          </p:cNvSpPr>
          <p:nvPr>
            <p:ph type="title"/>
          </p:nvPr>
        </p:nvSpPr>
        <p:spPr>
          <a:xfrm>
            <a:off x="623888" y="1404937"/>
            <a:ext cx="7886700" cy="2139554"/>
          </a:xfrm>
        </p:spPr>
        <p:txBody>
          <a:bodyPr/>
          <a:lstStyle/>
          <a:p>
            <a:endParaRPr lang="en-IN" altLang="en-US" smtClean="0"/>
          </a:p>
        </p:txBody>
      </p:sp>
      <p:sp>
        <p:nvSpPr>
          <p:cNvPr id="61443" name="Text Placeholder 4"/>
          <p:cNvSpPr>
            <a:spLocks noGrp="1"/>
          </p:cNvSpPr>
          <p:nvPr>
            <p:ph type="body" idx="1"/>
          </p:nvPr>
        </p:nvSpPr>
        <p:spPr>
          <a:xfrm>
            <a:off x="623888" y="3652838"/>
            <a:ext cx="7886700" cy="1125141"/>
          </a:xfrm>
        </p:spPr>
        <p:txBody>
          <a:bodyPr/>
          <a:lstStyle/>
          <a:p>
            <a:endParaRPr lang="en-IN" altLang="en-US" smtClean="0"/>
          </a:p>
        </p:txBody>
      </p:sp>
      <p:sp>
        <p:nvSpPr>
          <p:cNvPr id="6144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557213" indent="-214313">
              <a:lnSpc>
                <a:spcPct val="90000"/>
              </a:lnSpc>
              <a:spcBef>
                <a:spcPts val="375"/>
              </a:spcBef>
              <a:buFont typeface="Arial" panose="020B0604020202020204" pitchFamily="34" charset="0"/>
              <a:buChar char="•"/>
              <a:defRPr sz="18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857250" indent="-171450">
              <a:lnSpc>
                <a:spcPct val="90000"/>
              </a:lnSpc>
              <a:spcBef>
                <a:spcPts val="375"/>
              </a:spcBef>
              <a:buFont typeface="Arial" panose="020B0604020202020204" pitchFamily="34" charset="0"/>
              <a:buChar char="•"/>
              <a:defRPr sz="15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2001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15430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fld id="{B2B70B4D-2F36-4DC7-AAC0-9242D0E3A7C0}" type="slidenum">
              <a:rPr lang="en-US" altLang="en-US"/>
              <a:pPr/>
              <a:t>29</a:t>
            </a:fld>
            <a:endParaRPr lang="en-US" altLang="en-US"/>
          </a:p>
        </p:txBody>
      </p:sp>
      <p:pic>
        <p:nvPicPr>
          <p:cNvPr id="6144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858441"/>
            <a:ext cx="9144000" cy="51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2" y="898922"/>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7" name="Picture 1" descr="A close up of a logo&#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3604" y="5395913"/>
            <a:ext cx="457200"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35719" y="203732"/>
            <a:ext cx="9105900" cy="2029017"/>
          </a:xfrm>
          <a:prstGeom prst="rect">
            <a:avLst/>
          </a:prstGeom>
          <a:noFill/>
        </p:spPr>
        <p:txBody>
          <a:bodyPr wrap="square">
            <a:spAutoFit/>
          </a:bodyPr>
          <a:lstStyle/>
          <a:p>
            <a:pPr algn="ctr"/>
            <a:r>
              <a:rPr lang="en-US" sz="2400" dirty="0"/>
              <a:t>Distribution Models: </a:t>
            </a:r>
            <a:r>
              <a:rPr lang="en-IN" sz="2400" b="1" u="sng" dirty="0" err="1">
                <a:solidFill>
                  <a:srgbClr val="FF0000"/>
                </a:solidFill>
              </a:rPr>
              <a:t>Sharding</a:t>
            </a:r>
            <a:r>
              <a:rPr lang="en-IN" sz="2400" b="1" u="sng" dirty="0">
                <a:solidFill>
                  <a:srgbClr val="FF0000"/>
                </a:solidFill>
              </a:rPr>
              <a:t> (Horizontal Partitioning)</a:t>
            </a:r>
            <a:r>
              <a:rPr lang="en-US" sz="2400" b="1" u="sng" dirty="0">
                <a:solidFill>
                  <a:srgbClr val="FF0000"/>
                </a:solidFill>
              </a:rPr>
              <a:t>: </a:t>
            </a:r>
          </a:p>
          <a:p>
            <a:pPr algn="ctr"/>
            <a:endParaRPr lang="en-IN" sz="2400" dirty="0"/>
          </a:p>
          <a:p>
            <a:pPr>
              <a:lnSpc>
                <a:spcPct val="115000"/>
              </a:lnSpc>
              <a:spcAft>
                <a:spcPts val="600"/>
              </a:spcAft>
              <a:defRPr/>
            </a:pPr>
            <a:r>
              <a:rPr lang="en-US" sz="1600" b="1" u="sng" kern="100" dirty="0" err="1" smtClean="0">
                <a:solidFill>
                  <a:srgbClr val="000000"/>
                </a:solidFill>
                <a:ea typeface="Aptos" panose="020B0004020202020204" pitchFamily="34" charset="0"/>
                <a:cs typeface="Times New Roman" panose="02020603050405020304" pitchFamily="18" charset="0"/>
              </a:rPr>
              <a:t>Sharding</a:t>
            </a:r>
            <a:r>
              <a:rPr lang="en-US" sz="1600" b="1" u="sng" kern="100" dirty="0" smtClean="0">
                <a:solidFill>
                  <a:srgbClr val="000000"/>
                </a:solidFill>
                <a:ea typeface="Aptos" panose="020B0004020202020204" pitchFamily="34" charset="0"/>
                <a:cs typeface="Times New Roman" panose="02020603050405020304" pitchFamily="18" charset="0"/>
              </a:rPr>
              <a:t> Strategies</a:t>
            </a:r>
            <a:endParaRPr lang="en-IN" sz="1600" b="1" kern="100" dirty="0">
              <a:solidFill>
                <a:srgbClr val="EE0000"/>
              </a:solidFill>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600"/>
              </a:spcAft>
              <a:defRPr/>
            </a:pPr>
            <a:r>
              <a:rPr lang="en-IN" sz="1600" b="1" kern="100" dirty="0" smtClean="0">
                <a:ea typeface="Aptos" panose="020B0004020202020204" pitchFamily="34" charset="0"/>
                <a:cs typeface="Times New Roman" panose="02020603050405020304" pitchFamily="18" charset="0"/>
              </a:rPr>
              <a:t>3. DIRECTORY-based </a:t>
            </a:r>
            <a:r>
              <a:rPr lang="en-IN" sz="1600" b="1" kern="100" dirty="0">
                <a:ea typeface="Aptos" panose="020B0004020202020204" pitchFamily="34" charset="0"/>
                <a:cs typeface="Times New Roman" panose="02020603050405020304" pitchFamily="18" charset="0"/>
              </a:rPr>
              <a:t>Sharding</a:t>
            </a:r>
          </a:p>
          <a:p>
            <a:pPr algn="ctr">
              <a:lnSpc>
                <a:spcPct val="115000"/>
              </a:lnSpc>
              <a:spcAft>
                <a:spcPts val="600"/>
              </a:spcAft>
              <a:defRPr/>
            </a:pPr>
            <a:endParaRPr lang="en-IN" sz="2700" kern="100" dirty="0">
              <a:solidFill>
                <a:srgbClr val="EE0000"/>
              </a:solidFill>
              <a:latin typeface="Aptos" panose="020B0004020202020204" pitchFamily="34" charset="0"/>
              <a:ea typeface="Aptos" panose="020B0004020202020204" pitchFamily="34" charset="0"/>
              <a:cs typeface="Times New Roman" panose="02020603050405020304" pitchFamily="18" charset="0"/>
            </a:endParaRPr>
          </a:p>
        </p:txBody>
      </p:sp>
      <p:grpSp>
        <p:nvGrpSpPr>
          <p:cNvPr id="61449" name="Group 8"/>
          <p:cNvGrpSpPr>
            <a:grpSpLocks/>
          </p:cNvGrpSpPr>
          <p:nvPr/>
        </p:nvGrpSpPr>
        <p:grpSpPr bwMode="auto">
          <a:xfrm>
            <a:off x="0" y="1952625"/>
            <a:ext cx="9141619" cy="3400425"/>
            <a:chOff x="498782" y="1480436"/>
            <a:chExt cx="8788021" cy="4007009"/>
          </a:xfrm>
        </p:grpSpPr>
        <p:pic>
          <p:nvPicPr>
            <p:cNvPr id="614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8782" y="1480436"/>
              <a:ext cx="8788021" cy="4007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51" name="Picture 7"/>
            <p:cNvPicPr>
              <a:picLocks noChangeAspect="1" noChangeArrowheads="1"/>
            </p:cNvPicPr>
            <p:nvPr/>
          </p:nvPicPr>
          <p:blipFill>
            <a:blip r:embed="rId5">
              <a:extLst>
                <a:ext uri="{28A0092B-C50C-407E-A947-70E740481C1C}">
                  <a14:useLocalDpi xmlns:a14="http://schemas.microsoft.com/office/drawing/2010/main" val="0"/>
                </a:ext>
              </a:extLst>
            </a:blip>
            <a:srcRect l="909" t="43771" r="88712" b="30121"/>
            <a:stretch>
              <a:fillRect/>
            </a:stretch>
          </p:blipFill>
          <p:spPr bwMode="auto">
            <a:xfrm>
              <a:off x="7809355" y="3987257"/>
              <a:ext cx="1477448"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349045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5011628"/>
          </a:xfrm>
          <a:prstGeom prst="rect">
            <a:avLst/>
          </a:prstGeom>
          <a:noFill/>
        </p:spPr>
        <p:txBody>
          <a:bodyPr wrap="square" rtlCol="0">
            <a:spAutoFit/>
          </a:bodyPr>
          <a:lstStyle/>
          <a:p>
            <a:pPr>
              <a:lnSpc>
                <a:spcPct val="115000"/>
              </a:lnSpc>
              <a:spcAft>
                <a:spcPts val="800"/>
              </a:spcAft>
              <a:buSzPts val="1000"/>
              <a:tabLst>
                <a:tab pos="457200" algn="l"/>
              </a:tabLst>
              <a:defRPr/>
            </a:pPr>
            <a:r>
              <a:rPr lang="en-US" sz="2000" b="1" u="sng" kern="100" dirty="0" err="1" smtClean="0">
                <a:solidFill>
                  <a:srgbClr val="000000"/>
                </a:solidFill>
                <a:ea typeface="Aptos" panose="020B0004020202020204" pitchFamily="34" charset="0"/>
                <a:cs typeface="Times New Roman" panose="02020603050405020304" pitchFamily="18" charset="0"/>
              </a:rPr>
              <a:t>Sharding</a:t>
            </a:r>
            <a:r>
              <a:rPr lang="en-US" sz="2000" b="1" u="sng" kern="100" dirty="0" smtClean="0">
                <a:solidFill>
                  <a:srgbClr val="000000"/>
                </a:solidFill>
                <a:ea typeface="Aptos" panose="020B0004020202020204" pitchFamily="34" charset="0"/>
                <a:cs typeface="Times New Roman" panose="02020603050405020304" pitchFamily="18" charset="0"/>
              </a:rPr>
              <a:t> Strategies</a:t>
            </a:r>
          </a:p>
          <a:p>
            <a:pPr>
              <a:lnSpc>
                <a:spcPct val="115000"/>
              </a:lnSpc>
              <a:spcAft>
                <a:spcPts val="800"/>
              </a:spcAft>
              <a:buSzPts val="1000"/>
              <a:tabLst>
                <a:tab pos="457200" algn="l"/>
              </a:tabLst>
              <a:defRPr/>
            </a:pPr>
            <a:r>
              <a:rPr lang="en-US" sz="2000" b="1" kern="100" dirty="0" smtClean="0">
                <a:solidFill>
                  <a:srgbClr val="000000"/>
                </a:solidFill>
                <a:ea typeface="Aptos" panose="020B0004020202020204" pitchFamily="34" charset="0"/>
                <a:cs typeface="Times New Roman" panose="02020603050405020304" pitchFamily="18" charset="0"/>
              </a:rPr>
              <a:t>4. Geo-based or custom </a:t>
            </a:r>
            <a:r>
              <a:rPr lang="en-US" sz="2000" b="1" kern="100" dirty="0" err="1" smtClean="0">
                <a:solidFill>
                  <a:srgbClr val="000000"/>
                </a:solidFill>
                <a:ea typeface="Aptos" panose="020B0004020202020204" pitchFamily="34" charset="0"/>
                <a:cs typeface="Times New Roman" panose="02020603050405020304" pitchFamily="18" charset="0"/>
              </a:rPr>
              <a:t>sharding</a:t>
            </a:r>
            <a:endParaRPr lang="en-US" sz="2000" b="1" kern="100" dirty="0" smtClean="0">
              <a:solidFill>
                <a:srgbClr val="000000"/>
              </a:solidFill>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Partition based on location or custom business logic.</a:t>
            </a:r>
          </a:p>
          <a:p>
            <a:pPr marL="342900" indent="-342900">
              <a:lnSpc>
                <a:spcPct val="115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Example:</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000" kern="100" dirty="0">
                <a:solidFill>
                  <a:srgbClr val="000000"/>
                </a:solidFill>
                <a:ea typeface="Aptos" panose="020B0004020202020204" pitchFamily="34" charset="0"/>
                <a:cs typeface="Times New Roman" panose="02020603050405020304" pitchFamily="18" charset="0"/>
              </a:rPr>
              <a:t>Shard 1: Asia customers</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000" kern="100" dirty="0">
                <a:solidFill>
                  <a:srgbClr val="000000"/>
                </a:solidFill>
                <a:ea typeface="Aptos" panose="020B0004020202020204" pitchFamily="34" charset="0"/>
                <a:cs typeface="Times New Roman" panose="02020603050405020304" pitchFamily="18" charset="0"/>
              </a:rPr>
              <a:t>Shard 2: Europe customers</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000" kern="100" dirty="0">
                <a:solidFill>
                  <a:srgbClr val="000000"/>
                </a:solidFill>
                <a:ea typeface="Aptos" panose="020B0004020202020204" pitchFamily="34" charset="0"/>
                <a:cs typeface="Times New Roman" panose="02020603050405020304" pitchFamily="18" charset="0"/>
              </a:rPr>
              <a:t>Shard 3: America customers</a:t>
            </a:r>
          </a:p>
          <a:p>
            <a:pPr marL="342900" indent="-342900">
              <a:lnSpc>
                <a:spcPct val="115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Pros:</a:t>
            </a:r>
            <a:r>
              <a:rPr lang="en-IN" sz="2000" kern="100" dirty="0">
                <a:solidFill>
                  <a:srgbClr val="000000"/>
                </a:solidFill>
                <a:ea typeface="Aptos" panose="020B0004020202020204" pitchFamily="34" charset="0"/>
                <a:cs typeface="Times New Roman" panose="02020603050405020304" pitchFamily="18" charset="0"/>
              </a:rPr>
              <a:t> Localized performance optimization.</a:t>
            </a:r>
          </a:p>
          <a:p>
            <a:pPr marL="342900" indent="-342900">
              <a:lnSpc>
                <a:spcPct val="115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Cons:</a:t>
            </a:r>
            <a:r>
              <a:rPr lang="en-IN" sz="2000" kern="100" dirty="0">
                <a:solidFill>
                  <a:srgbClr val="000000"/>
                </a:solidFill>
                <a:ea typeface="Aptos" panose="020B0004020202020204" pitchFamily="34" charset="0"/>
                <a:cs typeface="Times New Roman" panose="02020603050405020304" pitchFamily="18" charset="0"/>
              </a:rPr>
              <a:t> Uneven distribution possible.</a:t>
            </a: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
        <p:nvSpPr>
          <p:cNvPr id="5" name="TextBox 4"/>
          <p:cNvSpPr txBox="1"/>
          <p:nvPr/>
        </p:nvSpPr>
        <p:spPr>
          <a:xfrm>
            <a:off x="-20053" y="311822"/>
            <a:ext cx="9500937"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spTree>
    <p:extLst>
      <p:ext uri="{BB962C8B-B14F-4D97-AF65-F5344CB8AC3E}">
        <p14:creationId xmlns:p14="http://schemas.microsoft.com/office/powerpoint/2010/main" val="6032035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16140"/>
          </a:xfrm>
          <a:prstGeom prst="rect">
            <a:avLst/>
          </a:prstGeom>
          <a:noFill/>
        </p:spPr>
        <p:txBody>
          <a:bodyPr wrap="square" rtlCol="0">
            <a:spAutoFit/>
          </a:bodyPr>
          <a:lstStyle/>
          <a:p>
            <a:pPr>
              <a:lnSpc>
                <a:spcPct val="115000"/>
              </a:lnSpc>
              <a:spcAft>
                <a:spcPts val="600"/>
              </a:spcAft>
              <a:defRPr/>
            </a:pPr>
            <a:r>
              <a:rPr lang="en-IN" sz="2000" b="1" kern="100" dirty="0" smtClean="0">
                <a:ea typeface="Aptos" panose="020B0004020202020204" pitchFamily="34" charset="0"/>
                <a:cs typeface="Times New Roman" panose="02020603050405020304" pitchFamily="18" charset="0"/>
              </a:rPr>
              <a:t>4. </a:t>
            </a:r>
            <a:r>
              <a:rPr lang="en-US" sz="2000" b="1" kern="100" dirty="0">
                <a:solidFill>
                  <a:srgbClr val="000000"/>
                </a:solidFill>
                <a:ea typeface="Aptos" panose="020B0004020202020204" pitchFamily="34" charset="0"/>
                <a:cs typeface="Times New Roman" panose="02020603050405020304" pitchFamily="18" charset="0"/>
              </a:rPr>
              <a:t>Geo-based or custom </a:t>
            </a:r>
            <a:r>
              <a:rPr lang="en-US" sz="2000" b="1" kern="100" dirty="0" err="1">
                <a:solidFill>
                  <a:srgbClr val="000000"/>
                </a:solidFill>
                <a:ea typeface="Aptos" panose="020B0004020202020204" pitchFamily="34" charset="0"/>
                <a:cs typeface="Times New Roman" panose="02020603050405020304" pitchFamily="18" charset="0"/>
              </a:rPr>
              <a:t>sharding</a:t>
            </a:r>
            <a:endParaRPr lang="en-IN" sz="2000" b="1" kern="100" dirty="0">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
        <p:nvSpPr>
          <p:cNvPr id="5" name="TextBox 4"/>
          <p:cNvSpPr txBox="1"/>
          <p:nvPr/>
        </p:nvSpPr>
        <p:spPr>
          <a:xfrm>
            <a:off x="-216569" y="281720"/>
            <a:ext cx="9577137"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1" y="1404854"/>
            <a:ext cx="8991600" cy="499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68486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5294783"/>
          </a:xfrm>
          <a:prstGeom prst="rect">
            <a:avLst/>
          </a:prstGeom>
          <a:noFill/>
        </p:spPr>
        <p:txBody>
          <a:bodyPr wrap="square" rtlCol="0">
            <a:spAutoFit/>
          </a:bodyPr>
          <a:lstStyle/>
          <a:p>
            <a:pPr>
              <a:lnSpc>
                <a:spcPct val="115000"/>
              </a:lnSpc>
              <a:spcAft>
                <a:spcPts val="800"/>
              </a:spcAft>
              <a:buSzPts val="1000"/>
              <a:tabLst>
                <a:tab pos="457200" algn="l"/>
              </a:tabLst>
              <a:defRPr/>
            </a:pPr>
            <a:r>
              <a:rPr lang="en-US" sz="2000" b="1" kern="100" dirty="0" smtClean="0">
                <a:solidFill>
                  <a:srgbClr val="000000"/>
                </a:solidFill>
                <a:ea typeface="Aptos" panose="020B0004020202020204" pitchFamily="34" charset="0"/>
                <a:cs typeface="Times New Roman" panose="02020603050405020304" pitchFamily="18" charset="0"/>
              </a:rPr>
              <a:t>How </a:t>
            </a:r>
            <a:r>
              <a:rPr lang="en-US" sz="2000" b="1" kern="100" dirty="0" err="1" smtClean="0">
                <a:solidFill>
                  <a:srgbClr val="000000"/>
                </a:solidFill>
                <a:ea typeface="Aptos" panose="020B0004020202020204" pitchFamily="34" charset="0"/>
                <a:cs typeface="Times New Roman" panose="02020603050405020304" pitchFamily="18" charset="0"/>
              </a:rPr>
              <a:t>Sharding</a:t>
            </a:r>
            <a:r>
              <a:rPr lang="en-US" sz="2000" b="1" kern="100" dirty="0" smtClean="0">
                <a:solidFill>
                  <a:srgbClr val="000000"/>
                </a:solidFill>
                <a:ea typeface="Aptos" panose="020B0004020202020204" pitchFamily="34" charset="0"/>
                <a:cs typeface="Times New Roman" panose="02020603050405020304" pitchFamily="18" charset="0"/>
              </a:rPr>
              <a:t> Works?</a:t>
            </a:r>
          </a:p>
          <a:p>
            <a:pPr>
              <a:lnSpc>
                <a:spcPct val="115000"/>
              </a:lnSpc>
              <a:spcAft>
                <a:spcPts val="800"/>
              </a:spcAft>
              <a:defRPr/>
            </a:pPr>
            <a:r>
              <a:rPr lang="en-IN" sz="2200" b="1" kern="100" dirty="0">
                <a:solidFill>
                  <a:srgbClr val="000000"/>
                </a:solidFill>
                <a:ea typeface="Aptos" panose="020B0004020202020204" pitchFamily="34" charset="0"/>
                <a:cs typeface="Times New Roman" panose="02020603050405020304" pitchFamily="18" charset="0"/>
              </a:rPr>
              <a:t>Step-by-step:</a:t>
            </a:r>
            <a:endParaRPr lang="en-IN" sz="2200" kern="100" dirty="0">
              <a:ea typeface="Aptos" panose="020B0004020202020204" pitchFamily="34" charset="0"/>
              <a:cs typeface="Times New Roman" panose="02020603050405020304" pitchFamily="18" charset="0"/>
            </a:endParaRPr>
          </a:p>
          <a:p>
            <a:pPr marL="342900" indent="-342900">
              <a:lnSpc>
                <a:spcPct val="115000"/>
              </a:lnSpc>
              <a:spcAft>
                <a:spcPts val="800"/>
              </a:spcAft>
              <a:buFont typeface="+mj-lt"/>
              <a:buAutoNum type="arabicPeriod"/>
              <a:tabLst>
                <a:tab pos="457200" algn="l"/>
              </a:tabLst>
              <a:defRPr/>
            </a:pPr>
            <a:r>
              <a:rPr lang="en-IN" sz="2200" b="1" kern="100" dirty="0">
                <a:solidFill>
                  <a:srgbClr val="000000"/>
                </a:solidFill>
                <a:ea typeface="Aptos" panose="020B0004020202020204" pitchFamily="34" charset="0"/>
                <a:cs typeface="Times New Roman" panose="02020603050405020304" pitchFamily="18" charset="0"/>
              </a:rPr>
              <a:t>Choose a shard key</a:t>
            </a:r>
            <a:r>
              <a:rPr lang="en-IN" sz="2200" kern="100" dirty="0">
                <a:solidFill>
                  <a:srgbClr val="000000"/>
                </a:solidFill>
                <a:ea typeface="Aptos" panose="020B0004020202020204" pitchFamily="34" charset="0"/>
                <a:cs typeface="Times New Roman" panose="02020603050405020304" pitchFamily="18" charset="0"/>
              </a:rPr>
              <a:t> (e.g., </a:t>
            </a:r>
            <a:r>
              <a:rPr lang="en-IN" sz="2200" kern="100" dirty="0" err="1">
                <a:solidFill>
                  <a:srgbClr val="000000"/>
                </a:solidFill>
                <a:ea typeface="Aptos" panose="020B0004020202020204" pitchFamily="34" charset="0"/>
                <a:cs typeface="Times New Roman" panose="02020603050405020304" pitchFamily="18" charset="0"/>
              </a:rPr>
              <a:t>customer_id</a:t>
            </a:r>
            <a:r>
              <a:rPr lang="en-IN" sz="2200" kern="100" dirty="0">
                <a:solidFill>
                  <a:srgbClr val="000000"/>
                </a:solidFill>
                <a:ea typeface="Aptos" panose="020B0004020202020204" pitchFamily="34" charset="0"/>
                <a:cs typeface="Times New Roman" panose="02020603050405020304" pitchFamily="18" charset="0"/>
              </a:rPr>
              <a:t>).</a:t>
            </a:r>
          </a:p>
          <a:p>
            <a:pPr marL="342900" indent="-342900">
              <a:lnSpc>
                <a:spcPct val="115000"/>
              </a:lnSpc>
              <a:spcAft>
                <a:spcPts val="800"/>
              </a:spcAft>
              <a:buFont typeface="+mj-lt"/>
              <a:buAutoNum type="arabicPeriod"/>
              <a:tabLst>
                <a:tab pos="457200" algn="l"/>
              </a:tabLst>
              <a:defRPr/>
            </a:pPr>
            <a:r>
              <a:rPr lang="en-IN" sz="2200" kern="100" dirty="0">
                <a:solidFill>
                  <a:srgbClr val="000000"/>
                </a:solidFill>
                <a:ea typeface="Aptos" panose="020B0004020202020204" pitchFamily="34" charset="0"/>
                <a:cs typeface="Times New Roman" panose="02020603050405020304" pitchFamily="18" charset="0"/>
              </a:rPr>
              <a:t>Apply a </a:t>
            </a:r>
            <a:r>
              <a:rPr lang="en-IN" sz="2200" b="1" kern="100" dirty="0" err="1">
                <a:solidFill>
                  <a:srgbClr val="000000"/>
                </a:solidFill>
                <a:ea typeface="Aptos" panose="020B0004020202020204" pitchFamily="34" charset="0"/>
                <a:cs typeface="Times New Roman" panose="02020603050405020304" pitchFamily="18" charset="0"/>
              </a:rPr>
              <a:t>sharding</a:t>
            </a:r>
            <a:r>
              <a:rPr lang="en-IN" sz="2200" b="1" kern="100" dirty="0">
                <a:solidFill>
                  <a:srgbClr val="000000"/>
                </a:solidFill>
                <a:ea typeface="Aptos" panose="020B0004020202020204" pitchFamily="34" charset="0"/>
                <a:cs typeface="Times New Roman" panose="02020603050405020304" pitchFamily="18" charset="0"/>
              </a:rPr>
              <a:t> strategy</a:t>
            </a:r>
            <a:r>
              <a:rPr lang="en-IN" sz="2200" kern="100" dirty="0">
                <a:solidFill>
                  <a:srgbClr val="000000"/>
                </a:solidFill>
                <a:ea typeface="Aptos" panose="020B0004020202020204" pitchFamily="34" charset="0"/>
                <a:cs typeface="Times New Roman" panose="02020603050405020304" pitchFamily="18" charset="0"/>
              </a:rPr>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200" b="1" kern="100" dirty="0">
                <a:solidFill>
                  <a:srgbClr val="000000"/>
                </a:solidFill>
                <a:ea typeface="Aptos" panose="020B0004020202020204" pitchFamily="34" charset="0"/>
                <a:cs typeface="Times New Roman" panose="02020603050405020304" pitchFamily="18" charset="0"/>
              </a:rPr>
              <a:t>Range-based</a:t>
            </a:r>
            <a:r>
              <a:rPr lang="en-IN" sz="2200" kern="100" dirty="0">
                <a:solidFill>
                  <a:srgbClr val="000000"/>
                </a:solidFill>
                <a:ea typeface="Aptos" panose="020B0004020202020204" pitchFamily="34" charset="0"/>
                <a:cs typeface="Times New Roman" panose="02020603050405020304" pitchFamily="18" charset="0"/>
              </a:rPr>
              <a:t> (data split by value ranges)</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200" b="1" kern="100" dirty="0">
                <a:solidFill>
                  <a:srgbClr val="000000"/>
                </a:solidFill>
                <a:ea typeface="Aptos" panose="020B0004020202020204" pitchFamily="34" charset="0"/>
                <a:cs typeface="Times New Roman" panose="02020603050405020304" pitchFamily="18" charset="0"/>
              </a:rPr>
              <a:t>Hash-based</a:t>
            </a:r>
            <a:r>
              <a:rPr lang="en-IN" sz="2200" kern="100" dirty="0">
                <a:solidFill>
                  <a:srgbClr val="000000"/>
                </a:solidFill>
                <a:ea typeface="Aptos" panose="020B0004020202020204" pitchFamily="34" charset="0"/>
                <a:cs typeface="Times New Roman" panose="02020603050405020304" pitchFamily="18" charset="0"/>
              </a:rPr>
              <a:t> (data split by hash value)</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200" b="1" kern="100" dirty="0">
                <a:solidFill>
                  <a:srgbClr val="000000"/>
                </a:solidFill>
                <a:ea typeface="Aptos" panose="020B0004020202020204" pitchFamily="34" charset="0"/>
                <a:cs typeface="Times New Roman" panose="02020603050405020304" pitchFamily="18" charset="0"/>
              </a:rPr>
              <a:t>Geographic/Custom</a:t>
            </a:r>
            <a:r>
              <a:rPr lang="en-IN" sz="2200" kern="100" dirty="0">
                <a:solidFill>
                  <a:srgbClr val="000000"/>
                </a:solidFill>
                <a:ea typeface="Aptos" panose="020B0004020202020204" pitchFamily="34" charset="0"/>
                <a:cs typeface="Times New Roman" panose="02020603050405020304" pitchFamily="18" charset="0"/>
              </a:rPr>
              <a:t> (data split by custom rules)</a:t>
            </a:r>
          </a:p>
          <a:p>
            <a:pPr marL="342900" indent="-342900">
              <a:lnSpc>
                <a:spcPct val="115000"/>
              </a:lnSpc>
              <a:spcAft>
                <a:spcPts val="800"/>
              </a:spcAft>
              <a:buFont typeface="+mj-lt"/>
              <a:buAutoNum type="arabicPeriod"/>
              <a:tabLst>
                <a:tab pos="457200" algn="l"/>
              </a:tabLst>
              <a:defRPr/>
            </a:pPr>
            <a:r>
              <a:rPr lang="en-IN" sz="2200" kern="100" dirty="0">
                <a:solidFill>
                  <a:srgbClr val="000000"/>
                </a:solidFill>
                <a:ea typeface="Aptos" panose="020B0004020202020204" pitchFamily="34" charset="0"/>
                <a:cs typeface="Times New Roman" panose="02020603050405020304" pitchFamily="18" charset="0"/>
              </a:rPr>
              <a:t>Data is stored in the shard corresponding to the shard key’s value.</a:t>
            </a:r>
          </a:p>
          <a:p>
            <a:pPr marL="342900" indent="-342900">
              <a:lnSpc>
                <a:spcPct val="115000"/>
              </a:lnSpc>
              <a:spcAft>
                <a:spcPts val="800"/>
              </a:spcAft>
              <a:buFont typeface="+mj-lt"/>
              <a:buAutoNum type="arabicPeriod"/>
              <a:tabLst>
                <a:tab pos="457200" algn="l"/>
              </a:tabLst>
              <a:defRPr/>
            </a:pPr>
            <a:r>
              <a:rPr lang="en-IN" sz="2200" kern="100" dirty="0">
                <a:solidFill>
                  <a:srgbClr val="000000"/>
                </a:solidFill>
                <a:ea typeface="Aptos" panose="020B0004020202020204" pitchFamily="34" charset="0"/>
                <a:cs typeface="Times New Roman" panose="02020603050405020304" pitchFamily="18" charset="0"/>
              </a:rPr>
              <a:t>A </a:t>
            </a:r>
            <a:r>
              <a:rPr lang="en-IN" sz="2200" b="1" kern="100" dirty="0">
                <a:solidFill>
                  <a:srgbClr val="000000"/>
                </a:solidFill>
                <a:ea typeface="Aptos" panose="020B0004020202020204" pitchFamily="34" charset="0"/>
                <a:cs typeface="Times New Roman" panose="02020603050405020304" pitchFamily="18" charset="0"/>
              </a:rPr>
              <a:t>router</a:t>
            </a:r>
            <a:r>
              <a:rPr lang="en-IN" sz="2200" kern="100" dirty="0">
                <a:solidFill>
                  <a:srgbClr val="000000"/>
                </a:solidFill>
                <a:ea typeface="Aptos" panose="020B0004020202020204" pitchFamily="34" charset="0"/>
                <a:cs typeface="Times New Roman" panose="02020603050405020304" pitchFamily="18" charset="0"/>
              </a:rPr>
              <a:t> or </a:t>
            </a:r>
            <a:r>
              <a:rPr lang="en-IN" sz="2200" b="1" kern="100" dirty="0">
                <a:solidFill>
                  <a:srgbClr val="000000"/>
                </a:solidFill>
                <a:ea typeface="Aptos" panose="020B0004020202020204" pitchFamily="34" charset="0"/>
                <a:cs typeface="Times New Roman" panose="02020603050405020304" pitchFamily="18" charset="0"/>
              </a:rPr>
              <a:t>query coordinator</a:t>
            </a:r>
            <a:r>
              <a:rPr lang="en-IN" sz="2200" kern="100" dirty="0">
                <a:solidFill>
                  <a:srgbClr val="000000"/>
                </a:solidFill>
                <a:ea typeface="Aptos" panose="020B0004020202020204" pitchFamily="34" charset="0"/>
                <a:cs typeface="Times New Roman" panose="02020603050405020304" pitchFamily="18" charset="0"/>
              </a:rPr>
              <a:t> directs queries to the correct shard.</a:t>
            </a: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
        <p:nvSpPr>
          <p:cNvPr id="5" name="TextBox 4"/>
          <p:cNvSpPr txBox="1"/>
          <p:nvPr/>
        </p:nvSpPr>
        <p:spPr>
          <a:xfrm>
            <a:off x="-330869" y="229852"/>
            <a:ext cx="9805737"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spTree>
    <p:extLst>
      <p:ext uri="{BB962C8B-B14F-4D97-AF65-F5344CB8AC3E}">
        <p14:creationId xmlns:p14="http://schemas.microsoft.com/office/powerpoint/2010/main" val="10079821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847481"/>
          </a:xfrm>
          <a:prstGeom prst="rect">
            <a:avLst/>
          </a:prstGeom>
          <a:noFill/>
        </p:spPr>
        <p:txBody>
          <a:bodyPr wrap="square" rtlCol="0">
            <a:spAutoFit/>
          </a:bodyPr>
          <a:lstStyle/>
          <a:p>
            <a:pPr>
              <a:lnSpc>
                <a:spcPct val="115000"/>
              </a:lnSpc>
              <a:spcAft>
                <a:spcPts val="800"/>
              </a:spcAft>
              <a:buSzPts val="1000"/>
              <a:tabLst>
                <a:tab pos="457200" algn="l"/>
              </a:tabLst>
              <a:defRPr/>
            </a:pPr>
            <a:r>
              <a:rPr lang="en-US" sz="2000" b="1" u="sng" kern="100" dirty="0" err="1" smtClean="0">
                <a:solidFill>
                  <a:srgbClr val="000000"/>
                </a:solidFill>
                <a:ea typeface="Aptos" panose="020B0004020202020204" pitchFamily="34" charset="0"/>
                <a:cs typeface="Times New Roman" panose="02020603050405020304" pitchFamily="18" charset="0"/>
              </a:rPr>
              <a:t>Sharding</a:t>
            </a:r>
            <a:r>
              <a:rPr lang="en-US" sz="2000" b="1" u="sng" kern="100" dirty="0" smtClean="0">
                <a:solidFill>
                  <a:srgbClr val="000000"/>
                </a:solidFill>
                <a:ea typeface="Aptos" panose="020B0004020202020204" pitchFamily="34" charset="0"/>
                <a:cs typeface="Times New Roman" panose="02020603050405020304" pitchFamily="18" charset="0"/>
              </a:rPr>
              <a:t> Advantages</a:t>
            </a:r>
          </a:p>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Scalability</a:t>
            </a:r>
            <a:r>
              <a:rPr lang="en-IN" sz="2000" kern="100" dirty="0">
                <a:solidFill>
                  <a:srgbClr val="000000"/>
                </a:solidFill>
                <a:ea typeface="Aptos" panose="020B0004020202020204" pitchFamily="34" charset="0"/>
                <a:cs typeface="Times New Roman" panose="02020603050405020304" pitchFamily="18" charset="0"/>
              </a:rPr>
              <a:t> – Add more shards as data grows.</a:t>
            </a:r>
          </a:p>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Performance</a:t>
            </a:r>
            <a:r>
              <a:rPr lang="en-IN" sz="2000" kern="100" dirty="0">
                <a:solidFill>
                  <a:srgbClr val="000000"/>
                </a:solidFill>
                <a:ea typeface="Aptos" panose="020B0004020202020204" pitchFamily="34" charset="0"/>
                <a:cs typeface="Times New Roman" panose="02020603050405020304" pitchFamily="18" charset="0"/>
              </a:rPr>
              <a:t> – Queries target only relevant shards.</a:t>
            </a:r>
          </a:p>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Fault isolation</a:t>
            </a:r>
            <a:r>
              <a:rPr lang="en-IN" sz="2000" kern="100" dirty="0">
                <a:solidFill>
                  <a:srgbClr val="000000"/>
                </a:solidFill>
                <a:ea typeface="Aptos" panose="020B0004020202020204" pitchFamily="34" charset="0"/>
                <a:cs typeface="Times New Roman" panose="02020603050405020304" pitchFamily="18" charset="0"/>
              </a:rPr>
              <a:t> – Failure of one shard doesn’t stop others.</a:t>
            </a:r>
          </a:p>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Cost-effective</a:t>
            </a:r>
            <a:r>
              <a:rPr lang="en-IN" sz="2000" kern="100" dirty="0">
                <a:solidFill>
                  <a:srgbClr val="000000"/>
                </a:solidFill>
                <a:ea typeface="Aptos" panose="020B0004020202020204" pitchFamily="34" charset="0"/>
                <a:cs typeface="Times New Roman" panose="02020603050405020304" pitchFamily="18" charset="0"/>
              </a:rPr>
              <a:t> – Use many smaller commodity servers instead of one huge machine.</a:t>
            </a: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
        <p:nvSpPr>
          <p:cNvPr id="5" name="TextBox 4"/>
          <p:cNvSpPr txBox="1"/>
          <p:nvPr/>
        </p:nvSpPr>
        <p:spPr>
          <a:xfrm>
            <a:off x="-292769" y="228600"/>
            <a:ext cx="9729537"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spTree>
    <p:extLst>
      <p:ext uri="{BB962C8B-B14F-4D97-AF65-F5344CB8AC3E}">
        <p14:creationId xmlns:p14="http://schemas.microsoft.com/office/powerpoint/2010/main" val="322121368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231928"/>
          </a:xfrm>
          <a:prstGeom prst="rect">
            <a:avLst/>
          </a:prstGeom>
          <a:noFill/>
        </p:spPr>
        <p:txBody>
          <a:bodyPr wrap="square" rtlCol="0">
            <a:spAutoFit/>
          </a:bodyPr>
          <a:lstStyle/>
          <a:p>
            <a:pPr>
              <a:lnSpc>
                <a:spcPct val="115000"/>
              </a:lnSpc>
              <a:spcAft>
                <a:spcPts val="800"/>
              </a:spcAft>
              <a:buSzPts val="1000"/>
              <a:tabLst>
                <a:tab pos="457200" algn="l"/>
              </a:tabLst>
              <a:defRPr/>
            </a:pPr>
            <a:r>
              <a:rPr lang="en-US" sz="2000" b="1" u="sng" kern="100" dirty="0" err="1" smtClean="0">
                <a:solidFill>
                  <a:srgbClr val="000000"/>
                </a:solidFill>
                <a:ea typeface="Aptos" panose="020B0004020202020204" pitchFamily="34" charset="0"/>
                <a:cs typeface="Times New Roman" panose="02020603050405020304" pitchFamily="18" charset="0"/>
              </a:rPr>
              <a:t>Sharding</a:t>
            </a:r>
            <a:r>
              <a:rPr lang="en-US" sz="2000" b="1" u="sng" kern="100" dirty="0" smtClean="0">
                <a:solidFill>
                  <a:srgbClr val="000000"/>
                </a:solidFill>
                <a:ea typeface="Aptos" panose="020B0004020202020204" pitchFamily="34" charset="0"/>
                <a:cs typeface="Times New Roman" panose="02020603050405020304" pitchFamily="18" charset="0"/>
              </a:rPr>
              <a:t> Disadvantages</a:t>
            </a:r>
          </a:p>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Complexity</a:t>
            </a:r>
            <a:r>
              <a:rPr lang="en-IN" sz="2000" kern="100" dirty="0">
                <a:solidFill>
                  <a:srgbClr val="000000"/>
                </a:solidFill>
                <a:ea typeface="Aptos" panose="020B0004020202020204" pitchFamily="34" charset="0"/>
                <a:cs typeface="Times New Roman" panose="02020603050405020304" pitchFamily="18" charset="0"/>
              </a:rPr>
              <a:t> – Harder to design and maintain.</a:t>
            </a:r>
          </a:p>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Rebalancing challenges</a:t>
            </a:r>
            <a:r>
              <a:rPr lang="en-IN" sz="2000" kern="100" dirty="0">
                <a:solidFill>
                  <a:srgbClr val="000000"/>
                </a:solidFill>
                <a:ea typeface="Aptos" panose="020B0004020202020204" pitchFamily="34" charset="0"/>
                <a:cs typeface="Times New Roman" panose="02020603050405020304" pitchFamily="18" charset="0"/>
              </a:rPr>
              <a:t> – Moving data when adding/removing shards.</a:t>
            </a:r>
          </a:p>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Cross-shard queries are expensive</a:t>
            </a:r>
            <a:r>
              <a:rPr lang="en-IN" sz="2000" kern="100" dirty="0">
                <a:solidFill>
                  <a:srgbClr val="000000"/>
                </a:solidFill>
                <a:ea typeface="Aptos" panose="020B0004020202020204" pitchFamily="34" charset="0"/>
                <a:cs typeface="Times New Roman" panose="02020603050405020304" pitchFamily="18" charset="0"/>
              </a:rPr>
              <a:t> – Need to query multiple shards.</a:t>
            </a:r>
          </a:p>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Potential for uneven load</a:t>
            </a:r>
            <a:r>
              <a:rPr lang="en-IN" sz="2000" kern="100" dirty="0">
                <a:solidFill>
                  <a:srgbClr val="000000"/>
                </a:solidFill>
                <a:ea typeface="Aptos" panose="020B0004020202020204" pitchFamily="34" charset="0"/>
                <a:cs typeface="Times New Roman" panose="02020603050405020304" pitchFamily="18" charset="0"/>
              </a:rPr>
              <a:t> – Poor shard key choice can create hot spots.</a:t>
            </a: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
        <p:nvSpPr>
          <p:cNvPr id="5" name="TextBox 4"/>
          <p:cNvSpPr txBox="1"/>
          <p:nvPr/>
        </p:nvSpPr>
        <p:spPr>
          <a:xfrm>
            <a:off x="-178469" y="228600"/>
            <a:ext cx="9500937" cy="954107"/>
          </a:xfrm>
          <a:prstGeom prst="rect">
            <a:avLst/>
          </a:prstGeom>
          <a:noFill/>
        </p:spPr>
        <p:txBody>
          <a:bodyPr wrap="square" rtlCol="0">
            <a:spAutoFit/>
          </a:bodyPr>
          <a:lstStyle/>
          <a:p>
            <a:pPr algn="ctr"/>
            <a:r>
              <a:rPr lang="en-US" sz="2800" dirty="0"/>
              <a:t>Distribution Models: </a:t>
            </a:r>
            <a:r>
              <a:rPr lang="en-IN" sz="2800" b="1" u="sng" dirty="0" err="1">
                <a:solidFill>
                  <a:srgbClr val="FF0000"/>
                </a:solidFill>
              </a:rPr>
              <a:t>Sharding</a:t>
            </a:r>
            <a:r>
              <a:rPr lang="en-IN" sz="2800" b="1" u="sng" dirty="0">
                <a:solidFill>
                  <a:srgbClr val="FF0000"/>
                </a:solidFill>
              </a:rPr>
              <a:t> (Horizontal Partitioning)</a:t>
            </a:r>
            <a:r>
              <a:rPr lang="en-US" sz="2800" b="1" u="sng" dirty="0">
                <a:solidFill>
                  <a:srgbClr val="FF0000"/>
                </a:solidFill>
              </a:rPr>
              <a:t>: </a:t>
            </a:r>
          </a:p>
          <a:p>
            <a:pPr algn="ctr"/>
            <a:endParaRPr lang="en-IN" sz="2800" dirty="0"/>
          </a:p>
        </p:txBody>
      </p:sp>
    </p:spTree>
    <p:extLst>
      <p:ext uri="{BB962C8B-B14F-4D97-AF65-F5344CB8AC3E}">
        <p14:creationId xmlns:p14="http://schemas.microsoft.com/office/powerpoint/2010/main" val="35519106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3970318"/>
          </a:xfrm>
          <a:prstGeom prst="rect">
            <a:avLst/>
          </a:prstGeom>
          <a:noFill/>
        </p:spPr>
        <p:txBody>
          <a:bodyPr wrap="square" rtlCol="0">
            <a:spAutoFit/>
          </a:bodyPr>
          <a:lstStyle/>
          <a:p>
            <a:pPr algn="just"/>
            <a:r>
              <a:rPr lang="en-US" u="sng" dirty="0" smtClean="0">
                <a:solidFill>
                  <a:srgbClr val="FF0000"/>
                </a:solidFill>
              </a:rPr>
              <a:t>3. </a:t>
            </a:r>
            <a:r>
              <a:rPr lang="en-IN" b="1" u="sng" dirty="0">
                <a:solidFill>
                  <a:srgbClr val="FF0000"/>
                </a:solidFill>
              </a:rPr>
              <a:t>Master–Slave </a:t>
            </a:r>
            <a:r>
              <a:rPr lang="en-IN" b="1" u="sng" dirty="0" smtClean="0">
                <a:solidFill>
                  <a:srgbClr val="FF0000"/>
                </a:solidFill>
              </a:rPr>
              <a:t>Replication:</a:t>
            </a:r>
            <a:endParaRPr lang="en-US" b="1" u="sng" dirty="0" smtClean="0">
              <a:solidFill>
                <a:srgbClr val="FF0000"/>
              </a:solidFill>
            </a:endParaRPr>
          </a:p>
          <a:p>
            <a:pPr algn="just"/>
            <a:r>
              <a:rPr lang="en-US" dirty="0"/>
              <a:t>One server acts as the </a:t>
            </a:r>
            <a:r>
              <a:rPr lang="en-US" b="1" dirty="0"/>
              <a:t>Master</a:t>
            </a:r>
            <a:r>
              <a:rPr lang="en-US" dirty="0"/>
              <a:t> (handles writes) and multiple </a:t>
            </a:r>
            <a:r>
              <a:rPr lang="en-US" b="1" dirty="0"/>
              <a:t>Slaves</a:t>
            </a:r>
            <a:r>
              <a:rPr lang="en-US" dirty="0"/>
              <a:t> replicate the data (handle reads</a:t>
            </a:r>
            <a:r>
              <a:rPr lang="en-US" dirty="0" smtClean="0"/>
              <a:t>).</a:t>
            </a:r>
          </a:p>
          <a:p>
            <a:pPr algn="just"/>
            <a:r>
              <a:rPr lang="en-US" b="1" dirty="0" smtClean="0"/>
              <a:t>Advantages</a:t>
            </a:r>
            <a:r>
              <a:rPr lang="en-US" b="1" dirty="0"/>
              <a:t>:</a:t>
            </a:r>
            <a:endParaRPr lang="en-US" dirty="0"/>
          </a:p>
          <a:p>
            <a:pPr algn="just"/>
            <a:r>
              <a:rPr lang="en-US" dirty="0"/>
              <a:t>Increases read performance (slaves serve read queries</a:t>
            </a:r>
            <a:r>
              <a:rPr lang="en-US" dirty="0" smtClean="0"/>
              <a:t>).</a:t>
            </a:r>
          </a:p>
          <a:p>
            <a:pPr algn="just"/>
            <a:r>
              <a:rPr lang="en-IN" dirty="0"/>
              <a:t>Provides redundancy and backup</a:t>
            </a:r>
            <a:r>
              <a:rPr lang="en-IN" dirty="0" smtClean="0"/>
              <a:t>.</a:t>
            </a:r>
          </a:p>
          <a:p>
            <a:pPr algn="just"/>
            <a:r>
              <a:rPr lang="en-US" b="1" dirty="0" smtClean="0"/>
              <a:t>Limitations</a:t>
            </a:r>
            <a:r>
              <a:rPr lang="en-US" b="1" dirty="0"/>
              <a:t>:</a:t>
            </a:r>
            <a:endParaRPr lang="en-US" dirty="0"/>
          </a:p>
          <a:p>
            <a:pPr algn="just"/>
            <a:r>
              <a:rPr lang="en-US" dirty="0"/>
              <a:t>Master is a single point of failure</a:t>
            </a:r>
            <a:r>
              <a:rPr lang="en-US" dirty="0" smtClean="0"/>
              <a:t>.</a:t>
            </a:r>
          </a:p>
          <a:p>
            <a:pPr algn="just"/>
            <a:r>
              <a:rPr lang="en-US" dirty="0"/>
              <a:t>Data is eventually consistent between master and slaves (slight delay</a:t>
            </a:r>
            <a:r>
              <a:rPr lang="en-US" dirty="0" smtClean="0"/>
              <a:t>).</a:t>
            </a:r>
          </a:p>
          <a:p>
            <a:pPr algn="just"/>
            <a:r>
              <a:rPr lang="en-US" b="1" dirty="0" smtClean="0"/>
              <a:t>Example</a:t>
            </a:r>
            <a:r>
              <a:rPr lang="en-US" b="1" dirty="0"/>
              <a:t>:</a:t>
            </a:r>
            <a:r>
              <a:rPr lang="en-US" dirty="0"/>
              <a:t> </a:t>
            </a:r>
            <a:r>
              <a:rPr lang="fr-FR" dirty="0"/>
              <a:t>MySQL </a:t>
            </a:r>
            <a:r>
              <a:rPr lang="fr-FR" dirty="0" err="1"/>
              <a:t>replication</a:t>
            </a:r>
            <a:r>
              <a:rPr lang="fr-FR" dirty="0"/>
              <a:t>, PostgreSQL </a:t>
            </a:r>
            <a:r>
              <a:rPr lang="fr-FR" dirty="0" err="1"/>
              <a:t>replication</a:t>
            </a:r>
            <a:r>
              <a:rPr lang="fr-FR" dirty="0"/>
              <a:t> setups.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5" name="TextBox 4"/>
          <p:cNvSpPr txBox="1"/>
          <p:nvPr/>
        </p:nvSpPr>
        <p:spPr>
          <a:xfrm>
            <a:off x="-1219200" y="218888"/>
            <a:ext cx="10134600" cy="954107"/>
          </a:xfrm>
          <a:prstGeom prst="rect">
            <a:avLst/>
          </a:prstGeom>
          <a:noFill/>
        </p:spPr>
        <p:txBody>
          <a:bodyPr wrap="square" rtlCol="0">
            <a:spAutoFit/>
          </a:bodyPr>
          <a:lstStyle/>
          <a:p>
            <a:pPr algn="ctr"/>
            <a:r>
              <a:rPr lang="en-US" sz="2800" dirty="0"/>
              <a:t>Distribution Models: </a:t>
            </a:r>
            <a:r>
              <a:rPr lang="en-IN" sz="2800" b="1" u="sng" dirty="0" smtClean="0">
                <a:solidFill>
                  <a:srgbClr val="FF0000"/>
                </a:solidFill>
              </a:rPr>
              <a:t>Master-Slave Replication</a:t>
            </a:r>
            <a:r>
              <a:rPr lang="en-US" sz="2800" b="1" u="sng" dirty="0" smtClean="0">
                <a:solidFill>
                  <a:srgbClr val="FF0000"/>
                </a:solidFill>
              </a:rPr>
              <a:t>: </a:t>
            </a:r>
            <a:endParaRPr lang="en-US" sz="2800" b="1" u="sng" dirty="0">
              <a:solidFill>
                <a:srgbClr val="FF0000"/>
              </a:solidFill>
            </a:endParaRPr>
          </a:p>
          <a:p>
            <a:pPr algn="ct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1371600"/>
            <a:ext cx="3429000" cy="4191000"/>
          </a:xfrm>
          <a:prstGeom prst="rect">
            <a:avLst/>
          </a:prstGeom>
        </p:spPr>
      </p:pic>
    </p:spTree>
    <p:extLst>
      <p:ext uri="{BB962C8B-B14F-4D97-AF65-F5344CB8AC3E}">
        <p14:creationId xmlns:p14="http://schemas.microsoft.com/office/powerpoint/2010/main" val="68885872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4247317"/>
          </a:xfrm>
          <a:prstGeom prst="rect">
            <a:avLst/>
          </a:prstGeom>
          <a:noFill/>
        </p:spPr>
        <p:txBody>
          <a:bodyPr wrap="square" rtlCol="0">
            <a:spAutoFit/>
          </a:bodyPr>
          <a:lstStyle/>
          <a:p>
            <a:pPr algn="just"/>
            <a:r>
              <a:rPr lang="en-US" dirty="0" smtClean="0"/>
              <a:t>3. </a:t>
            </a:r>
            <a:r>
              <a:rPr lang="en-IN" b="1" dirty="0"/>
              <a:t>Master–Slave </a:t>
            </a:r>
            <a:r>
              <a:rPr lang="en-IN" b="1" dirty="0" smtClean="0"/>
              <a:t>Replication:</a:t>
            </a:r>
            <a:endParaRPr lang="en-US" b="1" dirty="0" smtClean="0"/>
          </a:p>
          <a:p>
            <a:pPr algn="just">
              <a:lnSpc>
                <a:spcPct val="200000"/>
              </a:lnSpc>
              <a:spcAft>
                <a:spcPts val="800"/>
              </a:spcAft>
              <a:defRPr/>
            </a:pPr>
            <a:r>
              <a:rPr lang="en-IN" kern="100" dirty="0">
                <a:solidFill>
                  <a:srgbClr val="000000"/>
                </a:solidFill>
                <a:ea typeface="Aptos" panose="020B0004020202020204" pitchFamily="34" charset="0"/>
                <a:cs typeface="Times New Roman" panose="02020603050405020304" pitchFamily="18" charset="0"/>
              </a:rPr>
              <a:t>In </a:t>
            </a:r>
            <a:r>
              <a:rPr lang="en-IN" b="1" kern="100" dirty="0">
                <a:solidFill>
                  <a:srgbClr val="000000"/>
                </a:solidFill>
                <a:ea typeface="Aptos" panose="020B0004020202020204" pitchFamily="34" charset="0"/>
                <a:cs typeface="Times New Roman" panose="02020603050405020304" pitchFamily="18" charset="0"/>
              </a:rPr>
              <a:t>distributed data systems</a:t>
            </a:r>
            <a:r>
              <a:rPr lang="en-IN" kern="100" dirty="0">
                <a:solidFill>
                  <a:srgbClr val="000000"/>
                </a:solidFill>
                <a:ea typeface="Aptos" panose="020B0004020202020204" pitchFamily="34" charset="0"/>
                <a:cs typeface="Times New Roman" panose="02020603050405020304" pitchFamily="18" charset="0"/>
              </a:rPr>
              <a:t>, especially in </a:t>
            </a:r>
            <a:r>
              <a:rPr lang="en-IN" b="1" kern="100" dirty="0">
                <a:solidFill>
                  <a:srgbClr val="000000"/>
                </a:solidFill>
                <a:ea typeface="Aptos" panose="020B0004020202020204" pitchFamily="34" charset="0"/>
                <a:cs typeface="Times New Roman" panose="02020603050405020304" pitchFamily="18" charset="0"/>
              </a:rPr>
              <a:t>NoSQL databases</a:t>
            </a:r>
            <a:r>
              <a:rPr lang="en-IN" kern="100" dirty="0">
                <a:solidFill>
                  <a:srgbClr val="000000"/>
                </a:solidFill>
                <a:ea typeface="Aptos" panose="020B0004020202020204" pitchFamily="34" charset="0"/>
                <a:cs typeface="Times New Roman" panose="02020603050405020304" pitchFamily="18" charset="0"/>
              </a:rPr>
              <a:t>, </a:t>
            </a:r>
            <a:r>
              <a:rPr lang="en-IN" b="1" kern="100" dirty="0">
                <a:solidFill>
                  <a:srgbClr val="000000"/>
                </a:solidFill>
                <a:ea typeface="Aptos" panose="020B0004020202020204" pitchFamily="34" charset="0"/>
                <a:cs typeface="Times New Roman" panose="02020603050405020304" pitchFamily="18" charset="0"/>
              </a:rPr>
              <a:t>replication</a:t>
            </a:r>
            <a:r>
              <a:rPr lang="en-IN" kern="100" dirty="0">
                <a:solidFill>
                  <a:srgbClr val="000000"/>
                </a:solidFill>
                <a:ea typeface="Aptos" panose="020B0004020202020204" pitchFamily="34" charset="0"/>
                <a:cs typeface="Times New Roman" panose="02020603050405020304" pitchFamily="18" charset="0"/>
              </a:rPr>
              <a:t> means storing </a:t>
            </a:r>
            <a:r>
              <a:rPr lang="en-IN" b="1" kern="100" dirty="0">
                <a:solidFill>
                  <a:srgbClr val="000000"/>
                </a:solidFill>
                <a:ea typeface="Aptos" panose="020B0004020202020204" pitchFamily="34" charset="0"/>
                <a:cs typeface="Times New Roman" panose="02020603050405020304" pitchFamily="18" charset="0"/>
              </a:rPr>
              <a:t>multiple copies of the same data</a:t>
            </a:r>
            <a:r>
              <a:rPr lang="en-IN" kern="100" dirty="0">
                <a:solidFill>
                  <a:srgbClr val="000000"/>
                </a:solidFill>
                <a:ea typeface="Aptos" panose="020B0004020202020204" pitchFamily="34" charset="0"/>
                <a:cs typeface="Times New Roman" panose="02020603050405020304" pitchFamily="18" charset="0"/>
              </a:rPr>
              <a:t> on different servers.</a:t>
            </a:r>
            <a:br>
              <a:rPr lang="en-IN" kern="100" dirty="0">
                <a:solidFill>
                  <a:srgbClr val="000000"/>
                </a:solidFill>
                <a:ea typeface="Aptos" panose="020B0004020202020204" pitchFamily="34" charset="0"/>
                <a:cs typeface="Times New Roman" panose="02020603050405020304" pitchFamily="18" charset="0"/>
              </a:rPr>
            </a:br>
            <a:r>
              <a:rPr lang="en-IN" b="1" kern="100" dirty="0">
                <a:solidFill>
                  <a:srgbClr val="000000"/>
                </a:solidFill>
                <a:ea typeface="Aptos" panose="020B0004020202020204" pitchFamily="34" charset="0"/>
                <a:cs typeface="Times New Roman" panose="02020603050405020304" pitchFamily="18" charset="0"/>
              </a:rPr>
              <a:t>Master-Slave Replication</a:t>
            </a:r>
            <a:r>
              <a:rPr lang="en-IN" kern="100" dirty="0">
                <a:solidFill>
                  <a:srgbClr val="000000"/>
                </a:solidFill>
                <a:ea typeface="Aptos" panose="020B0004020202020204" pitchFamily="34" charset="0"/>
                <a:cs typeface="Times New Roman" panose="02020603050405020304" pitchFamily="18" charset="0"/>
              </a:rPr>
              <a:t> is one of the </a:t>
            </a:r>
            <a:r>
              <a:rPr lang="en-IN" b="1" kern="100" dirty="0">
                <a:solidFill>
                  <a:srgbClr val="000000"/>
                </a:solidFill>
                <a:ea typeface="Aptos" panose="020B0004020202020204" pitchFamily="34" charset="0"/>
                <a:cs typeface="Times New Roman" panose="02020603050405020304" pitchFamily="18" charset="0"/>
              </a:rPr>
              <a:t>oldest and most widely used replication models</a:t>
            </a:r>
            <a:r>
              <a:rPr lang="en-IN" kern="100" dirty="0">
                <a:solidFill>
                  <a:srgbClr val="000000"/>
                </a:solidFill>
                <a:ea typeface="Aptos" panose="020B0004020202020204" pitchFamily="34" charset="0"/>
                <a:cs typeface="Times New Roman" panose="02020603050405020304" pitchFamily="18" charset="0"/>
              </a:rPr>
              <a:t>.</a:t>
            </a:r>
            <a:endParaRPr lang="en-IN" kern="100" dirty="0">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
        <p:nvSpPr>
          <p:cNvPr id="5" name="TextBox 4"/>
          <p:cNvSpPr txBox="1"/>
          <p:nvPr/>
        </p:nvSpPr>
        <p:spPr>
          <a:xfrm>
            <a:off x="-533400" y="167836"/>
            <a:ext cx="86868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Master-Slave Replication</a:t>
            </a:r>
            <a:r>
              <a:rPr lang="en-US" sz="2800" b="1" u="sng" dirty="0">
                <a:solidFill>
                  <a:srgbClr val="FF0000"/>
                </a:solidFill>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1371600"/>
            <a:ext cx="3429000" cy="4191000"/>
          </a:xfrm>
          <a:prstGeom prst="rect">
            <a:avLst/>
          </a:prstGeom>
        </p:spPr>
      </p:pic>
    </p:spTree>
    <p:extLst>
      <p:ext uri="{BB962C8B-B14F-4D97-AF65-F5344CB8AC3E}">
        <p14:creationId xmlns:p14="http://schemas.microsoft.com/office/powerpoint/2010/main" val="277517192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839200" cy="4416594"/>
          </a:xfrm>
          <a:prstGeom prst="rect">
            <a:avLst/>
          </a:prstGeom>
          <a:noFill/>
        </p:spPr>
        <p:txBody>
          <a:bodyPr wrap="square" rtlCol="0">
            <a:spAutoFit/>
          </a:bodyPr>
          <a:lstStyle/>
          <a:p>
            <a:pPr algn="just"/>
            <a:r>
              <a:rPr lang="en-US" dirty="0" smtClean="0"/>
              <a:t>3. </a:t>
            </a:r>
            <a:r>
              <a:rPr lang="en-IN" b="1" dirty="0"/>
              <a:t>Master–Slave </a:t>
            </a:r>
            <a:r>
              <a:rPr lang="en-IN" b="1" dirty="0" smtClean="0"/>
              <a:t>Replication:</a:t>
            </a:r>
            <a:endParaRPr lang="en-US" b="1" dirty="0" smtClean="0"/>
          </a:p>
          <a:p>
            <a:pPr>
              <a:lnSpc>
                <a:spcPct val="150000"/>
              </a:lnSpc>
              <a:spcAft>
                <a:spcPts val="800"/>
              </a:spcAft>
              <a:defRPr/>
            </a:pPr>
            <a:r>
              <a:rPr lang="en-IN" b="1" kern="100" dirty="0">
                <a:solidFill>
                  <a:srgbClr val="000000"/>
                </a:solidFill>
                <a:ea typeface="Aptos" panose="020B0004020202020204" pitchFamily="34" charset="0"/>
                <a:cs typeface="Times New Roman" panose="02020603050405020304" pitchFamily="18" charset="0"/>
              </a:rPr>
              <a:t>Master-Slave Replication</a:t>
            </a:r>
            <a:r>
              <a:rPr lang="en-IN" kern="100" dirty="0">
                <a:solidFill>
                  <a:srgbClr val="000000"/>
                </a:solidFill>
                <a:ea typeface="Aptos" panose="020B0004020202020204" pitchFamily="34" charset="0"/>
                <a:cs typeface="Times New Roman" panose="02020603050405020304" pitchFamily="18" charset="0"/>
              </a:rPr>
              <a:t> = A replication model where:</a:t>
            </a:r>
            <a:endParaRPr lang="en-IN" kern="100" dirty="0">
              <a:ea typeface="Aptos" panose="020B0004020202020204" pitchFamily="34" charset="0"/>
              <a:cs typeface="Times New Roman" panose="02020603050405020304" pitchFamily="18" charset="0"/>
            </a:endParaRPr>
          </a:p>
          <a:p>
            <a:pPr marL="342900" indent="-342900">
              <a:lnSpc>
                <a:spcPct val="150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Master node</a:t>
            </a:r>
            <a:r>
              <a:rPr lang="en-IN" kern="100" dirty="0">
                <a:solidFill>
                  <a:srgbClr val="000000"/>
                </a:solidFill>
                <a:ea typeface="Aptos" panose="020B0004020202020204" pitchFamily="34" charset="0"/>
                <a:cs typeface="Times New Roman" panose="02020603050405020304" pitchFamily="18" charset="0"/>
              </a:rPr>
              <a:t>: The primary server that </a:t>
            </a:r>
            <a:r>
              <a:rPr lang="en-IN" b="1" kern="100" dirty="0">
                <a:solidFill>
                  <a:srgbClr val="000000"/>
                </a:solidFill>
                <a:ea typeface="Aptos" panose="020B0004020202020204" pitchFamily="34" charset="0"/>
                <a:cs typeface="Times New Roman" panose="02020603050405020304" pitchFamily="18" charset="0"/>
              </a:rPr>
              <a:t>handles all write operations</a:t>
            </a:r>
            <a:r>
              <a:rPr lang="en-IN" kern="100" dirty="0">
                <a:solidFill>
                  <a:srgbClr val="000000"/>
                </a:solidFill>
                <a:ea typeface="Aptos" panose="020B0004020202020204" pitchFamily="34" charset="0"/>
                <a:cs typeface="Times New Roman" panose="02020603050405020304" pitchFamily="18" charset="0"/>
              </a:rPr>
              <a:t> (and often reads).</a:t>
            </a:r>
          </a:p>
          <a:p>
            <a:pPr marL="342900" indent="-342900">
              <a:lnSpc>
                <a:spcPct val="150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Slave nodes</a:t>
            </a:r>
            <a:r>
              <a:rPr lang="en-IN" kern="100" dirty="0">
                <a:solidFill>
                  <a:srgbClr val="000000"/>
                </a:solidFill>
                <a:ea typeface="Aptos" panose="020B0004020202020204" pitchFamily="34" charset="0"/>
                <a:cs typeface="Times New Roman" panose="02020603050405020304" pitchFamily="18" charset="0"/>
              </a:rPr>
              <a:t>: One or more secondary servers that </a:t>
            </a:r>
            <a:r>
              <a:rPr lang="en-IN" b="1" kern="100" dirty="0">
                <a:solidFill>
                  <a:srgbClr val="000000"/>
                </a:solidFill>
                <a:ea typeface="Aptos" panose="020B0004020202020204" pitchFamily="34" charset="0"/>
                <a:cs typeface="Times New Roman" panose="02020603050405020304" pitchFamily="18" charset="0"/>
              </a:rPr>
              <a:t>receive replicated data</a:t>
            </a:r>
            <a:r>
              <a:rPr lang="en-IN" kern="100" dirty="0">
                <a:solidFill>
                  <a:srgbClr val="000000"/>
                </a:solidFill>
                <a:ea typeface="Aptos" panose="020B0004020202020204" pitchFamily="34" charset="0"/>
                <a:cs typeface="Times New Roman" panose="02020603050405020304" pitchFamily="18" charset="0"/>
              </a:rPr>
              <a:t> from the master (usually read-only).</a:t>
            </a:r>
          </a:p>
          <a:p>
            <a:pPr>
              <a:lnSpc>
                <a:spcPct val="150000"/>
              </a:lnSpc>
              <a:spcAft>
                <a:spcPts val="800"/>
              </a:spcAft>
              <a:defRPr/>
            </a:pPr>
            <a:r>
              <a:rPr lang="en-IN" kern="100" dirty="0">
                <a:solidFill>
                  <a:srgbClr val="000000"/>
                </a:solidFill>
                <a:ea typeface="Aptos" panose="020B0004020202020204" pitchFamily="34" charset="0"/>
                <a:cs typeface="Times New Roman" panose="02020603050405020304" pitchFamily="18" charset="0"/>
              </a:rPr>
              <a:t>    Analogy:</a:t>
            </a:r>
            <a:br>
              <a:rPr lang="en-IN" kern="100" dirty="0">
                <a:solidFill>
                  <a:srgbClr val="000000"/>
                </a:solidFill>
                <a:ea typeface="Aptos" panose="020B0004020202020204" pitchFamily="34" charset="0"/>
                <a:cs typeface="Times New Roman" panose="02020603050405020304" pitchFamily="18" charset="0"/>
              </a:rPr>
            </a:br>
            <a:r>
              <a:rPr lang="en-IN" kern="100" dirty="0">
                <a:solidFill>
                  <a:srgbClr val="000000"/>
                </a:solidFill>
                <a:ea typeface="Aptos" panose="020B0004020202020204" pitchFamily="34" charset="0"/>
                <a:cs typeface="Times New Roman" panose="02020603050405020304" pitchFamily="18" charset="0"/>
              </a:rPr>
              <a:t>Think of a </a:t>
            </a:r>
            <a:r>
              <a:rPr lang="en-IN" b="1" kern="100" dirty="0">
                <a:solidFill>
                  <a:srgbClr val="000000"/>
                </a:solidFill>
                <a:ea typeface="Aptos" panose="020B0004020202020204" pitchFamily="34" charset="0"/>
                <a:cs typeface="Times New Roman" panose="02020603050405020304" pitchFamily="18" charset="0"/>
              </a:rPr>
              <a:t>teacher (master)</a:t>
            </a:r>
            <a:r>
              <a:rPr lang="en-IN" kern="100" dirty="0">
                <a:solidFill>
                  <a:srgbClr val="000000"/>
                </a:solidFill>
                <a:ea typeface="Aptos" panose="020B0004020202020204" pitchFamily="34" charset="0"/>
                <a:cs typeface="Times New Roman" panose="02020603050405020304" pitchFamily="18" charset="0"/>
              </a:rPr>
              <a:t> who writes the original notes, and </a:t>
            </a:r>
            <a:r>
              <a:rPr lang="en-IN" kern="100" dirty="0" err="1">
                <a:solidFill>
                  <a:srgbClr val="000000"/>
                </a:solidFill>
                <a:ea typeface="Aptos" panose="020B0004020202020204" pitchFamily="34" charset="0"/>
                <a:cs typeface="Times New Roman" panose="02020603050405020304" pitchFamily="18" charset="0"/>
              </a:rPr>
              <a:t>tution</a:t>
            </a:r>
            <a:r>
              <a:rPr lang="en-IN" kern="100" dirty="0">
                <a:solidFill>
                  <a:srgbClr val="000000"/>
                </a:solidFill>
                <a:ea typeface="Aptos" panose="020B0004020202020204" pitchFamily="34" charset="0"/>
                <a:cs typeface="Times New Roman" panose="02020603050405020304" pitchFamily="18" charset="0"/>
              </a:rPr>
              <a:t> </a:t>
            </a:r>
            <a:r>
              <a:rPr lang="en-IN" b="1" kern="100" dirty="0">
                <a:solidFill>
                  <a:srgbClr val="000000"/>
                </a:solidFill>
                <a:ea typeface="Aptos" panose="020B0004020202020204" pitchFamily="34" charset="0"/>
                <a:cs typeface="Times New Roman" panose="02020603050405020304" pitchFamily="18" charset="0"/>
              </a:rPr>
              <a:t>students (slaves)</a:t>
            </a:r>
            <a:r>
              <a:rPr lang="en-IN" kern="100" dirty="0">
                <a:solidFill>
                  <a:srgbClr val="000000"/>
                </a:solidFill>
                <a:ea typeface="Aptos" panose="020B0004020202020204" pitchFamily="34" charset="0"/>
                <a:cs typeface="Times New Roman" panose="02020603050405020304" pitchFamily="18" charset="0"/>
              </a:rPr>
              <a:t> who copy them exactly into their notebooks. Students can read from their notes, but they can’t write changes back into the teacher’s notebook.</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
        <p:nvSpPr>
          <p:cNvPr id="5" name="TextBox 4"/>
          <p:cNvSpPr txBox="1"/>
          <p:nvPr/>
        </p:nvSpPr>
        <p:spPr>
          <a:xfrm>
            <a:off x="-533400" y="167836"/>
            <a:ext cx="86106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Master-Slave Replication</a:t>
            </a:r>
            <a:r>
              <a:rPr lang="en-US" sz="2800" b="1" u="sng" dirty="0">
                <a:solidFill>
                  <a:srgbClr val="FF0000"/>
                </a:solidFill>
              </a:rPr>
              <a:t>: </a:t>
            </a:r>
          </a:p>
        </p:txBody>
      </p:sp>
    </p:spTree>
    <p:extLst>
      <p:ext uri="{BB962C8B-B14F-4D97-AF65-F5344CB8AC3E}">
        <p14:creationId xmlns:p14="http://schemas.microsoft.com/office/powerpoint/2010/main" val="359450994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839200" cy="4062651"/>
          </a:xfrm>
          <a:prstGeom prst="rect">
            <a:avLst/>
          </a:prstGeom>
          <a:noFill/>
        </p:spPr>
        <p:txBody>
          <a:bodyPr wrap="square" rtlCol="0">
            <a:spAutoFit/>
          </a:bodyPr>
          <a:lstStyle/>
          <a:p>
            <a:pPr algn="just"/>
            <a:r>
              <a:rPr lang="en-US" dirty="0" smtClean="0"/>
              <a:t>3. </a:t>
            </a:r>
            <a:r>
              <a:rPr lang="en-IN" b="1" dirty="0"/>
              <a:t>Master–Slave </a:t>
            </a:r>
            <a:r>
              <a:rPr lang="en-IN" b="1" dirty="0" smtClean="0"/>
              <a:t>Replication:</a:t>
            </a:r>
            <a:endParaRPr lang="en-US" b="1" dirty="0" smtClean="0"/>
          </a:p>
          <a:p>
            <a:pPr algn="just">
              <a:defRPr/>
            </a:pPr>
            <a:r>
              <a:rPr lang="en-US" sz="2000" b="1" dirty="0">
                <a:solidFill>
                  <a:srgbClr val="EE0000"/>
                </a:solidFill>
              </a:rPr>
              <a:t>Write operation</a:t>
            </a:r>
            <a:r>
              <a:rPr lang="en-US" sz="2000" dirty="0">
                <a:solidFill>
                  <a:srgbClr val="EE0000"/>
                </a:solidFill>
              </a:rPr>
              <a:t> </a:t>
            </a:r>
            <a:r>
              <a:rPr lang="en-US" sz="2000" dirty="0"/>
              <a:t>means </a:t>
            </a:r>
            <a:r>
              <a:rPr lang="en-US" sz="2000" b="1" dirty="0"/>
              <a:t>making changes to the database</a:t>
            </a:r>
            <a:r>
              <a:rPr lang="en-US" sz="2000" dirty="0"/>
              <a:t>.</a:t>
            </a:r>
          </a:p>
          <a:p>
            <a:pPr algn="just">
              <a:defRPr/>
            </a:pPr>
            <a:r>
              <a:rPr lang="en-US" sz="2000" dirty="0"/>
              <a:t>Examples: inserting a new record, updating an existing record, or deleting data.</a:t>
            </a:r>
          </a:p>
          <a:p>
            <a:pPr algn="just">
              <a:defRPr/>
            </a:pPr>
            <a:r>
              <a:rPr lang="en-US" sz="2000" dirty="0"/>
              <a:t>In this model, only the </a:t>
            </a:r>
            <a:r>
              <a:rPr lang="en-US" sz="2000" b="1" dirty="0"/>
              <a:t>Master node</a:t>
            </a:r>
            <a:r>
              <a:rPr lang="en-US" sz="2000" dirty="0"/>
              <a:t> performs write operations.</a:t>
            </a:r>
          </a:p>
          <a:p>
            <a:pPr algn="just">
              <a:defRPr/>
            </a:pPr>
            <a:endParaRPr lang="en-US" sz="2000" dirty="0"/>
          </a:p>
          <a:p>
            <a:pPr algn="just">
              <a:defRPr/>
            </a:pPr>
            <a:endParaRPr lang="en-US" sz="2000" dirty="0"/>
          </a:p>
          <a:p>
            <a:pPr algn="just">
              <a:defRPr/>
            </a:pPr>
            <a:r>
              <a:rPr lang="en-US" sz="2000" b="1" dirty="0">
                <a:solidFill>
                  <a:srgbClr val="EE0000"/>
                </a:solidFill>
              </a:rPr>
              <a:t>Read operation</a:t>
            </a:r>
            <a:r>
              <a:rPr lang="en-US" sz="2000" dirty="0">
                <a:solidFill>
                  <a:srgbClr val="EE0000"/>
                </a:solidFill>
              </a:rPr>
              <a:t> </a:t>
            </a:r>
            <a:r>
              <a:rPr lang="en-US" sz="2000" dirty="0"/>
              <a:t>means </a:t>
            </a:r>
            <a:r>
              <a:rPr lang="en-US" sz="2000" b="1" dirty="0"/>
              <a:t>retrieving or accessing data from the database without changing it</a:t>
            </a:r>
            <a:r>
              <a:rPr lang="en-US" sz="2000" dirty="0"/>
              <a:t>.</a:t>
            </a:r>
          </a:p>
          <a:p>
            <a:pPr algn="just">
              <a:defRPr/>
            </a:pPr>
            <a:r>
              <a:rPr lang="en-US" sz="2000" dirty="0"/>
              <a:t>Examples: fetching a student’s details, generating a report, or looking up product prices.</a:t>
            </a:r>
          </a:p>
          <a:p>
            <a:pPr algn="just">
              <a:defRPr/>
            </a:pPr>
            <a:r>
              <a:rPr lang="en-US" sz="2000" dirty="0"/>
              <a:t>In this model, both the </a:t>
            </a:r>
            <a:r>
              <a:rPr lang="en-US" sz="2000" b="1" dirty="0"/>
              <a:t>Master</a:t>
            </a:r>
            <a:r>
              <a:rPr lang="en-US" sz="2000" dirty="0"/>
              <a:t> and the </a:t>
            </a:r>
            <a:r>
              <a:rPr lang="en-US" sz="2000" b="1" dirty="0"/>
              <a:t>Slave nodes</a:t>
            </a:r>
            <a:r>
              <a:rPr lang="en-US" sz="2000" dirty="0"/>
              <a:t> can handle read operations, but usually, the </a:t>
            </a:r>
            <a:r>
              <a:rPr lang="en-US" sz="2000" b="1" dirty="0"/>
              <a:t>Slaves</a:t>
            </a:r>
            <a:r>
              <a:rPr lang="en-US" sz="2000" dirty="0"/>
              <a:t> are mainly used for reads to reduce the load on the Master.</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
        <p:nvSpPr>
          <p:cNvPr id="5" name="TextBox 4"/>
          <p:cNvSpPr txBox="1"/>
          <p:nvPr/>
        </p:nvSpPr>
        <p:spPr>
          <a:xfrm>
            <a:off x="-533400" y="167836"/>
            <a:ext cx="85344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Master-Slave Replication</a:t>
            </a:r>
            <a:r>
              <a:rPr lang="en-US" sz="2800" b="1" u="sng" dirty="0">
                <a:solidFill>
                  <a:srgbClr val="FF0000"/>
                </a:solidFill>
              </a:rPr>
              <a:t>: </a:t>
            </a:r>
          </a:p>
        </p:txBody>
      </p:sp>
    </p:spTree>
    <p:extLst>
      <p:ext uri="{BB962C8B-B14F-4D97-AF65-F5344CB8AC3E}">
        <p14:creationId xmlns:p14="http://schemas.microsoft.com/office/powerpoint/2010/main" val="97943404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839200" cy="646331"/>
          </a:xfrm>
          <a:prstGeom prst="rect">
            <a:avLst/>
          </a:prstGeom>
          <a:noFill/>
        </p:spPr>
        <p:txBody>
          <a:bodyPr wrap="square" rtlCol="0">
            <a:spAutoFit/>
          </a:bodyPr>
          <a:lstStyle/>
          <a:p>
            <a:pPr algn="just"/>
            <a:r>
              <a:rPr lang="en-US" dirty="0" smtClean="0"/>
              <a:t>3. </a:t>
            </a:r>
            <a:r>
              <a:rPr lang="en-IN" b="1" dirty="0"/>
              <a:t>Master–Slave </a:t>
            </a:r>
            <a:r>
              <a:rPr lang="en-IN" b="1" dirty="0" smtClean="0"/>
              <a:t>Replication:</a:t>
            </a:r>
          </a:p>
          <a:p>
            <a:pPr algn="just"/>
            <a:endParaRPr lang="en-US"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
        <p:nvSpPr>
          <p:cNvPr id="5" name="TextBox 4"/>
          <p:cNvSpPr txBox="1"/>
          <p:nvPr/>
        </p:nvSpPr>
        <p:spPr>
          <a:xfrm>
            <a:off x="-533400" y="167836"/>
            <a:ext cx="86106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Master-Slave Replication</a:t>
            </a:r>
            <a:r>
              <a:rPr lang="en-US" sz="2800" b="1" u="sng" dirty="0">
                <a:solidFill>
                  <a:srgbClr val="FF0000"/>
                </a:solidFill>
              </a:rPr>
              <a:t>: </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15" y="1524000"/>
            <a:ext cx="9158416" cy="464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053338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839200" cy="5068054"/>
          </a:xfrm>
          <a:prstGeom prst="rect">
            <a:avLst/>
          </a:prstGeom>
          <a:noFill/>
        </p:spPr>
        <p:txBody>
          <a:bodyPr wrap="square" rtlCol="0">
            <a:spAutoFit/>
          </a:bodyPr>
          <a:lstStyle/>
          <a:p>
            <a:pPr algn="just"/>
            <a:r>
              <a:rPr lang="en-US" dirty="0" smtClean="0"/>
              <a:t>3. </a:t>
            </a:r>
            <a:r>
              <a:rPr lang="en-IN" b="1" dirty="0"/>
              <a:t>Master–Slave </a:t>
            </a:r>
            <a:r>
              <a:rPr lang="en-IN" b="1" dirty="0" smtClean="0"/>
              <a:t>Replication: How it works?</a:t>
            </a:r>
          </a:p>
          <a:p>
            <a:pPr>
              <a:lnSpc>
                <a:spcPct val="150000"/>
              </a:lnSpc>
              <a:spcAft>
                <a:spcPts val="800"/>
              </a:spcAft>
              <a:defRPr/>
            </a:pPr>
            <a:r>
              <a:rPr lang="en-IN" b="1" kern="100" dirty="0">
                <a:solidFill>
                  <a:srgbClr val="000000"/>
                </a:solidFill>
                <a:ea typeface="Aptos" panose="020B0004020202020204" pitchFamily="34" charset="0"/>
                <a:cs typeface="Times New Roman" panose="02020603050405020304" pitchFamily="18" charset="0"/>
              </a:rPr>
              <a:t>Step-by-step process:</a:t>
            </a:r>
            <a:endParaRPr lang="en-IN" kern="100" dirty="0">
              <a:ea typeface="Aptos" panose="020B0004020202020204" pitchFamily="34" charset="0"/>
              <a:cs typeface="Times New Roman" panose="02020603050405020304" pitchFamily="18" charset="0"/>
            </a:endParaRPr>
          </a:p>
          <a:p>
            <a:pPr marL="342900" indent="-342900">
              <a:lnSpc>
                <a:spcPct val="150000"/>
              </a:lnSpc>
              <a:spcAft>
                <a:spcPts val="800"/>
              </a:spcAft>
              <a:buFont typeface="+mj-lt"/>
              <a:buAutoNum type="arabicPeriod"/>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Write operations</a:t>
            </a:r>
            <a:r>
              <a:rPr lang="en-IN" kern="100" dirty="0">
                <a:solidFill>
                  <a:srgbClr val="000000"/>
                </a:solidFill>
                <a:ea typeface="Aptos" panose="020B0004020202020204" pitchFamily="34" charset="0"/>
                <a:cs typeface="Times New Roman" panose="02020603050405020304" pitchFamily="18" charset="0"/>
              </a:rPr>
              <a:t> go to the </a:t>
            </a:r>
            <a:r>
              <a:rPr lang="en-IN" b="1" kern="100" dirty="0">
                <a:solidFill>
                  <a:srgbClr val="000000"/>
                </a:solidFill>
                <a:ea typeface="Aptos" panose="020B0004020202020204" pitchFamily="34" charset="0"/>
                <a:cs typeface="Times New Roman" panose="02020603050405020304" pitchFamily="18" charset="0"/>
              </a:rPr>
              <a:t>Master</a:t>
            </a:r>
            <a:r>
              <a:rPr lang="en-IN" kern="100" dirty="0">
                <a:solidFill>
                  <a:srgbClr val="000000"/>
                </a:solidFill>
                <a:ea typeface="Aptos" panose="020B0004020202020204" pitchFamily="34" charset="0"/>
                <a:cs typeface="Times New Roman" panose="02020603050405020304" pitchFamily="18" charset="0"/>
              </a:rPr>
              <a:t>.</a:t>
            </a:r>
          </a:p>
          <a:p>
            <a:pPr marL="342900" indent="-342900">
              <a:lnSpc>
                <a:spcPct val="150000"/>
              </a:lnSpc>
              <a:spcAft>
                <a:spcPts val="800"/>
              </a:spcAft>
              <a:buFont typeface="+mj-lt"/>
              <a:buAutoNum type="arabicPeriod"/>
              <a:tabLst>
                <a:tab pos="457200" algn="l"/>
              </a:tabLst>
              <a:defRPr/>
            </a:pPr>
            <a:r>
              <a:rPr lang="en-IN" kern="100" dirty="0">
                <a:solidFill>
                  <a:srgbClr val="000000"/>
                </a:solidFill>
                <a:ea typeface="Aptos" panose="020B0004020202020204" pitchFamily="34" charset="0"/>
                <a:cs typeface="Times New Roman" panose="02020603050405020304" pitchFamily="18" charset="0"/>
              </a:rPr>
              <a:t>Master processes the change and </a:t>
            </a:r>
            <a:r>
              <a:rPr lang="en-IN" b="1" kern="100" dirty="0">
                <a:solidFill>
                  <a:srgbClr val="000000"/>
                </a:solidFill>
                <a:ea typeface="Aptos" panose="020B0004020202020204" pitchFamily="34" charset="0"/>
                <a:cs typeface="Times New Roman" panose="02020603050405020304" pitchFamily="18" charset="0"/>
              </a:rPr>
              <a:t>logs</a:t>
            </a:r>
            <a:r>
              <a:rPr lang="en-IN" kern="100" dirty="0">
                <a:solidFill>
                  <a:srgbClr val="000000"/>
                </a:solidFill>
                <a:ea typeface="Aptos" panose="020B0004020202020204" pitchFamily="34" charset="0"/>
                <a:cs typeface="Times New Roman" panose="02020603050405020304" pitchFamily="18" charset="0"/>
              </a:rPr>
              <a:t> it.</a:t>
            </a:r>
          </a:p>
          <a:p>
            <a:pPr marL="342900" indent="-342900">
              <a:lnSpc>
                <a:spcPct val="150000"/>
              </a:lnSpc>
              <a:spcAft>
                <a:spcPts val="800"/>
              </a:spcAft>
              <a:buFont typeface="+mj-lt"/>
              <a:buAutoNum type="arabicPeriod"/>
              <a:tabLst>
                <a:tab pos="457200" algn="l"/>
              </a:tabLst>
              <a:defRPr/>
            </a:pPr>
            <a:r>
              <a:rPr lang="en-IN" kern="100" dirty="0">
                <a:solidFill>
                  <a:srgbClr val="000000"/>
                </a:solidFill>
                <a:ea typeface="Aptos" panose="020B0004020202020204" pitchFamily="34" charset="0"/>
                <a:cs typeface="Times New Roman" panose="02020603050405020304" pitchFamily="18" charset="0"/>
              </a:rPr>
              <a:t>The change log is sent to all </a:t>
            </a:r>
            <a:r>
              <a:rPr lang="en-IN" b="1" kern="100" dirty="0">
                <a:solidFill>
                  <a:srgbClr val="000000"/>
                </a:solidFill>
                <a:ea typeface="Aptos" panose="020B0004020202020204" pitchFamily="34" charset="0"/>
                <a:cs typeface="Times New Roman" panose="02020603050405020304" pitchFamily="18" charset="0"/>
              </a:rPr>
              <a:t>Slave nodes</a:t>
            </a:r>
            <a:r>
              <a:rPr lang="en-IN" kern="100" dirty="0">
                <a:solidFill>
                  <a:srgbClr val="000000"/>
                </a:solidFill>
                <a:ea typeface="Aptos" panose="020B0004020202020204" pitchFamily="34" charset="0"/>
                <a:cs typeface="Times New Roman" panose="02020603050405020304" pitchFamily="18" charset="0"/>
              </a:rPr>
              <a:t>.</a:t>
            </a:r>
          </a:p>
          <a:p>
            <a:pPr marL="342900" indent="-342900">
              <a:lnSpc>
                <a:spcPct val="150000"/>
              </a:lnSpc>
              <a:spcAft>
                <a:spcPts val="800"/>
              </a:spcAft>
              <a:buFont typeface="+mj-lt"/>
              <a:buAutoNum type="arabicPeriod"/>
              <a:tabLst>
                <a:tab pos="457200" algn="l"/>
              </a:tabLst>
              <a:defRPr/>
            </a:pPr>
            <a:r>
              <a:rPr lang="en-IN" kern="100" dirty="0">
                <a:solidFill>
                  <a:srgbClr val="000000"/>
                </a:solidFill>
                <a:ea typeface="Aptos" panose="020B0004020202020204" pitchFamily="34" charset="0"/>
                <a:cs typeface="Times New Roman" panose="02020603050405020304" pitchFamily="18" charset="0"/>
              </a:rPr>
              <a:t>Slave nodes </a:t>
            </a:r>
            <a:r>
              <a:rPr lang="en-IN" b="1" kern="100" dirty="0">
                <a:solidFill>
                  <a:srgbClr val="000000"/>
                </a:solidFill>
                <a:ea typeface="Aptos" panose="020B0004020202020204" pitchFamily="34" charset="0"/>
                <a:cs typeface="Times New Roman" panose="02020603050405020304" pitchFamily="18" charset="0"/>
              </a:rPr>
              <a:t>apply</a:t>
            </a:r>
            <a:r>
              <a:rPr lang="en-IN" kern="100" dirty="0">
                <a:solidFill>
                  <a:srgbClr val="000000"/>
                </a:solidFill>
                <a:ea typeface="Aptos" panose="020B0004020202020204" pitchFamily="34" charset="0"/>
                <a:cs typeface="Times New Roman" panose="02020603050405020304" pitchFamily="18" charset="0"/>
              </a:rPr>
              <a:t> the changes to their copy of the data.</a:t>
            </a:r>
          </a:p>
          <a:p>
            <a:pPr marL="342900" indent="-342900">
              <a:lnSpc>
                <a:spcPct val="150000"/>
              </a:lnSpc>
              <a:spcAft>
                <a:spcPts val="800"/>
              </a:spcAft>
              <a:buFont typeface="+mj-lt"/>
              <a:buAutoNum type="arabicPeriod"/>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Read operations</a:t>
            </a:r>
            <a:r>
              <a:rPr lang="en-IN" kern="100" dirty="0">
                <a:solidFill>
                  <a:srgbClr val="000000"/>
                </a:solidFill>
                <a:ea typeface="Aptos" panose="020B0004020202020204" pitchFamily="34" charset="0"/>
                <a:cs typeface="Times New Roman" panose="02020603050405020304" pitchFamily="18" charset="0"/>
              </a:rPr>
              <a:t> can be directed to:</a:t>
            </a:r>
          </a:p>
          <a:p>
            <a:pPr marL="742950" lvl="1" indent="-285750">
              <a:lnSpc>
                <a:spcPct val="150000"/>
              </a:lnSpc>
              <a:spcAft>
                <a:spcPts val="800"/>
              </a:spcAft>
              <a:buSzPts val="1000"/>
              <a:buFont typeface="Courier New" panose="02070309020205020404" pitchFamily="49" charset="0"/>
              <a:buChar char="o"/>
              <a:tabLst>
                <a:tab pos="914400" algn="l"/>
              </a:tabLst>
              <a:defRPr/>
            </a:pPr>
            <a:r>
              <a:rPr lang="en-IN" kern="100" dirty="0">
                <a:solidFill>
                  <a:srgbClr val="000000"/>
                </a:solidFill>
                <a:ea typeface="Aptos" panose="020B0004020202020204" pitchFamily="34" charset="0"/>
                <a:cs typeface="Times New Roman" panose="02020603050405020304" pitchFamily="18" charset="0"/>
              </a:rPr>
              <a:t>Master (for the latest data).</a:t>
            </a:r>
          </a:p>
          <a:p>
            <a:pPr marL="742950" lvl="1" indent="-285750">
              <a:lnSpc>
                <a:spcPct val="150000"/>
              </a:lnSpc>
              <a:spcAft>
                <a:spcPts val="800"/>
              </a:spcAft>
              <a:buSzPts val="1000"/>
              <a:buFont typeface="Courier New" panose="02070309020205020404" pitchFamily="49" charset="0"/>
              <a:buChar char="o"/>
              <a:tabLst>
                <a:tab pos="914400" algn="l"/>
              </a:tabLst>
              <a:defRPr/>
            </a:pPr>
            <a:r>
              <a:rPr lang="en-IN" kern="100" dirty="0">
                <a:solidFill>
                  <a:srgbClr val="000000"/>
                </a:solidFill>
                <a:ea typeface="Aptos" panose="020B0004020202020204" pitchFamily="34" charset="0"/>
                <a:cs typeface="Times New Roman" panose="02020603050405020304" pitchFamily="18" charset="0"/>
              </a:rPr>
              <a:t>Slaves (to distribute load).</a:t>
            </a:r>
          </a:p>
          <a:p>
            <a:pPr algn="just"/>
            <a:endParaRPr lang="en-IN" b="1" dirty="0" smtClean="0"/>
          </a:p>
          <a:p>
            <a:pPr algn="just"/>
            <a:endParaRPr lang="en-US"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
        <p:nvSpPr>
          <p:cNvPr id="5" name="TextBox 4"/>
          <p:cNvSpPr txBox="1"/>
          <p:nvPr/>
        </p:nvSpPr>
        <p:spPr>
          <a:xfrm>
            <a:off x="-533400" y="167836"/>
            <a:ext cx="86868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Master-Slave Replication</a:t>
            </a:r>
            <a:r>
              <a:rPr lang="en-US" sz="2800" b="1" u="sng" dirty="0">
                <a:solidFill>
                  <a:srgbClr val="FF0000"/>
                </a:solidFill>
              </a:rPr>
              <a:t>: </a:t>
            </a:r>
          </a:p>
        </p:txBody>
      </p:sp>
    </p:spTree>
    <p:extLst>
      <p:ext uri="{BB962C8B-B14F-4D97-AF65-F5344CB8AC3E}">
        <p14:creationId xmlns:p14="http://schemas.microsoft.com/office/powerpoint/2010/main" val="248395328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839200" cy="923330"/>
          </a:xfrm>
          <a:prstGeom prst="rect">
            <a:avLst/>
          </a:prstGeom>
          <a:noFill/>
        </p:spPr>
        <p:txBody>
          <a:bodyPr wrap="square" rtlCol="0">
            <a:spAutoFit/>
          </a:bodyPr>
          <a:lstStyle/>
          <a:p>
            <a:pPr algn="just"/>
            <a:r>
              <a:rPr lang="en-US" dirty="0" smtClean="0"/>
              <a:t>3. </a:t>
            </a:r>
            <a:r>
              <a:rPr lang="en-IN" b="1" dirty="0"/>
              <a:t>Master–Slave </a:t>
            </a:r>
            <a:r>
              <a:rPr lang="en-IN" b="1" dirty="0" smtClean="0"/>
              <a:t>Replication: Key Components</a:t>
            </a:r>
          </a:p>
          <a:p>
            <a:pPr algn="just"/>
            <a:endParaRPr lang="en-IN" b="1" dirty="0" smtClean="0"/>
          </a:p>
          <a:p>
            <a:pPr algn="just"/>
            <a:endParaRPr lang="en-US"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
        <p:nvSpPr>
          <p:cNvPr id="5" name="TextBox 4"/>
          <p:cNvSpPr txBox="1"/>
          <p:nvPr/>
        </p:nvSpPr>
        <p:spPr>
          <a:xfrm>
            <a:off x="-533400" y="167836"/>
            <a:ext cx="89916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Master-Slave Replication</a:t>
            </a:r>
            <a:r>
              <a:rPr lang="en-US" sz="2800" b="1" u="sng" dirty="0">
                <a:solidFill>
                  <a:srgbClr val="FF0000"/>
                </a:solidFill>
              </a:rPr>
              <a:t>: </a:t>
            </a:r>
          </a:p>
        </p:txBody>
      </p:sp>
      <p:pic>
        <p:nvPicPr>
          <p:cNvPr id="6" name="Picture 5"/>
          <p:cNvPicPr>
            <a:picLocks noChangeAspect="1"/>
          </p:cNvPicPr>
          <p:nvPr/>
        </p:nvPicPr>
        <p:blipFill>
          <a:blip r:embed="rId2"/>
          <a:stretch>
            <a:fillRect/>
          </a:stretch>
        </p:blipFill>
        <p:spPr>
          <a:xfrm>
            <a:off x="57455" y="1540497"/>
            <a:ext cx="9086545" cy="4089208"/>
          </a:xfrm>
          <a:prstGeom prst="rect">
            <a:avLst/>
          </a:prstGeom>
        </p:spPr>
      </p:pic>
    </p:spTree>
    <p:extLst>
      <p:ext uri="{BB962C8B-B14F-4D97-AF65-F5344CB8AC3E}">
        <p14:creationId xmlns:p14="http://schemas.microsoft.com/office/powerpoint/2010/main" val="304181963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839200" cy="4292457"/>
          </a:xfrm>
          <a:prstGeom prst="rect">
            <a:avLst/>
          </a:prstGeom>
          <a:noFill/>
        </p:spPr>
        <p:txBody>
          <a:bodyPr wrap="square" rtlCol="0">
            <a:spAutoFit/>
          </a:bodyPr>
          <a:lstStyle/>
          <a:p>
            <a:pPr algn="just"/>
            <a:r>
              <a:rPr lang="en-US" dirty="0" smtClean="0"/>
              <a:t>3. </a:t>
            </a:r>
            <a:r>
              <a:rPr lang="en-IN" b="1" dirty="0"/>
              <a:t>Master–Slave </a:t>
            </a:r>
            <a:r>
              <a:rPr lang="en-IN" b="1" dirty="0" smtClean="0"/>
              <a:t>Replication: Replication Types</a:t>
            </a:r>
          </a:p>
          <a:p>
            <a:pPr>
              <a:lnSpc>
                <a:spcPct val="115000"/>
              </a:lnSpc>
              <a:spcAft>
                <a:spcPts val="800"/>
              </a:spcAft>
              <a:defRPr/>
            </a:pPr>
            <a:r>
              <a:rPr lang="en-IN" b="1" kern="100" dirty="0" smtClean="0">
                <a:solidFill>
                  <a:srgbClr val="000000"/>
                </a:solidFill>
                <a:ea typeface="Aptos" panose="020B0004020202020204" pitchFamily="34" charset="0"/>
                <a:cs typeface="Times New Roman" panose="02020603050405020304" pitchFamily="18" charset="0"/>
              </a:rPr>
              <a:t>1 </a:t>
            </a:r>
            <a:r>
              <a:rPr lang="en-IN" b="1" kern="100" dirty="0">
                <a:solidFill>
                  <a:srgbClr val="000000"/>
                </a:solidFill>
                <a:ea typeface="Aptos" panose="020B0004020202020204" pitchFamily="34" charset="0"/>
                <a:cs typeface="Times New Roman" panose="02020603050405020304" pitchFamily="18" charset="0"/>
              </a:rPr>
              <a:t>Synchronous Replication</a:t>
            </a:r>
            <a:endParaRPr lang="en-IN" kern="100" dirty="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kern="100" dirty="0">
                <a:solidFill>
                  <a:srgbClr val="000000"/>
                </a:solidFill>
                <a:ea typeface="Aptos" panose="020B0004020202020204" pitchFamily="34" charset="0"/>
                <a:cs typeface="Times New Roman" panose="02020603050405020304" pitchFamily="18" charset="0"/>
              </a:rPr>
              <a:t>Master waits for </a:t>
            </a:r>
            <a:r>
              <a:rPr lang="en-IN" b="1" kern="100" dirty="0">
                <a:solidFill>
                  <a:srgbClr val="000000"/>
                </a:solidFill>
                <a:ea typeface="Aptos" panose="020B0004020202020204" pitchFamily="34" charset="0"/>
                <a:cs typeface="Times New Roman" panose="02020603050405020304" pitchFamily="18" charset="0"/>
              </a:rPr>
              <a:t>acknowledgment from all slaves</a:t>
            </a:r>
            <a:r>
              <a:rPr lang="en-IN" kern="100" dirty="0">
                <a:solidFill>
                  <a:srgbClr val="000000"/>
                </a:solidFill>
                <a:ea typeface="Aptos" panose="020B0004020202020204" pitchFamily="34" charset="0"/>
                <a:cs typeface="Times New Roman" panose="02020603050405020304" pitchFamily="18" charset="0"/>
              </a:rPr>
              <a:t> before confirming the write.</a:t>
            </a:r>
          </a:p>
          <a:p>
            <a:pPr marL="342900" indent="-342900">
              <a:lnSpc>
                <a:spcPct val="115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Pros:</a:t>
            </a:r>
            <a:r>
              <a:rPr lang="en-IN" kern="100" dirty="0">
                <a:solidFill>
                  <a:srgbClr val="000000"/>
                </a:solidFill>
                <a:ea typeface="Aptos" panose="020B0004020202020204" pitchFamily="34" charset="0"/>
                <a:cs typeface="Times New Roman" panose="02020603050405020304" pitchFamily="18" charset="0"/>
              </a:rPr>
              <a:t> Strong consistency.</a:t>
            </a:r>
          </a:p>
          <a:p>
            <a:pPr marL="342900" indent="-342900">
              <a:lnSpc>
                <a:spcPct val="115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Cons:</a:t>
            </a:r>
            <a:r>
              <a:rPr lang="en-IN" kern="100" dirty="0">
                <a:solidFill>
                  <a:srgbClr val="000000"/>
                </a:solidFill>
                <a:ea typeface="Aptos" panose="020B0004020202020204" pitchFamily="34" charset="0"/>
                <a:cs typeface="Times New Roman" panose="02020603050405020304" pitchFamily="18" charset="0"/>
              </a:rPr>
              <a:t> Slower writes, higher latency.</a:t>
            </a:r>
          </a:p>
          <a:p>
            <a:pPr>
              <a:lnSpc>
                <a:spcPct val="115000"/>
              </a:lnSpc>
              <a:spcAft>
                <a:spcPts val="800"/>
              </a:spcAft>
              <a:defRPr/>
            </a:pPr>
            <a:r>
              <a:rPr lang="en-IN" b="1" kern="100" dirty="0" smtClean="0">
                <a:solidFill>
                  <a:srgbClr val="000000"/>
                </a:solidFill>
                <a:ea typeface="Aptos" panose="020B0004020202020204" pitchFamily="34" charset="0"/>
                <a:cs typeface="Times New Roman" panose="02020603050405020304" pitchFamily="18" charset="0"/>
              </a:rPr>
              <a:t>2 </a:t>
            </a:r>
            <a:r>
              <a:rPr lang="en-IN" b="1" kern="100" dirty="0">
                <a:solidFill>
                  <a:srgbClr val="000000"/>
                </a:solidFill>
                <a:ea typeface="Aptos" panose="020B0004020202020204" pitchFamily="34" charset="0"/>
                <a:cs typeface="Times New Roman" panose="02020603050405020304" pitchFamily="18" charset="0"/>
              </a:rPr>
              <a:t>Asynchronous Replication</a:t>
            </a:r>
            <a:endParaRPr lang="en-IN" kern="100" dirty="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kern="100" dirty="0">
                <a:solidFill>
                  <a:srgbClr val="000000"/>
                </a:solidFill>
                <a:ea typeface="Aptos" panose="020B0004020202020204" pitchFamily="34" charset="0"/>
                <a:cs typeface="Times New Roman" panose="02020603050405020304" pitchFamily="18" charset="0"/>
              </a:rPr>
              <a:t>Master confirms write immediately, sends updates to slaves later.</a:t>
            </a:r>
          </a:p>
          <a:p>
            <a:pPr marL="342900" indent="-342900">
              <a:lnSpc>
                <a:spcPct val="115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Pros:</a:t>
            </a:r>
            <a:r>
              <a:rPr lang="en-IN" kern="100" dirty="0">
                <a:solidFill>
                  <a:srgbClr val="000000"/>
                </a:solidFill>
                <a:ea typeface="Aptos" panose="020B0004020202020204" pitchFamily="34" charset="0"/>
                <a:cs typeface="Times New Roman" panose="02020603050405020304" pitchFamily="18" charset="0"/>
              </a:rPr>
              <a:t> Fast writes.</a:t>
            </a:r>
          </a:p>
          <a:p>
            <a:pPr marL="342900" indent="-342900">
              <a:lnSpc>
                <a:spcPct val="115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Cons:</a:t>
            </a:r>
            <a:r>
              <a:rPr lang="en-IN" kern="100" dirty="0">
                <a:solidFill>
                  <a:srgbClr val="000000"/>
                </a:solidFill>
                <a:ea typeface="Aptos" panose="020B0004020202020204" pitchFamily="34" charset="0"/>
                <a:cs typeface="Times New Roman" panose="02020603050405020304" pitchFamily="18" charset="0"/>
              </a:rPr>
              <a:t> Slaves may lag behind (eventual consistency).</a:t>
            </a:r>
          </a:p>
          <a:p>
            <a:pPr algn="just"/>
            <a:endParaRPr lang="en-IN" b="1" dirty="0" smtClean="0"/>
          </a:p>
          <a:p>
            <a:pPr algn="just"/>
            <a:endParaRPr lang="en-US"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
        <p:nvSpPr>
          <p:cNvPr id="5" name="TextBox 4"/>
          <p:cNvSpPr txBox="1"/>
          <p:nvPr/>
        </p:nvSpPr>
        <p:spPr>
          <a:xfrm>
            <a:off x="-533400" y="167836"/>
            <a:ext cx="86868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Master-Slave Replication</a:t>
            </a:r>
            <a:r>
              <a:rPr lang="en-US" sz="2800" b="1" u="sng" dirty="0">
                <a:solidFill>
                  <a:srgbClr val="FF0000"/>
                </a:solidFill>
              </a:rPr>
              <a:t>: </a:t>
            </a:r>
          </a:p>
        </p:txBody>
      </p:sp>
    </p:spTree>
    <p:extLst>
      <p:ext uri="{BB962C8B-B14F-4D97-AF65-F5344CB8AC3E}">
        <p14:creationId xmlns:p14="http://schemas.microsoft.com/office/powerpoint/2010/main" val="46974020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839200" cy="646331"/>
          </a:xfrm>
          <a:prstGeom prst="rect">
            <a:avLst/>
          </a:prstGeom>
          <a:noFill/>
        </p:spPr>
        <p:txBody>
          <a:bodyPr wrap="square" rtlCol="0">
            <a:spAutoFit/>
          </a:bodyPr>
          <a:lstStyle/>
          <a:p>
            <a:pPr algn="just"/>
            <a:r>
              <a:rPr lang="en-US" dirty="0" smtClean="0"/>
              <a:t>3. </a:t>
            </a:r>
            <a:r>
              <a:rPr lang="en-IN" b="1" dirty="0"/>
              <a:t>Master–Slave </a:t>
            </a:r>
            <a:r>
              <a:rPr lang="en-IN" b="1" dirty="0" smtClean="0"/>
              <a:t>Replication: Replication Types</a:t>
            </a:r>
          </a:p>
          <a:p>
            <a:pPr algn="just"/>
            <a:endParaRPr lang="en-US"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p:sp>
        <p:nvSpPr>
          <p:cNvPr id="5" name="TextBox 4"/>
          <p:cNvSpPr txBox="1"/>
          <p:nvPr/>
        </p:nvSpPr>
        <p:spPr>
          <a:xfrm>
            <a:off x="-533400" y="167836"/>
            <a:ext cx="86868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Master-Slave Replication</a:t>
            </a:r>
            <a:r>
              <a:rPr lang="en-US" sz="2800" b="1" u="sng" dirty="0">
                <a:solidFill>
                  <a:srgbClr val="FF0000"/>
                </a:solidFill>
              </a:rPr>
              <a:t>: </a:t>
            </a:r>
          </a:p>
        </p:txBody>
      </p:sp>
      <p:pic>
        <p:nvPicPr>
          <p:cNvPr id="6" name="Picture 5"/>
          <p:cNvPicPr>
            <a:picLocks noChangeAspect="1"/>
          </p:cNvPicPr>
          <p:nvPr/>
        </p:nvPicPr>
        <p:blipFill>
          <a:blip r:embed="rId2"/>
          <a:stretch>
            <a:fillRect/>
          </a:stretch>
        </p:blipFill>
        <p:spPr>
          <a:xfrm>
            <a:off x="0" y="1585451"/>
            <a:ext cx="9144000" cy="4282160"/>
          </a:xfrm>
          <a:prstGeom prst="rect">
            <a:avLst/>
          </a:prstGeom>
        </p:spPr>
      </p:pic>
    </p:spTree>
    <p:extLst>
      <p:ext uri="{BB962C8B-B14F-4D97-AF65-F5344CB8AC3E}">
        <p14:creationId xmlns:p14="http://schemas.microsoft.com/office/powerpoint/2010/main" val="360704681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43000"/>
            <a:ext cx="9144000" cy="2308324"/>
          </a:xfrm>
          <a:prstGeom prst="rect">
            <a:avLst/>
          </a:prstGeom>
          <a:noFill/>
        </p:spPr>
        <p:txBody>
          <a:bodyPr wrap="square" rtlCol="0">
            <a:spAutoFit/>
          </a:bodyPr>
          <a:lstStyle/>
          <a:p>
            <a:pPr algn="just"/>
            <a:r>
              <a:rPr lang="en-US" dirty="0">
                <a:solidFill>
                  <a:srgbClr val="FF0000"/>
                </a:solidFill>
              </a:rPr>
              <a:t>4</a:t>
            </a:r>
            <a:r>
              <a:rPr lang="en-US" dirty="0" smtClean="0">
                <a:solidFill>
                  <a:srgbClr val="FF0000"/>
                </a:solidFill>
              </a:rPr>
              <a:t>. </a:t>
            </a:r>
            <a:r>
              <a:rPr lang="en-IN" b="1" dirty="0" smtClean="0">
                <a:solidFill>
                  <a:srgbClr val="FF0000"/>
                </a:solidFill>
              </a:rPr>
              <a:t>Peer-to-Peer Replication:</a:t>
            </a:r>
            <a:endParaRPr lang="en-US" b="1" dirty="0" smtClean="0">
              <a:solidFill>
                <a:srgbClr val="FF0000"/>
              </a:solidFill>
            </a:endParaRPr>
          </a:p>
          <a:p>
            <a:pPr algn="just"/>
            <a:r>
              <a:rPr lang="en-US" dirty="0"/>
              <a:t>Every node acts as both a </a:t>
            </a:r>
            <a:r>
              <a:rPr lang="en-US" b="1" dirty="0"/>
              <a:t>reader and writer</a:t>
            </a:r>
            <a:r>
              <a:rPr lang="en-US" dirty="0"/>
              <a:t>. Updates are propagated among peers</a:t>
            </a:r>
            <a:r>
              <a:rPr lang="en-US" dirty="0" smtClean="0"/>
              <a:t>.</a:t>
            </a:r>
          </a:p>
          <a:p>
            <a:pPr algn="just"/>
            <a:r>
              <a:rPr lang="en-US" b="1" dirty="0" smtClean="0"/>
              <a:t>Advantages</a:t>
            </a:r>
            <a:r>
              <a:rPr lang="en-US" b="1" dirty="0"/>
              <a:t>:</a:t>
            </a:r>
            <a:endParaRPr lang="en-US" dirty="0"/>
          </a:p>
          <a:p>
            <a:pPr algn="just"/>
            <a:r>
              <a:rPr lang="en-US" dirty="0"/>
              <a:t>No single point of failure</a:t>
            </a:r>
            <a:r>
              <a:rPr lang="en-US" dirty="0" smtClean="0"/>
              <a:t>.</a:t>
            </a:r>
          </a:p>
          <a:p>
            <a:pPr algn="just"/>
            <a:r>
              <a:rPr lang="en-US" dirty="0"/>
              <a:t>Good fault tolerance and scalability</a:t>
            </a:r>
            <a:r>
              <a:rPr lang="en-US" dirty="0" smtClean="0"/>
              <a:t>.</a:t>
            </a:r>
          </a:p>
          <a:p>
            <a:pPr algn="just"/>
            <a:r>
              <a:rPr lang="en-US" b="1" dirty="0" smtClean="0"/>
              <a:t>Limitations</a:t>
            </a:r>
            <a:r>
              <a:rPr lang="en-US" b="1" dirty="0"/>
              <a:t>:</a:t>
            </a:r>
            <a:endParaRPr lang="en-US" dirty="0"/>
          </a:p>
          <a:p>
            <a:pPr algn="just"/>
            <a:r>
              <a:rPr lang="en-US" dirty="0"/>
              <a:t>Conflict resolution is complex (two peers may update the same record differently</a:t>
            </a:r>
            <a:r>
              <a:rPr lang="en-US" dirty="0" smtClean="0"/>
              <a:t>).</a:t>
            </a:r>
          </a:p>
          <a:p>
            <a:pPr algn="just"/>
            <a:r>
              <a:rPr lang="en-US" b="1" dirty="0" smtClean="0"/>
              <a:t>Example</a:t>
            </a:r>
            <a:r>
              <a:rPr lang="en-US" b="1" dirty="0"/>
              <a:t>:</a:t>
            </a:r>
            <a:r>
              <a:rPr lang="en-US" dirty="0"/>
              <a:t> </a:t>
            </a:r>
            <a:r>
              <a:rPr lang="en-IN" dirty="0" err="1"/>
              <a:t>CouchDB</a:t>
            </a:r>
            <a:r>
              <a:rPr lang="en-IN" dirty="0"/>
              <a:t>, </a:t>
            </a:r>
            <a:r>
              <a:rPr lang="en-IN" dirty="0" err="1"/>
              <a:t>DynamoDB</a:t>
            </a:r>
            <a:r>
              <a:rPr lang="en-IN" dirty="0"/>
              <a:t>, Cassandra (multi-master setups).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a:p>
        </p:txBody>
      </p:sp>
      <p:sp>
        <p:nvSpPr>
          <p:cNvPr id="5" name="TextBox 4"/>
          <p:cNvSpPr txBox="1"/>
          <p:nvPr/>
        </p:nvSpPr>
        <p:spPr>
          <a:xfrm>
            <a:off x="-457200" y="179868"/>
            <a:ext cx="8610600" cy="523220"/>
          </a:xfrm>
          <a:prstGeom prst="rect">
            <a:avLst/>
          </a:prstGeom>
          <a:noFill/>
        </p:spPr>
        <p:txBody>
          <a:bodyPr wrap="square" rtlCol="0">
            <a:spAutoFit/>
          </a:bodyPr>
          <a:lstStyle/>
          <a:p>
            <a:pPr algn="ctr"/>
            <a:r>
              <a:rPr lang="en-US" sz="2800" dirty="0"/>
              <a:t>Distribution Models: </a:t>
            </a:r>
            <a:r>
              <a:rPr lang="en-IN" sz="2800" b="1" u="sng" dirty="0" smtClean="0">
                <a:solidFill>
                  <a:srgbClr val="FF0000"/>
                </a:solidFill>
              </a:rPr>
              <a:t>Peer-to-Peer</a:t>
            </a:r>
            <a:r>
              <a:rPr lang="en-US" sz="2800" b="1" u="sng" dirty="0" smtClean="0">
                <a:solidFill>
                  <a:srgbClr val="FF0000"/>
                </a:solidFill>
              </a:rPr>
              <a:t> </a:t>
            </a:r>
            <a:endParaRPr lang="en-US" sz="2800" b="1" u="sng" dirty="0">
              <a:solidFill>
                <a:srgbClr val="FF0000"/>
              </a:solidFill>
            </a:endParaRPr>
          </a:p>
        </p:txBody>
      </p:sp>
    </p:spTree>
    <p:extLst>
      <p:ext uri="{BB962C8B-B14F-4D97-AF65-F5344CB8AC3E}">
        <p14:creationId xmlns:p14="http://schemas.microsoft.com/office/powerpoint/2010/main" val="80801808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43000"/>
            <a:ext cx="9144000" cy="4108817"/>
          </a:xfrm>
          <a:prstGeom prst="rect">
            <a:avLst/>
          </a:prstGeom>
          <a:noFill/>
        </p:spPr>
        <p:txBody>
          <a:bodyPr wrap="square" rtlCol="0">
            <a:spAutoFit/>
          </a:bodyPr>
          <a:lstStyle/>
          <a:p>
            <a:pPr algn="just"/>
            <a:r>
              <a:rPr lang="en-US" dirty="0"/>
              <a:t>4</a:t>
            </a:r>
            <a:r>
              <a:rPr lang="en-US" dirty="0" smtClean="0"/>
              <a:t>. </a:t>
            </a:r>
            <a:r>
              <a:rPr lang="en-IN" b="1" dirty="0" smtClean="0"/>
              <a:t>Peer-to-Peer Replication:</a:t>
            </a:r>
            <a:endParaRPr lang="en-US" b="1" dirty="0" smtClean="0"/>
          </a:p>
          <a:p>
            <a:pPr algn="just">
              <a:lnSpc>
                <a:spcPct val="150000"/>
              </a:lnSpc>
              <a:spcBef>
                <a:spcPct val="0"/>
              </a:spcBef>
              <a:buFontTx/>
              <a:buNone/>
            </a:pPr>
            <a:r>
              <a:rPr lang="en-IN" altLang="en-US" dirty="0">
                <a:ea typeface="Aptos" pitchFamily="34" charset="0"/>
                <a:cs typeface="Times New Roman" panose="02020603050405020304" pitchFamily="18" charset="0"/>
              </a:rPr>
              <a:t>In distributed systems, </a:t>
            </a:r>
            <a:r>
              <a:rPr lang="en-IN" altLang="en-US" b="1" dirty="0">
                <a:ea typeface="Aptos" pitchFamily="34" charset="0"/>
                <a:cs typeface="Times New Roman" panose="02020603050405020304" pitchFamily="18" charset="0"/>
              </a:rPr>
              <a:t>replication</a:t>
            </a:r>
            <a:r>
              <a:rPr lang="en-IN" altLang="en-US" dirty="0">
                <a:ea typeface="Aptos" pitchFamily="34" charset="0"/>
                <a:cs typeface="Times New Roman" panose="02020603050405020304" pitchFamily="18" charset="0"/>
              </a:rPr>
              <a:t> ensures high availability, fault tolerance, and scalability.</a:t>
            </a:r>
            <a:br>
              <a:rPr lang="en-IN" altLang="en-US" dirty="0">
                <a:ea typeface="Aptos" pitchFamily="34" charset="0"/>
                <a:cs typeface="Times New Roman" panose="02020603050405020304" pitchFamily="18" charset="0"/>
              </a:rPr>
            </a:br>
            <a:r>
              <a:rPr lang="en-IN" altLang="en-US" dirty="0">
                <a:ea typeface="Aptos" pitchFamily="34" charset="0"/>
                <a:cs typeface="Times New Roman" panose="02020603050405020304" pitchFamily="18" charset="0"/>
              </a:rPr>
              <a:t>Unlike </a:t>
            </a:r>
            <a:r>
              <a:rPr lang="en-IN" altLang="en-US" b="1" dirty="0">
                <a:ea typeface="Aptos" pitchFamily="34" charset="0"/>
                <a:cs typeface="Times New Roman" panose="02020603050405020304" pitchFamily="18" charset="0"/>
              </a:rPr>
              <a:t>Master-Slave Replication</a:t>
            </a:r>
            <a:r>
              <a:rPr lang="en-IN" altLang="en-US" dirty="0">
                <a:ea typeface="Aptos" pitchFamily="34" charset="0"/>
                <a:cs typeface="Times New Roman" panose="02020603050405020304" pitchFamily="18" charset="0"/>
              </a:rPr>
              <a:t>, where only one node accepts writes, </a:t>
            </a:r>
            <a:r>
              <a:rPr lang="en-IN" altLang="en-US" b="1" dirty="0">
                <a:ea typeface="Aptos" pitchFamily="34" charset="0"/>
                <a:cs typeface="Times New Roman" panose="02020603050405020304" pitchFamily="18" charset="0"/>
              </a:rPr>
              <a:t>Peer-to-Peer (P2P) Replication</a:t>
            </a:r>
            <a:r>
              <a:rPr lang="en-IN" altLang="en-US" dirty="0">
                <a:ea typeface="Aptos" pitchFamily="34" charset="0"/>
                <a:cs typeface="Times New Roman" panose="02020603050405020304" pitchFamily="18" charset="0"/>
              </a:rPr>
              <a:t> allows </a:t>
            </a:r>
            <a:r>
              <a:rPr lang="en-IN" altLang="en-US" b="1" dirty="0">
                <a:ea typeface="Aptos" pitchFamily="34" charset="0"/>
                <a:cs typeface="Times New Roman" panose="02020603050405020304" pitchFamily="18" charset="0"/>
              </a:rPr>
              <a:t>every node</a:t>
            </a:r>
            <a:r>
              <a:rPr lang="en-IN" altLang="en-US" dirty="0">
                <a:ea typeface="Aptos" pitchFamily="34" charset="0"/>
                <a:cs typeface="Times New Roman" panose="02020603050405020304" pitchFamily="18" charset="0"/>
              </a:rPr>
              <a:t> to:</a:t>
            </a:r>
          </a:p>
          <a:p>
            <a:pPr algn="just">
              <a:lnSpc>
                <a:spcPct val="150000"/>
              </a:lnSpc>
              <a:spcBef>
                <a:spcPct val="0"/>
              </a:spcBef>
              <a:buFontTx/>
              <a:buNone/>
            </a:pPr>
            <a:r>
              <a:rPr lang="en-IN" altLang="en-US" dirty="0">
                <a:ea typeface="Aptos" pitchFamily="34" charset="0"/>
                <a:cs typeface="Times New Roman" panose="02020603050405020304" pitchFamily="18" charset="0"/>
              </a:rPr>
              <a:t>Accept </a:t>
            </a:r>
            <a:r>
              <a:rPr lang="en-IN" altLang="en-US" b="1" dirty="0">
                <a:ea typeface="Aptos" pitchFamily="34" charset="0"/>
                <a:cs typeface="Times New Roman" panose="02020603050405020304" pitchFamily="18" charset="0"/>
              </a:rPr>
              <a:t>read requests</a:t>
            </a:r>
            <a:endParaRPr lang="en-IN" altLang="en-US" dirty="0">
              <a:ea typeface="Aptos" pitchFamily="34" charset="0"/>
              <a:cs typeface="Times New Roman" panose="02020603050405020304" pitchFamily="18" charset="0"/>
            </a:endParaRPr>
          </a:p>
          <a:p>
            <a:pPr algn="just">
              <a:lnSpc>
                <a:spcPct val="150000"/>
              </a:lnSpc>
              <a:spcBef>
                <a:spcPct val="0"/>
              </a:spcBef>
              <a:buFontTx/>
              <a:buNone/>
            </a:pPr>
            <a:r>
              <a:rPr lang="en-IN" altLang="en-US" dirty="0">
                <a:ea typeface="Aptos" pitchFamily="34" charset="0"/>
                <a:cs typeface="Times New Roman" panose="02020603050405020304" pitchFamily="18" charset="0"/>
              </a:rPr>
              <a:t>Accept </a:t>
            </a:r>
            <a:r>
              <a:rPr lang="en-IN" altLang="en-US" b="1" dirty="0">
                <a:ea typeface="Aptos" pitchFamily="34" charset="0"/>
                <a:cs typeface="Times New Roman" panose="02020603050405020304" pitchFamily="18" charset="0"/>
              </a:rPr>
              <a:t>write requests</a:t>
            </a:r>
            <a:endParaRPr lang="en-IN" altLang="en-US" dirty="0">
              <a:ea typeface="Aptos" pitchFamily="34" charset="0"/>
              <a:cs typeface="Times New Roman" panose="02020603050405020304" pitchFamily="18" charset="0"/>
            </a:endParaRPr>
          </a:p>
          <a:p>
            <a:pPr algn="just">
              <a:lnSpc>
                <a:spcPct val="150000"/>
              </a:lnSpc>
              <a:spcBef>
                <a:spcPct val="0"/>
              </a:spcBef>
              <a:buFontTx/>
              <a:buNone/>
            </a:pPr>
            <a:r>
              <a:rPr lang="en-IN" altLang="en-US" dirty="0">
                <a:ea typeface="Aptos" pitchFamily="34" charset="0"/>
                <a:cs typeface="Times New Roman" panose="02020603050405020304" pitchFamily="18" charset="0"/>
              </a:rPr>
              <a:t>Synchronize changes with </a:t>
            </a:r>
            <a:r>
              <a:rPr lang="en-IN" altLang="en-US" dirty="0" smtClean="0">
                <a:ea typeface="Aptos" pitchFamily="34" charset="0"/>
                <a:cs typeface="Times New Roman" panose="02020603050405020304" pitchFamily="18" charset="0"/>
              </a:rPr>
              <a:t>others</a:t>
            </a:r>
          </a:p>
          <a:p>
            <a:pPr algn="just">
              <a:lnSpc>
                <a:spcPct val="150000"/>
              </a:lnSpc>
              <a:spcBef>
                <a:spcPct val="0"/>
              </a:spcBef>
              <a:buFontTx/>
              <a:buNone/>
            </a:pPr>
            <a:r>
              <a:rPr lang="en-IN" altLang="en-US" b="1" dirty="0" smtClean="0">
                <a:ea typeface="Aptos" pitchFamily="34" charset="0"/>
                <a:cs typeface="Times New Roman" panose="02020603050405020304" pitchFamily="18" charset="0"/>
              </a:rPr>
              <a:t>Analogy</a:t>
            </a:r>
            <a:r>
              <a:rPr lang="en-IN" altLang="en-US" b="1" dirty="0">
                <a:ea typeface="Aptos" pitchFamily="34" charset="0"/>
                <a:cs typeface="Times New Roman" panose="02020603050405020304" pitchFamily="18" charset="0"/>
              </a:rPr>
              <a:t>:</a:t>
            </a:r>
            <a:r>
              <a:rPr lang="en-IN" altLang="en-US" dirty="0">
                <a:ea typeface="Aptos" pitchFamily="34" charset="0"/>
                <a:cs typeface="Times New Roman" panose="02020603050405020304" pitchFamily="18" charset="0"/>
              </a:rPr>
              <a:t/>
            </a:r>
            <a:br>
              <a:rPr lang="en-IN" altLang="en-US" dirty="0">
                <a:ea typeface="Aptos" pitchFamily="34" charset="0"/>
                <a:cs typeface="Times New Roman" panose="02020603050405020304" pitchFamily="18" charset="0"/>
              </a:rPr>
            </a:br>
            <a:r>
              <a:rPr lang="en-IN" altLang="en-US" dirty="0">
                <a:ea typeface="Aptos" pitchFamily="34" charset="0"/>
                <a:cs typeface="Times New Roman" panose="02020603050405020304" pitchFamily="18" charset="0"/>
              </a:rPr>
              <a:t>Think of a </a:t>
            </a:r>
            <a:r>
              <a:rPr lang="en-IN" altLang="en-US" b="1" dirty="0">
                <a:ea typeface="Aptos" pitchFamily="34" charset="0"/>
                <a:cs typeface="Times New Roman" panose="02020603050405020304" pitchFamily="18" charset="0"/>
              </a:rPr>
              <a:t>WhatsApp group</a:t>
            </a:r>
            <a:r>
              <a:rPr lang="en-IN" altLang="en-US" dirty="0">
                <a:ea typeface="Aptos" pitchFamily="34" charset="0"/>
                <a:cs typeface="Times New Roman" panose="02020603050405020304" pitchFamily="18" charset="0"/>
              </a:rPr>
              <a:t> where everyone can send and receive messages — there’s no “main” sender. Every member’s phone is like a </a:t>
            </a:r>
            <a:r>
              <a:rPr lang="en-IN" altLang="en-US" b="1" dirty="0">
                <a:ea typeface="Aptos" pitchFamily="34" charset="0"/>
                <a:cs typeface="Times New Roman" panose="02020603050405020304" pitchFamily="18" charset="0"/>
              </a:rPr>
              <a:t>peer</a:t>
            </a:r>
            <a:endParaRPr lang="en-IN" altLang="en-US" dirty="0">
              <a:ea typeface="Aptos"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a:p>
        </p:txBody>
      </p:sp>
      <p:sp>
        <p:nvSpPr>
          <p:cNvPr id="5" name="TextBox 4"/>
          <p:cNvSpPr txBox="1"/>
          <p:nvPr/>
        </p:nvSpPr>
        <p:spPr>
          <a:xfrm>
            <a:off x="-457200" y="179868"/>
            <a:ext cx="70104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Peer-to-Peer</a:t>
            </a:r>
            <a:r>
              <a:rPr lang="en-US" sz="2800" b="1" u="sng" dirty="0">
                <a:solidFill>
                  <a:srgbClr val="FF0000"/>
                </a:solidFill>
              </a:rPr>
              <a:t> </a:t>
            </a:r>
          </a:p>
        </p:txBody>
      </p:sp>
    </p:spTree>
    <p:extLst>
      <p:ext uri="{BB962C8B-B14F-4D97-AF65-F5344CB8AC3E}">
        <p14:creationId xmlns:p14="http://schemas.microsoft.com/office/powerpoint/2010/main" val="43731312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43000"/>
            <a:ext cx="9144000" cy="5154232"/>
          </a:xfrm>
          <a:prstGeom prst="rect">
            <a:avLst/>
          </a:prstGeom>
          <a:noFill/>
        </p:spPr>
        <p:txBody>
          <a:bodyPr wrap="square" rtlCol="0">
            <a:spAutoFit/>
          </a:bodyPr>
          <a:lstStyle/>
          <a:p>
            <a:pPr algn="just"/>
            <a:r>
              <a:rPr lang="en-US" dirty="0"/>
              <a:t>4</a:t>
            </a:r>
            <a:r>
              <a:rPr lang="en-US" dirty="0" smtClean="0"/>
              <a:t>. </a:t>
            </a:r>
            <a:r>
              <a:rPr lang="en-IN" b="1" dirty="0" smtClean="0"/>
              <a:t>Peer-to-Peer Replication:</a:t>
            </a:r>
            <a:endParaRPr lang="en-US" b="1" dirty="0" smtClean="0"/>
          </a:p>
          <a:p>
            <a:pPr algn="just">
              <a:lnSpc>
                <a:spcPct val="115000"/>
              </a:lnSpc>
              <a:spcAft>
                <a:spcPts val="800"/>
              </a:spcAft>
              <a:defRPr/>
            </a:pPr>
            <a:r>
              <a:rPr lang="en-IN" b="1" kern="100" dirty="0">
                <a:ea typeface="Aptos" panose="020B0004020202020204" pitchFamily="34" charset="0"/>
                <a:cs typeface="Times New Roman" panose="02020603050405020304" pitchFamily="18" charset="0"/>
              </a:rPr>
              <a:t>Peer-to-Peer Replication</a:t>
            </a:r>
            <a:r>
              <a:rPr lang="en-IN" kern="100" dirty="0">
                <a:ea typeface="Aptos" panose="020B0004020202020204" pitchFamily="34" charset="0"/>
                <a:cs typeface="Times New Roman" panose="02020603050405020304" pitchFamily="18" charset="0"/>
              </a:rPr>
              <a:t> = A replication strategy where </a:t>
            </a:r>
            <a:r>
              <a:rPr lang="en-IN" b="1" kern="100" dirty="0">
                <a:ea typeface="Aptos" panose="020B0004020202020204" pitchFamily="34" charset="0"/>
                <a:cs typeface="Times New Roman" panose="02020603050405020304" pitchFamily="18" charset="0"/>
              </a:rPr>
              <a:t>all participating nodes are equal</a:t>
            </a:r>
            <a:r>
              <a:rPr lang="en-IN" kern="100" dirty="0">
                <a:ea typeface="Aptos" panose="020B0004020202020204" pitchFamily="34" charset="0"/>
                <a:cs typeface="Times New Roman" panose="02020603050405020304" pitchFamily="18" charset="0"/>
              </a:rPr>
              <a:t> (peers), and any node can update data. Updates are </a:t>
            </a:r>
            <a:r>
              <a:rPr lang="en-IN" b="1" kern="100" dirty="0">
                <a:ea typeface="Aptos" panose="020B0004020202020204" pitchFamily="34" charset="0"/>
                <a:cs typeface="Times New Roman" panose="02020603050405020304" pitchFamily="18" charset="0"/>
              </a:rPr>
              <a:t>propagated</a:t>
            </a:r>
            <a:r>
              <a:rPr lang="en-IN" kern="100" dirty="0">
                <a:ea typeface="Aptos" panose="020B0004020202020204" pitchFamily="34" charset="0"/>
                <a:cs typeface="Times New Roman" panose="02020603050405020304" pitchFamily="18" charset="0"/>
              </a:rPr>
              <a:t> to all other peers</a:t>
            </a:r>
            <a:r>
              <a:rPr lang="en-IN" kern="100" dirty="0" smtClean="0">
                <a:ea typeface="Aptos" panose="020B0004020202020204" pitchFamily="34" charset="0"/>
                <a:cs typeface="Times New Roman" panose="02020603050405020304" pitchFamily="18" charset="0"/>
              </a:rPr>
              <a:t>.</a:t>
            </a:r>
          </a:p>
          <a:p>
            <a:pPr algn="just">
              <a:lnSpc>
                <a:spcPct val="115000"/>
              </a:lnSpc>
              <a:spcAft>
                <a:spcPts val="800"/>
              </a:spcAft>
              <a:defRPr/>
            </a:pPr>
            <a:r>
              <a:rPr lang="en-IN" kern="100" dirty="0" smtClean="0">
                <a:ea typeface="Aptos" panose="020B0004020202020204" pitchFamily="34" charset="0"/>
                <a:cs typeface="Times New Roman" panose="02020603050405020304" pitchFamily="18" charset="0"/>
              </a:rPr>
              <a:t/>
            </a:r>
            <a:br>
              <a:rPr lang="en-IN" kern="100" dirty="0" smtClean="0">
                <a:ea typeface="Aptos" panose="020B0004020202020204" pitchFamily="34" charset="0"/>
                <a:cs typeface="Times New Roman" panose="02020603050405020304" pitchFamily="18" charset="0"/>
              </a:rPr>
            </a:br>
            <a:r>
              <a:rPr lang="en-IN" b="1" kern="100" dirty="0" smtClean="0">
                <a:ea typeface="Aptos" panose="020B0004020202020204" pitchFamily="34" charset="0"/>
                <a:cs typeface="Times New Roman" panose="02020603050405020304" pitchFamily="18" charset="0"/>
              </a:rPr>
              <a:t>3. How It Works</a:t>
            </a:r>
            <a:endParaRPr lang="en-IN" kern="100" dirty="0" smtClean="0">
              <a:ea typeface="Aptos" panose="020B0004020202020204" pitchFamily="34" charset="0"/>
              <a:cs typeface="Times New Roman" panose="02020603050405020304" pitchFamily="18" charset="0"/>
            </a:endParaRPr>
          </a:p>
          <a:p>
            <a:pPr algn="just">
              <a:lnSpc>
                <a:spcPct val="115000"/>
              </a:lnSpc>
              <a:spcAft>
                <a:spcPts val="800"/>
              </a:spcAft>
              <a:defRPr/>
            </a:pPr>
            <a:r>
              <a:rPr lang="en-IN" b="1" kern="100" dirty="0" smtClean="0">
                <a:ea typeface="Aptos" panose="020B0004020202020204" pitchFamily="34" charset="0"/>
                <a:cs typeface="Times New Roman" panose="02020603050405020304" pitchFamily="18" charset="0"/>
              </a:rPr>
              <a:t>Step-by-step</a:t>
            </a:r>
            <a:r>
              <a:rPr lang="en-IN" b="1" kern="100" dirty="0">
                <a:ea typeface="Aptos" panose="020B0004020202020204" pitchFamily="34" charset="0"/>
                <a:cs typeface="Times New Roman" panose="02020603050405020304" pitchFamily="18" charset="0"/>
              </a:rPr>
              <a:t>:</a:t>
            </a:r>
            <a:endParaRPr lang="en-IN" kern="100" dirty="0">
              <a:ea typeface="Aptos" panose="020B0004020202020204" pitchFamily="34" charset="0"/>
              <a:cs typeface="Times New Roman" panose="02020603050405020304" pitchFamily="18" charset="0"/>
            </a:endParaRPr>
          </a:p>
          <a:p>
            <a:pPr marL="342900" indent="-342900" algn="just">
              <a:lnSpc>
                <a:spcPct val="115000"/>
              </a:lnSpc>
              <a:spcAft>
                <a:spcPts val="800"/>
              </a:spcAft>
              <a:buFont typeface="+mj-lt"/>
              <a:buAutoNum type="arabicPeriod"/>
              <a:tabLst>
                <a:tab pos="457200" algn="l"/>
              </a:tabLst>
              <a:defRPr/>
            </a:pPr>
            <a:r>
              <a:rPr lang="en-IN" b="1" kern="100" dirty="0">
                <a:ea typeface="Aptos" panose="020B0004020202020204" pitchFamily="34" charset="0"/>
                <a:cs typeface="Times New Roman" panose="02020603050405020304" pitchFamily="18" charset="0"/>
              </a:rPr>
              <a:t>Any peer</a:t>
            </a:r>
            <a:r>
              <a:rPr lang="en-IN" kern="100" dirty="0">
                <a:ea typeface="Aptos" panose="020B0004020202020204" pitchFamily="34" charset="0"/>
                <a:cs typeface="Times New Roman" panose="02020603050405020304" pitchFamily="18" charset="0"/>
              </a:rPr>
              <a:t> can accept a read or write request.</a:t>
            </a:r>
          </a:p>
          <a:p>
            <a:pPr marL="342900" indent="-342900" algn="just">
              <a:lnSpc>
                <a:spcPct val="115000"/>
              </a:lnSpc>
              <a:spcAft>
                <a:spcPts val="800"/>
              </a:spcAft>
              <a:buFont typeface="+mj-lt"/>
              <a:buAutoNum type="arabicPeriod"/>
              <a:tabLst>
                <a:tab pos="457200" algn="l"/>
              </a:tabLst>
              <a:defRPr/>
            </a:pPr>
            <a:r>
              <a:rPr lang="en-IN" kern="100" dirty="0">
                <a:ea typeface="Aptos" panose="020B0004020202020204" pitchFamily="34" charset="0"/>
                <a:cs typeface="Times New Roman" panose="02020603050405020304" pitchFamily="18" charset="0"/>
              </a:rPr>
              <a:t>When a write occurs:</a:t>
            </a:r>
          </a:p>
          <a:p>
            <a:pPr marL="742950" lvl="1" indent="-285750" algn="just">
              <a:lnSpc>
                <a:spcPct val="115000"/>
              </a:lnSpc>
              <a:spcAft>
                <a:spcPts val="800"/>
              </a:spcAft>
              <a:buSzPts val="1000"/>
              <a:buFont typeface="Courier New" panose="02070309020205020404" pitchFamily="49" charset="0"/>
              <a:buChar char="o"/>
              <a:tabLst>
                <a:tab pos="914400" algn="l"/>
              </a:tabLst>
              <a:defRPr/>
            </a:pPr>
            <a:r>
              <a:rPr lang="en-IN" kern="100" dirty="0">
                <a:ea typeface="Aptos" panose="020B0004020202020204" pitchFamily="34" charset="0"/>
                <a:cs typeface="Times New Roman" panose="02020603050405020304" pitchFamily="18" charset="0"/>
              </a:rPr>
              <a:t>The node updates its local data.</a:t>
            </a:r>
          </a:p>
          <a:p>
            <a:pPr marL="742950" lvl="1" indent="-285750" algn="just">
              <a:lnSpc>
                <a:spcPct val="115000"/>
              </a:lnSpc>
              <a:spcAft>
                <a:spcPts val="800"/>
              </a:spcAft>
              <a:buSzPts val="1000"/>
              <a:buFont typeface="Courier New" panose="02070309020205020404" pitchFamily="49" charset="0"/>
              <a:buChar char="o"/>
              <a:tabLst>
                <a:tab pos="914400" algn="l"/>
              </a:tabLst>
              <a:defRPr/>
            </a:pPr>
            <a:r>
              <a:rPr lang="en-IN" kern="100" dirty="0">
                <a:ea typeface="Aptos" panose="020B0004020202020204" pitchFamily="34" charset="0"/>
                <a:cs typeface="Times New Roman" panose="02020603050405020304" pitchFamily="18" charset="0"/>
              </a:rPr>
              <a:t>It sends the update to all other peers.</a:t>
            </a:r>
          </a:p>
          <a:p>
            <a:pPr marL="342900" indent="-342900" algn="just">
              <a:lnSpc>
                <a:spcPct val="115000"/>
              </a:lnSpc>
              <a:spcAft>
                <a:spcPts val="800"/>
              </a:spcAft>
              <a:buFont typeface="+mj-lt"/>
              <a:buAutoNum type="arabicPeriod"/>
              <a:tabLst>
                <a:tab pos="457200" algn="l"/>
              </a:tabLst>
              <a:defRPr/>
            </a:pPr>
            <a:r>
              <a:rPr lang="en-IN" kern="100" dirty="0">
                <a:ea typeface="Aptos" panose="020B0004020202020204" pitchFamily="34" charset="0"/>
                <a:cs typeface="Times New Roman" panose="02020603050405020304" pitchFamily="18" charset="0"/>
              </a:rPr>
              <a:t>Other peers </a:t>
            </a:r>
            <a:r>
              <a:rPr lang="en-IN" b="1" kern="100" dirty="0">
                <a:ea typeface="Aptos" panose="020B0004020202020204" pitchFamily="34" charset="0"/>
                <a:cs typeface="Times New Roman" panose="02020603050405020304" pitchFamily="18" charset="0"/>
              </a:rPr>
              <a:t>apply the change</a:t>
            </a:r>
            <a:r>
              <a:rPr lang="en-IN" kern="100" dirty="0">
                <a:ea typeface="Aptos" panose="020B0004020202020204" pitchFamily="34" charset="0"/>
                <a:cs typeface="Times New Roman" panose="02020603050405020304" pitchFamily="18" charset="0"/>
              </a:rPr>
              <a:t> to their copy of the data.</a:t>
            </a:r>
          </a:p>
          <a:p>
            <a:pPr marL="342900" indent="-342900" algn="just">
              <a:lnSpc>
                <a:spcPct val="115000"/>
              </a:lnSpc>
              <a:spcAft>
                <a:spcPts val="800"/>
              </a:spcAft>
              <a:buFont typeface="+mj-lt"/>
              <a:buAutoNum type="arabicPeriod"/>
              <a:tabLst>
                <a:tab pos="457200" algn="l"/>
              </a:tabLst>
              <a:defRPr/>
            </a:pPr>
            <a:r>
              <a:rPr lang="en-IN" kern="100" dirty="0">
                <a:ea typeface="Aptos" panose="020B0004020202020204" pitchFamily="34" charset="0"/>
                <a:cs typeface="Times New Roman" panose="02020603050405020304" pitchFamily="18" charset="0"/>
              </a:rPr>
              <a:t>The system uses </a:t>
            </a:r>
            <a:r>
              <a:rPr lang="en-IN" b="1" kern="100" dirty="0">
                <a:ea typeface="Aptos" panose="020B0004020202020204" pitchFamily="34" charset="0"/>
                <a:cs typeface="Times New Roman" panose="02020603050405020304" pitchFamily="18" charset="0"/>
              </a:rPr>
              <a:t>conflict resolution</a:t>
            </a:r>
            <a:r>
              <a:rPr lang="en-IN" kern="100" dirty="0">
                <a:ea typeface="Aptos" panose="020B0004020202020204" pitchFamily="34" charset="0"/>
                <a:cs typeface="Times New Roman" panose="02020603050405020304" pitchFamily="18" charset="0"/>
              </a:rPr>
              <a:t> if two nodes update the same data </a:t>
            </a:r>
            <a:r>
              <a:rPr lang="en-IN" sz="2200" kern="100" dirty="0">
                <a:ea typeface="Aptos" panose="020B0004020202020204" pitchFamily="34" charset="0"/>
                <a:cs typeface="Times New Roman" panose="02020603050405020304" pitchFamily="18" charset="0"/>
              </a:rPr>
              <a:t>at the same time.</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
        <p:nvSpPr>
          <p:cNvPr id="5" name="TextBox 4"/>
          <p:cNvSpPr txBox="1"/>
          <p:nvPr/>
        </p:nvSpPr>
        <p:spPr>
          <a:xfrm>
            <a:off x="-457200" y="179868"/>
            <a:ext cx="70866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Peer-to-Peer</a:t>
            </a:r>
            <a:r>
              <a:rPr lang="en-US" sz="2800" b="1" u="sng" dirty="0">
                <a:solidFill>
                  <a:srgbClr val="FF0000"/>
                </a:solidFill>
              </a:rPr>
              <a:t> </a:t>
            </a:r>
          </a:p>
        </p:txBody>
      </p:sp>
    </p:spTree>
    <p:extLst>
      <p:ext uri="{BB962C8B-B14F-4D97-AF65-F5344CB8AC3E}">
        <p14:creationId xmlns:p14="http://schemas.microsoft.com/office/powerpoint/2010/main" val="10485485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43000"/>
            <a:ext cx="9144000" cy="646331"/>
          </a:xfrm>
          <a:prstGeom prst="rect">
            <a:avLst/>
          </a:prstGeom>
          <a:noFill/>
        </p:spPr>
        <p:txBody>
          <a:bodyPr wrap="square" rtlCol="0">
            <a:spAutoFit/>
          </a:bodyPr>
          <a:lstStyle/>
          <a:p>
            <a:pPr algn="just"/>
            <a:r>
              <a:rPr lang="en-US" dirty="0"/>
              <a:t>4</a:t>
            </a:r>
            <a:r>
              <a:rPr lang="en-US" dirty="0" smtClean="0"/>
              <a:t>. </a:t>
            </a:r>
            <a:r>
              <a:rPr lang="en-IN" b="1" dirty="0" smtClean="0"/>
              <a:t>Peer-to-Peer Replication:</a:t>
            </a:r>
          </a:p>
          <a:p>
            <a:pPr algn="just"/>
            <a:endParaRPr lang="en-US"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
        <p:nvSpPr>
          <p:cNvPr id="5" name="TextBox 4"/>
          <p:cNvSpPr txBox="1"/>
          <p:nvPr/>
        </p:nvSpPr>
        <p:spPr>
          <a:xfrm>
            <a:off x="-457200" y="179868"/>
            <a:ext cx="70104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Peer-to-Peer</a:t>
            </a:r>
            <a:r>
              <a:rPr lang="en-US" sz="2800" b="1" u="sng" dirty="0">
                <a:solidFill>
                  <a:srgbClr val="FF0000"/>
                </a:solidFill>
              </a:rPr>
              <a:t> </a:t>
            </a:r>
          </a:p>
        </p:txBody>
      </p:sp>
      <p:pic>
        <p:nvPicPr>
          <p:cNvPr id="6" name="Picture 5"/>
          <p:cNvPicPr>
            <a:picLocks noChangeAspect="1"/>
          </p:cNvPicPr>
          <p:nvPr/>
        </p:nvPicPr>
        <p:blipFill>
          <a:blip r:embed="rId2"/>
          <a:stretch>
            <a:fillRect/>
          </a:stretch>
        </p:blipFill>
        <p:spPr>
          <a:xfrm>
            <a:off x="0" y="1466630"/>
            <a:ext cx="9144000" cy="4577780"/>
          </a:xfrm>
          <a:prstGeom prst="rect">
            <a:avLst/>
          </a:prstGeom>
        </p:spPr>
      </p:pic>
    </p:spTree>
    <p:extLst>
      <p:ext uri="{BB962C8B-B14F-4D97-AF65-F5344CB8AC3E}">
        <p14:creationId xmlns:p14="http://schemas.microsoft.com/office/powerpoint/2010/main" val="355048233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43000"/>
            <a:ext cx="9144000" cy="3416320"/>
          </a:xfrm>
          <a:prstGeom prst="rect">
            <a:avLst/>
          </a:prstGeom>
          <a:noFill/>
        </p:spPr>
        <p:txBody>
          <a:bodyPr wrap="square" rtlCol="0">
            <a:spAutoFit/>
          </a:bodyPr>
          <a:lstStyle/>
          <a:p>
            <a:pPr algn="just"/>
            <a:r>
              <a:rPr lang="en-US" dirty="0"/>
              <a:t>4</a:t>
            </a:r>
            <a:r>
              <a:rPr lang="en-US" dirty="0" smtClean="0"/>
              <a:t>. </a:t>
            </a:r>
            <a:r>
              <a:rPr lang="en-IN" b="1" dirty="0" smtClean="0"/>
              <a:t>Peer-to-Peer Replication: How it works?</a:t>
            </a:r>
          </a:p>
          <a:p>
            <a:pPr>
              <a:defRPr/>
            </a:pPr>
            <a:r>
              <a:rPr lang="en-US" dirty="0"/>
              <a:t>1.The user writes data to their closest node. The node accepts the write and immediately acknowledges it to the user, providing low latency.</a:t>
            </a:r>
          </a:p>
          <a:p>
            <a:pPr>
              <a:defRPr/>
            </a:pPr>
            <a:endParaRPr lang="en-US" dirty="0"/>
          </a:p>
          <a:p>
            <a:pPr>
              <a:defRPr/>
            </a:pPr>
            <a:r>
              <a:rPr lang="en-US" dirty="0"/>
              <a:t>2.After acknowledging, the node then takes responsibility for asynchronously propagating that change to its peers. This is often done using a </a:t>
            </a:r>
            <a:r>
              <a:rPr lang="en-US" b="1" dirty="0"/>
              <a:t>gossip protocol</a:t>
            </a:r>
            <a:r>
              <a:rPr lang="en-US" dirty="0"/>
              <a:t> (like how rumors spread), where nodes periodically exchange their latest data with a few random peers.</a:t>
            </a:r>
          </a:p>
          <a:p>
            <a:pPr>
              <a:defRPr/>
            </a:pPr>
            <a:endParaRPr lang="en-US" dirty="0"/>
          </a:p>
          <a:p>
            <a:pPr>
              <a:defRPr/>
            </a:pPr>
            <a:r>
              <a:rPr lang="en-US" dirty="0"/>
              <a:t>3.Eventually, all nodes receive the update and converge to the same state. This delay is the "eventual" part of </a:t>
            </a:r>
            <a:r>
              <a:rPr lang="en-US" b="1" dirty="0"/>
              <a:t>eventual consistency</a:t>
            </a:r>
            <a:r>
              <a:rPr lang="en-US" dirty="0"/>
              <a:t>.</a:t>
            </a:r>
          </a:p>
          <a:p>
            <a:pPr algn="just"/>
            <a:endParaRPr lang="en-IN" b="1" dirty="0" smtClean="0"/>
          </a:p>
          <a:p>
            <a:pPr algn="just"/>
            <a:endParaRPr lang="en-US"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a:p>
        </p:txBody>
      </p:sp>
      <p:sp>
        <p:nvSpPr>
          <p:cNvPr id="5" name="TextBox 4"/>
          <p:cNvSpPr txBox="1"/>
          <p:nvPr/>
        </p:nvSpPr>
        <p:spPr>
          <a:xfrm>
            <a:off x="-457200" y="179868"/>
            <a:ext cx="67056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Peer-to-Peer</a:t>
            </a:r>
            <a:r>
              <a:rPr lang="en-US" sz="2800" b="1" u="sng" dirty="0">
                <a:solidFill>
                  <a:srgbClr val="FF0000"/>
                </a:solidFill>
              </a:rPr>
              <a:t> </a:t>
            </a:r>
          </a:p>
        </p:txBody>
      </p:sp>
    </p:spTree>
    <p:extLst>
      <p:ext uri="{BB962C8B-B14F-4D97-AF65-F5344CB8AC3E}">
        <p14:creationId xmlns:p14="http://schemas.microsoft.com/office/powerpoint/2010/main" val="224518022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43000"/>
            <a:ext cx="9144000" cy="1200329"/>
          </a:xfrm>
          <a:prstGeom prst="rect">
            <a:avLst/>
          </a:prstGeom>
          <a:noFill/>
        </p:spPr>
        <p:txBody>
          <a:bodyPr wrap="square" rtlCol="0">
            <a:spAutoFit/>
          </a:bodyPr>
          <a:lstStyle/>
          <a:p>
            <a:pPr algn="just"/>
            <a:r>
              <a:rPr lang="en-US" dirty="0"/>
              <a:t>4</a:t>
            </a:r>
            <a:r>
              <a:rPr lang="en-US" dirty="0" smtClean="0"/>
              <a:t>. </a:t>
            </a:r>
            <a:r>
              <a:rPr lang="en-IN" b="1" dirty="0" smtClean="0"/>
              <a:t>Peer-to-Peer Replication: Key Components</a:t>
            </a:r>
          </a:p>
          <a:p>
            <a:pPr algn="just"/>
            <a:endParaRPr lang="en-IN" b="1" dirty="0" smtClean="0"/>
          </a:p>
          <a:p>
            <a:pPr algn="just"/>
            <a:endParaRPr lang="en-IN" b="1" dirty="0" smtClean="0"/>
          </a:p>
          <a:p>
            <a:pPr algn="just"/>
            <a:endParaRPr lang="en-US"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p:sp>
        <p:nvSpPr>
          <p:cNvPr id="5" name="TextBox 4"/>
          <p:cNvSpPr txBox="1"/>
          <p:nvPr/>
        </p:nvSpPr>
        <p:spPr>
          <a:xfrm>
            <a:off x="-457200" y="179868"/>
            <a:ext cx="67818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Peer-to-Peer</a:t>
            </a:r>
            <a:r>
              <a:rPr lang="en-US" sz="2800" b="1" u="sng" dirty="0">
                <a:solidFill>
                  <a:srgbClr val="FF0000"/>
                </a:solidFill>
              </a:rPr>
              <a:t> </a:t>
            </a:r>
          </a:p>
        </p:txBody>
      </p:sp>
      <p:pic>
        <p:nvPicPr>
          <p:cNvPr id="6" name="Picture 5"/>
          <p:cNvPicPr>
            <a:picLocks noChangeAspect="1"/>
          </p:cNvPicPr>
          <p:nvPr/>
        </p:nvPicPr>
        <p:blipFill>
          <a:blip r:embed="rId2"/>
          <a:stretch>
            <a:fillRect/>
          </a:stretch>
        </p:blipFill>
        <p:spPr>
          <a:xfrm>
            <a:off x="0" y="1608195"/>
            <a:ext cx="9144000" cy="4792605"/>
          </a:xfrm>
          <a:prstGeom prst="rect">
            <a:avLst/>
          </a:prstGeom>
        </p:spPr>
      </p:pic>
    </p:spTree>
    <p:extLst>
      <p:ext uri="{BB962C8B-B14F-4D97-AF65-F5344CB8AC3E}">
        <p14:creationId xmlns:p14="http://schemas.microsoft.com/office/powerpoint/2010/main" val="320781096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43000"/>
            <a:ext cx="9144000" cy="6350456"/>
          </a:xfrm>
          <a:prstGeom prst="rect">
            <a:avLst/>
          </a:prstGeom>
          <a:noFill/>
        </p:spPr>
        <p:txBody>
          <a:bodyPr wrap="square" rtlCol="0">
            <a:spAutoFit/>
          </a:bodyPr>
          <a:lstStyle/>
          <a:p>
            <a:pPr algn="just"/>
            <a:r>
              <a:rPr lang="en-US" dirty="0"/>
              <a:t>4</a:t>
            </a:r>
            <a:r>
              <a:rPr lang="en-US" dirty="0" smtClean="0"/>
              <a:t>. </a:t>
            </a:r>
            <a:r>
              <a:rPr lang="en-IN" b="1" dirty="0" smtClean="0"/>
              <a:t>Peer-to-Peer Replication: Conflict Handling</a:t>
            </a:r>
          </a:p>
          <a:p>
            <a:pPr algn="just"/>
            <a:endParaRPr lang="en-US" b="1" dirty="0" smtClean="0"/>
          </a:p>
          <a:p>
            <a:pPr>
              <a:lnSpc>
                <a:spcPct val="150000"/>
              </a:lnSpc>
              <a:spcAft>
                <a:spcPts val="800"/>
              </a:spcAft>
              <a:defRPr/>
            </a:pPr>
            <a:r>
              <a:rPr lang="en-IN" kern="100" dirty="0">
                <a:solidFill>
                  <a:srgbClr val="000000"/>
                </a:solidFill>
                <a:ea typeface="Aptos" panose="020B0004020202020204" pitchFamily="34" charset="0"/>
                <a:cs typeface="Times New Roman" panose="02020603050405020304" pitchFamily="18" charset="0"/>
              </a:rPr>
              <a:t>In P2P replication, conflicts can occur when two peers update the same data before syncing.</a:t>
            </a:r>
            <a:br>
              <a:rPr lang="en-IN" kern="100" dirty="0">
                <a:solidFill>
                  <a:srgbClr val="000000"/>
                </a:solidFill>
                <a:ea typeface="Aptos" panose="020B0004020202020204" pitchFamily="34" charset="0"/>
                <a:cs typeface="Times New Roman" panose="02020603050405020304" pitchFamily="18" charset="0"/>
              </a:rPr>
            </a:br>
            <a:r>
              <a:rPr lang="en-IN" kern="100" dirty="0">
                <a:solidFill>
                  <a:srgbClr val="000000"/>
                </a:solidFill>
                <a:ea typeface="Aptos" panose="020B0004020202020204" pitchFamily="34" charset="0"/>
                <a:cs typeface="Times New Roman" panose="02020603050405020304" pitchFamily="18" charset="0"/>
              </a:rPr>
              <a:t>Common conflict resolution strategies:</a:t>
            </a:r>
            <a:endParaRPr lang="en-IN" kern="100" dirty="0">
              <a:ea typeface="Aptos" panose="020B0004020202020204" pitchFamily="34" charset="0"/>
              <a:cs typeface="Times New Roman" panose="02020603050405020304" pitchFamily="18" charset="0"/>
            </a:endParaRPr>
          </a:p>
          <a:p>
            <a:pPr marL="342900" indent="-342900">
              <a:lnSpc>
                <a:spcPct val="150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Last Write Wins (LWW)</a:t>
            </a:r>
            <a:r>
              <a:rPr lang="en-IN" kern="100" dirty="0">
                <a:solidFill>
                  <a:srgbClr val="000000"/>
                </a:solidFill>
                <a:ea typeface="Aptos" panose="020B0004020202020204" pitchFamily="34" charset="0"/>
                <a:cs typeface="Times New Roman" panose="02020603050405020304" pitchFamily="18" charset="0"/>
              </a:rPr>
              <a:t> – The most recent timestamp wins.</a:t>
            </a:r>
          </a:p>
          <a:p>
            <a:pPr marL="342900" indent="-342900">
              <a:lnSpc>
                <a:spcPct val="150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Application-defined rules</a:t>
            </a:r>
            <a:r>
              <a:rPr lang="en-IN" kern="100" dirty="0">
                <a:solidFill>
                  <a:srgbClr val="000000"/>
                </a:solidFill>
                <a:ea typeface="Aptos" panose="020B0004020202020204" pitchFamily="34" charset="0"/>
                <a:cs typeface="Times New Roman" panose="02020603050405020304" pitchFamily="18" charset="0"/>
              </a:rPr>
              <a:t> – Example: In e-commerce, keep the highest inventory count.</a:t>
            </a:r>
          </a:p>
          <a:p>
            <a:pPr marL="342900" indent="-342900">
              <a:lnSpc>
                <a:spcPct val="150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Merge changes</a:t>
            </a:r>
            <a:r>
              <a:rPr lang="en-IN" kern="100" dirty="0">
                <a:solidFill>
                  <a:srgbClr val="000000"/>
                </a:solidFill>
                <a:ea typeface="Aptos" panose="020B0004020202020204" pitchFamily="34" charset="0"/>
                <a:cs typeface="Times New Roman" panose="02020603050405020304" pitchFamily="18" charset="0"/>
              </a:rPr>
              <a:t> – Combine updates if possible.</a:t>
            </a:r>
          </a:p>
          <a:p>
            <a:pPr>
              <a:lnSpc>
                <a:spcPct val="150000"/>
              </a:lnSpc>
              <a:spcAft>
                <a:spcPts val="800"/>
              </a:spcAft>
              <a:defRPr/>
            </a:pPr>
            <a:r>
              <a:rPr lang="en-IN" kern="100" dirty="0">
                <a:solidFill>
                  <a:srgbClr val="000000"/>
                </a:solidFill>
                <a:ea typeface="Aptos" panose="020B0004020202020204" pitchFamily="34" charset="0"/>
                <a:cs typeface="Segoe UI Emoji" panose="020B0502040204020203" pitchFamily="34" charset="0"/>
              </a:rPr>
              <a:t>📌</a:t>
            </a:r>
            <a:r>
              <a:rPr lang="en-IN" kern="100" dirty="0">
                <a:solidFill>
                  <a:srgbClr val="000000"/>
                </a:solidFill>
                <a:ea typeface="Aptos" panose="020B0004020202020204" pitchFamily="34" charset="0"/>
                <a:cs typeface="Times New Roman" panose="02020603050405020304" pitchFamily="18" charset="0"/>
              </a:rPr>
              <a:t> Example:</a:t>
            </a:r>
            <a:br>
              <a:rPr lang="en-IN" kern="100" dirty="0">
                <a:solidFill>
                  <a:srgbClr val="000000"/>
                </a:solidFill>
                <a:ea typeface="Aptos" panose="020B0004020202020204" pitchFamily="34" charset="0"/>
                <a:cs typeface="Times New Roman" panose="02020603050405020304" pitchFamily="18" charset="0"/>
              </a:rPr>
            </a:br>
            <a:r>
              <a:rPr lang="en-IN" kern="100" dirty="0">
                <a:solidFill>
                  <a:srgbClr val="000000"/>
                </a:solidFill>
                <a:ea typeface="Aptos" panose="020B0004020202020204" pitchFamily="34" charset="0"/>
                <a:cs typeface="Times New Roman" panose="02020603050405020304" pitchFamily="18" charset="0"/>
              </a:rPr>
              <a:t>Two peers update a user’s profile picture at the same time.</a:t>
            </a:r>
            <a:endParaRPr lang="en-IN" kern="100" dirty="0">
              <a:ea typeface="Aptos" panose="020B0004020202020204" pitchFamily="34" charset="0"/>
              <a:cs typeface="Times New Roman" panose="02020603050405020304" pitchFamily="18" charset="0"/>
            </a:endParaRPr>
          </a:p>
          <a:p>
            <a:pPr marL="342900" indent="-342900">
              <a:lnSpc>
                <a:spcPct val="150000"/>
              </a:lnSpc>
              <a:spcAft>
                <a:spcPts val="800"/>
              </a:spcAft>
              <a:buSzPts val="1000"/>
              <a:buFont typeface="Symbol" panose="05050102010706020507" pitchFamily="18" charset="2"/>
              <a:buChar char=""/>
              <a:tabLst>
                <a:tab pos="457200" algn="l"/>
              </a:tabLst>
              <a:defRPr/>
            </a:pPr>
            <a:r>
              <a:rPr lang="en-IN" kern="100" dirty="0">
                <a:solidFill>
                  <a:srgbClr val="000000"/>
                </a:solidFill>
                <a:ea typeface="Aptos" panose="020B0004020202020204" pitchFamily="34" charset="0"/>
                <a:cs typeface="Times New Roman" panose="02020603050405020304" pitchFamily="18" charset="0"/>
              </a:rPr>
              <a:t>In LWW: The update with the later timestamp is kept.</a:t>
            </a:r>
          </a:p>
          <a:p>
            <a:pPr marL="342900" indent="-342900">
              <a:lnSpc>
                <a:spcPct val="150000"/>
              </a:lnSpc>
              <a:spcAft>
                <a:spcPts val="800"/>
              </a:spcAft>
              <a:buSzPts val="1000"/>
              <a:buFont typeface="Symbol" panose="05050102010706020507" pitchFamily="18" charset="2"/>
              <a:buChar char=""/>
              <a:tabLst>
                <a:tab pos="457200" algn="l"/>
              </a:tabLst>
              <a:defRPr/>
            </a:pPr>
            <a:r>
              <a:rPr lang="en-IN" kern="100" dirty="0">
                <a:solidFill>
                  <a:srgbClr val="000000"/>
                </a:solidFill>
                <a:ea typeface="Aptos" panose="020B0004020202020204" pitchFamily="34" charset="0"/>
                <a:cs typeface="Times New Roman" panose="02020603050405020304" pitchFamily="18" charset="0"/>
              </a:rPr>
              <a:t>In merge: The system might prompt the user to choose.</a:t>
            </a:r>
          </a:p>
          <a:p>
            <a:pPr algn="just"/>
            <a:endParaRPr lang="en-IN" b="1" dirty="0" smtClean="0"/>
          </a:p>
          <a:p>
            <a:pPr algn="just"/>
            <a:endParaRPr lang="en-IN" b="1" dirty="0" smtClean="0"/>
          </a:p>
          <a:p>
            <a:pPr algn="just"/>
            <a:endParaRPr lang="en-US"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
        <p:nvSpPr>
          <p:cNvPr id="5" name="TextBox 4"/>
          <p:cNvSpPr txBox="1"/>
          <p:nvPr/>
        </p:nvSpPr>
        <p:spPr>
          <a:xfrm>
            <a:off x="-457200" y="179868"/>
            <a:ext cx="67056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Peer-to-Peer</a:t>
            </a:r>
            <a:r>
              <a:rPr lang="en-US" sz="2800" b="1" u="sng" dirty="0">
                <a:solidFill>
                  <a:srgbClr val="FF0000"/>
                </a:solidFill>
              </a:rPr>
              <a:t> </a:t>
            </a:r>
          </a:p>
        </p:txBody>
      </p:sp>
    </p:spTree>
    <p:extLst>
      <p:ext uri="{BB962C8B-B14F-4D97-AF65-F5344CB8AC3E}">
        <p14:creationId xmlns:p14="http://schemas.microsoft.com/office/powerpoint/2010/main" val="303651060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3693319"/>
          </a:xfrm>
          <a:prstGeom prst="rect">
            <a:avLst/>
          </a:prstGeom>
          <a:noFill/>
        </p:spPr>
        <p:txBody>
          <a:bodyPr wrap="square" rtlCol="0">
            <a:spAutoFit/>
          </a:bodyPr>
          <a:lstStyle/>
          <a:p>
            <a:pPr algn="just"/>
            <a:r>
              <a:rPr lang="en-US" u="sng" dirty="0" smtClean="0">
                <a:solidFill>
                  <a:srgbClr val="FF0000"/>
                </a:solidFill>
              </a:rPr>
              <a:t>5. </a:t>
            </a:r>
            <a:r>
              <a:rPr lang="en-IN" b="1" u="sng" dirty="0" smtClean="0">
                <a:solidFill>
                  <a:srgbClr val="FF0000"/>
                </a:solidFill>
              </a:rPr>
              <a:t>Combining </a:t>
            </a:r>
            <a:r>
              <a:rPr lang="en-IN" b="1" u="sng" dirty="0" err="1" smtClean="0">
                <a:solidFill>
                  <a:srgbClr val="FF0000"/>
                </a:solidFill>
              </a:rPr>
              <a:t>Sharding</a:t>
            </a:r>
            <a:r>
              <a:rPr lang="en-IN" b="1" u="sng" dirty="0" smtClean="0">
                <a:solidFill>
                  <a:srgbClr val="FF0000"/>
                </a:solidFill>
              </a:rPr>
              <a:t> + Replication:</a:t>
            </a:r>
            <a:endParaRPr lang="en-US" b="1" u="sng" dirty="0" smtClean="0">
              <a:solidFill>
                <a:srgbClr val="FF0000"/>
              </a:solidFill>
            </a:endParaRPr>
          </a:p>
          <a:p>
            <a:pPr algn="just"/>
            <a:r>
              <a:rPr lang="en-US" dirty="0"/>
              <a:t>Each shard (partition) is </a:t>
            </a:r>
            <a:r>
              <a:rPr lang="en-US" b="1" dirty="0"/>
              <a:t>replicated</a:t>
            </a:r>
            <a:r>
              <a:rPr lang="en-US" dirty="0"/>
              <a:t> across multiple nodes</a:t>
            </a:r>
            <a:r>
              <a:rPr lang="en-US" dirty="0" smtClean="0"/>
              <a:t>.</a:t>
            </a:r>
          </a:p>
          <a:p>
            <a:pPr algn="just"/>
            <a:r>
              <a:rPr lang="en-US" b="1" dirty="0" smtClean="0"/>
              <a:t>Advantages</a:t>
            </a:r>
            <a:r>
              <a:rPr lang="en-US" b="1" dirty="0"/>
              <a:t>:</a:t>
            </a:r>
            <a:endParaRPr lang="en-US" dirty="0"/>
          </a:p>
          <a:p>
            <a:pPr algn="just"/>
            <a:r>
              <a:rPr lang="en-IN" dirty="0"/>
              <a:t>Scalability (due to </a:t>
            </a:r>
            <a:r>
              <a:rPr lang="en-IN" dirty="0" err="1"/>
              <a:t>sharding</a:t>
            </a:r>
            <a:r>
              <a:rPr lang="en-IN" dirty="0" smtClean="0"/>
              <a:t>).</a:t>
            </a:r>
          </a:p>
          <a:p>
            <a:pPr algn="just"/>
            <a:r>
              <a:rPr lang="en-US" dirty="0"/>
              <a:t>Fault tolerance &amp; high availability (due to replication</a:t>
            </a:r>
            <a:r>
              <a:rPr lang="en-US" dirty="0" smtClean="0"/>
              <a:t>).</a:t>
            </a:r>
          </a:p>
          <a:p>
            <a:pPr algn="just"/>
            <a:r>
              <a:rPr lang="en-US" b="1" dirty="0" smtClean="0"/>
              <a:t>Limitations</a:t>
            </a:r>
            <a:r>
              <a:rPr lang="en-US" b="1" dirty="0"/>
              <a:t>:</a:t>
            </a:r>
            <a:endParaRPr lang="en-US" dirty="0"/>
          </a:p>
          <a:p>
            <a:pPr algn="just"/>
            <a:r>
              <a:rPr lang="en-US" dirty="0"/>
              <a:t>Higher complexity in system design</a:t>
            </a:r>
            <a:r>
              <a:rPr lang="en-US" dirty="0" smtClean="0"/>
              <a:t>.</a:t>
            </a:r>
          </a:p>
          <a:p>
            <a:pPr algn="just"/>
            <a:r>
              <a:rPr lang="en-US" dirty="0"/>
              <a:t>Requires sophisticated coordination between shards and replicas</a:t>
            </a:r>
            <a:r>
              <a:rPr lang="en-US" dirty="0" smtClean="0"/>
              <a:t>.</a:t>
            </a:r>
          </a:p>
          <a:p>
            <a:pPr algn="just"/>
            <a:r>
              <a:rPr lang="en-US" b="1" dirty="0" smtClean="0"/>
              <a:t>Example</a:t>
            </a:r>
            <a:r>
              <a:rPr lang="en-US" b="1" dirty="0"/>
              <a:t>:</a:t>
            </a:r>
            <a:r>
              <a:rPr lang="en-US" dirty="0"/>
              <a:t> </a:t>
            </a:r>
            <a:r>
              <a:rPr lang="en-IN" dirty="0"/>
              <a:t>Google Spanner, </a:t>
            </a:r>
            <a:r>
              <a:rPr lang="en-IN" dirty="0" err="1"/>
              <a:t>HBase</a:t>
            </a:r>
            <a:r>
              <a:rPr lang="en-IN" dirty="0"/>
              <a:t>, modern distributed SQL databases.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p:sp>
        <p:nvSpPr>
          <p:cNvPr id="5" name="TextBox 4"/>
          <p:cNvSpPr txBox="1"/>
          <p:nvPr/>
        </p:nvSpPr>
        <p:spPr>
          <a:xfrm>
            <a:off x="-381000" y="179868"/>
            <a:ext cx="96774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Combining </a:t>
            </a:r>
            <a:r>
              <a:rPr lang="en-IN" sz="2800" b="1" u="sng" dirty="0" err="1">
                <a:solidFill>
                  <a:srgbClr val="FF0000"/>
                </a:solidFill>
              </a:rPr>
              <a:t>Sharding</a:t>
            </a:r>
            <a:r>
              <a:rPr lang="en-IN" sz="2800" b="1" u="sng" dirty="0">
                <a:solidFill>
                  <a:srgbClr val="FF0000"/>
                </a:solidFill>
              </a:rPr>
              <a:t> + Replication</a:t>
            </a:r>
            <a:r>
              <a:rPr lang="en-US" sz="2800" b="1" u="sng" dirty="0" smtClean="0">
                <a:solidFill>
                  <a:srgbClr val="FF0000"/>
                </a:solidFill>
              </a:rPr>
              <a:t> </a:t>
            </a:r>
            <a:endParaRPr lang="en-US" sz="2800" b="1" u="sng" dirty="0">
              <a:solidFill>
                <a:srgbClr val="FF0000"/>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481" y="1295400"/>
            <a:ext cx="3073919" cy="4038600"/>
          </a:xfrm>
          <a:prstGeom prst="rect">
            <a:avLst/>
          </a:prstGeom>
        </p:spPr>
      </p:pic>
    </p:spTree>
    <p:extLst>
      <p:ext uri="{BB962C8B-B14F-4D97-AF65-F5344CB8AC3E}">
        <p14:creationId xmlns:p14="http://schemas.microsoft.com/office/powerpoint/2010/main" val="241336482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495800" cy="4724883"/>
          </a:xfrm>
          <a:prstGeom prst="rect">
            <a:avLst/>
          </a:prstGeom>
          <a:noFill/>
        </p:spPr>
        <p:txBody>
          <a:bodyPr wrap="square" rtlCol="0">
            <a:spAutoFit/>
          </a:bodyPr>
          <a:lstStyle/>
          <a:p>
            <a:pPr algn="just"/>
            <a:r>
              <a:rPr lang="en-US" sz="1600" dirty="0" smtClean="0"/>
              <a:t>5. </a:t>
            </a:r>
            <a:r>
              <a:rPr lang="en-IN" sz="1600" b="1" dirty="0" smtClean="0"/>
              <a:t>Combining </a:t>
            </a:r>
            <a:r>
              <a:rPr lang="en-IN" sz="1600" b="1" dirty="0" err="1" smtClean="0"/>
              <a:t>Sharding</a:t>
            </a:r>
            <a:r>
              <a:rPr lang="en-IN" sz="1600" b="1" dirty="0" smtClean="0"/>
              <a:t> + Replication:</a:t>
            </a:r>
            <a:endParaRPr lang="en-US" sz="1600" b="1" dirty="0" smtClean="0"/>
          </a:p>
          <a:p>
            <a:pPr algn="just">
              <a:lnSpc>
                <a:spcPct val="150000"/>
              </a:lnSpc>
              <a:spcBef>
                <a:spcPct val="0"/>
              </a:spcBef>
              <a:buFontTx/>
              <a:buNone/>
            </a:pPr>
            <a:r>
              <a:rPr lang="en-US" altLang="en-US" sz="1600" dirty="0"/>
              <a:t>Modern applications generate </a:t>
            </a:r>
            <a:r>
              <a:rPr lang="en-US" altLang="en-US" sz="1600" b="1" dirty="0"/>
              <a:t>huge amounts of data</a:t>
            </a:r>
            <a:r>
              <a:rPr lang="en-US" altLang="en-US" sz="1600" dirty="0"/>
              <a:t> every second (e.g., Facebook posts, Amazon orders, </a:t>
            </a:r>
            <a:r>
              <a:rPr lang="en-US" altLang="en-US" sz="1600" dirty="0" err="1"/>
              <a:t>IoT</a:t>
            </a:r>
            <a:r>
              <a:rPr lang="en-US" altLang="en-US" sz="1600" dirty="0"/>
              <a:t> sensors).</a:t>
            </a:r>
            <a:br>
              <a:rPr lang="en-US" altLang="en-US" sz="1600" dirty="0"/>
            </a:br>
            <a:r>
              <a:rPr lang="en-US" altLang="en-US" sz="1600" dirty="0"/>
              <a:t>To manage this at scale, </a:t>
            </a:r>
            <a:r>
              <a:rPr lang="en-US" altLang="en-US" sz="1600" b="1" dirty="0"/>
              <a:t>NoSQL databases</a:t>
            </a:r>
            <a:r>
              <a:rPr lang="en-US" altLang="en-US" sz="1600" dirty="0"/>
              <a:t> use two main techniques:</a:t>
            </a:r>
          </a:p>
          <a:p>
            <a:pPr algn="just">
              <a:lnSpc>
                <a:spcPct val="150000"/>
              </a:lnSpc>
              <a:spcBef>
                <a:spcPct val="0"/>
              </a:spcBef>
              <a:buFontTx/>
              <a:buNone/>
            </a:pPr>
            <a:r>
              <a:rPr lang="en-US" altLang="en-US" sz="1600" b="1" dirty="0" err="1"/>
              <a:t>Sharding</a:t>
            </a:r>
            <a:r>
              <a:rPr lang="en-US" altLang="en-US" sz="1600" dirty="0"/>
              <a:t> → Distributes data across many machines.</a:t>
            </a:r>
          </a:p>
          <a:p>
            <a:pPr algn="just">
              <a:lnSpc>
                <a:spcPct val="150000"/>
              </a:lnSpc>
              <a:spcBef>
                <a:spcPct val="0"/>
              </a:spcBef>
              <a:buFontTx/>
              <a:buNone/>
            </a:pPr>
            <a:r>
              <a:rPr lang="en-US" altLang="en-US" sz="1600" b="1" dirty="0"/>
              <a:t>Replication</a:t>
            </a:r>
            <a:r>
              <a:rPr lang="en-US" altLang="en-US" sz="1600" dirty="0"/>
              <a:t> → Makes multiple copies of data for fault tolerance.</a:t>
            </a:r>
          </a:p>
          <a:p>
            <a:pPr algn="just">
              <a:lnSpc>
                <a:spcPct val="150000"/>
              </a:lnSpc>
              <a:spcBef>
                <a:spcPct val="0"/>
              </a:spcBef>
              <a:buFontTx/>
              <a:buNone/>
            </a:pPr>
            <a:r>
              <a:rPr lang="en-US" altLang="en-US" sz="1600" dirty="0"/>
              <a:t>👉 But when </a:t>
            </a:r>
            <a:r>
              <a:rPr lang="en-US" altLang="en-US" sz="1600" b="1" dirty="0"/>
              <a:t>both are combined</a:t>
            </a:r>
            <a:r>
              <a:rPr lang="en-US" altLang="en-US" sz="1600" dirty="0"/>
              <a:t>, we must address </a:t>
            </a:r>
            <a:r>
              <a:rPr lang="en-US" altLang="en-US" sz="1600" b="1" dirty="0"/>
              <a:t>consistency</a:t>
            </a:r>
            <a:r>
              <a:rPr lang="en-US" altLang="en-US" sz="1600" dirty="0"/>
              <a:t> → how updates are kept in sync across shards and replicas.</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
        <p:nvSpPr>
          <p:cNvPr id="5" name="TextBox 4"/>
          <p:cNvSpPr txBox="1"/>
          <p:nvPr/>
        </p:nvSpPr>
        <p:spPr>
          <a:xfrm>
            <a:off x="-381000" y="179868"/>
            <a:ext cx="9448800"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Combining </a:t>
            </a:r>
            <a:r>
              <a:rPr lang="en-IN" sz="2800" b="1" u="sng" dirty="0" err="1">
                <a:solidFill>
                  <a:srgbClr val="FF0000"/>
                </a:solidFill>
              </a:rPr>
              <a:t>Sharding</a:t>
            </a:r>
            <a:r>
              <a:rPr lang="en-IN" sz="2800" b="1" u="sng" dirty="0">
                <a:solidFill>
                  <a:srgbClr val="FF0000"/>
                </a:solidFill>
              </a:rPr>
              <a:t> + Replication</a:t>
            </a:r>
            <a:r>
              <a:rPr lang="en-US" sz="2800" b="1" u="sng" dirty="0">
                <a:solidFill>
                  <a:srgbClr val="FF0000"/>
                </a:solidFill>
              </a:rPr>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481" y="1295400"/>
            <a:ext cx="3073919" cy="4038600"/>
          </a:xfrm>
          <a:prstGeom prst="rect">
            <a:avLst/>
          </a:prstGeom>
        </p:spPr>
      </p:pic>
    </p:spTree>
    <p:extLst>
      <p:ext uri="{BB962C8B-B14F-4D97-AF65-F5344CB8AC3E}">
        <p14:creationId xmlns:p14="http://schemas.microsoft.com/office/powerpoint/2010/main" val="34368770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839200" cy="584775"/>
          </a:xfrm>
          <a:prstGeom prst="rect">
            <a:avLst/>
          </a:prstGeom>
          <a:noFill/>
        </p:spPr>
        <p:txBody>
          <a:bodyPr wrap="square" rtlCol="0">
            <a:spAutoFit/>
          </a:bodyPr>
          <a:lstStyle/>
          <a:p>
            <a:pPr algn="just"/>
            <a:r>
              <a:rPr lang="en-US" sz="1600" dirty="0" smtClean="0"/>
              <a:t>5. </a:t>
            </a:r>
            <a:r>
              <a:rPr lang="en-IN" sz="1600" b="1" dirty="0" smtClean="0"/>
              <a:t>Combining </a:t>
            </a:r>
            <a:r>
              <a:rPr lang="en-IN" sz="1600" b="1" dirty="0" err="1" smtClean="0"/>
              <a:t>Sharding</a:t>
            </a:r>
            <a:r>
              <a:rPr lang="en-IN" sz="1600" b="1" dirty="0" smtClean="0"/>
              <a:t> + Replication:</a:t>
            </a:r>
          </a:p>
          <a:p>
            <a:pPr algn="just"/>
            <a:endParaRPr lang="en-US" sz="1600"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p:sp>
        <p:nvSpPr>
          <p:cNvPr id="5" name="TextBox 4"/>
          <p:cNvSpPr txBox="1"/>
          <p:nvPr/>
        </p:nvSpPr>
        <p:spPr>
          <a:xfrm>
            <a:off x="-381001" y="179868"/>
            <a:ext cx="9525001"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Combining </a:t>
            </a:r>
            <a:r>
              <a:rPr lang="en-IN" sz="2800" b="1" u="sng" dirty="0" err="1">
                <a:solidFill>
                  <a:srgbClr val="FF0000"/>
                </a:solidFill>
              </a:rPr>
              <a:t>Sharding</a:t>
            </a:r>
            <a:r>
              <a:rPr lang="en-IN" sz="2800" b="1" u="sng" dirty="0">
                <a:solidFill>
                  <a:srgbClr val="FF0000"/>
                </a:solidFill>
              </a:rPr>
              <a:t> + Replication</a:t>
            </a:r>
            <a:r>
              <a:rPr lang="en-US" sz="2800" b="1" u="sng" dirty="0">
                <a:solidFill>
                  <a:srgbClr val="FF0000"/>
                </a:solidFill>
              </a:rPr>
              <a:t> </a:t>
            </a:r>
          </a:p>
        </p:txBody>
      </p:sp>
      <p:pic>
        <p:nvPicPr>
          <p:cNvPr id="7" name="Picture 6"/>
          <p:cNvPicPr>
            <a:picLocks noChangeAspect="1"/>
          </p:cNvPicPr>
          <p:nvPr/>
        </p:nvPicPr>
        <p:blipFill>
          <a:blip r:embed="rId2"/>
          <a:stretch>
            <a:fillRect/>
          </a:stretch>
        </p:blipFill>
        <p:spPr>
          <a:xfrm>
            <a:off x="1" y="1561143"/>
            <a:ext cx="9144000" cy="4346096"/>
          </a:xfrm>
          <a:prstGeom prst="rect">
            <a:avLst/>
          </a:prstGeom>
        </p:spPr>
      </p:pic>
    </p:spTree>
    <p:extLst>
      <p:ext uri="{BB962C8B-B14F-4D97-AF65-F5344CB8AC3E}">
        <p14:creationId xmlns:p14="http://schemas.microsoft.com/office/powerpoint/2010/main" val="310362629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839200" cy="584775"/>
          </a:xfrm>
          <a:prstGeom prst="rect">
            <a:avLst/>
          </a:prstGeom>
          <a:noFill/>
        </p:spPr>
        <p:txBody>
          <a:bodyPr wrap="square" rtlCol="0">
            <a:spAutoFit/>
          </a:bodyPr>
          <a:lstStyle/>
          <a:p>
            <a:pPr algn="just"/>
            <a:r>
              <a:rPr lang="en-US" sz="1600" dirty="0" smtClean="0"/>
              <a:t>5. </a:t>
            </a:r>
            <a:r>
              <a:rPr lang="en-IN" sz="1600" b="1" dirty="0" smtClean="0"/>
              <a:t>Combining </a:t>
            </a:r>
            <a:r>
              <a:rPr lang="en-IN" sz="1600" b="1" dirty="0" err="1" smtClean="0"/>
              <a:t>Sharding</a:t>
            </a:r>
            <a:r>
              <a:rPr lang="en-IN" sz="1600" b="1" dirty="0" smtClean="0"/>
              <a:t> + Replication:</a:t>
            </a:r>
          </a:p>
          <a:p>
            <a:pPr algn="just"/>
            <a:endParaRPr lang="en-US" sz="1600"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sp>
        <p:nvSpPr>
          <p:cNvPr id="5" name="TextBox 4"/>
          <p:cNvSpPr txBox="1"/>
          <p:nvPr/>
        </p:nvSpPr>
        <p:spPr>
          <a:xfrm>
            <a:off x="-381001" y="179868"/>
            <a:ext cx="9525001" cy="523220"/>
          </a:xfrm>
          <a:prstGeom prst="rect">
            <a:avLst/>
          </a:prstGeom>
          <a:noFill/>
        </p:spPr>
        <p:txBody>
          <a:bodyPr wrap="square" rtlCol="0">
            <a:spAutoFit/>
          </a:bodyPr>
          <a:lstStyle/>
          <a:p>
            <a:pPr algn="ctr"/>
            <a:r>
              <a:rPr lang="en-US" sz="2800" dirty="0"/>
              <a:t>Distribution Models: </a:t>
            </a:r>
            <a:r>
              <a:rPr lang="en-IN" sz="2800" b="1" u="sng" dirty="0">
                <a:solidFill>
                  <a:srgbClr val="FF0000"/>
                </a:solidFill>
              </a:rPr>
              <a:t>Combining </a:t>
            </a:r>
            <a:r>
              <a:rPr lang="en-IN" sz="2800" b="1" u="sng" dirty="0" err="1">
                <a:solidFill>
                  <a:srgbClr val="FF0000"/>
                </a:solidFill>
              </a:rPr>
              <a:t>Sharding</a:t>
            </a:r>
            <a:r>
              <a:rPr lang="en-IN" sz="2800" b="1" u="sng" dirty="0">
                <a:solidFill>
                  <a:srgbClr val="FF0000"/>
                </a:solidFill>
              </a:rPr>
              <a:t> + Replication</a:t>
            </a:r>
            <a:r>
              <a:rPr lang="en-US" sz="2800" b="1" u="sng" dirty="0">
                <a:solidFill>
                  <a:srgbClr val="FF0000"/>
                </a:solidFill>
              </a:rPr>
              <a:t> </a:t>
            </a:r>
          </a:p>
        </p:txBody>
      </p:sp>
      <p:pic>
        <p:nvPicPr>
          <p:cNvPr id="7" name="Picture 6"/>
          <p:cNvPicPr>
            <a:picLocks noChangeAspect="1"/>
          </p:cNvPicPr>
          <p:nvPr/>
        </p:nvPicPr>
        <p:blipFill>
          <a:blip r:embed="rId2"/>
          <a:stretch>
            <a:fillRect/>
          </a:stretch>
        </p:blipFill>
        <p:spPr>
          <a:xfrm>
            <a:off x="1" y="1561143"/>
            <a:ext cx="9144000" cy="4346096"/>
          </a:xfrm>
          <a:prstGeom prst="rect">
            <a:avLst/>
          </a:prstGeom>
        </p:spPr>
      </p:pic>
    </p:spTree>
    <p:extLst>
      <p:ext uri="{BB962C8B-B14F-4D97-AF65-F5344CB8AC3E}">
        <p14:creationId xmlns:p14="http://schemas.microsoft.com/office/powerpoint/2010/main" val="1870909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2062103"/>
          </a:xfrm>
          <a:prstGeom prst="rect">
            <a:avLst/>
          </a:prstGeom>
          <a:noFill/>
        </p:spPr>
        <p:txBody>
          <a:bodyPr wrap="square" rtlCol="0">
            <a:spAutoFit/>
          </a:bodyPr>
          <a:lstStyle/>
          <a:p>
            <a:pPr algn="just"/>
            <a:r>
              <a:rPr lang="en-US" sz="2000" b="1" dirty="0" smtClean="0"/>
              <a:t>Summary</a:t>
            </a:r>
            <a:r>
              <a:rPr lang="en-US" dirty="0" smtClean="0"/>
              <a:t> </a:t>
            </a:r>
            <a:r>
              <a:rPr lang="en-IN" b="1" dirty="0" smtClean="0"/>
              <a:t>:</a:t>
            </a:r>
            <a:endParaRPr lang="en-US" b="1" dirty="0" smtClean="0"/>
          </a:p>
          <a:p>
            <a:pPr algn="just"/>
            <a:r>
              <a:rPr lang="en-US" b="1" dirty="0"/>
              <a:t>Single server</a:t>
            </a:r>
            <a:r>
              <a:rPr lang="en-US" dirty="0"/>
              <a:t> → simplest, but limited</a:t>
            </a:r>
            <a:r>
              <a:rPr lang="en-US" dirty="0" smtClean="0"/>
              <a:t>.</a:t>
            </a:r>
          </a:p>
          <a:p>
            <a:pPr algn="just"/>
            <a:r>
              <a:rPr lang="en-IN" b="1" dirty="0" err="1"/>
              <a:t>Sharding</a:t>
            </a:r>
            <a:r>
              <a:rPr lang="en-IN" dirty="0"/>
              <a:t> → scales horizontally</a:t>
            </a:r>
            <a:r>
              <a:rPr lang="en-IN" dirty="0" smtClean="0"/>
              <a:t>.</a:t>
            </a:r>
          </a:p>
          <a:p>
            <a:pPr algn="just"/>
            <a:r>
              <a:rPr lang="en-US" b="1" dirty="0"/>
              <a:t>Replication</a:t>
            </a:r>
            <a:r>
              <a:rPr lang="en-US" dirty="0"/>
              <a:t> → improves availability and fault tolerance</a:t>
            </a:r>
            <a:r>
              <a:rPr lang="en-US" dirty="0" smtClean="0"/>
              <a:t>.</a:t>
            </a:r>
          </a:p>
          <a:p>
            <a:pPr algn="just"/>
            <a:r>
              <a:rPr lang="en-US" b="1" dirty="0" err="1"/>
              <a:t>Sharding</a:t>
            </a:r>
            <a:r>
              <a:rPr lang="en-US" b="1" dirty="0"/>
              <a:t> + Replication</a:t>
            </a:r>
            <a:r>
              <a:rPr lang="en-US" dirty="0"/>
              <a:t> → combines the best of both worlds.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
        <p:nvSpPr>
          <p:cNvPr id="5" name="TextBox 4"/>
          <p:cNvSpPr txBox="1"/>
          <p:nvPr/>
        </p:nvSpPr>
        <p:spPr>
          <a:xfrm>
            <a:off x="-2209800" y="283228"/>
            <a:ext cx="9601200" cy="523220"/>
          </a:xfrm>
          <a:prstGeom prst="rect">
            <a:avLst/>
          </a:prstGeom>
          <a:noFill/>
        </p:spPr>
        <p:txBody>
          <a:bodyPr wrap="square" rtlCol="0">
            <a:spAutoFit/>
          </a:bodyPr>
          <a:lstStyle/>
          <a:p>
            <a:pPr algn="ctr"/>
            <a:r>
              <a:rPr lang="en-US" sz="2800" dirty="0"/>
              <a:t>Distribution Models: </a:t>
            </a:r>
            <a:r>
              <a:rPr lang="en-US" sz="2800" b="1" u="sng" dirty="0" smtClean="0">
                <a:solidFill>
                  <a:srgbClr val="FF0000"/>
                </a:solidFill>
              </a:rPr>
              <a:t>Summary</a:t>
            </a:r>
            <a:endParaRPr lang="en-US" sz="2800" b="1" u="sng" dirty="0">
              <a:solidFill>
                <a:srgbClr val="FF0000"/>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1066800"/>
            <a:ext cx="4572000" cy="5029200"/>
          </a:xfrm>
          <a:prstGeom prst="rect">
            <a:avLst/>
          </a:prstGeom>
        </p:spPr>
      </p:pic>
    </p:spTree>
    <p:extLst>
      <p:ext uri="{BB962C8B-B14F-4D97-AF65-F5344CB8AC3E}">
        <p14:creationId xmlns:p14="http://schemas.microsoft.com/office/powerpoint/2010/main" val="221392159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3810000" cy="2308324"/>
          </a:xfrm>
          <a:prstGeom prst="rect">
            <a:avLst/>
          </a:prstGeom>
          <a:noFill/>
        </p:spPr>
        <p:txBody>
          <a:bodyPr wrap="square" rtlCol="0">
            <a:spAutoFit/>
          </a:bodyPr>
          <a:lstStyle/>
          <a:p>
            <a:pPr marL="342900" indent="-342900" algn="just">
              <a:buFont typeface="Wingdings" panose="05000000000000000000" pitchFamily="2" charset="2"/>
              <a:buChar char="§"/>
            </a:pPr>
            <a:r>
              <a:rPr lang="en-IN" sz="2400" dirty="0"/>
              <a:t>Update Consistency </a:t>
            </a:r>
            <a:endParaRPr lang="en-IN" sz="2400" dirty="0" smtClean="0"/>
          </a:p>
          <a:p>
            <a:pPr marL="342900" indent="-342900" algn="just">
              <a:buFont typeface="Wingdings" panose="05000000000000000000" pitchFamily="2" charset="2"/>
              <a:buChar char="§"/>
            </a:pPr>
            <a:r>
              <a:rPr lang="en-IN" sz="2400" dirty="0"/>
              <a:t>Read Consistency </a:t>
            </a:r>
            <a:endParaRPr lang="en-IN" sz="2400" dirty="0" smtClean="0"/>
          </a:p>
          <a:p>
            <a:pPr marL="342900" indent="-342900" algn="just">
              <a:buFont typeface="Wingdings" panose="05000000000000000000" pitchFamily="2" charset="2"/>
              <a:buChar char="§"/>
            </a:pPr>
            <a:r>
              <a:rPr lang="en-IN" sz="2400" dirty="0"/>
              <a:t>Relaxing Consistency </a:t>
            </a:r>
            <a:endParaRPr lang="en-IN" sz="2400" dirty="0" smtClean="0"/>
          </a:p>
          <a:p>
            <a:pPr marL="342900" indent="-342900" algn="just">
              <a:buFont typeface="Wingdings" panose="05000000000000000000" pitchFamily="2" charset="2"/>
              <a:buChar char="§"/>
            </a:pPr>
            <a:r>
              <a:rPr lang="en-US" sz="2400" dirty="0"/>
              <a:t>Real-world examples (bank transfers, e-commerce inventory). </a:t>
            </a:r>
            <a:endParaRPr lang="en-GB" sz="24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p:sp>
        <p:nvSpPr>
          <p:cNvPr id="5" name="TextBox 4"/>
          <p:cNvSpPr txBox="1"/>
          <p:nvPr/>
        </p:nvSpPr>
        <p:spPr>
          <a:xfrm>
            <a:off x="-1143000" y="227994"/>
            <a:ext cx="5889009" cy="523220"/>
          </a:xfrm>
          <a:prstGeom prst="rect">
            <a:avLst/>
          </a:prstGeom>
          <a:noFill/>
        </p:spPr>
        <p:txBody>
          <a:bodyPr wrap="square" rtlCol="0">
            <a:spAutoFit/>
          </a:bodyPr>
          <a:lstStyle/>
          <a:p>
            <a:pPr algn="ctr"/>
            <a:r>
              <a:rPr lang="en-US" sz="2800" dirty="0" smtClean="0"/>
              <a:t>Consistency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200" y="1066800"/>
            <a:ext cx="4495800" cy="5181600"/>
          </a:xfrm>
          <a:prstGeom prst="rect">
            <a:avLst/>
          </a:prstGeom>
        </p:spPr>
      </p:pic>
    </p:spTree>
    <p:extLst>
      <p:ext uri="{BB962C8B-B14F-4D97-AF65-F5344CB8AC3E}">
        <p14:creationId xmlns:p14="http://schemas.microsoft.com/office/powerpoint/2010/main" val="6174374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800600" cy="5324535"/>
          </a:xfrm>
          <a:prstGeom prst="rect">
            <a:avLst/>
          </a:prstGeom>
          <a:noFill/>
        </p:spPr>
        <p:txBody>
          <a:bodyPr wrap="square" rtlCol="0">
            <a:spAutoFit/>
          </a:bodyPr>
          <a:lstStyle/>
          <a:p>
            <a:pPr marL="342900" indent="-342900" algn="just">
              <a:buFont typeface="Wingdings" panose="05000000000000000000" pitchFamily="2" charset="2"/>
              <a:buChar char="§"/>
            </a:pPr>
            <a:r>
              <a:rPr lang="en-IN" sz="2000" b="1" dirty="0"/>
              <a:t>Update </a:t>
            </a:r>
            <a:r>
              <a:rPr lang="en-IN" sz="2000" b="1" dirty="0" smtClean="0"/>
              <a:t>Consistency</a:t>
            </a:r>
            <a:r>
              <a:rPr lang="en-IN" sz="2000" dirty="0" smtClean="0"/>
              <a:t>: </a:t>
            </a:r>
            <a:r>
              <a:rPr lang="en-US" sz="2000" dirty="0"/>
              <a:t>Once a write (update) is completed, all replicas in the system eventually reflect the </a:t>
            </a:r>
            <a:r>
              <a:rPr lang="en-US" sz="2000" b="1" dirty="0"/>
              <a:t>same final value</a:t>
            </a:r>
            <a:r>
              <a:rPr lang="en-US" sz="2000" dirty="0" smtClean="0"/>
              <a:t>.</a:t>
            </a:r>
          </a:p>
          <a:p>
            <a:pPr marL="342900" indent="-342900" algn="just">
              <a:buFont typeface="Wingdings" panose="05000000000000000000" pitchFamily="2" charset="2"/>
              <a:buChar char="§"/>
            </a:pPr>
            <a:r>
              <a:rPr lang="en-US" sz="2000" b="1" dirty="0"/>
              <a:t>Guarantee:</a:t>
            </a:r>
            <a:r>
              <a:rPr lang="en-US" sz="2000" dirty="0"/>
              <a:t> All replicas converge to the same state after the updates</a:t>
            </a:r>
            <a:r>
              <a:rPr lang="en-US" sz="2000" dirty="0" smtClean="0"/>
              <a:t>.</a:t>
            </a:r>
          </a:p>
          <a:p>
            <a:pPr marL="342900" indent="-342900" algn="just">
              <a:buFont typeface="Wingdings" panose="05000000000000000000" pitchFamily="2" charset="2"/>
              <a:buChar char="§"/>
            </a:pPr>
            <a:r>
              <a:rPr lang="en-US" sz="2000" b="1" dirty="0"/>
              <a:t>Focus:</a:t>
            </a:r>
            <a:r>
              <a:rPr lang="en-US" sz="2000" dirty="0"/>
              <a:t> The correctness of </a:t>
            </a:r>
            <a:r>
              <a:rPr lang="en-US" sz="2000" b="1" dirty="0"/>
              <a:t>write operations</a:t>
            </a:r>
            <a:r>
              <a:rPr lang="en-US" sz="2000" dirty="0" smtClean="0"/>
              <a:t>.</a:t>
            </a:r>
          </a:p>
          <a:p>
            <a:pPr marL="342900" indent="-342900" algn="just">
              <a:buFont typeface="Wingdings" panose="05000000000000000000" pitchFamily="2" charset="2"/>
              <a:buChar char="§"/>
            </a:pPr>
            <a:r>
              <a:rPr lang="en-IN" sz="2000" dirty="0"/>
              <a:t>Example (Bank Transfer</a:t>
            </a:r>
            <a:r>
              <a:rPr lang="en-IN" sz="2000" dirty="0" smtClean="0"/>
              <a:t>):</a:t>
            </a:r>
          </a:p>
          <a:p>
            <a:pPr marL="342900" indent="-342900" algn="just">
              <a:buFont typeface="Wingdings" panose="05000000000000000000" pitchFamily="2" charset="2"/>
              <a:buChar char="§"/>
            </a:pPr>
            <a:r>
              <a:rPr lang="en-US" sz="2000" dirty="0"/>
              <a:t>You transfer ₹1000 from Account A to Account B</a:t>
            </a:r>
            <a:r>
              <a:rPr lang="en-US" sz="2000" dirty="0" smtClean="0"/>
              <a:t>.</a:t>
            </a:r>
          </a:p>
          <a:p>
            <a:pPr marL="342900" indent="-342900" algn="just">
              <a:buFont typeface="Wingdings" panose="05000000000000000000" pitchFamily="2" charset="2"/>
              <a:buChar char="§"/>
            </a:pPr>
            <a:r>
              <a:rPr lang="en-US" sz="2000" dirty="0"/>
              <a:t>Even if network delays occur, eventually </a:t>
            </a:r>
            <a:r>
              <a:rPr lang="en-US" sz="2000" b="1" dirty="0"/>
              <a:t>both accounts will show the correct balances</a:t>
            </a:r>
            <a:r>
              <a:rPr lang="en-US" sz="2000" dirty="0" smtClean="0"/>
              <a:t>.</a:t>
            </a:r>
          </a:p>
          <a:p>
            <a:pPr marL="342900" indent="-342900" algn="just">
              <a:buFont typeface="Wingdings" panose="05000000000000000000" pitchFamily="2" charset="2"/>
              <a:buChar char="§"/>
            </a:pPr>
            <a:r>
              <a:rPr lang="en-US" sz="2000" dirty="0"/>
              <a:t>Once updates are propagated, </a:t>
            </a:r>
            <a:r>
              <a:rPr lang="en-US" sz="2000" b="1" dirty="0"/>
              <a:t>no ATM or branch will show conflicting balances</a:t>
            </a:r>
            <a:r>
              <a:rPr lang="en-US" sz="2000" dirty="0"/>
              <a:t>.</a:t>
            </a:r>
            <a:endParaRPr lang="en-IN" sz="2000"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
        <p:nvSpPr>
          <p:cNvPr id="5" name="TextBox 4"/>
          <p:cNvSpPr txBox="1"/>
          <p:nvPr/>
        </p:nvSpPr>
        <p:spPr>
          <a:xfrm>
            <a:off x="-867830" y="213438"/>
            <a:ext cx="8335430" cy="523220"/>
          </a:xfrm>
          <a:prstGeom prst="rect">
            <a:avLst/>
          </a:prstGeom>
          <a:noFill/>
        </p:spPr>
        <p:txBody>
          <a:bodyPr wrap="square" rtlCol="0">
            <a:spAutoFit/>
          </a:bodyPr>
          <a:lstStyle/>
          <a:p>
            <a:pPr algn="ctr"/>
            <a:r>
              <a:rPr lang="en-US" sz="2800" dirty="0" smtClean="0"/>
              <a:t>Consistency Models : Update Consistency</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1066800"/>
            <a:ext cx="3581400" cy="5181600"/>
          </a:xfrm>
          <a:prstGeom prst="rect">
            <a:avLst/>
          </a:prstGeom>
        </p:spPr>
      </p:pic>
    </p:spTree>
    <p:extLst>
      <p:ext uri="{BB962C8B-B14F-4D97-AF65-F5344CB8AC3E}">
        <p14:creationId xmlns:p14="http://schemas.microsoft.com/office/powerpoint/2010/main" val="91405337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686800" cy="4708981"/>
          </a:xfrm>
          <a:prstGeom prst="rect">
            <a:avLst/>
          </a:prstGeom>
          <a:noFill/>
        </p:spPr>
        <p:txBody>
          <a:bodyPr wrap="square" rtlCol="0">
            <a:spAutoFit/>
          </a:bodyPr>
          <a:lstStyle/>
          <a:p>
            <a:pPr algn="just"/>
            <a:r>
              <a:rPr lang="en-IN" sz="2400" b="1" dirty="0" smtClean="0"/>
              <a:t>Read Consistency</a:t>
            </a:r>
            <a:r>
              <a:rPr lang="en-IN" dirty="0" smtClean="0"/>
              <a:t>: </a:t>
            </a:r>
            <a:r>
              <a:rPr lang="en-US" dirty="0"/>
              <a:t>The guarantee about what </a:t>
            </a:r>
            <a:r>
              <a:rPr lang="en-US" b="1" dirty="0"/>
              <a:t>readers</a:t>
            </a:r>
            <a:r>
              <a:rPr lang="en-US" dirty="0"/>
              <a:t> see after a write.</a:t>
            </a:r>
            <a:endParaRPr lang="en-US" dirty="0" smtClean="0"/>
          </a:p>
          <a:p>
            <a:pPr marL="342900" indent="-342900" algn="just">
              <a:buFont typeface="Wingdings" panose="05000000000000000000" pitchFamily="2" charset="2"/>
              <a:buChar char="§"/>
            </a:pPr>
            <a:r>
              <a:rPr lang="en-IN" sz="2400" dirty="0"/>
              <a:t>Levels</a:t>
            </a:r>
            <a:r>
              <a:rPr lang="en-IN" sz="2400" dirty="0" smtClean="0"/>
              <a:t>:</a:t>
            </a:r>
          </a:p>
          <a:p>
            <a:pPr algn="just"/>
            <a:r>
              <a:rPr lang="en-US" b="1" dirty="0" smtClean="0"/>
              <a:t>1. Strong </a:t>
            </a:r>
            <a:r>
              <a:rPr lang="en-US" b="1" dirty="0"/>
              <a:t>Consistency:</a:t>
            </a:r>
            <a:r>
              <a:rPr lang="en-US" dirty="0"/>
              <a:t> Every read returns the </a:t>
            </a:r>
            <a:r>
              <a:rPr lang="en-US" b="1" dirty="0"/>
              <a:t>most recent write</a:t>
            </a:r>
            <a:r>
              <a:rPr lang="en-US" dirty="0" smtClean="0"/>
              <a:t>. All </a:t>
            </a:r>
            <a:r>
              <a:rPr lang="en-US" dirty="0"/>
              <a:t>replicas converge to the same state after the updates</a:t>
            </a:r>
            <a:r>
              <a:rPr lang="en-US" dirty="0" smtClean="0"/>
              <a:t>.</a:t>
            </a:r>
          </a:p>
          <a:p>
            <a:pPr algn="just"/>
            <a:r>
              <a:rPr lang="en-US" b="1" dirty="0" smtClean="0"/>
              <a:t>2. Eventual </a:t>
            </a:r>
            <a:r>
              <a:rPr lang="en-US" b="1" dirty="0"/>
              <a:t>Consistency:</a:t>
            </a:r>
            <a:r>
              <a:rPr lang="en-US" dirty="0"/>
              <a:t> Reads may return stale data, but eventually converge to the latest value</a:t>
            </a:r>
            <a:r>
              <a:rPr lang="en-US" dirty="0" smtClean="0"/>
              <a:t>.</a:t>
            </a:r>
          </a:p>
          <a:p>
            <a:pPr algn="just"/>
            <a:r>
              <a:rPr lang="en-US" b="1" dirty="0" smtClean="0"/>
              <a:t>3. Causal </a:t>
            </a:r>
            <a:r>
              <a:rPr lang="en-US" b="1" dirty="0"/>
              <a:t>Consistency:</a:t>
            </a:r>
            <a:r>
              <a:rPr lang="en-US" dirty="0"/>
              <a:t> Reads respect the cause-effect order of operations</a:t>
            </a:r>
            <a:r>
              <a:rPr lang="en-US" dirty="0" smtClean="0"/>
              <a:t>.</a:t>
            </a:r>
          </a:p>
          <a:p>
            <a:pPr marL="342900" indent="-342900" algn="just">
              <a:buFont typeface="Wingdings" panose="05000000000000000000" pitchFamily="2" charset="2"/>
              <a:buChar char="§"/>
            </a:pPr>
            <a:r>
              <a:rPr lang="en-IN" dirty="0" smtClean="0"/>
              <a:t>Example: </a:t>
            </a:r>
          </a:p>
          <a:p>
            <a:pPr marL="342900" indent="-342900" algn="just">
              <a:buFont typeface="Wingdings" panose="05000000000000000000" pitchFamily="2" charset="2"/>
              <a:buChar char="§"/>
            </a:pPr>
            <a:r>
              <a:rPr lang="en-US" dirty="0"/>
              <a:t>Last item in stock → User A buys it</a:t>
            </a:r>
            <a:r>
              <a:rPr lang="en-US" dirty="0" smtClean="0"/>
              <a:t>.</a:t>
            </a:r>
          </a:p>
          <a:p>
            <a:pPr marL="342900" indent="-342900" algn="just">
              <a:buFont typeface="Wingdings" panose="05000000000000000000" pitchFamily="2" charset="2"/>
              <a:buChar char="§"/>
            </a:pPr>
            <a:r>
              <a:rPr lang="en-US" dirty="0"/>
              <a:t>With </a:t>
            </a:r>
            <a:r>
              <a:rPr lang="en-US" b="1" dirty="0"/>
              <a:t>Strong Consistency</a:t>
            </a:r>
            <a:r>
              <a:rPr lang="en-US" dirty="0"/>
              <a:t>, when User B checks inventory, it immediately shows "Out of Stock</a:t>
            </a:r>
            <a:r>
              <a:rPr lang="en-US" dirty="0" smtClean="0"/>
              <a:t>".</a:t>
            </a:r>
          </a:p>
          <a:p>
            <a:pPr marL="342900" indent="-342900" algn="just">
              <a:buFont typeface="Wingdings" panose="05000000000000000000" pitchFamily="2" charset="2"/>
              <a:buChar char="§"/>
            </a:pPr>
            <a:r>
              <a:rPr lang="en-US" dirty="0"/>
              <a:t>With </a:t>
            </a:r>
            <a:r>
              <a:rPr lang="en-US" b="1" dirty="0"/>
              <a:t>Eventual Consistency</a:t>
            </a:r>
            <a:r>
              <a:rPr lang="en-US" dirty="0"/>
              <a:t>, User B might still see "1 item available" for a short while, even though it’s sold out</a:t>
            </a:r>
            <a:r>
              <a:rPr lang="en-US" dirty="0" smtClean="0"/>
              <a:t>.</a:t>
            </a:r>
          </a:p>
          <a:p>
            <a:pPr algn="just"/>
            <a:r>
              <a:rPr lang="en-US" dirty="0" smtClean="0"/>
              <a:t>4. </a:t>
            </a:r>
            <a:r>
              <a:rPr lang="en-US" b="1" dirty="0" smtClean="0"/>
              <a:t>Session Consistency: </a:t>
            </a:r>
          </a:p>
          <a:p>
            <a:pPr algn="just"/>
            <a:r>
              <a:rPr lang="en-US" b="1" dirty="0"/>
              <a:t> </a:t>
            </a:r>
            <a:r>
              <a:rPr lang="en-US" b="1" dirty="0" smtClean="0"/>
              <a:t>      A) Read-Your-Write Consistency B)Monotonic Reads C)Monotonic Writes </a:t>
            </a:r>
          </a:p>
          <a:p>
            <a:pPr algn="just"/>
            <a:r>
              <a:rPr lang="en-US" b="1" dirty="0"/>
              <a:t> </a:t>
            </a:r>
            <a:r>
              <a:rPr lang="en-US" b="1" dirty="0" smtClean="0"/>
              <a:t>      D) Write-follows-Reads</a:t>
            </a:r>
            <a:endParaRPr lang="en-IN" b="1"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
        <p:nvSpPr>
          <p:cNvPr id="5" name="TextBox 4"/>
          <p:cNvSpPr txBox="1"/>
          <p:nvPr/>
        </p:nvSpPr>
        <p:spPr>
          <a:xfrm>
            <a:off x="16042" y="381000"/>
            <a:ext cx="6498609" cy="523220"/>
          </a:xfrm>
          <a:prstGeom prst="rect">
            <a:avLst/>
          </a:prstGeom>
          <a:noFill/>
        </p:spPr>
        <p:txBody>
          <a:bodyPr wrap="square" rtlCol="0">
            <a:spAutoFit/>
          </a:bodyPr>
          <a:lstStyle/>
          <a:p>
            <a:pPr algn="ctr"/>
            <a:r>
              <a:rPr lang="en-US" sz="2800" dirty="0" smtClean="0"/>
              <a:t>Consistency Models : Read Consistency</a:t>
            </a:r>
            <a:endParaRPr lang="en-IN" sz="2800" dirty="0"/>
          </a:p>
        </p:txBody>
      </p:sp>
    </p:spTree>
    <p:extLst>
      <p:ext uri="{BB962C8B-B14F-4D97-AF65-F5344CB8AC3E}">
        <p14:creationId xmlns:p14="http://schemas.microsoft.com/office/powerpoint/2010/main" val="152279856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686800" cy="4893647"/>
          </a:xfrm>
          <a:prstGeom prst="rect">
            <a:avLst/>
          </a:prstGeom>
          <a:noFill/>
        </p:spPr>
        <p:txBody>
          <a:bodyPr wrap="square" rtlCol="0">
            <a:spAutoFit/>
          </a:bodyPr>
          <a:lstStyle/>
          <a:p>
            <a:pPr algn="just"/>
            <a:r>
              <a:rPr lang="en-IN" sz="2400" b="1" dirty="0" smtClean="0"/>
              <a:t>Read Consistency</a:t>
            </a:r>
            <a:r>
              <a:rPr lang="en-IN" dirty="0" smtClean="0"/>
              <a:t>: </a:t>
            </a:r>
            <a:r>
              <a:rPr lang="en-US" dirty="0"/>
              <a:t>The guarantee about what </a:t>
            </a:r>
            <a:r>
              <a:rPr lang="en-US" b="1" dirty="0"/>
              <a:t>readers</a:t>
            </a:r>
            <a:r>
              <a:rPr lang="en-US" dirty="0"/>
              <a:t> see after a write.</a:t>
            </a:r>
            <a:endParaRPr lang="en-US" dirty="0" smtClean="0"/>
          </a:p>
          <a:p>
            <a:pPr algn="just"/>
            <a:r>
              <a:rPr lang="en-US" b="1" dirty="0" smtClean="0"/>
              <a:t>4. Session Consistency: </a:t>
            </a:r>
          </a:p>
          <a:p>
            <a:pPr algn="just"/>
            <a:r>
              <a:rPr lang="en-US" b="1" dirty="0"/>
              <a:t> </a:t>
            </a:r>
            <a:r>
              <a:rPr lang="en-US" b="1" dirty="0" smtClean="0"/>
              <a:t>      A) Read-Your-Write Consistency: </a:t>
            </a:r>
            <a:r>
              <a:rPr lang="en-US" dirty="0" smtClean="0"/>
              <a:t>After you write (update) data, You always see </a:t>
            </a:r>
          </a:p>
          <a:p>
            <a:pPr algn="just"/>
            <a:r>
              <a:rPr lang="en-US" dirty="0" smtClean="0"/>
              <a:t>             your own data immediately.</a:t>
            </a:r>
          </a:p>
          <a:p>
            <a:pPr algn="just"/>
            <a:r>
              <a:rPr lang="en-US" dirty="0" smtClean="0"/>
              <a:t>             Example: Editing your profile picture – You see new pic, even others still see old.</a:t>
            </a:r>
          </a:p>
          <a:p>
            <a:pPr algn="just"/>
            <a:r>
              <a:rPr lang="en-US" b="1" dirty="0" smtClean="0"/>
              <a:t>      B) Monotonic Reads: </a:t>
            </a:r>
            <a:r>
              <a:rPr lang="en-US" dirty="0" smtClean="0"/>
              <a:t>Once</a:t>
            </a:r>
            <a:r>
              <a:rPr lang="en-US" b="1" dirty="0" smtClean="0"/>
              <a:t> </a:t>
            </a:r>
            <a:r>
              <a:rPr lang="en-US" dirty="0" smtClean="0"/>
              <a:t>you have read a value, you will never read an older </a:t>
            </a:r>
          </a:p>
          <a:p>
            <a:pPr algn="just"/>
            <a:r>
              <a:rPr lang="en-US" dirty="0"/>
              <a:t> </a:t>
            </a:r>
            <a:r>
              <a:rPr lang="en-US" dirty="0" smtClean="0"/>
              <a:t>           value in later reads. </a:t>
            </a:r>
          </a:p>
          <a:p>
            <a:pPr algn="just"/>
            <a:r>
              <a:rPr lang="en-US" dirty="0"/>
              <a:t> </a:t>
            </a:r>
            <a:r>
              <a:rPr lang="en-US" dirty="0" smtClean="0"/>
              <a:t>            Example: If you saw your bank balance as Rs.5000, the next check will never saw </a:t>
            </a:r>
          </a:p>
          <a:p>
            <a:pPr algn="just"/>
            <a:r>
              <a:rPr lang="en-US" dirty="0"/>
              <a:t> </a:t>
            </a:r>
            <a:r>
              <a:rPr lang="en-US" dirty="0" smtClean="0"/>
              <a:t>            other balance.</a:t>
            </a:r>
          </a:p>
          <a:p>
            <a:pPr algn="just"/>
            <a:r>
              <a:rPr lang="en-US" b="1" dirty="0"/>
              <a:t> </a:t>
            </a:r>
            <a:r>
              <a:rPr lang="en-US" b="1" dirty="0" smtClean="0"/>
              <a:t>     C) Monotonic Writes</a:t>
            </a:r>
            <a:r>
              <a:rPr lang="en-US" dirty="0" smtClean="0"/>
              <a:t>: If you perform multiple writes, the system ensures that they </a:t>
            </a:r>
          </a:p>
          <a:p>
            <a:pPr algn="just"/>
            <a:r>
              <a:rPr lang="en-US" dirty="0"/>
              <a:t> </a:t>
            </a:r>
            <a:r>
              <a:rPr lang="en-US" dirty="0" smtClean="0"/>
              <a:t>           are applied in the order you issued them.</a:t>
            </a:r>
          </a:p>
          <a:p>
            <a:pPr algn="just"/>
            <a:r>
              <a:rPr lang="en-US" dirty="0"/>
              <a:t> </a:t>
            </a:r>
            <a:r>
              <a:rPr lang="en-US" dirty="0" smtClean="0"/>
              <a:t>           Example: Posting a blog – Your first post “</a:t>
            </a:r>
            <a:r>
              <a:rPr lang="en-US" i="1" dirty="0" smtClean="0"/>
              <a:t>I m travelling</a:t>
            </a:r>
            <a:r>
              <a:rPr lang="en-US" dirty="0" smtClean="0"/>
              <a:t>” is saved before you edit </a:t>
            </a:r>
          </a:p>
          <a:p>
            <a:pPr algn="just"/>
            <a:r>
              <a:rPr lang="en-US" dirty="0"/>
              <a:t> </a:t>
            </a:r>
            <a:r>
              <a:rPr lang="en-US" dirty="0" smtClean="0"/>
              <a:t>           “</a:t>
            </a:r>
            <a:r>
              <a:rPr lang="en-US" i="1" dirty="0" smtClean="0"/>
              <a:t>I m travelling with my friends</a:t>
            </a:r>
            <a:r>
              <a:rPr lang="en-US" dirty="0" smtClean="0"/>
              <a:t>.”</a:t>
            </a:r>
          </a:p>
          <a:p>
            <a:pPr algn="just"/>
            <a:r>
              <a:rPr lang="en-US" b="1" dirty="0"/>
              <a:t> </a:t>
            </a:r>
            <a:r>
              <a:rPr lang="en-US" b="1" dirty="0" smtClean="0"/>
              <a:t>      D) Write-follows-Reads</a:t>
            </a:r>
            <a:r>
              <a:rPr lang="en-US" dirty="0" smtClean="0"/>
              <a:t>:</a:t>
            </a:r>
            <a:r>
              <a:rPr lang="en-US" b="1" dirty="0" smtClean="0"/>
              <a:t> </a:t>
            </a:r>
            <a:r>
              <a:rPr lang="en-US" dirty="0" smtClean="0"/>
              <a:t>If</a:t>
            </a:r>
            <a:r>
              <a:rPr lang="en-US" b="1" dirty="0" smtClean="0"/>
              <a:t> </a:t>
            </a:r>
            <a:r>
              <a:rPr lang="en-US" dirty="0" smtClean="0"/>
              <a:t>you read some data and then perform a write based on </a:t>
            </a:r>
          </a:p>
          <a:p>
            <a:pPr algn="just"/>
            <a:r>
              <a:rPr lang="en-US" dirty="0"/>
              <a:t> </a:t>
            </a:r>
            <a:r>
              <a:rPr lang="en-US" dirty="0" smtClean="0"/>
              <a:t>            it, the write is applied on a replica that has seen that read (or newer).</a:t>
            </a:r>
          </a:p>
          <a:p>
            <a:pPr algn="just"/>
            <a:r>
              <a:rPr lang="en-US" dirty="0"/>
              <a:t> </a:t>
            </a:r>
            <a:r>
              <a:rPr lang="en-US" dirty="0" smtClean="0"/>
              <a:t>            Example: You check your bank balance as Rs5000 and then transfer Rs1000 – </a:t>
            </a:r>
          </a:p>
          <a:p>
            <a:pPr algn="just"/>
            <a:r>
              <a:rPr lang="en-US" dirty="0"/>
              <a:t> </a:t>
            </a:r>
            <a:r>
              <a:rPr lang="en-US" dirty="0" smtClean="0"/>
              <a:t>            the transfer is guaranteed to use Rs5000 value, not an outdated one.</a:t>
            </a:r>
            <a:endParaRPr lang="en-IN"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sp>
        <p:nvSpPr>
          <p:cNvPr id="5" name="TextBox 4"/>
          <p:cNvSpPr txBox="1"/>
          <p:nvPr/>
        </p:nvSpPr>
        <p:spPr>
          <a:xfrm>
            <a:off x="16042" y="381000"/>
            <a:ext cx="6498609" cy="523220"/>
          </a:xfrm>
          <a:prstGeom prst="rect">
            <a:avLst/>
          </a:prstGeom>
          <a:noFill/>
        </p:spPr>
        <p:txBody>
          <a:bodyPr wrap="square" rtlCol="0">
            <a:spAutoFit/>
          </a:bodyPr>
          <a:lstStyle/>
          <a:p>
            <a:pPr algn="ctr"/>
            <a:r>
              <a:rPr lang="en-US" sz="2800" dirty="0" smtClean="0"/>
              <a:t>Consistency Models : Read Consistency</a:t>
            </a:r>
            <a:endParaRPr lang="en-IN" sz="2800" dirty="0"/>
          </a:p>
        </p:txBody>
      </p:sp>
    </p:spTree>
    <p:extLst>
      <p:ext uri="{BB962C8B-B14F-4D97-AF65-F5344CB8AC3E}">
        <p14:creationId xmlns:p14="http://schemas.microsoft.com/office/powerpoint/2010/main" val="330117159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5029200" cy="5078313"/>
          </a:xfrm>
          <a:prstGeom prst="rect">
            <a:avLst/>
          </a:prstGeom>
          <a:noFill/>
        </p:spPr>
        <p:txBody>
          <a:bodyPr wrap="square" rtlCol="0">
            <a:spAutoFit/>
          </a:bodyPr>
          <a:lstStyle/>
          <a:p>
            <a:pPr marL="342900" indent="-342900" algn="just">
              <a:buFont typeface="Wingdings" panose="05000000000000000000" pitchFamily="2" charset="2"/>
              <a:buChar char="§"/>
            </a:pPr>
            <a:r>
              <a:rPr lang="en-IN" b="1" dirty="0" smtClean="0"/>
              <a:t>Relaxing Consistency</a:t>
            </a:r>
            <a:r>
              <a:rPr lang="en-IN" dirty="0" smtClean="0"/>
              <a:t>: </a:t>
            </a:r>
            <a:r>
              <a:rPr lang="en-US" dirty="0"/>
              <a:t>Sacrificing strict consistency rules to improve </a:t>
            </a:r>
            <a:r>
              <a:rPr lang="en-US" b="1" dirty="0"/>
              <a:t>performance, availability, and scalability</a:t>
            </a:r>
            <a:r>
              <a:rPr lang="en-US" dirty="0" smtClean="0"/>
              <a:t>.</a:t>
            </a:r>
          </a:p>
          <a:p>
            <a:pPr marL="342900" indent="-342900" algn="just">
              <a:buFont typeface="Wingdings" panose="05000000000000000000" pitchFamily="2" charset="2"/>
              <a:buChar char="§"/>
            </a:pPr>
            <a:r>
              <a:rPr lang="en-US" b="1" dirty="0"/>
              <a:t>Why?</a:t>
            </a:r>
            <a:r>
              <a:rPr lang="en-US" dirty="0"/>
              <a:t> Because in large distributed systems, always enforcing strict consistency is costly</a:t>
            </a:r>
            <a:r>
              <a:rPr lang="en-US" dirty="0" smtClean="0"/>
              <a:t>.</a:t>
            </a:r>
          </a:p>
          <a:p>
            <a:pPr marL="342900" indent="-342900" algn="just">
              <a:buFont typeface="Wingdings" panose="05000000000000000000" pitchFamily="2" charset="2"/>
              <a:buChar char="§"/>
            </a:pPr>
            <a:r>
              <a:rPr lang="en-US" b="1" dirty="0"/>
              <a:t>Approach:</a:t>
            </a:r>
            <a:r>
              <a:rPr lang="en-US" dirty="0"/>
              <a:t> Allowing temporary inconsistencies that resolve later</a:t>
            </a:r>
            <a:r>
              <a:rPr lang="en-US" dirty="0" smtClean="0"/>
              <a:t>.</a:t>
            </a:r>
          </a:p>
          <a:p>
            <a:pPr marL="342900" indent="-342900" algn="just">
              <a:buFont typeface="Wingdings" panose="05000000000000000000" pitchFamily="2" charset="2"/>
              <a:buChar char="§"/>
            </a:pPr>
            <a:r>
              <a:rPr lang="en-IN" dirty="0" smtClean="0"/>
              <a:t>Example: </a:t>
            </a:r>
          </a:p>
          <a:p>
            <a:pPr marL="342900" indent="-342900" algn="just">
              <a:buFont typeface="Wingdings" panose="05000000000000000000" pitchFamily="2" charset="2"/>
              <a:buChar char="§"/>
            </a:pPr>
            <a:r>
              <a:rPr lang="en-US" dirty="0"/>
              <a:t>Shopping Cart Service (Amazon, Flipkart</a:t>
            </a:r>
            <a:r>
              <a:rPr lang="en-US" dirty="0" smtClean="0"/>
              <a:t>):</a:t>
            </a:r>
          </a:p>
          <a:p>
            <a:pPr algn="just"/>
            <a:r>
              <a:rPr lang="en-US" dirty="0" smtClean="0"/>
              <a:t>       When </a:t>
            </a:r>
            <a:r>
              <a:rPr lang="en-US" dirty="0"/>
              <a:t>you add items to cart, different servers </a:t>
            </a:r>
            <a:endParaRPr lang="en-US" dirty="0" smtClean="0"/>
          </a:p>
          <a:p>
            <a:pPr algn="just"/>
            <a:r>
              <a:rPr lang="en-US" dirty="0"/>
              <a:t> </a:t>
            </a:r>
            <a:r>
              <a:rPr lang="en-US" dirty="0" smtClean="0"/>
              <a:t>      may </a:t>
            </a:r>
            <a:r>
              <a:rPr lang="en-US" dirty="0"/>
              <a:t>not synchronize immediately</a:t>
            </a:r>
            <a:r>
              <a:rPr lang="en-US" dirty="0" smtClean="0"/>
              <a:t>.</a:t>
            </a:r>
          </a:p>
          <a:p>
            <a:pPr algn="just"/>
            <a:r>
              <a:rPr lang="en-US" dirty="0" smtClean="0"/>
              <a:t>       Relaxed </a:t>
            </a:r>
            <a:r>
              <a:rPr lang="en-US" dirty="0"/>
              <a:t>consistency ensures that you can still </a:t>
            </a:r>
            <a:endParaRPr lang="en-US" dirty="0" smtClean="0"/>
          </a:p>
          <a:p>
            <a:pPr algn="just"/>
            <a:r>
              <a:rPr lang="en-US" dirty="0"/>
              <a:t> </a:t>
            </a:r>
            <a:r>
              <a:rPr lang="en-US" dirty="0" smtClean="0"/>
              <a:t>      add/view </a:t>
            </a:r>
            <a:r>
              <a:rPr lang="en-US" dirty="0"/>
              <a:t>items smoothly, even if updates </a:t>
            </a:r>
            <a:endParaRPr lang="en-US" dirty="0" smtClean="0"/>
          </a:p>
          <a:p>
            <a:pPr algn="just"/>
            <a:r>
              <a:rPr lang="en-US" dirty="0"/>
              <a:t> </a:t>
            </a:r>
            <a:r>
              <a:rPr lang="en-US" dirty="0" smtClean="0"/>
              <a:t>      take </a:t>
            </a:r>
            <a:r>
              <a:rPr lang="en-US" dirty="0"/>
              <a:t>a second or two to sync across regions</a:t>
            </a:r>
            <a:r>
              <a:rPr lang="en-US" dirty="0" smtClean="0"/>
              <a:t>.</a:t>
            </a:r>
          </a:p>
          <a:p>
            <a:pPr marL="342900" indent="-342900" algn="just">
              <a:buFont typeface="Wingdings" panose="05000000000000000000" pitchFamily="2" charset="2"/>
              <a:buChar char="§"/>
            </a:pPr>
            <a:r>
              <a:rPr lang="en-IN" dirty="0"/>
              <a:t>Social Media Likes (Facebook/Instagram</a:t>
            </a:r>
            <a:r>
              <a:rPr lang="en-IN" dirty="0" smtClean="0"/>
              <a:t>):</a:t>
            </a:r>
          </a:p>
          <a:p>
            <a:pPr algn="just"/>
            <a:r>
              <a:rPr lang="en-US" dirty="0"/>
              <a:t> </a:t>
            </a:r>
            <a:r>
              <a:rPr lang="en-US" dirty="0" smtClean="0"/>
              <a:t>      You </a:t>
            </a:r>
            <a:r>
              <a:rPr lang="en-US" dirty="0"/>
              <a:t>may like a post, but your friend doesn’t </a:t>
            </a:r>
            <a:endParaRPr lang="en-US" dirty="0" smtClean="0"/>
          </a:p>
          <a:p>
            <a:pPr algn="just"/>
            <a:r>
              <a:rPr lang="en-US" dirty="0"/>
              <a:t> </a:t>
            </a:r>
            <a:r>
              <a:rPr lang="en-US" dirty="0" smtClean="0"/>
              <a:t>      see </a:t>
            </a:r>
            <a:r>
              <a:rPr lang="en-US" dirty="0"/>
              <a:t>your like instantly due to relaxed </a:t>
            </a:r>
            <a:endParaRPr lang="en-US" dirty="0" smtClean="0"/>
          </a:p>
          <a:p>
            <a:pPr algn="just"/>
            <a:r>
              <a:rPr lang="en-US" dirty="0"/>
              <a:t> </a:t>
            </a:r>
            <a:r>
              <a:rPr lang="en-US" dirty="0" smtClean="0"/>
              <a:t>      consistency</a:t>
            </a:r>
            <a:r>
              <a:rPr lang="en-US" dirty="0"/>
              <a:t>.</a:t>
            </a:r>
            <a:endParaRPr lang="en-IN"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p:sp>
        <p:nvSpPr>
          <p:cNvPr id="5" name="TextBox 4"/>
          <p:cNvSpPr txBox="1"/>
          <p:nvPr/>
        </p:nvSpPr>
        <p:spPr>
          <a:xfrm>
            <a:off x="-228600" y="227994"/>
            <a:ext cx="7391400" cy="523220"/>
          </a:xfrm>
          <a:prstGeom prst="rect">
            <a:avLst/>
          </a:prstGeom>
          <a:noFill/>
        </p:spPr>
        <p:txBody>
          <a:bodyPr wrap="square" rtlCol="0">
            <a:spAutoFit/>
          </a:bodyPr>
          <a:lstStyle/>
          <a:p>
            <a:pPr algn="ctr"/>
            <a:r>
              <a:rPr lang="en-US" sz="2800" dirty="0" smtClean="0"/>
              <a:t>Consistency Models : Relaxing Consistency                 </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1066800"/>
            <a:ext cx="3581400" cy="5181600"/>
          </a:xfrm>
          <a:prstGeom prst="rect">
            <a:avLst/>
          </a:prstGeom>
        </p:spPr>
      </p:pic>
    </p:spTree>
    <p:extLst>
      <p:ext uri="{BB962C8B-B14F-4D97-AF65-F5344CB8AC3E}">
        <p14:creationId xmlns:p14="http://schemas.microsoft.com/office/powerpoint/2010/main" val="416427670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3"/>
          <p:cNvSpPr>
            <a:spLocks noGrp="1"/>
          </p:cNvSpPr>
          <p:nvPr>
            <p:ph type="title"/>
          </p:nvPr>
        </p:nvSpPr>
        <p:spPr>
          <a:xfrm>
            <a:off x="623888" y="1404937"/>
            <a:ext cx="7886700" cy="2139554"/>
          </a:xfrm>
        </p:spPr>
        <p:txBody>
          <a:bodyPr/>
          <a:lstStyle/>
          <a:p>
            <a:endParaRPr lang="en-IN" altLang="en-US" smtClean="0"/>
          </a:p>
        </p:txBody>
      </p:sp>
      <p:sp>
        <p:nvSpPr>
          <p:cNvPr id="32771" name="Text Placeholder 4"/>
          <p:cNvSpPr>
            <a:spLocks noGrp="1"/>
          </p:cNvSpPr>
          <p:nvPr>
            <p:ph type="body" idx="1"/>
          </p:nvPr>
        </p:nvSpPr>
        <p:spPr>
          <a:xfrm>
            <a:off x="623888" y="3652838"/>
            <a:ext cx="7886700" cy="1125141"/>
          </a:xfrm>
        </p:spPr>
        <p:txBody>
          <a:bodyPr/>
          <a:lstStyle/>
          <a:p>
            <a:endParaRPr lang="en-IN" altLang="en-US" smtClean="0"/>
          </a:p>
        </p:txBody>
      </p:sp>
      <p:sp>
        <p:nvSpPr>
          <p:cNvPr id="3277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557213" indent="-214313">
              <a:lnSpc>
                <a:spcPct val="90000"/>
              </a:lnSpc>
              <a:spcBef>
                <a:spcPts val="375"/>
              </a:spcBef>
              <a:buFont typeface="Arial" panose="020B0604020202020204" pitchFamily="34" charset="0"/>
              <a:buChar char="•"/>
              <a:defRPr sz="18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857250" indent="-171450">
              <a:lnSpc>
                <a:spcPct val="90000"/>
              </a:lnSpc>
              <a:spcBef>
                <a:spcPts val="375"/>
              </a:spcBef>
              <a:buFont typeface="Arial" panose="020B0604020202020204" pitchFamily="34" charset="0"/>
              <a:buChar char="•"/>
              <a:defRPr sz="15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2001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15430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fld id="{C4161569-75A1-4553-8BBC-54B43F0952C2}" type="slidenum">
              <a:rPr lang="en-US" altLang="en-US"/>
              <a:pPr/>
              <a:t>61</a:t>
            </a:fld>
            <a:endParaRPr lang="en-US" altLang="en-US"/>
          </a:p>
        </p:txBody>
      </p:sp>
      <p:pic>
        <p:nvPicPr>
          <p:cNvPr id="32773"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858441"/>
            <a:ext cx="9144000" cy="51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91" y="857250"/>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5" name="Picture 1" descr="A close up of a logo&#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3604" y="5395913"/>
            <a:ext cx="457200"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p:cNvGraphicFramePr>
            <a:graphicFrameLocks noGrp="1"/>
          </p:cNvGraphicFramePr>
          <p:nvPr>
            <p:extLst>
              <p:ext uri="{D42A27DB-BD31-4B8C-83A1-F6EECF244321}">
                <p14:modId xmlns:p14="http://schemas.microsoft.com/office/powerpoint/2010/main" val="2228388265"/>
              </p:ext>
            </p:extLst>
          </p:nvPr>
        </p:nvGraphicFramePr>
        <p:xfrm>
          <a:off x="164306" y="1012031"/>
          <a:ext cx="8968978" cy="4230295"/>
        </p:xfrm>
        <a:graphic>
          <a:graphicData uri="http://schemas.openxmlformats.org/drawingml/2006/table">
            <a:tbl>
              <a:tblPr firstRow="1" firstCol="1" bandRow="1">
                <a:tableStyleId>{5C22544A-7EE6-4342-B048-85BDC9FD1C3A}</a:tableStyleId>
              </a:tblPr>
              <a:tblGrid>
                <a:gridCol w="4484489">
                  <a:extLst>
                    <a:ext uri="{9D8B030D-6E8A-4147-A177-3AD203B41FA5}">
                      <a16:colId xmlns:a16="http://schemas.microsoft.com/office/drawing/2014/main" val="20000"/>
                    </a:ext>
                  </a:extLst>
                </a:gridCol>
                <a:gridCol w="4484489">
                  <a:extLst>
                    <a:ext uri="{9D8B030D-6E8A-4147-A177-3AD203B41FA5}">
                      <a16:colId xmlns:a16="http://schemas.microsoft.com/office/drawing/2014/main" val="20001"/>
                    </a:ext>
                  </a:extLst>
                </a:gridCol>
              </a:tblGrid>
              <a:tr h="846059">
                <a:tc>
                  <a:txBody>
                    <a:bodyPr/>
                    <a:lstStyle/>
                    <a:p>
                      <a:pPr algn="ctr">
                        <a:lnSpc>
                          <a:spcPct val="115000"/>
                        </a:lnSpc>
                        <a:spcAft>
                          <a:spcPts val="800"/>
                        </a:spcAft>
                        <a:buNone/>
                      </a:pPr>
                      <a:r>
                        <a:rPr lang="en-IN" sz="2100" kern="100" dirty="0">
                          <a:effectLst/>
                        </a:rPr>
                        <a:t>Use Case</a:t>
                      </a:r>
                      <a:endParaRPr lang="en-IN" sz="2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3" marR="7143" marT="7144" marB="7144" anchor="ctr"/>
                </a:tc>
                <a:tc>
                  <a:txBody>
                    <a:bodyPr/>
                    <a:lstStyle/>
                    <a:p>
                      <a:pPr algn="ctr">
                        <a:lnSpc>
                          <a:spcPct val="115000"/>
                        </a:lnSpc>
                        <a:spcAft>
                          <a:spcPts val="800"/>
                        </a:spcAft>
                        <a:buNone/>
                      </a:pPr>
                      <a:r>
                        <a:rPr lang="en-IN" sz="2100" kern="100" dirty="0">
                          <a:effectLst/>
                        </a:rPr>
                        <a:t>Preferred Consistency Model</a:t>
                      </a:r>
                      <a:endParaRPr lang="en-IN" sz="2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3" marR="7143" marT="7144" marB="7144" anchor="ctr"/>
                </a:tc>
                <a:extLst>
                  <a:ext uri="{0D108BD9-81ED-4DB2-BD59-A6C34878D82A}">
                    <a16:rowId xmlns:a16="http://schemas.microsoft.com/office/drawing/2014/main" val="10000"/>
                  </a:ext>
                </a:extLst>
              </a:tr>
              <a:tr h="846059">
                <a:tc>
                  <a:txBody>
                    <a:bodyPr/>
                    <a:lstStyle/>
                    <a:p>
                      <a:pPr algn="ctr">
                        <a:lnSpc>
                          <a:spcPct val="115000"/>
                        </a:lnSpc>
                        <a:spcAft>
                          <a:spcPts val="800"/>
                        </a:spcAft>
                        <a:buNone/>
                      </a:pPr>
                      <a:r>
                        <a:rPr lang="en-IN" sz="1800" kern="100" dirty="0">
                          <a:effectLst/>
                        </a:rPr>
                        <a:t>Banking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3" marR="7143" marT="7144" marB="7144" anchor="ctr"/>
                </a:tc>
                <a:tc>
                  <a:txBody>
                    <a:bodyPr/>
                    <a:lstStyle/>
                    <a:p>
                      <a:pPr algn="ctr">
                        <a:lnSpc>
                          <a:spcPct val="115000"/>
                        </a:lnSpc>
                        <a:spcAft>
                          <a:spcPts val="800"/>
                        </a:spcAft>
                        <a:buNone/>
                      </a:pPr>
                      <a:r>
                        <a:rPr lang="en-IN" sz="1800" kern="100" dirty="0">
                          <a:effectLst/>
                        </a:rPr>
                        <a:t>Strong Consistency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3" marR="7143" marT="7144" marB="7144" anchor="ctr"/>
                </a:tc>
                <a:extLst>
                  <a:ext uri="{0D108BD9-81ED-4DB2-BD59-A6C34878D82A}">
                    <a16:rowId xmlns:a16="http://schemas.microsoft.com/office/drawing/2014/main" val="10001"/>
                  </a:ext>
                </a:extLst>
              </a:tr>
              <a:tr h="846059">
                <a:tc>
                  <a:txBody>
                    <a:bodyPr/>
                    <a:lstStyle/>
                    <a:p>
                      <a:pPr algn="ctr">
                        <a:lnSpc>
                          <a:spcPct val="115000"/>
                        </a:lnSpc>
                        <a:spcAft>
                          <a:spcPts val="800"/>
                        </a:spcAft>
                        <a:buNone/>
                      </a:pPr>
                      <a:r>
                        <a:rPr lang="en-IN" sz="1800" kern="100" dirty="0">
                          <a:effectLst/>
                        </a:rPr>
                        <a:t>Social Media Posts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3" marR="7143" marT="7144" marB="7144" anchor="ctr"/>
                </a:tc>
                <a:tc>
                  <a:txBody>
                    <a:bodyPr/>
                    <a:lstStyle/>
                    <a:p>
                      <a:pPr algn="ctr">
                        <a:lnSpc>
                          <a:spcPct val="115000"/>
                        </a:lnSpc>
                        <a:spcAft>
                          <a:spcPts val="800"/>
                        </a:spcAft>
                        <a:buNone/>
                      </a:pPr>
                      <a:r>
                        <a:rPr lang="en-IN" sz="1800" kern="100" dirty="0">
                          <a:effectLst/>
                        </a:rPr>
                        <a:t>Eventual Consistency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3" marR="7143" marT="7144" marB="7144" anchor="ctr"/>
                </a:tc>
                <a:extLst>
                  <a:ext uri="{0D108BD9-81ED-4DB2-BD59-A6C34878D82A}">
                    <a16:rowId xmlns:a16="http://schemas.microsoft.com/office/drawing/2014/main" val="10002"/>
                  </a:ext>
                </a:extLst>
              </a:tr>
              <a:tr h="846059">
                <a:tc>
                  <a:txBody>
                    <a:bodyPr/>
                    <a:lstStyle/>
                    <a:p>
                      <a:pPr algn="ctr">
                        <a:lnSpc>
                          <a:spcPct val="115000"/>
                        </a:lnSpc>
                        <a:spcAft>
                          <a:spcPts val="800"/>
                        </a:spcAft>
                        <a:buNone/>
                      </a:pPr>
                      <a:r>
                        <a:rPr lang="en-IN" sz="1800" kern="100" dirty="0">
                          <a:effectLst/>
                        </a:rPr>
                        <a:t>E-commerce Inventory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3" marR="7143" marT="7144" marB="7144" anchor="ctr"/>
                </a:tc>
                <a:tc>
                  <a:txBody>
                    <a:bodyPr/>
                    <a:lstStyle/>
                    <a:p>
                      <a:pPr algn="ctr">
                        <a:lnSpc>
                          <a:spcPct val="115000"/>
                        </a:lnSpc>
                        <a:spcAft>
                          <a:spcPts val="800"/>
                        </a:spcAft>
                        <a:buNone/>
                      </a:pPr>
                      <a:r>
                        <a:rPr lang="en-IN" sz="1800" kern="100" dirty="0" err="1">
                          <a:effectLst/>
                        </a:rPr>
                        <a:t>Tunable</a:t>
                      </a:r>
                      <a:r>
                        <a:rPr lang="en-IN" sz="1800" kern="100" dirty="0">
                          <a:effectLst/>
                        </a:rPr>
                        <a:t> (depends on needs)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3" marR="7143" marT="7144" marB="7144" anchor="ctr"/>
                </a:tc>
                <a:extLst>
                  <a:ext uri="{0D108BD9-81ED-4DB2-BD59-A6C34878D82A}">
                    <a16:rowId xmlns:a16="http://schemas.microsoft.com/office/drawing/2014/main" val="10003"/>
                  </a:ext>
                </a:extLst>
              </a:tr>
              <a:tr h="846059">
                <a:tc>
                  <a:txBody>
                    <a:bodyPr/>
                    <a:lstStyle/>
                    <a:p>
                      <a:pPr algn="ctr">
                        <a:lnSpc>
                          <a:spcPct val="115000"/>
                        </a:lnSpc>
                        <a:spcAft>
                          <a:spcPts val="800"/>
                        </a:spcAft>
                        <a:buNone/>
                      </a:pPr>
                      <a:r>
                        <a:rPr lang="en-IN" sz="1800" kern="100" dirty="0">
                          <a:effectLst/>
                        </a:rPr>
                        <a:t>Messaging Apps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3" marR="7143" marT="7144" marB="7144" anchor="ctr"/>
                </a:tc>
                <a:tc>
                  <a:txBody>
                    <a:bodyPr/>
                    <a:lstStyle/>
                    <a:p>
                      <a:pPr algn="ctr">
                        <a:lnSpc>
                          <a:spcPct val="115000"/>
                        </a:lnSpc>
                        <a:spcAft>
                          <a:spcPts val="800"/>
                        </a:spcAft>
                        <a:buNone/>
                      </a:pPr>
                      <a:r>
                        <a:rPr lang="en-IN" sz="1800" kern="100" dirty="0">
                          <a:effectLst/>
                        </a:rPr>
                        <a:t>Causal / Read-Your-Writes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3" marR="7143" marT="7144" marB="7144" anchor="ctr"/>
                </a:tc>
                <a:extLst>
                  <a:ext uri="{0D108BD9-81ED-4DB2-BD59-A6C34878D82A}">
                    <a16:rowId xmlns:a16="http://schemas.microsoft.com/office/drawing/2014/main" val="10004"/>
                  </a:ext>
                </a:extLst>
              </a:tr>
            </a:tbl>
          </a:graphicData>
        </a:graphic>
      </p:graphicFrame>
      <p:sp>
        <p:nvSpPr>
          <p:cNvPr id="2" name="Rectangle 1"/>
          <p:cNvSpPr/>
          <p:nvPr/>
        </p:nvSpPr>
        <p:spPr>
          <a:xfrm>
            <a:off x="381000" y="254797"/>
            <a:ext cx="4908070" cy="523220"/>
          </a:xfrm>
          <a:prstGeom prst="rect">
            <a:avLst/>
          </a:prstGeom>
        </p:spPr>
        <p:txBody>
          <a:bodyPr wrap="square">
            <a:spAutoFit/>
          </a:bodyPr>
          <a:lstStyle/>
          <a:p>
            <a:r>
              <a:rPr lang="en-US" sz="2800" dirty="0"/>
              <a:t>Consistency Models</a:t>
            </a:r>
            <a:endParaRPr lang="en-IN" sz="2800" dirty="0"/>
          </a:p>
        </p:txBody>
      </p:sp>
    </p:spTree>
    <p:extLst>
      <p:ext uri="{BB962C8B-B14F-4D97-AF65-F5344CB8AC3E}">
        <p14:creationId xmlns:p14="http://schemas.microsoft.com/office/powerpoint/2010/main" val="8880926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3"/>
          <p:cNvSpPr>
            <a:spLocks noGrp="1"/>
          </p:cNvSpPr>
          <p:nvPr>
            <p:ph type="title"/>
          </p:nvPr>
        </p:nvSpPr>
        <p:spPr>
          <a:xfrm>
            <a:off x="623888" y="1404937"/>
            <a:ext cx="7886700" cy="2139554"/>
          </a:xfrm>
        </p:spPr>
        <p:txBody>
          <a:bodyPr/>
          <a:lstStyle/>
          <a:p>
            <a:endParaRPr lang="en-IN" altLang="en-US" smtClean="0"/>
          </a:p>
        </p:txBody>
      </p:sp>
      <p:sp>
        <p:nvSpPr>
          <p:cNvPr id="33795" name="Text Placeholder 4"/>
          <p:cNvSpPr>
            <a:spLocks noGrp="1"/>
          </p:cNvSpPr>
          <p:nvPr>
            <p:ph type="body" idx="1"/>
          </p:nvPr>
        </p:nvSpPr>
        <p:spPr>
          <a:xfrm>
            <a:off x="623888" y="3652838"/>
            <a:ext cx="7886700" cy="1125141"/>
          </a:xfrm>
        </p:spPr>
        <p:txBody>
          <a:bodyPr/>
          <a:lstStyle/>
          <a:p>
            <a:endParaRPr lang="en-IN" altLang="en-US" smtClean="0"/>
          </a:p>
        </p:txBody>
      </p:sp>
      <p:sp>
        <p:nvSpPr>
          <p:cNvPr id="33796"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557213" indent="-214313">
              <a:lnSpc>
                <a:spcPct val="90000"/>
              </a:lnSpc>
              <a:spcBef>
                <a:spcPts val="375"/>
              </a:spcBef>
              <a:buFont typeface="Arial" panose="020B0604020202020204" pitchFamily="34" charset="0"/>
              <a:buChar char="•"/>
              <a:defRPr sz="18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857250" indent="-171450">
              <a:lnSpc>
                <a:spcPct val="90000"/>
              </a:lnSpc>
              <a:spcBef>
                <a:spcPts val="375"/>
              </a:spcBef>
              <a:buFont typeface="Arial" panose="020B0604020202020204" pitchFamily="34" charset="0"/>
              <a:buChar char="•"/>
              <a:defRPr sz="15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2001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15430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fld id="{3D771F5B-F20B-49FD-9BD3-D1DF6D7549FE}" type="slidenum">
              <a:rPr lang="en-US" altLang="en-US"/>
              <a:pPr/>
              <a:t>62</a:t>
            </a:fld>
            <a:endParaRPr lang="en-US" altLang="en-US"/>
          </a:p>
        </p:txBody>
      </p:sp>
      <p:pic>
        <p:nvPicPr>
          <p:cNvPr id="33797"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858441"/>
            <a:ext cx="9144000" cy="51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91" y="857250"/>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9" name="Picture 1" descr="A close up of a logo&#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3604" y="5395913"/>
            <a:ext cx="457200"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367904" y="1215629"/>
            <a:ext cx="6523434" cy="2433743"/>
          </a:xfrm>
          <a:prstGeom prst="rect">
            <a:avLst/>
          </a:prstGeom>
          <a:noFill/>
        </p:spPr>
        <p:txBody>
          <a:bodyPr>
            <a:spAutoFit/>
          </a:bodyPr>
          <a:lstStyle/>
          <a:p>
            <a:pPr>
              <a:lnSpc>
                <a:spcPct val="115000"/>
              </a:lnSpc>
              <a:spcAft>
                <a:spcPts val="600"/>
              </a:spcAft>
              <a:defRPr/>
            </a:pPr>
            <a:r>
              <a:rPr lang="en-IN" sz="2100" b="1" kern="100" dirty="0" smtClean="0">
                <a:latin typeface="Aptos" panose="020B0004020202020204" pitchFamily="34" charset="0"/>
                <a:ea typeface="Aptos" panose="020B0004020202020204" pitchFamily="34" charset="0"/>
                <a:cs typeface="Times New Roman" panose="02020603050405020304" pitchFamily="18" charset="0"/>
              </a:rPr>
              <a:t>Real-World </a:t>
            </a:r>
            <a:r>
              <a:rPr lang="en-IN" sz="2100" b="1" kern="100" dirty="0">
                <a:latin typeface="Aptos" panose="020B0004020202020204" pitchFamily="34" charset="0"/>
                <a:ea typeface="Aptos" panose="020B0004020202020204" pitchFamily="34" charset="0"/>
                <a:cs typeface="Times New Roman" panose="02020603050405020304" pitchFamily="18" charset="0"/>
              </a:rPr>
              <a:t>Example</a:t>
            </a:r>
          </a:p>
          <a:p>
            <a:pPr marL="257175" indent="-257175">
              <a:lnSpc>
                <a:spcPct val="150000"/>
              </a:lnSpc>
              <a:spcAft>
                <a:spcPts val="600"/>
              </a:spcAft>
              <a:buSzPts val="1000"/>
              <a:buFont typeface="Symbol" panose="05050102010706020507" pitchFamily="18" charset="2"/>
              <a:buChar char=""/>
              <a:tabLst>
                <a:tab pos="342900" algn="l"/>
              </a:tabLst>
              <a:defRPr/>
            </a:pPr>
            <a:r>
              <a:rPr lang="en-IN" b="1" kern="100" dirty="0">
                <a:latin typeface="Aptos" panose="020B0004020202020204" pitchFamily="34" charset="0"/>
                <a:ea typeface="Aptos" panose="020B0004020202020204" pitchFamily="34" charset="0"/>
                <a:cs typeface="Times New Roman" panose="02020603050405020304" pitchFamily="18" charset="0"/>
              </a:rPr>
              <a:t>WhatsApp message delivery:</a:t>
            </a:r>
            <a:endParaRPr lang="en-IN" kern="100" dirty="0">
              <a:latin typeface="Aptos" panose="020B0004020202020204" pitchFamily="34" charset="0"/>
              <a:ea typeface="Aptos" panose="020B0004020202020204" pitchFamily="34" charset="0"/>
              <a:cs typeface="Times New Roman" panose="02020603050405020304" pitchFamily="18" charset="0"/>
            </a:endParaRPr>
          </a:p>
          <a:p>
            <a:pPr marL="557213" lvl="1" indent="-214313">
              <a:lnSpc>
                <a:spcPct val="150000"/>
              </a:lnSpc>
              <a:spcAft>
                <a:spcPts val="600"/>
              </a:spcAft>
              <a:buSzPts val="1000"/>
              <a:buFont typeface="Courier New" panose="02070309020205020404" pitchFamily="49" charset="0"/>
              <a:buChar char="o"/>
              <a:tabLst>
                <a:tab pos="685800" algn="l"/>
              </a:tabLst>
              <a:defRPr/>
            </a:pPr>
            <a:r>
              <a:rPr lang="en-IN" b="1" kern="100" dirty="0">
                <a:latin typeface="Aptos" panose="020B0004020202020204" pitchFamily="34" charset="0"/>
                <a:ea typeface="Aptos" panose="020B0004020202020204" pitchFamily="34" charset="0"/>
                <a:cs typeface="Times New Roman" panose="02020603050405020304" pitchFamily="18" charset="0"/>
              </a:rPr>
              <a:t>You</a:t>
            </a:r>
            <a:r>
              <a:rPr lang="en-IN" kern="100" dirty="0">
                <a:latin typeface="Aptos" panose="020B0004020202020204" pitchFamily="34" charset="0"/>
                <a:ea typeface="Aptos" panose="020B0004020202020204" pitchFamily="34" charset="0"/>
                <a:cs typeface="Times New Roman" panose="02020603050405020304" pitchFamily="18" charset="0"/>
              </a:rPr>
              <a:t> see the message immediately → </a:t>
            </a:r>
            <a:r>
              <a:rPr lang="en-IN" b="1" kern="100" dirty="0">
                <a:latin typeface="Aptos" panose="020B0004020202020204" pitchFamily="34" charset="0"/>
                <a:ea typeface="Aptos" panose="020B0004020202020204" pitchFamily="34" charset="0"/>
                <a:cs typeface="Times New Roman" panose="02020603050405020304" pitchFamily="18" charset="0"/>
              </a:rPr>
              <a:t>Read-your-writes</a:t>
            </a:r>
            <a:r>
              <a:rPr lang="en-IN" kern="100" dirty="0">
                <a:latin typeface="Aptos" panose="020B0004020202020204" pitchFamily="34" charset="0"/>
                <a:ea typeface="Aptos" panose="020B0004020202020204" pitchFamily="34" charset="0"/>
                <a:cs typeface="Times New Roman" panose="02020603050405020304" pitchFamily="18" charset="0"/>
              </a:rPr>
              <a:t>.</a:t>
            </a:r>
          </a:p>
          <a:p>
            <a:pPr marL="557213" lvl="1" indent="-214313">
              <a:lnSpc>
                <a:spcPct val="150000"/>
              </a:lnSpc>
              <a:spcAft>
                <a:spcPts val="600"/>
              </a:spcAft>
              <a:buSzPts val="1000"/>
              <a:buFont typeface="Courier New" panose="02070309020205020404" pitchFamily="49" charset="0"/>
              <a:buChar char="o"/>
              <a:tabLst>
                <a:tab pos="685800" algn="l"/>
              </a:tabLst>
              <a:defRPr/>
            </a:pPr>
            <a:r>
              <a:rPr lang="en-IN" kern="100" dirty="0">
                <a:latin typeface="Aptos" panose="020B0004020202020204" pitchFamily="34" charset="0"/>
                <a:ea typeface="Aptos" panose="020B0004020202020204" pitchFamily="34" charset="0"/>
                <a:cs typeface="Times New Roman" panose="02020603050405020304" pitchFamily="18" charset="0"/>
              </a:rPr>
              <a:t>Your friend gets it after network delivery → </a:t>
            </a:r>
            <a:r>
              <a:rPr lang="en-IN" b="1" kern="100" dirty="0">
                <a:latin typeface="Aptos" panose="020B0004020202020204" pitchFamily="34" charset="0"/>
                <a:ea typeface="Aptos" panose="020B0004020202020204" pitchFamily="34" charset="0"/>
                <a:cs typeface="Times New Roman" panose="02020603050405020304" pitchFamily="18" charset="0"/>
              </a:rPr>
              <a:t>Eventual consistency</a:t>
            </a:r>
            <a:r>
              <a:rPr lang="en-IN" kern="100" dirty="0">
                <a:latin typeface="Aptos" panose="020B0004020202020204" pitchFamily="34" charset="0"/>
                <a:ea typeface="Aptos" panose="020B0004020202020204" pitchFamily="34" charset="0"/>
                <a:cs typeface="Times New Roman" panose="02020603050405020304" pitchFamily="18" charset="0"/>
              </a:rPr>
              <a:t>.</a:t>
            </a:r>
          </a:p>
          <a:p>
            <a:pPr>
              <a:lnSpc>
                <a:spcPct val="150000"/>
              </a:lnSpc>
              <a:defRPr/>
            </a:pPr>
            <a:r>
              <a:rPr lang="en-IN" dirty="0">
                <a:latin typeface="Aptos" panose="020B0004020202020204" pitchFamily="34" charset="0"/>
                <a:ea typeface="Aptos" panose="020B0004020202020204" pitchFamily="34" charset="0"/>
                <a:cs typeface="Times New Roman" panose="02020603050405020304" pitchFamily="18" charset="0"/>
              </a:rPr>
              <a:t>Messages maintain order in a conversation → </a:t>
            </a:r>
            <a:r>
              <a:rPr lang="en-IN" b="1" dirty="0">
                <a:latin typeface="Aptos" panose="020B0004020202020204" pitchFamily="34" charset="0"/>
                <a:ea typeface="Aptos" panose="020B0004020202020204" pitchFamily="34" charset="0"/>
                <a:cs typeface="Times New Roman" panose="02020603050405020304" pitchFamily="18" charset="0"/>
              </a:rPr>
              <a:t>Causal consistency</a:t>
            </a:r>
            <a:endParaRPr lang="en-IN" dirty="0"/>
          </a:p>
        </p:txBody>
      </p:sp>
      <p:sp>
        <p:nvSpPr>
          <p:cNvPr id="9" name="Rectangle 8"/>
          <p:cNvSpPr/>
          <p:nvPr/>
        </p:nvSpPr>
        <p:spPr>
          <a:xfrm>
            <a:off x="381000" y="254797"/>
            <a:ext cx="4908070" cy="523220"/>
          </a:xfrm>
          <a:prstGeom prst="rect">
            <a:avLst/>
          </a:prstGeom>
        </p:spPr>
        <p:txBody>
          <a:bodyPr wrap="square">
            <a:spAutoFit/>
          </a:bodyPr>
          <a:lstStyle/>
          <a:p>
            <a:r>
              <a:rPr lang="en-US" sz="2800" dirty="0"/>
              <a:t>Consistency Models</a:t>
            </a:r>
            <a:endParaRPr lang="en-IN" sz="2800" dirty="0"/>
          </a:p>
        </p:txBody>
      </p:sp>
    </p:spTree>
    <p:extLst>
      <p:ext uri="{BB962C8B-B14F-4D97-AF65-F5344CB8AC3E}">
        <p14:creationId xmlns:p14="http://schemas.microsoft.com/office/powerpoint/2010/main" val="7543967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3"/>
          <p:cNvSpPr>
            <a:spLocks noGrp="1"/>
          </p:cNvSpPr>
          <p:nvPr>
            <p:ph type="title"/>
          </p:nvPr>
        </p:nvSpPr>
        <p:spPr>
          <a:xfrm>
            <a:off x="623888" y="1404937"/>
            <a:ext cx="7886700" cy="2139554"/>
          </a:xfrm>
        </p:spPr>
        <p:txBody>
          <a:bodyPr/>
          <a:lstStyle/>
          <a:p>
            <a:endParaRPr lang="en-IN" altLang="en-US" smtClean="0"/>
          </a:p>
        </p:txBody>
      </p:sp>
      <p:sp>
        <p:nvSpPr>
          <p:cNvPr id="34819" name="Text Placeholder 4"/>
          <p:cNvSpPr>
            <a:spLocks noGrp="1"/>
          </p:cNvSpPr>
          <p:nvPr>
            <p:ph type="body" idx="1"/>
          </p:nvPr>
        </p:nvSpPr>
        <p:spPr>
          <a:xfrm>
            <a:off x="623888" y="3652838"/>
            <a:ext cx="7886700" cy="1125141"/>
          </a:xfrm>
        </p:spPr>
        <p:txBody>
          <a:bodyPr/>
          <a:lstStyle/>
          <a:p>
            <a:endParaRPr lang="en-IN" altLang="en-US" smtClean="0"/>
          </a:p>
        </p:txBody>
      </p:sp>
      <p:sp>
        <p:nvSpPr>
          <p:cNvPr id="3482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557213" indent="-214313">
              <a:lnSpc>
                <a:spcPct val="90000"/>
              </a:lnSpc>
              <a:spcBef>
                <a:spcPts val="375"/>
              </a:spcBef>
              <a:buFont typeface="Arial" panose="020B0604020202020204" pitchFamily="34" charset="0"/>
              <a:buChar char="•"/>
              <a:defRPr sz="18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857250" indent="-171450">
              <a:lnSpc>
                <a:spcPct val="90000"/>
              </a:lnSpc>
              <a:spcBef>
                <a:spcPts val="375"/>
              </a:spcBef>
              <a:buFont typeface="Arial" panose="020B0604020202020204" pitchFamily="34" charset="0"/>
              <a:buChar char="•"/>
              <a:defRPr sz="15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2001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15430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fld id="{E00F2F1C-A5B7-48E0-9D00-DD31BCB20F7D}" type="slidenum">
              <a:rPr lang="en-US" altLang="en-US"/>
              <a:pPr/>
              <a:t>63</a:t>
            </a:fld>
            <a:endParaRPr lang="en-US" altLang="en-US"/>
          </a:p>
        </p:txBody>
      </p:sp>
      <p:pic>
        <p:nvPicPr>
          <p:cNvPr id="34821"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858441"/>
            <a:ext cx="9144000" cy="51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91" y="857250"/>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1" descr="A close up of a logo&#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3604" y="5395913"/>
            <a:ext cx="457200"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235744" y="1184673"/>
            <a:ext cx="6655594" cy="3226268"/>
          </a:xfrm>
          <a:prstGeom prst="rect">
            <a:avLst/>
          </a:prstGeom>
          <a:noFill/>
        </p:spPr>
        <p:txBody>
          <a:bodyPr>
            <a:spAutoFit/>
          </a:bodyPr>
          <a:lstStyle/>
          <a:p>
            <a:pPr>
              <a:lnSpc>
                <a:spcPct val="115000"/>
              </a:lnSpc>
              <a:spcAft>
                <a:spcPts val="600"/>
              </a:spcAft>
              <a:defRPr/>
            </a:pPr>
            <a:r>
              <a:rPr lang="en-IN" sz="2100" b="1" kern="100" dirty="0" smtClean="0">
                <a:latin typeface="Aptos" panose="020B0004020202020204" pitchFamily="34" charset="0"/>
                <a:ea typeface="Aptos" panose="020B0004020202020204" pitchFamily="34" charset="0"/>
                <a:cs typeface="Times New Roman" panose="02020603050405020304" pitchFamily="18" charset="0"/>
              </a:rPr>
              <a:t>Example </a:t>
            </a:r>
          </a:p>
          <a:p>
            <a:pPr>
              <a:lnSpc>
                <a:spcPct val="115000"/>
              </a:lnSpc>
              <a:spcAft>
                <a:spcPts val="600"/>
              </a:spcAft>
              <a:defRPr/>
            </a:pPr>
            <a:r>
              <a:rPr lang="en-IN" sz="2000" kern="100" dirty="0" smtClean="0">
                <a:latin typeface="Aptos" panose="020B0004020202020204" pitchFamily="34" charset="0"/>
                <a:ea typeface="Aptos" panose="020B0004020202020204" pitchFamily="34" charset="0"/>
                <a:cs typeface="Times New Roman" panose="02020603050405020304" pitchFamily="18" charset="0"/>
              </a:rPr>
              <a:t>Imagine </a:t>
            </a:r>
            <a:r>
              <a:rPr lang="en-IN" sz="2000" kern="100" dirty="0">
                <a:latin typeface="Aptos" panose="020B0004020202020204" pitchFamily="34" charset="0"/>
                <a:ea typeface="Aptos" panose="020B0004020202020204" pitchFamily="34" charset="0"/>
                <a:cs typeface="Times New Roman" panose="02020603050405020304" pitchFamily="18" charset="0"/>
              </a:rPr>
              <a:t>3 data </a:t>
            </a:r>
            <a:r>
              <a:rPr lang="en-IN" sz="2000" kern="100" dirty="0" err="1">
                <a:latin typeface="Aptos" panose="020B0004020202020204" pitchFamily="34" charset="0"/>
                <a:ea typeface="Aptos" panose="020B0004020202020204" pitchFamily="34" charset="0"/>
                <a:cs typeface="Times New Roman" panose="02020603050405020304" pitchFamily="18" charset="0"/>
              </a:rPr>
              <a:t>centers</a:t>
            </a:r>
            <a:r>
              <a:rPr lang="en-IN" sz="2000" kern="100" dirty="0">
                <a:latin typeface="Aptos" panose="020B0004020202020204" pitchFamily="34" charset="0"/>
                <a:ea typeface="Aptos" panose="020B0004020202020204" pitchFamily="34" charset="0"/>
                <a:cs typeface="Times New Roman" panose="02020603050405020304" pitchFamily="18" charset="0"/>
              </a:rPr>
              <a:t>: </a:t>
            </a:r>
            <a:r>
              <a:rPr lang="en-IN" sz="2000" b="1" kern="100" dirty="0">
                <a:latin typeface="Aptos" panose="020B0004020202020204" pitchFamily="34" charset="0"/>
                <a:ea typeface="Aptos" panose="020B0004020202020204" pitchFamily="34" charset="0"/>
                <a:cs typeface="Times New Roman" panose="02020603050405020304" pitchFamily="18" charset="0"/>
              </a:rPr>
              <a:t>India</a:t>
            </a:r>
            <a:r>
              <a:rPr lang="en-IN" sz="2000" kern="100" dirty="0">
                <a:latin typeface="Aptos" panose="020B0004020202020204" pitchFamily="34" charset="0"/>
                <a:ea typeface="Aptos" panose="020B0004020202020204" pitchFamily="34" charset="0"/>
                <a:cs typeface="Times New Roman" panose="02020603050405020304" pitchFamily="18" charset="0"/>
              </a:rPr>
              <a:t>, </a:t>
            </a:r>
            <a:r>
              <a:rPr lang="en-IN" sz="2000" b="1" kern="100" dirty="0">
                <a:latin typeface="Aptos" panose="020B0004020202020204" pitchFamily="34" charset="0"/>
                <a:ea typeface="Aptos" panose="020B0004020202020204" pitchFamily="34" charset="0"/>
                <a:cs typeface="Times New Roman" panose="02020603050405020304" pitchFamily="18" charset="0"/>
              </a:rPr>
              <a:t>USA</a:t>
            </a:r>
            <a:r>
              <a:rPr lang="en-IN" sz="2000" kern="100" dirty="0">
                <a:latin typeface="Aptos" panose="020B0004020202020204" pitchFamily="34" charset="0"/>
                <a:ea typeface="Aptos" panose="020B0004020202020204" pitchFamily="34" charset="0"/>
                <a:cs typeface="Times New Roman" panose="02020603050405020304" pitchFamily="18" charset="0"/>
              </a:rPr>
              <a:t>, </a:t>
            </a:r>
            <a:r>
              <a:rPr lang="en-IN" sz="2000" b="1" kern="100" dirty="0">
                <a:latin typeface="Aptos" panose="020B0004020202020204" pitchFamily="34" charset="0"/>
                <a:ea typeface="Aptos" panose="020B0004020202020204" pitchFamily="34" charset="0"/>
                <a:cs typeface="Times New Roman" panose="02020603050405020304" pitchFamily="18" charset="0"/>
              </a:rPr>
              <a:t>Europe</a:t>
            </a:r>
            <a:r>
              <a:rPr lang="en-IN" sz="2000"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600"/>
              </a:spcAft>
              <a:defRPr/>
            </a:pPr>
            <a:endParaRPr lang="en-IN" sz="2000" kern="100" dirty="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600"/>
              </a:spcAft>
              <a:buSzPts val="1000"/>
              <a:tabLst>
                <a:tab pos="342900" algn="l"/>
              </a:tabLst>
              <a:defRPr/>
            </a:pPr>
            <a:r>
              <a:rPr lang="en-IN" sz="2000" kern="100" dirty="0">
                <a:latin typeface="Aptos" panose="020B0004020202020204" pitchFamily="34" charset="0"/>
                <a:ea typeface="Aptos" panose="020B0004020202020204" pitchFamily="34" charset="0"/>
                <a:cs typeface="Times New Roman" panose="02020603050405020304" pitchFamily="18" charset="0"/>
              </a:rPr>
              <a:t>You update your profile picture in India.</a:t>
            </a:r>
          </a:p>
          <a:p>
            <a:pPr>
              <a:lnSpc>
                <a:spcPct val="115000"/>
              </a:lnSpc>
              <a:spcAft>
                <a:spcPts val="600"/>
              </a:spcAft>
              <a:buSzPts val="1000"/>
              <a:tabLst>
                <a:tab pos="342900" algn="l"/>
              </a:tabLst>
              <a:defRPr/>
            </a:pPr>
            <a:r>
              <a:rPr lang="en-IN" sz="2000" kern="100" dirty="0">
                <a:latin typeface="Aptos" panose="020B0004020202020204" pitchFamily="34" charset="0"/>
                <a:ea typeface="Aptos" panose="020B0004020202020204" pitchFamily="34" charset="0"/>
                <a:cs typeface="Times New Roman" panose="02020603050405020304" pitchFamily="18" charset="0"/>
              </a:rPr>
              <a:t>With </a:t>
            </a:r>
            <a:r>
              <a:rPr lang="en-IN" sz="2000" b="1" kern="100" dirty="0">
                <a:latin typeface="Aptos" panose="020B0004020202020204" pitchFamily="34" charset="0"/>
                <a:ea typeface="Aptos" panose="020B0004020202020204" pitchFamily="34" charset="0"/>
                <a:cs typeface="Times New Roman" panose="02020603050405020304" pitchFamily="18" charset="0"/>
              </a:rPr>
              <a:t>strong consistency</a:t>
            </a:r>
            <a:r>
              <a:rPr lang="en-IN" sz="2000" kern="100" dirty="0">
                <a:latin typeface="Aptos" panose="020B0004020202020204" pitchFamily="34" charset="0"/>
                <a:ea typeface="Aptos" panose="020B0004020202020204" pitchFamily="34" charset="0"/>
                <a:cs typeface="Times New Roman" panose="02020603050405020304" pitchFamily="18" charset="0"/>
              </a:rPr>
              <a:t>, USA and Europe update instantly before confirming.</a:t>
            </a:r>
          </a:p>
          <a:p>
            <a:pPr>
              <a:lnSpc>
                <a:spcPct val="115000"/>
              </a:lnSpc>
              <a:spcAft>
                <a:spcPts val="600"/>
              </a:spcAft>
              <a:buSzPts val="1000"/>
              <a:tabLst>
                <a:tab pos="342900" algn="l"/>
              </a:tabLst>
              <a:defRPr/>
            </a:pPr>
            <a:r>
              <a:rPr lang="en-IN" sz="2000" kern="100" dirty="0">
                <a:latin typeface="Aptos" panose="020B0004020202020204" pitchFamily="34" charset="0"/>
                <a:ea typeface="Aptos" panose="020B0004020202020204" pitchFamily="34" charset="0"/>
                <a:cs typeface="Times New Roman" panose="02020603050405020304" pitchFamily="18" charset="0"/>
              </a:rPr>
              <a:t>With </a:t>
            </a:r>
            <a:r>
              <a:rPr lang="en-IN" sz="2000" b="1" kern="100" dirty="0">
                <a:latin typeface="Aptos" panose="020B0004020202020204" pitchFamily="34" charset="0"/>
                <a:ea typeface="Aptos" panose="020B0004020202020204" pitchFamily="34" charset="0"/>
                <a:cs typeface="Times New Roman" panose="02020603050405020304" pitchFamily="18" charset="0"/>
              </a:rPr>
              <a:t>eventual consistency</a:t>
            </a:r>
            <a:r>
              <a:rPr lang="en-IN" sz="2000" kern="100" dirty="0">
                <a:latin typeface="Aptos" panose="020B0004020202020204" pitchFamily="34" charset="0"/>
                <a:ea typeface="Aptos" panose="020B0004020202020204" pitchFamily="34" charset="0"/>
                <a:cs typeface="Times New Roman" panose="02020603050405020304" pitchFamily="18" charset="0"/>
              </a:rPr>
              <a:t>, they update later but allow instant response to you.</a:t>
            </a:r>
          </a:p>
          <a:p>
            <a:pPr>
              <a:lnSpc>
                <a:spcPct val="115000"/>
              </a:lnSpc>
              <a:spcAft>
                <a:spcPts val="600"/>
              </a:spcAft>
              <a:defRPr/>
            </a:pPr>
            <a:r>
              <a:rPr lang="en-IN" sz="1500" kern="100" dirty="0">
                <a:latin typeface="Aptos" panose="020B0004020202020204" pitchFamily="34" charset="0"/>
                <a:ea typeface="Aptos" panose="020B0004020202020204" pitchFamily="34" charset="0"/>
                <a:cs typeface="Times New Roman" panose="02020603050405020304" pitchFamily="18" charset="0"/>
              </a:rPr>
              <a:t/>
            </a:r>
            <a:br>
              <a:rPr lang="en-IN" sz="1500" kern="100" dirty="0">
                <a:latin typeface="Aptos" panose="020B0004020202020204" pitchFamily="34" charset="0"/>
                <a:ea typeface="Aptos" panose="020B0004020202020204" pitchFamily="34" charset="0"/>
                <a:cs typeface="Times New Roman" panose="02020603050405020304" pitchFamily="18" charset="0"/>
              </a:rPr>
            </a:br>
            <a:endParaRPr lang="en-IN" sz="15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9" name="Rectangle 8"/>
          <p:cNvSpPr/>
          <p:nvPr/>
        </p:nvSpPr>
        <p:spPr>
          <a:xfrm>
            <a:off x="381000" y="254797"/>
            <a:ext cx="4908070" cy="523220"/>
          </a:xfrm>
          <a:prstGeom prst="rect">
            <a:avLst/>
          </a:prstGeom>
        </p:spPr>
        <p:txBody>
          <a:bodyPr wrap="square">
            <a:spAutoFit/>
          </a:bodyPr>
          <a:lstStyle/>
          <a:p>
            <a:r>
              <a:rPr lang="en-US" sz="2800" dirty="0"/>
              <a:t>Consistency Models</a:t>
            </a:r>
            <a:endParaRPr lang="en-IN" sz="2800" dirty="0"/>
          </a:p>
        </p:txBody>
      </p:sp>
    </p:spTree>
    <p:extLst>
      <p:ext uri="{BB962C8B-B14F-4D97-AF65-F5344CB8AC3E}">
        <p14:creationId xmlns:p14="http://schemas.microsoft.com/office/powerpoint/2010/main" val="18893125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3"/>
          <p:cNvSpPr>
            <a:spLocks noGrp="1"/>
          </p:cNvSpPr>
          <p:nvPr>
            <p:ph type="title"/>
          </p:nvPr>
        </p:nvSpPr>
        <p:spPr>
          <a:xfrm>
            <a:off x="623888" y="1404937"/>
            <a:ext cx="7886700" cy="2139554"/>
          </a:xfrm>
        </p:spPr>
        <p:txBody>
          <a:bodyPr/>
          <a:lstStyle/>
          <a:p>
            <a:endParaRPr lang="en-IN" altLang="en-US" smtClean="0"/>
          </a:p>
        </p:txBody>
      </p:sp>
      <p:sp>
        <p:nvSpPr>
          <p:cNvPr id="35843" name="Text Placeholder 4"/>
          <p:cNvSpPr>
            <a:spLocks noGrp="1"/>
          </p:cNvSpPr>
          <p:nvPr>
            <p:ph type="body" idx="1"/>
          </p:nvPr>
        </p:nvSpPr>
        <p:spPr>
          <a:xfrm>
            <a:off x="623888" y="3652838"/>
            <a:ext cx="7886700" cy="1125141"/>
          </a:xfrm>
        </p:spPr>
        <p:txBody>
          <a:bodyPr/>
          <a:lstStyle/>
          <a:p>
            <a:endParaRPr lang="en-IN" altLang="en-US" smtClean="0"/>
          </a:p>
        </p:txBody>
      </p:sp>
      <p:sp>
        <p:nvSpPr>
          <p:cNvPr id="3584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557213" indent="-214313">
              <a:lnSpc>
                <a:spcPct val="90000"/>
              </a:lnSpc>
              <a:spcBef>
                <a:spcPts val="375"/>
              </a:spcBef>
              <a:buFont typeface="Arial" panose="020B0604020202020204" pitchFamily="34" charset="0"/>
              <a:buChar char="•"/>
              <a:defRPr sz="18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857250" indent="-171450">
              <a:lnSpc>
                <a:spcPct val="90000"/>
              </a:lnSpc>
              <a:spcBef>
                <a:spcPts val="375"/>
              </a:spcBef>
              <a:buFont typeface="Arial" panose="020B0604020202020204" pitchFamily="34" charset="0"/>
              <a:buChar char="•"/>
              <a:defRPr sz="15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2001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15430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fld id="{D0A0002C-50BF-4B4C-826A-7A95C713B891}" type="slidenum">
              <a:rPr lang="en-US" altLang="en-US"/>
              <a:pPr/>
              <a:t>64</a:t>
            </a:fld>
            <a:endParaRPr lang="en-US" altLang="en-US"/>
          </a:p>
        </p:txBody>
      </p:sp>
      <p:pic>
        <p:nvPicPr>
          <p:cNvPr id="3584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858441"/>
            <a:ext cx="9144000" cy="51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91" y="857250"/>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1" descr="A close up of a logo&#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3604" y="5395913"/>
            <a:ext cx="457200"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381000" y="924870"/>
            <a:ext cx="8458200" cy="4186467"/>
          </a:xfrm>
          <a:prstGeom prst="rect">
            <a:avLst/>
          </a:prstGeom>
          <a:noFill/>
        </p:spPr>
        <p:txBody>
          <a:bodyPr wrap="square">
            <a:spAutoFit/>
          </a:bodyPr>
          <a:lstStyle/>
          <a:p>
            <a:pPr algn="just">
              <a:lnSpc>
                <a:spcPct val="115000"/>
              </a:lnSpc>
              <a:spcAft>
                <a:spcPts val="600"/>
              </a:spcAft>
              <a:defRPr/>
            </a:pPr>
            <a:r>
              <a:rPr lang="en-IN" sz="2400" b="1" kern="100" dirty="0" smtClean="0">
                <a:latin typeface="Aptos" panose="020B0004020202020204" pitchFamily="34" charset="0"/>
                <a:ea typeface="Aptos" panose="020B0004020202020204" pitchFamily="34" charset="0"/>
                <a:cs typeface="Times New Roman" panose="02020603050405020304" pitchFamily="18" charset="0"/>
              </a:rPr>
              <a:t>Key Takeaways:</a:t>
            </a:r>
            <a:endParaRPr lang="en-IN" sz="2400" kern="100" dirty="0">
              <a:latin typeface="Aptos" panose="020B0004020202020204" pitchFamily="34" charset="0"/>
              <a:ea typeface="Aptos" panose="020B0004020202020204" pitchFamily="34" charset="0"/>
              <a:cs typeface="Times New Roman" panose="02020603050405020304" pitchFamily="18" charset="0"/>
            </a:endParaRPr>
          </a:p>
          <a:p>
            <a:pPr marL="257175" indent="-257175" algn="just">
              <a:lnSpc>
                <a:spcPct val="115000"/>
              </a:lnSpc>
              <a:spcAft>
                <a:spcPts val="600"/>
              </a:spcAft>
              <a:buFont typeface="+mj-lt"/>
              <a:buAutoNum type="arabicPeriod"/>
              <a:tabLst>
                <a:tab pos="342900" algn="l"/>
              </a:tabLst>
              <a:defRPr/>
            </a:pPr>
            <a:r>
              <a:rPr lang="en-IN" sz="2400" kern="100" dirty="0">
                <a:ea typeface="Aptos" panose="020B0004020202020204" pitchFamily="34" charset="0"/>
                <a:cs typeface="Times New Roman" panose="02020603050405020304" pitchFamily="18" charset="0"/>
              </a:rPr>
              <a:t>Distributed systems spread data across many nodes for scalability and reliability.</a:t>
            </a:r>
          </a:p>
          <a:p>
            <a:pPr marL="257175" indent="-257175" algn="just">
              <a:lnSpc>
                <a:spcPct val="115000"/>
              </a:lnSpc>
              <a:spcAft>
                <a:spcPts val="600"/>
              </a:spcAft>
              <a:buFont typeface="+mj-lt"/>
              <a:buAutoNum type="arabicPeriod"/>
              <a:tabLst>
                <a:tab pos="342900" algn="l"/>
              </a:tabLst>
              <a:defRPr/>
            </a:pPr>
            <a:r>
              <a:rPr lang="en-IN" sz="2400" kern="100" dirty="0">
                <a:ea typeface="Aptos" panose="020B0004020202020204" pitchFamily="34" charset="0"/>
                <a:cs typeface="Times New Roman" panose="02020603050405020304" pitchFamily="18" charset="0"/>
              </a:rPr>
              <a:t>Consistency models define how up-to-date the data is across replicas.</a:t>
            </a:r>
          </a:p>
          <a:p>
            <a:pPr marL="257175" indent="-257175" algn="just">
              <a:lnSpc>
                <a:spcPct val="115000"/>
              </a:lnSpc>
              <a:spcAft>
                <a:spcPts val="600"/>
              </a:spcAft>
              <a:buFont typeface="+mj-lt"/>
              <a:buAutoNum type="arabicPeriod"/>
              <a:tabLst>
                <a:tab pos="342900" algn="l"/>
              </a:tabLst>
              <a:defRPr/>
            </a:pPr>
            <a:r>
              <a:rPr lang="en-IN" sz="2400" kern="100" dirty="0">
                <a:ea typeface="Aptos" panose="020B0004020202020204" pitchFamily="34" charset="0"/>
                <a:cs typeface="Times New Roman" panose="02020603050405020304" pitchFamily="18" charset="0"/>
              </a:rPr>
              <a:t>NoSQL databases often trade off strong consistency for better performance.</a:t>
            </a:r>
          </a:p>
          <a:p>
            <a:pPr marL="257175" indent="-257175" algn="just">
              <a:lnSpc>
                <a:spcPct val="115000"/>
              </a:lnSpc>
              <a:spcAft>
                <a:spcPts val="600"/>
              </a:spcAft>
              <a:buFont typeface="+mj-lt"/>
              <a:buAutoNum type="arabicPeriod"/>
              <a:tabLst>
                <a:tab pos="342900" algn="l"/>
              </a:tabLst>
              <a:defRPr/>
            </a:pPr>
            <a:r>
              <a:rPr lang="en-IN" sz="2400" kern="100" dirty="0">
                <a:ea typeface="Aptos" panose="020B0004020202020204" pitchFamily="34" charset="0"/>
                <a:cs typeface="Times New Roman" panose="02020603050405020304" pitchFamily="18" charset="0"/>
              </a:rPr>
              <a:t>Choosing the right consistency model depends on the application’s needs.</a:t>
            </a:r>
          </a:p>
        </p:txBody>
      </p:sp>
      <p:sp>
        <p:nvSpPr>
          <p:cNvPr id="9" name="Rectangle 8"/>
          <p:cNvSpPr/>
          <p:nvPr/>
        </p:nvSpPr>
        <p:spPr>
          <a:xfrm>
            <a:off x="381000" y="254797"/>
            <a:ext cx="4908070" cy="523220"/>
          </a:xfrm>
          <a:prstGeom prst="rect">
            <a:avLst/>
          </a:prstGeom>
        </p:spPr>
        <p:txBody>
          <a:bodyPr wrap="square">
            <a:spAutoFit/>
          </a:bodyPr>
          <a:lstStyle/>
          <a:p>
            <a:r>
              <a:rPr lang="en-US" sz="2800" dirty="0"/>
              <a:t>Consistency Models</a:t>
            </a:r>
            <a:endParaRPr lang="en-IN" sz="2800" dirty="0"/>
          </a:p>
        </p:txBody>
      </p:sp>
    </p:spTree>
    <p:extLst>
      <p:ext uri="{BB962C8B-B14F-4D97-AF65-F5344CB8AC3E}">
        <p14:creationId xmlns:p14="http://schemas.microsoft.com/office/powerpoint/2010/main" val="9934968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5176417"/>
          </a:xfrm>
          <a:prstGeom prst="rect">
            <a:avLst/>
          </a:prstGeom>
          <a:noFill/>
        </p:spPr>
        <p:txBody>
          <a:bodyPr wrap="square" rtlCol="0">
            <a:spAutoFit/>
          </a:bodyPr>
          <a:lstStyle/>
          <a:p>
            <a:pPr>
              <a:lnSpc>
                <a:spcPct val="115000"/>
              </a:lnSpc>
              <a:spcAft>
                <a:spcPts val="800"/>
              </a:spcAft>
              <a:defRPr/>
            </a:pPr>
            <a:r>
              <a:rPr lang="en-IN" sz="2000" kern="100" dirty="0">
                <a:ea typeface="Aptos" panose="020B0004020202020204" pitchFamily="34" charset="0"/>
                <a:cs typeface="Times New Roman" panose="02020603050405020304" pitchFamily="18" charset="0"/>
              </a:rPr>
              <a:t>In NoSQL terms:</a:t>
            </a:r>
          </a:p>
          <a:p>
            <a:pPr marL="342900" indent="-342900">
              <a:lnSpc>
                <a:spcPct val="115000"/>
              </a:lnSpc>
              <a:spcAft>
                <a:spcPts val="800"/>
              </a:spcAft>
              <a:buSzPts val="1000"/>
              <a:buFont typeface="Symbol" panose="05050102010706020507" pitchFamily="18" charset="2"/>
              <a:buChar char=""/>
              <a:tabLst>
                <a:tab pos="457200" algn="l"/>
              </a:tabLst>
              <a:defRPr/>
            </a:pPr>
            <a:r>
              <a:rPr lang="en-IN" sz="2000" b="1" kern="100" dirty="0">
                <a:ea typeface="Aptos" panose="020B0004020202020204" pitchFamily="34" charset="0"/>
                <a:cs typeface="Times New Roman" panose="02020603050405020304" pitchFamily="18" charset="0"/>
              </a:rPr>
              <a:t>Consistency Model:</a:t>
            </a:r>
            <a:r>
              <a:rPr lang="en-IN" sz="2000" kern="100" dirty="0">
                <a:ea typeface="Aptos" panose="020B0004020202020204" pitchFamily="34" charset="0"/>
                <a:cs typeface="Times New Roman" panose="02020603050405020304" pitchFamily="18" charset="0"/>
              </a:rPr>
              <a:t> </a:t>
            </a:r>
            <a:r>
              <a:rPr lang="en-IN" sz="2000" b="1" kern="100" dirty="0">
                <a:ea typeface="Aptos" panose="020B0004020202020204" pitchFamily="34" charset="0"/>
                <a:cs typeface="Times New Roman" panose="02020603050405020304" pitchFamily="18" charset="0"/>
              </a:rPr>
              <a:t>Strong Consistency</a:t>
            </a:r>
            <a:r>
              <a:rPr lang="en-IN" sz="2000" kern="100" dirty="0">
                <a:ea typeface="Aptos" panose="020B0004020202020204" pitchFamily="34" charset="0"/>
                <a:cs typeface="Times New Roman" panose="02020603050405020304" pitchFamily="18" charset="0"/>
              </a:rPr>
              <a:t> — Every read gets the most recent write.</a:t>
            </a:r>
          </a:p>
          <a:p>
            <a:pPr marL="342900" indent="-342900">
              <a:lnSpc>
                <a:spcPct val="115000"/>
              </a:lnSpc>
              <a:spcAft>
                <a:spcPts val="800"/>
              </a:spcAft>
              <a:buSzPts val="1000"/>
              <a:buFont typeface="Symbol" panose="05050102010706020507" pitchFamily="18" charset="2"/>
              <a:buChar char=""/>
              <a:tabLst>
                <a:tab pos="457200" algn="l"/>
              </a:tabLst>
              <a:defRPr/>
            </a:pPr>
            <a:endParaRPr lang="en-IN" sz="2000" kern="100" dirty="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sz="2000" b="1" kern="100" dirty="0">
                <a:ea typeface="Aptos" panose="020B0004020202020204" pitchFamily="34" charset="0"/>
                <a:cs typeface="Times New Roman" panose="02020603050405020304" pitchFamily="18" charset="0"/>
              </a:rPr>
              <a:t>Why?</a:t>
            </a:r>
            <a:r>
              <a:rPr lang="en-IN" sz="2000" kern="100" dirty="0">
                <a:ea typeface="Aptos" panose="020B0004020202020204" pitchFamily="34" charset="0"/>
                <a:cs typeface="Times New Roman" panose="02020603050405020304" pitchFamily="18" charset="0"/>
              </a:rPr>
              <a:t> No replication or network delays between multiple servers.</a:t>
            </a:r>
          </a:p>
          <a:p>
            <a:pPr marL="342900" indent="-342900">
              <a:lnSpc>
                <a:spcPct val="115000"/>
              </a:lnSpc>
              <a:spcAft>
                <a:spcPts val="800"/>
              </a:spcAft>
              <a:buSzPts val="1000"/>
              <a:buFont typeface="Symbol" panose="05050102010706020507" pitchFamily="18" charset="2"/>
              <a:buChar char=""/>
              <a:tabLst>
                <a:tab pos="457200" algn="l"/>
              </a:tabLst>
              <a:defRPr/>
            </a:pPr>
            <a:r>
              <a:rPr lang="en-IN" sz="2000" b="1" kern="100" dirty="0">
                <a:ea typeface="Aptos" panose="020B0004020202020204" pitchFamily="34" charset="0"/>
                <a:cs typeface="Times New Roman" panose="02020603050405020304" pitchFamily="18" charset="0"/>
              </a:rPr>
              <a:t>Example:</a:t>
            </a:r>
            <a:endParaRPr lang="en-IN" sz="2000" kern="100" dirty="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000" kern="100" dirty="0">
                <a:ea typeface="Aptos" panose="020B0004020202020204" pitchFamily="34" charset="0"/>
                <a:cs typeface="Times New Roman" panose="02020603050405020304" pitchFamily="18" charset="0"/>
              </a:rPr>
              <a:t>In a MongoDB single-server setup, if you update a document at 10:00:00, all reads after that return the updated value instantly.</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65</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in the Single Server Model</a:t>
            </a:r>
            <a:endParaRPr lang="en-IN" sz="2800" kern="100" dirty="0">
              <a:ea typeface="Aptos" panose="020B0004020202020204" pitchFamily="34" charset="0"/>
              <a:cs typeface="Times New Roman" panose="0202060305040502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4426" y="3114256"/>
            <a:ext cx="4190999" cy="2924392"/>
          </a:xfrm>
          <a:prstGeom prst="rect">
            <a:avLst/>
          </a:prstGeom>
        </p:spPr>
      </p:pic>
      <p:sp>
        <p:nvSpPr>
          <p:cNvPr id="8" name="Rectangle 7"/>
          <p:cNvSpPr/>
          <p:nvPr/>
        </p:nvSpPr>
        <p:spPr>
          <a:xfrm>
            <a:off x="4495800" y="1086853"/>
            <a:ext cx="4668253" cy="1709699"/>
          </a:xfrm>
          <a:prstGeom prst="rect">
            <a:avLst/>
          </a:prstGeom>
        </p:spPr>
        <p:txBody>
          <a:bodyPr wrap="square">
            <a:spAutoFit/>
          </a:bodyPr>
          <a:lstStyle/>
          <a:p>
            <a:pPr>
              <a:lnSpc>
                <a:spcPct val="115000"/>
              </a:lnSpc>
              <a:spcAft>
                <a:spcPts val="800"/>
              </a:spcAft>
              <a:defRPr/>
            </a:pPr>
            <a:r>
              <a:rPr lang="en-IN" sz="2000" b="1" kern="100" dirty="0">
                <a:solidFill>
                  <a:srgbClr val="EE0000"/>
                </a:solidFill>
                <a:latin typeface="Aptos" panose="020B0004020202020204" pitchFamily="34" charset="0"/>
                <a:ea typeface="Aptos" panose="020B0004020202020204" pitchFamily="34" charset="0"/>
                <a:cs typeface="Times New Roman" panose="02020603050405020304" pitchFamily="18" charset="0"/>
              </a:rPr>
              <a:t>Architecture Overview</a:t>
            </a:r>
            <a:endParaRPr lang="en-IN" sz="2000" kern="100" dirty="0">
              <a:solidFill>
                <a:srgbClr val="EE0000"/>
              </a:solidFill>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defRPr/>
            </a:pPr>
            <a:r>
              <a:rPr lang="en-IN" kern="100" dirty="0">
                <a:latin typeface="Aptos" panose="020B0004020202020204" pitchFamily="34" charset="0"/>
                <a:ea typeface="Aptos" panose="020B0004020202020204" pitchFamily="34" charset="0"/>
                <a:cs typeface="Times New Roman" panose="02020603050405020304" pitchFamily="18" charset="0"/>
              </a:rPr>
              <a:t>[Client 1]  \</a:t>
            </a:r>
          </a:p>
          <a:p>
            <a:pPr>
              <a:lnSpc>
                <a:spcPct val="115000"/>
              </a:lnSpc>
              <a:spcAft>
                <a:spcPts val="800"/>
              </a:spcAft>
              <a:defRPr/>
            </a:pPr>
            <a:r>
              <a:rPr lang="en-IN" kern="100" dirty="0">
                <a:latin typeface="Aptos" panose="020B0004020202020204" pitchFamily="34" charset="0"/>
                <a:ea typeface="Aptos" panose="020B0004020202020204" pitchFamily="34" charset="0"/>
                <a:cs typeface="Times New Roman" panose="02020603050405020304" pitchFamily="18" charset="0"/>
              </a:rPr>
              <a:t>[Client 2]   &gt; ----&gt; [ Single Server: Data + Query Processing ]</a:t>
            </a:r>
          </a:p>
          <a:p>
            <a:pPr>
              <a:lnSpc>
                <a:spcPct val="115000"/>
              </a:lnSpc>
              <a:spcAft>
                <a:spcPts val="800"/>
              </a:spcAft>
              <a:defRPr/>
            </a:pPr>
            <a:r>
              <a:rPr lang="en-IN" kern="100" dirty="0">
                <a:latin typeface="Aptos" panose="020B0004020202020204" pitchFamily="34" charset="0"/>
                <a:ea typeface="Aptos" panose="020B0004020202020204" pitchFamily="34" charset="0"/>
                <a:cs typeface="Times New Roman" panose="02020603050405020304" pitchFamily="18" charset="0"/>
              </a:rPr>
              <a:t>[Client 3]  /</a:t>
            </a:r>
          </a:p>
        </p:txBody>
      </p:sp>
    </p:spTree>
    <p:extLst>
      <p:ext uri="{BB962C8B-B14F-4D97-AF65-F5344CB8AC3E}">
        <p14:creationId xmlns:p14="http://schemas.microsoft.com/office/powerpoint/2010/main" val="116686819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305800" cy="3340273"/>
          </a:xfrm>
          <a:prstGeom prst="rect">
            <a:avLst/>
          </a:prstGeom>
          <a:noFill/>
        </p:spPr>
        <p:txBody>
          <a:bodyPr wrap="square" rtlCol="0">
            <a:spAutoFit/>
          </a:bodyPr>
          <a:lstStyle/>
          <a:p>
            <a:pPr>
              <a:lnSpc>
                <a:spcPct val="115000"/>
              </a:lnSpc>
              <a:spcAft>
                <a:spcPts val="600"/>
              </a:spcAft>
              <a:defRPr/>
            </a:pPr>
            <a:r>
              <a:rPr lang="en-IN" sz="2100" b="1" kern="100" dirty="0">
                <a:ea typeface="Aptos" panose="020B0004020202020204" pitchFamily="34" charset="0"/>
                <a:cs typeface="Times New Roman" panose="02020603050405020304" pitchFamily="18" charset="0"/>
              </a:rPr>
              <a:t>Single Server in NoSQL Context</a:t>
            </a:r>
            <a:endParaRPr lang="en-IN" sz="2100" kern="100" dirty="0">
              <a:ea typeface="Aptos" panose="020B0004020202020204" pitchFamily="34" charset="0"/>
              <a:cs typeface="Times New Roman" panose="02020603050405020304" pitchFamily="18" charset="0"/>
            </a:endParaRPr>
          </a:p>
          <a:p>
            <a:pPr marL="257175" indent="-257175">
              <a:lnSpc>
                <a:spcPct val="115000"/>
              </a:lnSpc>
              <a:spcAft>
                <a:spcPts val="600"/>
              </a:spcAft>
              <a:buSzPts val="1000"/>
              <a:buFont typeface="Symbol" panose="05050102010706020507" pitchFamily="18" charset="2"/>
              <a:buChar char=""/>
              <a:tabLst>
                <a:tab pos="342900" algn="l"/>
              </a:tabLst>
              <a:defRPr/>
            </a:pPr>
            <a:r>
              <a:rPr lang="en-IN" sz="1650" kern="100" dirty="0">
                <a:ea typeface="Aptos" panose="020B0004020202020204" pitchFamily="34" charset="0"/>
                <a:cs typeface="Times New Roman" panose="02020603050405020304" pitchFamily="18" charset="0"/>
              </a:rPr>
              <a:t>Even though NoSQL databases are </a:t>
            </a:r>
            <a:r>
              <a:rPr lang="en-IN" sz="1650" b="1" kern="100" dirty="0">
                <a:ea typeface="Aptos" panose="020B0004020202020204" pitchFamily="34" charset="0"/>
                <a:cs typeface="Times New Roman" panose="02020603050405020304" pitchFamily="18" charset="0"/>
              </a:rPr>
              <a:t>designed for distributed setups</a:t>
            </a:r>
            <a:r>
              <a:rPr lang="en-IN" sz="1650" kern="100" dirty="0">
                <a:ea typeface="Aptos" panose="020B0004020202020204" pitchFamily="34" charset="0"/>
                <a:cs typeface="Times New Roman" panose="02020603050405020304" pitchFamily="18" charset="0"/>
              </a:rPr>
              <a:t>, most can run in </a:t>
            </a:r>
            <a:r>
              <a:rPr lang="en-IN" sz="1650" b="1" kern="100" dirty="0">
                <a:ea typeface="Aptos" panose="020B0004020202020204" pitchFamily="34" charset="0"/>
                <a:cs typeface="Times New Roman" panose="02020603050405020304" pitchFamily="18" charset="0"/>
              </a:rPr>
              <a:t>single-server mode</a:t>
            </a:r>
            <a:r>
              <a:rPr lang="en-IN" sz="1650" kern="100" dirty="0">
                <a:ea typeface="Aptos" panose="020B0004020202020204" pitchFamily="34" charset="0"/>
                <a:cs typeface="Times New Roman" panose="02020603050405020304" pitchFamily="18" charset="0"/>
              </a:rPr>
              <a:t>:</a:t>
            </a:r>
          </a:p>
          <a:p>
            <a:pPr marL="557213" lvl="1" indent="-214313">
              <a:lnSpc>
                <a:spcPct val="115000"/>
              </a:lnSpc>
              <a:spcAft>
                <a:spcPts val="600"/>
              </a:spcAft>
              <a:buSzPts val="1000"/>
              <a:buFont typeface="Courier New" panose="02070309020205020404" pitchFamily="49" charset="0"/>
              <a:buChar char="o"/>
              <a:tabLst>
                <a:tab pos="685800" algn="l"/>
              </a:tabLst>
              <a:defRPr/>
            </a:pPr>
            <a:r>
              <a:rPr lang="en-IN" sz="1650" b="1" kern="100" dirty="0">
                <a:ea typeface="Aptos" panose="020B0004020202020204" pitchFamily="34" charset="0"/>
                <a:cs typeface="Times New Roman" panose="02020603050405020304" pitchFamily="18" charset="0"/>
              </a:rPr>
              <a:t>MongoDB</a:t>
            </a:r>
            <a:r>
              <a:rPr lang="en-IN" sz="1650" kern="100" dirty="0">
                <a:ea typeface="Aptos" panose="020B0004020202020204" pitchFamily="34" charset="0"/>
                <a:cs typeface="Times New Roman" panose="02020603050405020304" pitchFamily="18" charset="0"/>
              </a:rPr>
              <a:t> – run with one </a:t>
            </a:r>
            <a:r>
              <a:rPr lang="en-IN" sz="1650" kern="100" dirty="0" err="1">
                <a:ea typeface="Aptos" panose="020B0004020202020204" pitchFamily="34" charset="0"/>
                <a:cs typeface="Times New Roman" panose="02020603050405020304" pitchFamily="18" charset="0"/>
              </a:rPr>
              <a:t>mongod</a:t>
            </a:r>
            <a:r>
              <a:rPr lang="en-IN" sz="1650" kern="100" dirty="0">
                <a:ea typeface="Aptos" panose="020B0004020202020204" pitchFamily="34" charset="0"/>
                <a:cs typeface="Times New Roman" panose="02020603050405020304" pitchFamily="18" charset="0"/>
              </a:rPr>
              <a:t> instance.</a:t>
            </a:r>
          </a:p>
          <a:p>
            <a:pPr marL="557213" lvl="1" indent="-214313">
              <a:lnSpc>
                <a:spcPct val="115000"/>
              </a:lnSpc>
              <a:spcAft>
                <a:spcPts val="600"/>
              </a:spcAft>
              <a:buSzPts val="1000"/>
              <a:buFont typeface="Courier New" panose="02070309020205020404" pitchFamily="49" charset="0"/>
              <a:buChar char="o"/>
              <a:tabLst>
                <a:tab pos="685800" algn="l"/>
              </a:tabLst>
              <a:defRPr/>
            </a:pPr>
            <a:r>
              <a:rPr lang="en-IN" sz="1650" b="1" kern="100" dirty="0">
                <a:ea typeface="Aptos" panose="020B0004020202020204" pitchFamily="34" charset="0"/>
                <a:cs typeface="Times New Roman" panose="02020603050405020304" pitchFamily="18" charset="0"/>
              </a:rPr>
              <a:t>Cassandra</a:t>
            </a:r>
            <a:r>
              <a:rPr lang="en-IN" sz="1650" kern="100" dirty="0">
                <a:ea typeface="Aptos" panose="020B0004020202020204" pitchFamily="34" charset="0"/>
                <a:cs typeface="Times New Roman" panose="02020603050405020304" pitchFamily="18" charset="0"/>
              </a:rPr>
              <a:t> – run with one node (good for development/testing).</a:t>
            </a:r>
          </a:p>
          <a:p>
            <a:pPr marL="557213" lvl="1" indent="-214313">
              <a:lnSpc>
                <a:spcPct val="115000"/>
              </a:lnSpc>
              <a:spcAft>
                <a:spcPts val="600"/>
              </a:spcAft>
              <a:buSzPts val="1000"/>
              <a:buFont typeface="Courier New" panose="02070309020205020404" pitchFamily="49" charset="0"/>
              <a:buChar char="o"/>
              <a:tabLst>
                <a:tab pos="685800" algn="l"/>
              </a:tabLst>
              <a:defRPr/>
            </a:pPr>
            <a:r>
              <a:rPr lang="en-IN" sz="1650" b="1" kern="100" dirty="0" err="1">
                <a:ea typeface="Aptos" panose="020B0004020202020204" pitchFamily="34" charset="0"/>
                <a:cs typeface="Times New Roman" panose="02020603050405020304" pitchFamily="18" charset="0"/>
              </a:rPr>
              <a:t>Redis</a:t>
            </a:r>
            <a:r>
              <a:rPr lang="en-IN" sz="1650" kern="100" dirty="0">
                <a:ea typeface="Aptos" panose="020B0004020202020204" pitchFamily="34" charset="0"/>
                <a:cs typeface="Times New Roman" panose="02020603050405020304" pitchFamily="18" charset="0"/>
              </a:rPr>
              <a:t> – store all key-value pairs in one server.</a:t>
            </a:r>
          </a:p>
          <a:p>
            <a:pPr marL="257175" indent="-257175">
              <a:lnSpc>
                <a:spcPct val="115000"/>
              </a:lnSpc>
              <a:spcAft>
                <a:spcPts val="600"/>
              </a:spcAft>
              <a:buSzPts val="1000"/>
              <a:buFont typeface="Symbol" panose="05050102010706020507" pitchFamily="18" charset="2"/>
              <a:buChar char=""/>
              <a:tabLst>
                <a:tab pos="342900" algn="l"/>
              </a:tabLst>
              <a:defRPr/>
            </a:pPr>
            <a:r>
              <a:rPr lang="en-IN" kern="100" dirty="0">
                <a:ea typeface="Aptos" panose="020B0004020202020204" pitchFamily="34" charset="0"/>
                <a:cs typeface="Times New Roman" panose="02020603050405020304" pitchFamily="18" charset="0"/>
              </a:rPr>
              <a:t>Often used for:</a:t>
            </a:r>
          </a:p>
          <a:p>
            <a:pPr marL="557213" lvl="1" indent="-214313">
              <a:lnSpc>
                <a:spcPct val="115000"/>
              </a:lnSpc>
              <a:spcAft>
                <a:spcPts val="600"/>
              </a:spcAft>
              <a:buSzPts val="1000"/>
              <a:buFont typeface="Courier New" panose="02070309020205020404" pitchFamily="49" charset="0"/>
              <a:buChar char="o"/>
              <a:tabLst>
                <a:tab pos="685800" algn="l"/>
              </a:tabLst>
              <a:defRPr/>
            </a:pPr>
            <a:r>
              <a:rPr lang="en-IN" sz="1650" b="1" kern="100" dirty="0">
                <a:ea typeface="Aptos" panose="020B0004020202020204" pitchFamily="34" charset="0"/>
                <a:cs typeface="Times New Roman" panose="02020603050405020304" pitchFamily="18" charset="0"/>
              </a:rPr>
              <a:t>Development</a:t>
            </a:r>
            <a:endParaRPr lang="en-IN" sz="1650" kern="100" dirty="0">
              <a:ea typeface="Aptos" panose="020B0004020202020204" pitchFamily="34" charset="0"/>
              <a:cs typeface="Times New Roman" panose="02020603050405020304" pitchFamily="18" charset="0"/>
            </a:endParaRPr>
          </a:p>
          <a:p>
            <a:pPr marL="557213" lvl="1" indent="-214313">
              <a:lnSpc>
                <a:spcPct val="115000"/>
              </a:lnSpc>
              <a:spcAft>
                <a:spcPts val="600"/>
              </a:spcAft>
              <a:buSzPts val="1000"/>
              <a:buFont typeface="Courier New" panose="02070309020205020404" pitchFamily="49" charset="0"/>
              <a:buChar char="o"/>
              <a:tabLst>
                <a:tab pos="685800" algn="l"/>
              </a:tabLst>
              <a:defRPr/>
            </a:pPr>
            <a:r>
              <a:rPr lang="en-IN" sz="1650" b="1" kern="100" dirty="0">
                <a:ea typeface="Aptos" panose="020B0004020202020204" pitchFamily="34" charset="0"/>
                <a:cs typeface="Times New Roman" panose="02020603050405020304" pitchFamily="18" charset="0"/>
              </a:rPr>
              <a:t>Small-scale applications</a:t>
            </a:r>
            <a:endParaRPr lang="en-IN" sz="1650" kern="100" dirty="0">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66</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in the Single Server Model</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0972525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305800" cy="359457"/>
          </a:xfrm>
          <a:prstGeom prst="rect">
            <a:avLst/>
          </a:prstGeom>
          <a:noFill/>
        </p:spPr>
        <p:txBody>
          <a:bodyPr wrap="square" rtlCol="0">
            <a:spAutoFit/>
          </a:bodyPr>
          <a:lstStyle/>
          <a:p>
            <a:pPr>
              <a:lnSpc>
                <a:spcPct val="115000"/>
              </a:lnSpc>
              <a:spcAft>
                <a:spcPts val="600"/>
              </a:spcAft>
              <a:defRPr/>
            </a:pPr>
            <a:endParaRPr lang="en-IN" sz="1650" kern="100" dirty="0">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67</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in the Single Server Model</a:t>
            </a:r>
            <a:endParaRPr lang="en-IN" sz="2800" kern="100" dirty="0">
              <a:ea typeface="Aptos" panose="020B0004020202020204" pitchFamily="34"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609256" y="1465918"/>
            <a:ext cx="7925487" cy="3926164"/>
          </a:xfrm>
          <a:prstGeom prst="rect">
            <a:avLst/>
          </a:prstGeom>
        </p:spPr>
      </p:pic>
    </p:spTree>
    <p:extLst>
      <p:ext uri="{BB962C8B-B14F-4D97-AF65-F5344CB8AC3E}">
        <p14:creationId xmlns:p14="http://schemas.microsoft.com/office/powerpoint/2010/main" val="271094790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305800" cy="4324261"/>
          </a:xfrm>
          <a:prstGeom prst="rect">
            <a:avLst/>
          </a:prstGeom>
          <a:noFill/>
        </p:spPr>
        <p:txBody>
          <a:bodyPr wrap="square" rtlCol="0">
            <a:spAutoFit/>
          </a:bodyPr>
          <a:lstStyle/>
          <a:p>
            <a:pPr>
              <a:lnSpc>
                <a:spcPct val="115000"/>
              </a:lnSpc>
              <a:spcAft>
                <a:spcPts val="600"/>
              </a:spcAft>
              <a:defRPr/>
            </a:pPr>
            <a:r>
              <a:rPr lang="en-IN" b="1" kern="100" dirty="0">
                <a:ea typeface="Aptos" panose="020B0004020202020204" pitchFamily="34" charset="0"/>
                <a:cs typeface="Times New Roman" panose="02020603050405020304" pitchFamily="18" charset="0"/>
              </a:rPr>
              <a:t>Example Use Case</a:t>
            </a:r>
            <a:endParaRPr lang="en-IN" kern="100" dirty="0">
              <a:ea typeface="Aptos" panose="020B0004020202020204" pitchFamily="34" charset="0"/>
              <a:cs typeface="Times New Roman" panose="02020603050405020304" pitchFamily="18" charset="0"/>
            </a:endParaRPr>
          </a:p>
          <a:p>
            <a:pPr>
              <a:lnSpc>
                <a:spcPct val="115000"/>
              </a:lnSpc>
              <a:spcAft>
                <a:spcPts val="600"/>
              </a:spcAft>
              <a:defRPr/>
            </a:pPr>
            <a:r>
              <a:rPr lang="en-IN" b="1" kern="100" dirty="0">
                <a:ea typeface="Aptos" panose="020B0004020202020204" pitchFamily="34" charset="0"/>
                <a:cs typeface="Times New Roman" panose="02020603050405020304" pitchFamily="18" charset="0"/>
              </a:rPr>
              <a:t>Example:</a:t>
            </a:r>
            <a:r>
              <a:rPr lang="en-IN" kern="100" dirty="0">
                <a:ea typeface="Aptos" panose="020B0004020202020204" pitchFamily="34" charset="0"/>
                <a:cs typeface="Times New Roman" panose="02020603050405020304" pitchFamily="18" charset="0"/>
              </a:rPr>
              <a:t> A small </a:t>
            </a:r>
            <a:r>
              <a:rPr lang="en-IN" b="1" kern="100" dirty="0">
                <a:ea typeface="Aptos" panose="020B0004020202020204" pitchFamily="34" charset="0"/>
                <a:cs typeface="Times New Roman" panose="02020603050405020304" pitchFamily="18" charset="0"/>
              </a:rPr>
              <a:t>online bakery</a:t>
            </a:r>
            <a:r>
              <a:rPr lang="en-IN" kern="100" dirty="0">
                <a:ea typeface="Aptos" panose="020B0004020202020204" pitchFamily="34" charset="0"/>
                <a:cs typeface="Times New Roman" panose="02020603050405020304" pitchFamily="18" charset="0"/>
              </a:rPr>
              <a:t> database.</a:t>
            </a:r>
          </a:p>
          <a:p>
            <a:pPr marL="257175" indent="-257175">
              <a:lnSpc>
                <a:spcPct val="115000"/>
              </a:lnSpc>
              <a:spcAft>
                <a:spcPts val="600"/>
              </a:spcAft>
              <a:buSzPts val="1000"/>
              <a:buFont typeface="Symbol" panose="05050102010706020507" pitchFamily="18" charset="2"/>
              <a:buChar char=""/>
              <a:tabLst>
                <a:tab pos="342900" algn="l"/>
              </a:tabLst>
              <a:defRPr/>
            </a:pPr>
            <a:r>
              <a:rPr lang="en-IN" kern="100" dirty="0">
                <a:ea typeface="Aptos" panose="020B0004020202020204" pitchFamily="34" charset="0"/>
                <a:cs typeface="Times New Roman" panose="02020603050405020304" pitchFamily="18" charset="0"/>
              </a:rPr>
              <a:t>Server stores:</a:t>
            </a:r>
          </a:p>
          <a:p>
            <a:pPr marL="557213" lvl="1" indent="-214313">
              <a:lnSpc>
                <a:spcPct val="115000"/>
              </a:lnSpc>
              <a:spcAft>
                <a:spcPts val="600"/>
              </a:spcAft>
              <a:buSzPts val="1000"/>
              <a:buFont typeface="Courier New" panose="02070309020205020404" pitchFamily="49" charset="0"/>
              <a:buChar char="o"/>
              <a:tabLst>
                <a:tab pos="685800" algn="l"/>
              </a:tabLst>
              <a:defRPr/>
            </a:pPr>
            <a:r>
              <a:rPr lang="en-IN" kern="100" dirty="0">
                <a:ea typeface="Aptos" panose="020B0004020202020204" pitchFamily="34" charset="0"/>
                <a:cs typeface="Times New Roman" panose="02020603050405020304" pitchFamily="18" charset="0"/>
              </a:rPr>
              <a:t>Menu items</a:t>
            </a:r>
          </a:p>
          <a:p>
            <a:pPr marL="557213" lvl="1" indent="-214313">
              <a:lnSpc>
                <a:spcPct val="115000"/>
              </a:lnSpc>
              <a:spcAft>
                <a:spcPts val="600"/>
              </a:spcAft>
              <a:buSzPts val="1000"/>
              <a:buFont typeface="Courier New" panose="02070309020205020404" pitchFamily="49" charset="0"/>
              <a:buChar char="o"/>
              <a:tabLst>
                <a:tab pos="685800" algn="l"/>
              </a:tabLst>
              <a:defRPr/>
            </a:pPr>
            <a:r>
              <a:rPr lang="en-IN" kern="100" dirty="0">
                <a:ea typeface="Aptos" panose="020B0004020202020204" pitchFamily="34" charset="0"/>
                <a:cs typeface="Times New Roman" panose="02020603050405020304" pitchFamily="18" charset="0"/>
              </a:rPr>
              <a:t>Orders</a:t>
            </a:r>
          </a:p>
          <a:p>
            <a:pPr marL="557213" lvl="1" indent="-214313">
              <a:lnSpc>
                <a:spcPct val="115000"/>
              </a:lnSpc>
              <a:spcAft>
                <a:spcPts val="600"/>
              </a:spcAft>
              <a:buSzPts val="1000"/>
              <a:buFont typeface="Courier New" panose="02070309020205020404" pitchFamily="49" charset="0"/>
              <a:buChar char="o"/>
              <a:tabLst>
                <a:tab pos="685800" algn="l"/>
              </a:tabLst>
              <a:defRPr/>
            </a:pPr>
            <a:r>
              <a:rPr lang="en-IN" kern="100" dirty="0">
                <a:ea typeface="Aptos" panose="020B0004020202020204" pitchFamily="34" charset="0"/>
                <a:cs typeface="Times New Roman" panose="02020603050405020304" pitchFamily="18" charset="0"/>
              </a:rPr>
              <a:t>Customer details</a:t>
            </a:r>
          </a:p>
          <a:p>
            <a:pPr marL="257175" indent="-257175">
              <a:lnSpc>
                <a:spcPct val="115000"/>
              </a:lnSpc>
              <a:spcAft>
                <a:spcPts val="600"/>
              </a:spcAft>
              <a:buSzPts val="1000"/>
              <a:buFont typeface="Symbol" panose="05050102010706020507" pitchFamily="18" charset="2"/>
              <a:buChar char=""/>
              <a:tabLst>
                <a:tab pos="342900" algn="l"/>
              </a:tabLst>
              <a:defRPr/>
            </a:pPr>
            <a:r>
              <a:rPr lang="en-IN" kern="100" dirty="0">
                <a:ea typeface="Aptos" panose="020B0004020202020204" pitchFamily="34" charset="0"/>
                <a:cs typeface="Times New Roman" panose="02020603050405020304" pitchFamily="18" charset="0"/>
              </a:rPr>
              <a:t>Flow:</a:t>
            </a:r>
          </a:p>
          <a:p>
            <a:pPr marL="557213" lvl="1" indent="-214313">
              <a:lnSpc>
                <a:spcPct val="115000"/>
              </a:lnSpc>
              <a:spcAft>
                <a:spcPts val="600"/>
              </a:spcAft>
              <a:buSzPts val="1000"/>
              <a:buFont typeface="Courier New" panose="02070309020205020404" pitchFamily="49" charset="0"/>
              <a:buChar char="o"/>
              <a:defRPr/>
            </a:pPr>
            <a:r>
              <a:rPr lang="en-IN" kern="100" dirty="0">
                <a:ea typeface="Aptos" panose="020B0004020202020204" pitchFamily="34" charset="0"/>
                <a:cs typeface="Times New Roman" panose="02020603050405020304" pitchFamily="18" charset="0"/>
              </a:rPr>
              <a:t>Customer places order → order stored in the database.</a:t>
            </a:r>
          </a:p>
          <a:p>
            <a:pPr marL="557213" lvl="1" indent="-214313">
              <a:lnSpc>
                <a:spcPct val="115000"/>
              </a:lnSpc>
              <a:spcAft>
                <a:spcPts val="600"/>
              </a:spcAft>
              <a:buSzPts val="1000"/>
              <a:buFont typeface="Courier New" panose="02070309020205020404" pitchFamily="49" charset="0"/>
              <a:buChar char="o"/>
              <a:defRPr/>
            </a:pPr>
            <a:r>
              <a:rPr lang="en-IN" kern="100" dirty="0">
                <a:ea typeface="Aptos" panose="020B0004020202020204" pitchFamily="34" charset="0"/>
                <a:cs typeface="Times New Roman" panose="02020603050405020304" pitchFamily="18" charset="0"/>
              </a:rPr>
              <a:t>The baker checks the same database → sees the order instantly.</a:t>
            </a:r>
          </a:p>
          <a:p>
            <a:pPr marL="257175" indent="-257175">
              <a:lnSpc>
                <a:spcPct val="115000"/>
              </a:lnSpc>
              <a:spcAft>
                <a:spcPts val="600"/>
              </a:spcAft>
              <a:buSzPts val="1000"/>
              <a:buFont typeface="Symbol" panose="05050102010706020507" pitchFamily="18" charset="2"/>
              <a:buChar char=""/>
              <a:tabLst>
                <a:tab pos="342900" algn="l"/>
              </a:tabLst>
              <a:defRPr/>
            </a:pPr>
            <a:r>
              <a:rPr lang="en-IN" b="1" kern="100" dirty="0">
                <a:ea typeface="Aptos" panose="020B0004020202020204" pitchFamily="34" charset="0"/>
                <a:cs typeface="Times New Roman" panose="02020603050405020304" pitchFamily="18" charset="0"/>
              </a:rPr>
              <a:t>Benefit:</a:t>
            </a:r>
            <a:r>
              <a:rPr lang="en-IN" kern="100" dirty="0">
                <a:ea typeface="Aptos" panose="020B0004020202020204" pitchFamily="34" charset="0"/>
                <a:cs typeface="Times New Roman" panose="02020603050405020304" pitchFamily="18" charset="0"/>
              </a:rPr>
              <a:t> No complex sync issues.</a:t>
            </a:r>
          </a:p>
          <a:p>
            <a:pPr>
              <a:defRPr/>
            </a:pPr>
            <a:r>
              <a:rPr lang="en-IN" b="1" dirty="0">
                <a:ea typeface="Aptos" panose="020B0004020202020204" pitchFamily="34" charset="0"/>
                <a:cs typeface="Times New Roman" panose="02020603050405020304" pitchFamily="18" charset="0"/>
              </a:rPr>
              <a:t>Risk:</a:t>
            </a:r>
            <a:r>
              <a:rPr lang="en-IN" dirty="0">
                <a:ea typeface="Aptos" panose="020B0004020202020204" pitchFamily="34" charset="0"/>
                <a:cs typeface="Times New Roman" panose="02020603050405020304" pitchFamily="18" charset="0"/>
              </a:rPr>
              <a:t> If server crashes during peak orders → service unavailable</a:t>
            </a:r>
            <a:endParaRPr lang="en-IN"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68</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in the Single Server Model</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9378299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305800" cy="3254994"/>
          </a:xfrm>
          <a:prstGeom prst="rect">
            <a:avLst/>
          </a:prstGeom>
          <a:noFill/>
        </p:spPr>
        <p:txBody>
          <a:bodyPr wrap="square" rtlCol="0">
            <a:spAutoFit/>
          </a:bodyPr>
          <a:lstStyle/>
          <a:p>
            <a:pPr>
              <a:lnSpc>
                <a:spcPct val="115000"/>
              </a:lnSpc>
              <a:spcAft>
                <a:spcPts val="600"/>
              </a:spcAft>
              <a:defRPr/>
            </a:pPr>
            <a:r>
              <a:rPr lang="en-IN" sz="2400" b="1" kern="100" dirty="0">
                <a:ea typeface="Aptos" panose="020B0004020202020204" pitchFamily="34" charset="0"/>
                <a:cs typeface="Times New Roman" panose="02020603050405020304" pitchFamily="18" charset="0"/>
              </a:rPr>
              <a:t>Applications</a:t>
            </a:r>
            <a:endParaRPr lang="en-IN" sz="2400" kern="100" dirty="0">
              <a:ea typeface="Aptos" panose="020B0004020202020204" pitchFamily="34" charset="0"/>
              <a:cs typeface="Times New Roman" panose="02020603050405020304" pitchFamily="18" charset="0"/>
            </a:endParaRPr>
          </a:p>
          <a:p>
            <a:pPr marL="257175" indent="-257175">
              <a:lnSpc>
                <a:spcPct val="115000"/>
              </a:lnSpc>
              <a:spcAft>
                <a:spcPts val="600"/>
              </a:spcAft>
              <a:buFont typeface="+mj-lt"/>
              <a:buAutoNum type="arabicPeriod"/>
              <a:tabLst>
                <a:tab pos="342900" algn="l"/>
              </a:tabLst>
              <a:defRPr/>
            </a:pPr>
            <a:r>
              <a:rPr lang="en-IN" b="1" kern="100" dirty="0">
                <a:ea typeface="Aptos" panose="020B0004020202020204" pitchFamily="34" charset="0"/>
                <a:cs typeface="Times New Roman" panose="02020603050405020304" pitchFamily="18" charset="0"/>
              </a:rPr>
              <a:t>Small Business Inventory Systems</a:t>
            </a:r>
            <a:r>
              <a:rPr lang="en-IN" kern="100" dirty="0">
                <a:ea typeface="Aptos" panose="020B0004020202020204" pitchFamily="34" charset="0"/>
                <a:cs typeface="Times New Roman" panose="02020603050405020304" pitchFamily="18" charset="0"/>
              </a:rPr>
              <a:t> – Track stock from one location.</a:t>
            </a:r>
          </a:p>
          <a:p>
            <a:pPr marL="257175" indent="-257175">
              <a:lnSpc>
                <a:spcPct val="115000"/>
              </a:lnSpc>
              <a:spcAft>
                <a:spcPts val="600"/>
              </a:spcAft>
              <a:buFont typeface="+mj-lt"/>
              <a:buAutoNum type="arabicPeriod"/>
              <a:tabLst>
                <a:tab pos="342900" algn="l"/>
              </a:tabLst>
              <a:defRPr/>
            </a:pPr>
            <a:endParaRPr lang="en-IN" kern="100" dirty="0">
              <a:ea typeface="Aptos" panose="020B0004020202020204" pitchFamily="34" charset="0"/>
              <a:cs typeface="Times New Roman" panose="02020603050405020304" pitchFamily="18" charset="0"/>
            </a:endParaRPr>
          </a:p>
          <a:p>
            <a:pPr marL="257175" indent="-257175">
              <a:lnSpc>
                <a:spcPct val="115000"/>
              </a:lnSpc>
              <a:spcAft>
                <a:spcPts val="600"/>
              </a:spcAft>
              <a:buFont typeface="+mj-lt"/>
              <a:buAutoNum type="arabicPeriod"/>
              <a:tabLst>
                <a:tab pos="342900" algn="l"/>
              </a:tabLst>
              <a:defRPr/>
            </a:pPr>
            <a:r>
              <a:rPr lang="en-IN" b="1" kern="100" dirty="0">
                <a:ea typeface="Aptos" panose="020B0004020202020204" pitchFamily="34" charset="0"/>
                <a:cs typeface="Times New Roman" panose="02020603050405020304" pitchFamily="18" charset="0"/>
              </a:rPr>
              <a:t>School Databases</a:t>
            </a:r>
            <a:r>
              <a:rPr lang="en-IN" kern="100" dirty="0">
                <a:ea typeface="Aptos" panose="020B0004020202020204" pitchFamily="34" charset="0"/>
                <a:cs typeface="Times New Roman" panose="02020603050405020304" pitchFamily="18" charset="0"/>
              </a:rPr>
              <a:t> – Student records stored centrally.</a:t>
            </a:r>
          </a:p>
          <a:p>
            <a:pPr marL="257175" indent="-257175">
              <a:lnSpc>
                <a:spcPct val="115000"/>
              </a:lnSpc>
              <a:spcAft>
                <a:spcPts val="600"/>
              </a:spcAft>
              <a:buFont typeface="+mj-lt"/>
              <a:buAutoNum type="arabicPeriod"/>
              <a:tabLst>
                <a:tab pos="342900" algn="l"/>
              </a:tabLst>
              <a:defRPr/>
            </a:pPr>
            <a:endParaRPr lang="en-IN" kern="100" dirty="0">
              <a:ea typeface="Aptos" panose="020B0004020202020204" pitchFamily="34" charset="0"/>
              <a:cs typeface="Times New Roman" panose="02020603050405020304" pitchFamily="18" charset="0"/>
            </a:endParaRPr>
          </a:p>
          <a:p>
            <a:pPr marL="257175" indent="-257175">
              <a:lnSpc>
                <a:spcPct val="115000"/>
              </a:lnSpc>
              <a:spcAft>
                <a:spcPts val="600"/>
              </a:spcAft>
              <a:buFont typeface="+mj-lt"/>
              <a:buAutoNum type="arabicPeriod"/>
              <a:tabLst>
                <a:tab pos="342900" algn="l"/>
              </a:tabLst>
              <a:defRPr/>
            </a:pPr>
            <a:r>
              <a:rPr lang="en-IN" b="1" kern="100" dirty="0">
                <a:ea typeface="Aptos" panose="020B0004020202020204" pitchFamily="34" charset="0"/>
                <a:cs typeface="Times New Roman" panose="02020603050405020304" pitchFamily="18" charset="0"/>
              </a:rPr>
              <a:t>Local Library Systems</a:t>
            </a:r>
            <a:r>
              <a:rPr lang="en-IN" kern="100" dirty="0">
                <a:ea typeface="Aptos" panose="020B0004020202020204" pitchFamily="34" charset="0"/>
                <a:cs typeface="Times New Roman" panose="02020603050405020304" pitchFamily="18" charset="0"/>
              </a:rPr>
              <a:t> – </a:t>
            </a:r>
            <a:r>
              <a:rPr lang="en-IN" kern="100" dirty="0" err="1">
                <a:ea typeface="Aptos" panose="020B0004020202020204" pitchFamily="34" charset="0"/>
                <a:cs typeface="Times New Roman" panose="02020603050405020304" pitchFamily="18" charset="0"/>
              </a:rPr>
              <a:t>Catalog</a:t>
            </a:r>
            <a:r>
              <a:rPr lang="en-IN" kern="100" dirty="0">
                <a:ea typeface="Aptos" panose="020B0004020202020204" pitchFamily="34" charset="0"/>
                <a:cs typeface="Times New Roman" panose="02020603050405020304" pitchFamily="18" charset="0"/>
              </a:rPr>
              <a:t> stored in one computer.</a:t>
            </a:r>
          </a:p>
          <a:p>
            <a:pPr marL="257175" indent="-257175">
              <a:lnSpc>
                <a:spcPct val="115000"/>
              </a:lnSpc>
              <a:spcAft>
                <a:spcPts val="600"/>
              </a:spcAft>
              <a:buFont typeface="+mj-lt"/>
              <a:buAutoNum type="arabicPeriod"/>
              <a:tabLst>
                <a:tab pos="342900" algn="l"/>
              </a:tabLst>
              <a:defRPr/>
            </a:pPr>
            <a:endParaRPr lang="en-IN" kern="100" dirty="0">
              <a:ea typeface="Aptos" panose="020B0004020202020204" pitchFamily="34" charset="0"/>
              <a:cs typeface="Times New Roman" panose="02020603050405020304" pitchFamily="18" charset="0"/>
            </a:endParaRPr>
          </a:p>
          <a:p>
            <a:pPr marL="257175" indent="-257175">
              <a:lnSpc>
                <a:spcPct val="115000"/>
              </a:lnSpc>
              <a:spcAft>
                <a:spcPts val="600"/>
              </a:spcAft>
              <a:buFont typeface="+mj-lt"/>
              <a:buAutoNum type="arabicPeriod"/>
              <a:tabLst>
                <a:tab pos="342900" algn="l"/>
              </a:tabLst>
              <a:defRPr/>
            </a:pPr>
            <a:r>
              <a:rPr lang="en-IN" b="1" kern="100" dirty="0">
                <a:ea typeface="Aptos" panose="020B0004020202020204" pitchFamily="34" charset="0"/>
                <a:cs typeface="Times New Roman" panose="02020603050405020304" pitchFamily="18" charset="0"/>
              </a:rPr>
              <a:t>Personal Finance Tracker</a:t>
            </a:r>
            <a:r>
              <a:rPr lang="en-IN" kern="100" dirty="0">
                <a:ea typeface="Aptos" panose="020B0004020202020204" pitchFamily="34" charset="0"/>
                <a:cs typeface="Times New Roman" panose="02020603050405020304" pitchFamily="18" charset="0"/>
              </a:rPr>
              <a:t> – Running on one local database.</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69</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in the Single Server Model</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3315490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3"/>
          <p:cNvSpPr>
            <a:spLocks noGrp="1"/>
          </p:cNvSpPr>
          <p:nvPr>
            <p:ph type="title"/>
          </p:nvPr>
        </p:nvSpPr>
        <p:spPr>
          <a:xfrm>
            <a:off x="623888" y="1404937"/>
            <a:ext cx="7886700" cy="2139554"/>
          </a:xfrm>
        </p:spPr>
        <p:txBody>
          <a:bodyPr/>
          <a:lstStyle/>
          <a:p>
            <a:endParaRPr lang="en-IN" altLang="en-US" smtClean="0"/>
          </a:p>
        </p:txBody>
      </p:sp>
      <p:sp>
        <p:nvSpPr>
          <p:cNvPr id="47107" name="Text Placeholder 4"/>
          <p:cNvSpPr>
            <a:spLocks noGrp="1"/>
          </p:cNvSpPr>
          <p:nvPr>
            <p:ph type="body" idx="1"/>
          </p:nvPr>
        </p:nvSpPr>
        <p:spPr>
          <a:xfrm>
            <a:off x="623888" y="3652838"/>
            <a:ext cx="7886700" cy="1125141"/>
          </a:xfrm>
        </p:spPr>
        <p:txBody>
          <a:bodyPr/>
          <a:lstStyle/>
          <a:p>
            <a:endParaRPr lang="en-IN" altLang="en-US" smtClean="0"/>
          </a:p>
        </p:txBody>
      </p:sp>
      <p:sp>
        <p:nvSpPr>
          <p:cNvPr id="4710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557213" indent="-214313">
              <a:lnSpc>
                <a:spcPct val="90000"/>
              </a:lnSpc>
              <a:spcBef>
                <a:spcPts val="375"/>
              </a:spcBef>
              <a:buFont typeface="Arial" panose="020B0604020202020204" pitchFamily="34" charset="0"/>
              <a:buChar char="•"/>
              <a:defRPr sz="18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857250" indent="-171450">
              <a:lnSpc>
                <a:spcPct val="90000"/>
              </a:lnSpc>
              <a:spcBef>
                <a:spcPts val="375"/>
              </a:spcBef>
              <a:buFont typeface="Arial" panose="020B0604020202020204" pitchFamily="34" charset="0"/>
              <a:buChar char="•"/>
              <a:defRPr sz="15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2001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1543050" indent="-171450">
              <a:lnSpc>
                <a:spcPct val="90000"/>
              </a:lnSpc>
              <a:spcBef>
                <a:spcPts val="375"/>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fld id="{B290F040-23A3-44C9-A740-2DEDE3ACABF8}" type="slidenum">
              <a:rPr lang="en-US" altLang="en-US"/>
              <a:pPr/>
              <a:t>70</a:t>
            </a:fld>
            <a:endParaRPr lang="en-US" altLang="en-US"/>
          </a:p>
        </p:txBody>
      </p:sp>
      <p:pic>
        <p:nvPicPr>
          <p:cNvPr id="47109"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858441"/>
            <a:ext cx="9144000" cy="51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91" y="790575"/>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1" name="Picture 1" descr="A close up of a logo&#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3604" y="5395913"/>
            <a:ext cx="457200"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p:cNvGraphicFramePr>
            <a:graphicFrameLocks noGrp="1"/>
          </p:cNvGraphicFramePr>
          <p:nvPr/>
        </p:nvGraphicFramePr>
        <p:xfrm>
          <a:off x="628650" y="1601391"/>
          <a:ext cx="7886700" cy="3155160"/>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tblGrid>
              <a:tr h="525860">
                <a:tc>
                  <a:txBody>
                    <a:bodyPr/>
                    <a:lstStyle/>
                    <a:p>
                      <a:pPr>
                        <a:lnSpc>
                          <a:spcPct val="115000"/>
                        </a:lnSpc>
                        <a:spcAft>
                          <a:spcPts val="800"/>
                        </a:spcAft>
                        <a:buNone/>
                      </a:pPr>
                      <a:r>
                        <a:rPr lang="en-IN" sz="1800" kern="100">
                          <a:effectLst/>
                        </a:rPr>
                        <a:t>Aspect</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tc>
                  <a:txBody>
                    <a:bodyPr/>
                    <a:lstStyle/>
                    <a:p>
                      <a:pPr>
                        <a:lnSpc>
                          <a:spcPct val="115000"/>
                        </a:lnSpc>
                        <a:spcAft>
                          <a:spcPts val="800"/>
                        </a:spcAft>
                        <a:buNone/>
                      </a:pPr>
                      <a:r>
                        <a:rPr lang="en-IN" sz="1800" kern="100">
                          <a:effectLst/>
                        </a:rPr>
                        <a:t>Single Server</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extLst>
                  <a:ext uri="{0D108BD9-81ED-4DB2-BD59-A6C34878D82A}">
                    <a16:rowId xmlns:a16="http://schemas.microsoft.com/office/drawing/2014/main" val="10000"/>
                  </a:ext>
                </a:extLst>
              </a:tr>
              <a:tr h="525860">
                <a:tc>
                  <a:txBody>
                    <a:bodyPr/>
                    <a:lstStyle/>
                    <a:p>
                      <a:pPr>
                        <a:lnSpc>
                          <a:spcPct val="115000"/>
                        </a:lnSpc>
                        <a:spcAft>
                          <a:spcPts val="800"/>
                        </a:spcAft>
                        <a:buNone/>
                      </a:pPr>
                      <a:r>
                        <a:rPr lang="en-IN" sz="1800" kern="100" dirty="0">
                          <a:effectLst/>
                        </a:rPr>
                        <a:t>Complexity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tc>
                  <a:txBody>
                    <a:bodyPr/>
                    <a:lstStyle/>
                    <a:p>
                      <a:pPr>
                        <a:lnSpc>
                          <a:spcPct val="115000"/>
                        </a:lnSpc>
                        <a:spcAft>
                          <a:spcPts val="800"/>
                        </a:spcAft>
                        <a:buNone/>
                      </a:pPr>
                      <a:r>
                        <a:rPr lang="en-IN" sz="1800" kern="100">
                          <a:effectLst/>
                        </a:rPr>
                        <a:t>Low</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extLst>
                  <a:ext uri="{0D108BD9-81ED-4DB2-BD59-A6C34878D82A}">
                    <a16:rowId xmlns:a16="http://schemas.microsoft.com/office/drawing/2014/main" val="10001"/>
                  </a:ext>
                </a:extLst>
              </a:tr>
              <a:tr h="525860">
                <a:tc>
                  <a:txBody>
                    <a:bodyPr/>
                    <a:lstStyle/>
                    <a:p>
                      <a:pPr>
                        <a:lnSpc>
                          <a:spcPct val="115000"/>
                        </a:lnSpc>
                        <a:spcAft>
                          <a:spcPts val="800"/>
                        </a:spcAft>
                        <a:buNone/>
                      </a:pPr>
                      <a:r>
                        <a:rPr lang="en-IN" sz="1800" kern="100" dirty="0">
                          <a:effectLst/>
                        </a:rPr>
                        <a:t>Consistency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tc>
                  <a:txBody>
                    <a:bodyPr/>
                    <a:lstStyle/>
                    <a:p>
                      <a:pPr>
                        <a:lnSpc>
                          <a:spcPct val="115000"/>
                        </a:lnSpc>
                        <a:spcAft>
                          <a:spcPts val="800"/>
                        </a:spcAft>
                        <a:buNone/>
                      </a:pPr>
                      <a:r>
                        <a:rPr lang="en-IN" sz="1800" kern="100">
                          <a:effectLst/>
                        </a:rPr>
                        <a:t>Strong</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extLst>
                  <a:ext uri="{0D108BD9-81ED-4DB2-BD59-A6C34878D82A}">
                    <a16:rowId xmlns:a16="http://schemas.microsoft.com/office/drawing/2014/main" val="10002"/>
                  </a:ext>
                </a:extLst>
              </a:tr>
              <a:tr h="525860">
                <a:tc>
                  <a:txBody>
                    <a:bodyPr/>
                    <a:lstStyle/>
                    <a:p>
                      <a:pPr>
                        <a:lnSpc>
                          <a:spcPct val="115000"/>
                        </a:lnSpc>
                        <a:spcAft>
                          <a:spcPts val="800"/>
                        </a:spcAft>
                        <a:buNone/>
                      </a:pPr>
                      <a:r>
                        <a:rPr lang="en-IN" sz="1800" kern="100" dirty="0">
                          <a:effectLst/>
                        </a:rPr>
                        <a:t>Scalability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tc>
                  <a:txBody>
                    <a:bodyPr/>
                    <a:lstStyle/>
                    <a:p>
                      <a:pPr>
                        <a:lnSpc>
                          <a:spcPct val="115000"/>
                        </a:lnSpc>
                        <a:spcAft>
                          <a:spcPts val="800"/>
                        </a:spcAft>
                        <a:buNone/>
                      </a:pPr>
                      <a:r>
                        <a:rPr lang="en-IN" sz="1800" kern="100">
                          <a:effectLst/>
                        </a:rPr>
                        <a:t>Limited</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extLst>
                  <a:ext uri="{0D108BD9-81ED-4DB2-BD59-A6C34878D82A}">
                    <a16:rowId xmlns:a16="http://schemas.microsoft.com/office/drawing/2014/main" val="10003"/>
                  </a:ext>
                </a:extLst>
              </a:tr>
              <a:tr h="525860">
                <a:tc>
                  <a:txBody>
                    <a:bodyPr/>
                    <a:lstStyle/>
                    <a:p>
                      <a:pPr>
                        <a:lnSpc>
                          <a:spcPct val="115000"/>
                        </a:lnSpc>
                        <a:spcAft>
                          <a:spcPts val="800"/>
                        </a:spcAft>
                        <a:buNone/>
                      </a:pPr>
                      <a:r>
                        <a:rPr lang="en-IN" sz="1800" kern="100">
                          <a:effectLst/>
                        </a:rPr>
                        <a:t>Fault Tolerance</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tc>
                  <a:txBody>
                    <a:bodyPr/>
                    <a:lstStyle/>
                    <a:p>
                      <a:pPr>
                        <a:lnSpc>
                          <a:spcPct val="115000"/>
                        </a:lnSpc>
                        <a:spcAft>
                          <a:spcPts val="800"/>
                        </a:spcAft>
                        <a:buNone/>
                      </a:pPr>
                      <a:r>
                        <a:rPr lang="en-IN" sz="1800" kern="100">
                          <a:effectLst/>
                        </a:rPr>
                        <a:t>None</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extLst>
                  <a:ext uri="{0D108BD9-81ED-4DB2-BD59-A6C34878D82A}">
                    <a16:rowId xmlns:a16="http://schemas.microsoft.com/office/drawing/2014/main" val="10004"/>
                  </a:ext>
                </a:extLst>
              </a:tr>
              <a:tr h="525860">
                <a:tc>
                  <a:txBody>
                    <a:bodyPr/>
                    <a:lstStyle/>
                    <a:p>
                      <a:pPr>
                        <a:lnSpc>
                          <a:spcPct val="115000"/>
                        </a:lnSpc>
                        <a:spcAft>
                          <a:spcPts val="800"/>
                        </a:spcAft>
                        <a:buNone/>
                      </a:pPr>
                      <a:r>
                        <a:rPr lang="en-IN" sz="1800" kern="100">
                          <a:effectLst/>
                        </a:rPr>
                        <a:t>Best for</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tc>
                  <a:txBody>
                    <a:bodyPr/>
                    <a:lstStyle/>
                    <a:p>
                      <a:pPr>
                        <a:lnSpc>
                          <a:spcPct val="115000"/>
                        </a:lnSpc>
                        <a:spcAft>
                          <a:spcPts val="800"/>
                        </a:spcAft>
                        <a:buNone/>
                      </a:pPr>
                      <a:r>
                        <a:rPr lang="en-IN" sz="1800" kern="100" dirty="0">
                          <a:effectLst/>
                        </a:rPr>
                        <a:t>Small-scale apps, prototyping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44" marR="7144" marT="7145" marB="7145" anchor="ctr"/>
                </a:tc>
                <a:extLst>
                  <a:ext uri="{0D108BD9-81ED-4DB2-BD59-A6C34878D82A}">
                    <a16:rowId xmlns:a16="http://schemas.microsoft.com/office/drawing/2014/main" val="10005"/>
                  </a:ext>
                </a:extLst>
              </a:tr>
            </a:tbl>
          </a:graphicData>
        </a:graphic>
      </p:graphicFrame>
      <p:sp>
        <p:nvSpPr>
          <p:cNvPr id="47135" name="Rectangle 2"/>
          <p:cNvSpPr>
            <a:spLocks noChangeArrowheads="1"/>
          </p:cNvSpPr>
          <p:nvPr/>
        </p:nvSpPr>
        <p:spPr bwMode="auto">
          <a:xfrm>
            <a:off x="623888" y="295259"/>
            <a:ext cx="248245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nSpc>
                <a:spcPct val="100000"/>
              </a:lnSpc>
              <a:spcBef>
                <a:spcPct val="0"/>
              </a:spcBef>
              <a:buFontTx/>
              <a:buNone/>
            </a:pPr>
            <a:r>
              <a:rPr lang="en-US" altLang="en-US" sz="2100" b="1" dirty="0" smtClean="0">
                <a:latin typeface="+mn-lt"/>
                <a:ea typeface="Aptos" pitchFamily="34" charset="0"/>
                <a:cs typeface="Times New Roman" panose="02020603050405020304" pitchFamily="18" charset="0"/>
              </a:rPr>
              <a:t>Summary </a:t>
            </a:r>
            <a:r>
              <a:rPr lang="en-US" altLang="en-US" sz="2100" b="1" dirty="0">
                <a:latin typeface="+mn-lt"/>
                <a:ea typeface="Aptos" pitchFamily="34" charset="0"/>
                <a:cs typeface="Times New Roman" panose="02020603050405020304" pitchFamily="18" charset="0"/>
              </a:rPr>
              <a:t>Table</a:t>
            </a:r>
            <a:endParaRPr lang="en-US" altLang="en-US" sz="2100" dirty="0">
              <a:latin typeface="+mn-lt"/>
              <a:ea typeface="Aptos" pitchFamily="34" charset="0"/>
              <a:cs typeface="Times New Roman" panose="02020603050405020304" pitchFamily="18" charset="0"/>
            </a:endParaRPr>
          </a:p>
        </p:txBody>
      </p:sp>
    </p:spTree>
    <p:extLst>
      <p:ext uri="{BB962C8B-B14F-4D97-AF65-F5344CB8AC3E}">
        <p14:creationId xmlns:p14="http://schemas.microsoft.com/office/powerpoint/2010/main" val="7198703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5284139"/>
          </a:xfrm>
          <a:prstGeom prst="rect">
            <a:avLst/>
          </a:prstGeom>
          <a:noFill/>
        </p:spPr>
        <p:txBody>
          <a:bodyPr wrap="square" rtlCol="0">
            <a:spAutoFit/>
          </a:bodyPr>
          <a:lstStyle/>
          <a:p>
            <a:pPr marL="342900" indent="-342900">
              <a:lnSpc>
                <a:spcPct val="150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Consistency depends on replication</a:t>
            </a:r>
            <a:r>
              <a:rPr lang="en-IN" sz="2000" kern="100" dirty="0">
                <a:solidFill>
                  <a:srgbClr val="000000"/>
                </a:solidFill>
                <a:ea typeface="Aptos" panose="020B0004020202020204" pitchFamily="34" charset="0"/>
                <a:cs typeface="Times New Roman" panose="02020603050405020304" pitchFamily="18" charset="0"/>
              </a:rPr>
              <a:t> inside each shard.</a:t>
            </a:r>
          </a:p>
          <a:p>
            <a:pPr marL="342900" indent="-342900">
              <a:lnSpc>
                <a:spcPct val="150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In NoSQL:</a:t>
            </a:r>
          </a:p>
          <a:p>
            <a:pPr marL="742950" lvl="1" indent="-285750">
              <a:lnSpc>
                <a:spcPct val="150000"/>
              </a:lnSpc>
              <a:spcAft>
                <a:spcPts val="800"/>
              </a:spcAft>
              <a:buSzPts val="1000"/>
              <a:buFont typeface="Courier New" panose="02070309020205020404" pitchFamily="49" charset="0"/>
              <a:buChar char="o"/>
              <a:tabLst>
                <a:tab pos="914400" algn="l"/>
              </a:tabLst>
              <a:defRPr/>
            </a:pPr>
            <a:r>
              <a:rPr lang="en-IN" sz="2000" kern="100" dirty="0">
                <a:solidFill>
                  <a:srgbClr val="000000"/>
                </a:solidFill>
                <a:ea typeface="Aptos" panose="020B0004020202020204" pitchFamily="34" charset="0"/>
                <a:cs typeface="Times New Roman" panose="02020603050405020304" pitchFamily="18" charset="0"/>
              </a:rPr>
              <a:t>Each shard may be replicated for </a:t>
            </a:r>
            <a:r>
              <a:rPr lang="en-IN" sz="2000" b="1" kern="100" dirty="0">
                <a:solidFill>
                  <a:srgbClr val="000000"/>
                </a:solidFill>
                <a:ea typeface="Aptos" panose="020B0004020202020204" pitchFamily="34" charset="0"/>
                <a:cs typeface="Times New Roman" panose="02020603050405020304" pitchFamily="18" charset="0"/>
              </a:rPr>
              <a:t>fault tolerance</a:t>
            </a:r>
            <a:r>
              <a:rPr lang="en-IN" sz="2000" kern="100" dirty="0">
                <a:solidFill>
                  <a:srgbClr val="000000"/>
                </a:solidFill>
                <a:ea typeface="Aptos" panose="020B0004020202020204" pitchFamily="34" charset="0"/>
                <a:cs typeface="Times New Roman" panose="02020603050405020304" pitchFamily="18" charset="0"/>
              </a:rPr>
              <a:t>.</a:t>
            </a:r>
          </a:p>
          <a:p>
            <a:pPr marL="742950" lvl="1" indent="-285750">
              <a:lnSpc>
                <a:spcPct val="150000"/>
              </a:lnSpc>
              <a:spcAft>
                <a:spcPts val="800"/>
              </a:spcAft>
              <a:buSzPts val="1000"/>
              <a:buFont typeface="Courier New" panose="02070309020205020404" pitchFamily="49" charset="0"/>
              <a:buChar char="o"/>
              <a:tabLst>
                <a:tab pos="914400" algn="l"/>
              </a:tabLst>
              <a:defRPr/>
            </a:pPr>
            <a:r>
              <a:rPr lang="en-IN" sz="2000" kern="100" dirty="0" err="1">
                <a:solidFill>
                  <a:srgbClr val="000000"/>
                </a:solidFill>
                <a:ea typeface="Aptos" panose="020B0004020202020204" pitchFamily="34" charset="0"/>
                <a:cs typeface="Times New Roman" panose="02020603050405020304" pitchFamily="18" charset="0"/>
              </a:rPr>
              <a:t>Sharding</a:t>
            </a:r>
            <a:r>
              <a:rPr lang="en-IN" sz="2000" kern="100" dirty="0">
                <a:solidFill>
                  <a:srgbClr val="000000"/>
                </a:solidFill>
                <a:ea typeface="Aptos" panose="020B0004020202020204" pitchFamily="34" charset="0"/>
                <a:cs typeface="Times New Roman" panose="02020603050405020304" pitchFamily="18" charset="0"/>
              </a:rPr>
              <a:t> + replication is common: </a:t>
            </a:r>
            <a:r>
              <a:rPr lang="en-IN" sz="2000" b="1" kern="100" dirty="0" err="1">
                <a:solidFill>
                  <a:srgbClr val="000000"/>
                </a:solidFill>
                <a:ea typeface="Aptos" panose="020B0004020202020204" pitchFamily="34" charset="0"/>
                <a:cs typeface="Times New Roman" panose="02020603050405020304" pitchFamily="18" charset="0"/>
              </a:rPr>
              <a:t>Sharded</a:t>
            </a:r>
            <a:r>
              <a:rPr lang="en-IN" sz="2000" b="1" kern="100" dirty="0">
                <a:solidFill>
                  <a:srgbClr val="000000"/>
                </a:solidFill>
                <a:ea typeface="Aptos" panose="020B0004020202020204" pitchFamily="34" charset="0"/>
                <a:cs typeface="Times New Roman" panose="02020603050405020304" pitchFamily="18" charset="0"/>
              </a:rPr>
              <a:t> Cluster with Replica Sets</a:t>
            </a:r>
            <a:r>
              <a:rPr lang="en-IN" sz="2000" kern="100" dirty="0">
                <a:solidFill>
                  <a:srgbClr val="000000"/>
                </a:solidFill>
                <a:ea typeface="Aptos" panose="020B0004020202020204" pitchFamily="34" charset="0"/>
                <a:cs typeface="Times New Roman" panose="02020603050405020304" pitchFamily="18" charset="0"/>
              </a:rPr>
              <a:t> (MongoDB).</a:t>
            </a:r>
          </a:p>
          <a:p>
            <a:pPr marL="342900" indent="-342900">
              <a:lnSpc>
                <a:spcPct val="150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Consistency trade-offs</a:t>
            </a:r>
            <a:r>
              <a:rPr lang="en-IN" sz="2000" kern="100" dirty="0">
                <a:solidFill>
                  <a:srgbClr val="000000"/>
                </a:solidFill>
                <a:ea typeface="Aptos" panose="020B0004020202020204" pitchFamily="34" charset="0"/>
                <a:cs typeface="Times New Roman" panose="02020603050405020304" pitchFamily="18" charset="0"/>
              </a:rPr>
              <a:t>:</a:t>
            </a:r>
          </a:p>
          <a:p>
            <a:pPr marL="742950" lvl="1" indent="-285750">
              <a:lnSpc>
                <a:spcPct val="150000"/>
              </a:lnSpc>
              <a:spcAft>
                <a:spcPts val="800"/>
              </a:spcAft>
              <a:buSzPts val="1000"/>
              <a:buFont typeface="Courier New" panose="02070309020205020404" pitchFamily="49" charset="0"/>
              <a:buChar char="o"/>
              <a:tabLst>
                <a:tab pos="914400" algn="l"/>
              </a:tabLst>
              <a:defRPr/>
            </a:pPr>
            <a:r>
              <a:rPr lang="en-IN" sz="2000" kern="100" dirty="0">
                <a:solidFill>
                  <a:srgbClr val="000000"/>
                </a:solidFill>
                <a:ea typeface="Aptos" panose="020B0004020202020204" pitchFamily="34" charset="0"/>
                <a:cs typeface="Times New Roman" panose="02020603050405020304" pitchFamily="18" charset="0"/>
              </a:rPr>
              <a:t>Writes to one shard do not affect others directly.</a:t>
            </a:r>
          </a:p>
          <a:p>
            <a:pPr marL="742950" lvl="1" indent="-285750">
              <a:lnSpc>
                <a:spcPct val="150000"/>
              </a:lnSpc>
              <a:spcAft>
                <a:spcPts val="800"/>
              </a:spcAft>
              <a:buSzPts val="1000"/>
              <a:buFont typeface="Courier New" panose="02070309020205020404" pitchFamily="49" charset="0"/>
              <a:buChar char="o"/>
              <a:tabLst>
                <a:tab pos="914400" algn="l"/>
              </a:tabLst>
              <a:defRPr/>
            </a:pPr>
            <a:r>
              <a:rPr lang="en-IN" sz="2000" kern="100" dirty="0">
                <a:solidFill>
                  <a:srgbClr val="000000"/>
                </a:solidFill>
                <a:ea typeface="Aptos" panose="020B0004020202020204" pitchFamily="34" charset="0"/>
                <a:cs typeface="Times New Roman" panose="02020603050405020304" pitchFamily="18" charset="0"/>
              </a:rPr>
              <a:t>Distributed transactions across shards are harder.</a:t>
            </a: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71</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in the </a:t>
            </a:r>
            <a:r>
              <a:rPr lang="en-IN" sz="2800" b="1" kern="100" dirty="0" err="1" smtClean="0">
                <a:ea typeface="Aptos" panose="020B0004020202020204" pitchFamily="34" charset="0"/>
                <a:cs typeface="Times New Roman" panose="02020603050405020304" pitchFamily="18" charset="0"/>
              </a:rPr>
              <a:t>Sharding</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71510380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3724096"/>
          </a:xfrm>
          <a:prstGeom prst="rect">
            <a:avLst/>
          </a:prstGeom>
          <a:noFill/>
        </p:spPr>
        <p:txBody>
          <a:bodyPr wrap="square" rtlCol="0">
            <a:spAutoFit/>
          </a:bodyPr>
          <a:lstStyle/>
          <a:p>
            <a:pPr marL="342900" indent="-342900">
              <a:lnSpc>
                <a:spcPct val="150000"/>
              </a:lnSpc>
              <a:spcAft>
                <a:spcPts val="800"/>
              </a:spcAft>
              <a:buSzPts val="1000"/>
              <a:buFont typeface="Symbol" panose="05050102010706020507" pitchFamily="18" charset="2"/>
              <a:buChar char=""/>
              <a:tabLst>
                <a:tab pos="457200" algn="l"/>
              </a:tabLst>
              <a:defRPr/>
            </a:pPr>
            <a:r>
              <a:rPr lang="en-IN" sz="2000" b="1" kern="100" dirty="0" smtClean="0">
                <a:solidFill>
                  <a:srgbClr val="000000"/>
                </a:solidFill>
                <a:ea typeface="Aptos" panose="020B0004020202020204" pitchFamily="34" charset="0"/>
                <a:cs typeface="Times New Roman" panose="02020603050405020304" pitchFamily="18" charset="0"/>
              </a:rPr>
              <a:t>MONGODB – </a:t>
            </a:r>
            <a:r>
              <a:rPr lang="en-IN" sz="2000" kern="100" dirty="0">
                <a:solidFill>
                  <a:srgbClr val="000000"/>
                </a:solidFill>
                <a:ea typeface="Aptos" panose="020B0004020202020204" pitchFamily="34" charset="0"/>
                <a:cs typeface="Times New Roman" panose="02020603050405020304" pitchFamily="18" charset="0"/>
              </a:rPr>
              <a:t>S</a:t>
            </a:r>
            <a:r>
              <a:rPr lang="en-IN" sz="2000" kern="100" dirty="0" smtClean="0">
                <a:solidFill>
                  <a:srgbClr val="000000"/>
                </a:solidFill>
                <a:ea typeface="Aptos" panose="020B0004020202020204" pitchFamily="34" charset="0"/>
                <a:cs typeface="Times New Roman" panose="02020603050405020304" pitchFamily="18" charset="0"/>
              </a:rPr>
              <a:t>hards collections using a </a:t>
            </a:r>
            <a:r>
              <a:rPr lang="en-IN" sz="2000" kern="100" dirty="0" err="1" smtClean="0">
                <a:solidFill>
                  <a:srgbClr val="000000"/>
                </a:solidFill>
                <a:ea typeface="Aptos" panose="020B0004020202020204" pitchFamily="34" charset="0"/>
                <a:cs typeface="Times New Roman" panose="02020603050405020304" pitchFamily="18" charset="0"/>
              </a:rPr>
              <a:t>choosen</a:t>
            </a:r>
            <a:r>
              <a:rPr lang="en-IN" sz="2000" kern="100" dirty="0" smtClean="0">
                <a:solidFill>
                  <a:srgbClr val="000000"/>
                </a:solidFill>
                <a:ea typeface="Aptos" panose="020B0004020202020204" pitchFamily="34" charset="0"/>
                <a:cs typeface="Times New Roman" panose="02020603050405020304" pitchFamily="18" charset="0"/>
              </a:rPr>
              <a:t> shard key.</a:t>
            </a:r>
          </a:p>
          <a:p>
            <a:pPr marL="342900" indent="-342900">
              <a:lnSpc>
                <a:spcPct val="150000"/>
              </a:lnSpc>
              <a:spcAft>
                <a:spcPts val="800"/>
              </a:spcAft>
              <a:buSzPts val="1000"/>
              <a:buFont typeface="Symbol" panose="05050102010706020507" pitchFamily="18" charset="2"/>
              <a:buChar char=""/>
              <a:tabLst>
                <a:tab pos="457200" algn="l"/>
              </a:tabLst>
              <a:defRPr/>
            </a:pPr>
            <a:r>
              <a:rPr lang="en-IN" sz="2000" b="1" kern="100" dirty="0" smtClean="0">
                <a:solidFill>
                  <a:srgbClr val="000000"/>
                </a:solidFill>
                <a:ea typeface="Aptos" panose="020B0004020202020204" pitchFamily="34" charset="0"/>
                <a:cs typeface="Times New Roman" panose="02020603050405020304" pitchFamily="18" charset="0"/>
              </a:rPr>
              <a:t>CASSANDRA </a:t>
            </a:r>
            <a:r>
              <a:rPr lang="en-IN" sz="2000" b="1" kern="100" dirty="0">
                <a:solidFill>
                  <a:srgbClr val="000000"/>
                </a:solidFill>
                <a:ea typeface="Aptos" panose="020B0004020202020204" pitchFamily="34" charset="0"/>
                <a:cs typeface="Times New Roman" panose="02020603050405020304" pitchFamily="18" charset="0"/>
              </a:rPr>
              <a:t>– </a:t>
            </a:r>
            <a:r>
              <a:rPr lang="en-IN" sz="2000" kern="100" dirty="0" smtClean="0">
                <a:solidFill>
                  <a:srgbClr val="000000"/>
                </a:solidFill>
                <a:ea typeface="Aptos" panose="020B0004020202020204" pitchFamily="34" charset="0"/>
                <a:cs typeface="Times New Roman" panose="02020603050405020304" pitchFamily="18" charset="0"/>
              </a:rPr>
              <a:t>Uses consistent hashing for automatic </a:t>
            </a:r>
            <a:r>
              <a:rPr lang="en-IN" sz="2000" kern="100" dirty="0" err="1" smtClean="0">
                <a:solidFill>
                  <a:srgbClr val="000000"/>
                </a:solidFill>
                <a:ea typeface="Aptos" panose="020B0004020202020204" pitchFamily="34" charset="0"/>
                <a:cs typeface="Times New Roman" panose="02020603050405020304" pitchFamily="18" charset="0"/>
              </a:rPr>
              <a:t>sharding</a:t>
            </a:r>
            <a:r>
              <a:rPr lang="en-IN" sz="2000" kern="100" dirty="0" smtClean="0">
                <a:solidFill>
                  <a:srgbClr val="000000"/>
                </a:solidFill>
                <a:ea typeface="Aptos" panose="020B0004020202020204" pitchFamily="34" charset="0"/>
                <a:cs typeface="Times New Roman" panose="02020603050405020304" pitchFamily="18" charset="0"/>
              </a:rPr>
              <a:t>.</a:t>
            </a:r>
            <a:endParaRPr lang="en-IN" sz="2000" kern="100" dirty="0">
              <a:solidFill>
                <a:srgbClr val="000000"/>
              </a:solidFill>
              <a:ea typeface="Aptos" panose="020B0004020202020204" pitchFamily="34" charset="0"/>
              <a:cs typeface="Times New Roman" panose="02020603050405020304" pitchFamily="18" charset="0"/>
            </a:endParaRPr>
          </a:p>
          <a:p>
            <a:pPr marL="342900" indent="-342900">
              <a:lnSpc>
                <a:spcPct val="150000"/>
              </a:lnSpc>
              <a:spcAft>
                <a:spcPts val="800"/>
              </a:spcAft>
              <a:buSzPts val="1000"/>
              <a:buFont typeface="Symbol" panose="05050102010706020507" pitchFamily="18" charset="2"/>
              <a:buChar char=""/>
              <a:tabLst>
                <a:tab pos="457200" algn="l"/>
              </a:tabLst>
              <a:defRPr/>
            </a:pPr>
            <a:r>
              <a:rPr lang="en-IN" sz="2000" b="1" kern="100" dirty="0" err="1" smtClean="0">
                <a:solidFill>
                  <a:srgbClr val="000000"/>
                </a:solidFill>
                <a:ea typeface="Aptos" panose="020B0004020202020204" pitchFamily="34" charset="0"/>
                <a:cs typeface="Times New Roman" panose="02020603050405020304" pitchFamily="18" charset="0"/>
              </a:rPr>
              <a:t>HBase</a:t>
            </a:r>
            <a:r>
              <a:rPr lang="en-IN" sz="2000" b="1" kern="100" dirty="0" smtClean="0">
                <a:solidFill>
                  <a:srgbClr val="000000"/>
                </a:solidFill>
                <a:ea typeface="Aptos" panose="020B0004020202020204" pitchFamily="34" charset="0"/>
                <a:cs typeface="Times New Roman" panose="02020603050405020304" pitchFamily="18" charset="0"/>
              </a:rPr>
              <a:t> </a:t>
            </a:r>
            <a:r>
              <a:rPr lang="en-IN" sz="2000" b="1" kern="100" dirty="0">
                <a:solidFill>
                  <a:srgbClr val="000000"/>
                </a:solidFill>
                <a:ea typeface="Aptos" panose="020B0004020202020204" pitchFamily="34" charset="0"/>
                <a:cs typeface="Times New Roman" panose="02020603050405020304" pitchFamily="18" charset="0"/>
              </a:rPr>
              <a:t>– </a:t>
            </a:r>
            <a:r>
              <a:rPr lang="en-IN" sz="2000" kern="100" dirty="0" smtClean="0">
                <a:solidFill>
                  <a:srgbClr val="000000"/>
                </a:solidFill>
                <a:ea typeface="Aptos" panose="020B0004020202020204" pitchFamily="34" charset="0"/>
                <a:cs typeface="Times New Roman" panose="02020603050405020304" pitchFamily="18" charset="0"/>
              </a:rPr>
              <a:t>Uses region servers for </a:t>
            </a:r>
            <a:r>
              <a:rPr lang="en-IN" sz="2000" kern="100" dirty="0" err="1" smtClean="0">
                <a:solidFill>
                  <a:srgbClr val="000000"/>
                </a:solidFill>
                <a:ea typeface="Aptos" panose="020B0004020202020204" pitchFamily="34" charset="0"/>
                <a:cs typeface="Times New Roman" panose="02020603050405020304" pitchFamily="18" charset="0"/>
              </a:rPr>
              <a:t>sharding</a:t>
            </a:r>
            <a:r>
              <a:rPr lang="en-IN" sz="2000" kern="100" dirty="0" smtClean="0">
                <a:solidFill>
                  <a:srgbClr val="000000"/>
                </a:solidFill>
                <a:ea typeface="Aptos" panose="020B0004020202020204" pitchFamily="34" charset="0"/>
                <a:cs typeface="Times New Roman" panose="02020603050405020304" pitchFamily="18" charset="0"/>
              </a:rPr>
              <a:t>.</a:t>
            </a:r>
            <a:endParaRPr lang="en-IN" sz="2000" kern="100" dirty="0">
              <a:solidFill>
                <a:srgbClr val="000000"/>
              </a:solidFill>
              <a:ea typeface="Aptos" panose="020B0004020202020204" pitchFamily="34" charset="0"/>
              <a:cs typeface="Times New Roman" panose="02020603050405020304" pitchFamily="18" charset="0"/>
            </a:endParaRPr>
          </a:p>
          <a:p>
            <a:pPr marL="342900" indent="-342900">
              <a:lnSpc>
                <a:spcPct val="150000"/>
              </a:lnSpc>
              <a:spcAft>
                <a:spcPts val="800"/>
              </a:spcAft>
              <a:buSzPts val="1000"/>
              <a:buFont typeface="Symbol" panose="05050102010706020507" pitchFamily="18" charset="2"/>
              <a:buChar char=""/>
              <a:tabLst>
                <a:tab pos="457200" algn="l"/>
              </a:tabLst>
              <a:defRPr/>
            </a:pPr>
            <a:r>
              <a:rPr lang="en-IN" sz="2000" b="1" kern="100" dirty="0" err="1" smtClean="0">
                <a:solidFill>
                  <a:srgbClr val="000000"/>
                </a:solidFill>
                <a:ea typeface="Aptos" panose="020B0004020202020204" pitchFamily="34" charset="0"/>
                <a:cs typeface="Times New Roman" panose="02020603050405020304" pitchFamily="18" charset="0"/>
              </a:rPr>
              <a:t>Elasticsearch</a:t>
            </a:r>
            <a:r>
              <a:rPr lang="en-IN" sz="2000" b="1" kern="100" dirty="0" smtClean="0">
                <a:solidFill>
                  <a:srgbClr val="000000"/>
                </a:solidFill>
                <a:ea typeface="Aptos" panose="020B0004020202020204" pitchFamily="34" charset="0"/>
                <a:cs typeface="Times New Roman" panose="02020603050405020304" pitchFamily="18" charset="0"/>
              </a:rPr>
              <a:t> </a:t>
            </a:r>
            <a:r>
              <a:rPr lang="en-IN" sz="2000" b="1" kern="100" dirty="0">
                <a:solidFill>
                  <a:srgbClr val="000000"/>
                </a:solidFill>
                <a:ea typeface="Aptos" panose="020B0004020202020204" pitchFamily="34" charset="0"/>
                <a:cs typeface="Times New Roman" panose="02020603050405020304" pitchFamily="18" charset="0"/>
              </a:rPr>
              <a:t>– </a:t>
            </a:r>
            <a:r>
              <a:rPr lang="en-IN" sz="2000" kern="100" dirty="0" smtClean="0">
                <a:solidFill>
                  <a:srgbClr val="000000"/>
                </a:solidFill>
                <a:ea typeface="Aptos" panose="020B0004020202020204" pitchFamily="34" charset="0"/>
                <a:cs typeface="Times New Roman" panose="02020603050405020304" pitchFamily="18" charset="0"/>
              </a:rPr>
              <a:t>Index split into shards for distributed search.</a:t>
            </a:r>
            <a:endParaRPr lang="en-IN" sz="2000" kern="100" dirty="0">
              <a:solidFill>
                <a:srgbClr val="000000"/>
              </a:solidFill>
              <a:ea typeface="Aptos" panose="020B0004020202020204" pitchFamily="34" charset="0"/>
              <a:cs typeface="Times New Roman" panose="02020603050405020304" pitchFamily="18" charset="0"/>
            </a:endParaRPr>
          </a:p>
          <a:p>
            <a:pPr marL="342900" indent="-342900">
              <a:lnSpc>
                <a:spcPct val="150000"/>
              </a:lnSpc>
              <a:spcAft>
                <a:spcPts val="800"/>
              </a:spcAft>
              <a:buSzPts val="1000"/>
              <a:buFont typeface="Symbol" panose="05050102010706020507" pitchFamily="18" charset="2"/>
              <a:buChar char=""/>
              <a:tabLst>
                <a:tab pos="457200" algn="l"/>
              </a:tabLst>
              <a:defRPr/>
            </a:pPr>
            <a:endParaRPr lang="en-IN" sz="2000"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72</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Real-world NoSQL </a:t>
            </a:r>
            <a:r>
              <a:rPr lang="en-IN" sz="2800" b="1" kern="100" dirty="0" err="1">
                <a:ea typeface="Aptos" panose="020B0004020202020204" pitchFamily="34" charset="0"/>
                <a:cs typeface="Times New Roman" panose="02020603050405020304" pitchFamily="18" charset="0"/>
              </a:rPr>
              <a:t>Sharding</a:t>
            </a:r>
            <a:r>
              <a:rPr lang="en-IN" sz="2800" b="1" kern="100" dirty="0">
                <a:ea typeface="Aptos" panose="020B0004020202020204" pitchFamily="34" charset="0"/>
                <a:cs typeface="Times New Roman" panose="02020603050405020304" pitchFamily="18" charset="0"/>
              </a:rPr>
              <a:t> Examples</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4487215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5468164"/>
          </a:xfrm>
          <a:prstGeom prst="rect">
            <a:avLst/>
          </a:prstGeom>
          <a:noFill/>
        </p:spPr>
        <p:txBody>
          <a:bodyPr wrap="square" rtlCol="0">
            <a:spAutoFit/>
          </a:bodyPr>
          <a:lstStyle/>
          <a:p>
            <a:pPr>
              <a:lnSpc>
                <a:spcPct val="115000"/>
              </a:lnSpc>
              <a:spcAft>
                <a:spcPts val="800"/>
              </a:spcAft>
              <a:defRPr/>
            </a:pPr>
            <a:r>
              <a:rPr lang="en-IN" sz="2000" b="1" kern="100" dirty="0">
                <a:solidFill>
                  <a:srgbClr val="000000"/>
                </a:solidFill>
                <a:ea typeface="Aptos" panose="020B0004020202020204" pitchFamily="34" charset="0"/>
                <a:cs typeface="Times New Roman" panose="02020603050405020304" pitchFamily="18" charset="0"/>
              </a:rPr>
              <a:t>Example:</a:t>
            </a:r>
            <a:r>
              <a:rPr lang="en-IN" sz="2000" kern="100" dirty="0">
                <a:solidFill>
                  <a:srgbClr val="000000"/>
                </a:solidFill>
                <a:ea typeface="Aptos" panose="020B0004020202020204" pitchFamily="34" charset="0"/>
                <a:cs typeface="Times New Roman" panose="02020603050405020304" pitchFamily="18" charset="0"/>
              </a:rPr>
              <a:t> An e-commerce platform with millions of users.</a:t>
            </a:r>
            <a:endParaRPr lang="en-IN" sz="2000" kern="100" dirty="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Shard key:</a:t>
            </a:r>
            <a:r>
              <a:rPr lang="en-IN" sz="2000" kern="100" dirty="0">
                <a:solidFill>
                  <a:srgbClr val="000000"/>
                </a:solidFill>
                <a:ea typeface="Aptos" panose="020B0004020202020204" pitchFamily="34" charset="0"/>
                <a:cs typeface="Times New Roman" panose="02020603050405020304" pitchFamily="18" charset="0"/>
              </a:rPr>
              <a:t> </a:t>
            </a:r>
            <a:r>
              <a:rPr lang="en-IN" sz="2000" kern="100" dirty="0" err="1">
                <a:solidFill>
                  <a:srgbClr val="000000"/>
                </a:solidFill>
                <a:ea typeface="Aptos" panose="020B0004020202020204" pitchFamily="34" charset="0"/>
                <a:cs typeface="Times New Roman" panose="02020603050405020304" pitchFamily="18" charset="0"/>
              </a:rPr>
              <a:t>user_id</a:t>
            </a:r>
            <a:endParaRPr lang="en-IN" sz="2000" kern="100" dirty="0">
              <a:solidFill>
                <a:srgbClr val="000000"/>
              </a:solidFill>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Strategy: </a:t>
            </a:r>
            <a:r>
              <a:rPr lang="en-IN" sz="2000" b="1" kern="100" dirty="0">
                <a:solidFill>
                  <a:srgbClr val="000000"/>
                </a:solidFill>
                <a:ea typeface="Aptos" panose="020B0004020202020204" pitchFamily="34" charset="0"/>
                <a:cs typeface="Times New Roman" panose="02020603050405020304" pitchFamily="18" charset="0"/>
              </a:rPr>
              <a:t>Hash-based </a:t>
            </a:r>
            <a:r>
              <a:rPr lang="en-IN" sz="2000" b="1" kern="100" dirty="0" err="1">
                <a:solidFill>
                  <a:srgbClr val="000000"/>
                </a:solidFill>
                <a:ea typeface="Aptos" panose="020B0004020202020204" pitchFamily="34" charset="0"/>
                <a:cs typeface="Times New Roman" panose="02020603050405020304" pitchFamily="18" charset="0"/>
              </a:rPr>
              <a:t>sharding</a:t>
            </a:r>
            <a:endParaRPr lang="en-IN" sz="2000" kern="100" dirty="0">
              <a:solidFill>
                <a:srgbClr val="000000"/>
              </a:solidFill>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Shards:</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000" kern="100" dirty="0">
                <a:solidFill>
                  <a:srgbClr val="000000"/>
                </a:solidFill>
                <a:ea typeface="Aptos" panose="020B0004020202020204" pitchFamily="34" charset="0"/>
                <a:cs typeface="Times New Roman" panose="02020603050405020304" pitchFamily="18" charset="0"/>
              </a:rPr>
              <a:t>Shard 1: Users whose hash(</a:t>
            </a:r>
            <a:r>
              <a:rPr lang="en-IN" sz="2000" kern="100" dirty="0" err="1">
                <a:solidFill>
                  <a:srgbClr val="000000"/>
                </a:solidFill>
                <a:ea typeface="Aptos" panose="020B0004020202020204" pitchFamily="34" charset="0"/>
                <a:cs typeface="Times New Roman" panose="02020603050405020304" pitchFamily="18" charset="0"/>
              </a:rPr>
              <a:t>user_id</a:t>
            </a:r>
            <a:r>
              <a:rPr lang="en-IN" sz="2000" kern="100" dirty="0">
                <a:solidFill>
                  <a:srgbClr val="000000"/>
                </a:solidFill>
                <a:ea typeface="Aptos" panose="020B0004020202020204" pitchFamily="34" charset="0"/>
                <a:cs typeface="Times New Roman" panose="02020603050405020304" pitchFamily="18" charset="0"/>
              </a:rPr>
              <a:t>) % 3 = 0</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000" kern="100" dirty="0">
                <a:solidFill>
                  <a:srgbClr val="000000"/>
                </a:solidFill>
                <a:ea typeface="Aptos" panose="020B0004020202020204" pitchFamily="34" charset="0"/>
                <a:cs typeface="Times New Roman" panose="02020603050405020304" pitchFamily="18" charset="0"/>
              </a:rPr>
              <a:t>Shard 2: Users whose hash(</a:t>
            </a:r>
            <a:r>
              <a:rPr lang="en-IN" sz="2000" kern="100" dirty="0" err="1">
                <a:solidFill>
                  <a:srgbClr val="000000"/>
                </a:solidFill>
                <a:ea typeface="Aptos" panose="020B0004020202020204" pitchFamily="34" charset="0"/>
                <a:cs typeface="Times New Roman" panose="02020603050405020304" pitchFamily="18" charset="0"/>
              </a:rPr>
              <a:t>user_id</a:t>
            </a:r>
            <a:r>
              <a:rPr lang="en-IN" sz="2000" kern="100" dirty="0">
                <a:solidFill>
                  <a:srgbClr val="000000"/>
                </a:solidFill>
                <a:ea typeface="Aptos" panose="020B0004020202020204" pitchFamily="34" charset="0"/>
                <a:cs typeface="Times New Roman" panose="02020603050405020304" pitchFamily="18" charset="0"/>
              </a:rPr>
              <a:t>) % 3 = 1</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000" kern="100" dirty="0">
                <a:solidFill>
                  <a:srgbClr val="000000"/>
                </a:solidFill>
                <a:ea typeface="Aptos" panose="020B0004020202020204" pitchFamily="34" charset="0"/>
                <a:cs typeface="Times New Roman" panose="02020603050405020304" pitchFamily="18" charset="0"/>
              </a:rPr>
              <a:t>Shard 3: Users whose hash(</a:t>
            </a:r>
            <a:r>
              <a:rPr lang="en-IN" sz="2000" kern="100" dirty="0" err="1">
                <a:solidFill>
                  <a:srgbClr val="000000"/>
                </a:solidFill>
                <a:ea typeface="Aptos" panose="020B0004020202020204" pitchFamily="34" charset="0"/>
                <a:cs typeface="Times New Roman" panose="02020603050405020304" pitchFamily="18" charset="0"/>
              </a:rPr>
              <a:t>user_id</a:t>
            </a:r>
            <a:r>
              <a:rPr lang="en-IN" sz="2000" kern="100" dirty="0">
                <a:solidFill>
                  <a:srgbClr val="000000"/>
                </a:solidFill>
                <a:ea typeface="Aptos" panose="020B0004020202020204" pitchFamily="34" charset="0"/>
                <a:cs typeface="Times New Roman" panose="02020603050405020304" pitchFamily="18" charset="0"/>
              </a:rPr>
              <a:t>) % 3 = 2</a:t>
            </a:r>
          </a:p>
          <a:p>
            <a:pPr marL="342900" indent="-342900">
              <a:lnSpc>
                <a:spcPct val="115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Result: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000" kern="100" dirty="0">
                <a:solidFill>
                  <a:srgbClr val="000000"/>
                </a:solidFill>
                <a:ea typeface="Aptos" panose="020B0004020202020204" pitchFamily="34" charset="0"/>
                <a:cs typeface="Times New Roman" panose="02020603050405020304" pitchFamily="18" charset="0"/>
              </a:rPr>
              <a:t>All three shards handle equal load.</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2000" kern="100" dirty="0">
                <a:solidFill>
                  <a:srgbClr val="000000"/>
                </a:solidFill>
                <a:ea typeface="Aptos" panose="020B0004020202020204" pitchFamily="34" charset="0"/>
                <a:cs typeface="Times New Roman" panose="02020603050405020304" pitchFamily="18" charset="0"/>
              </a:rPr>
              <a:t>Queries for one user hit only one shard.</a:t>
            </a: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73</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Example Scenario</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2380420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3481146"/>
          </a:xfrm>
          <a:prstGeom prst="rect">
            <a:avLst/>
          </a:prstGeom>
          <a:noFill/>
        </p:spPr>
        <p:txBody>
          <a:bodyPr wrap="square" rtlCol="0">
            <a:spAutoFit/>
          </a:bodyPr>
          <a:lstStyle/>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Social Media Platforms</a:t>
            </a:r>
            <a:r>
              <a:rPr lang="en-IN" sz="2000" kern="100" dirty="0">
                <a:solidFill>
                  <a:srgbClr val="000000"/>
                </a:solidFill>
                <a:ea typeface="Aptos" panose="020B0004020202020204" pitchFamily="34" charset="0"/>
                <a:cs typeface="Times New Roman" panose="02020603050405020304" pitchFamily="18" charset="0"/>
              </a:rPr>
              <a:t> – Distribute user profiles across multiple servers.</a:t>
            </a:r>
          </a:p>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Online Gaming</a:t>
            </a:r>
            <a:r>
              <a:rPr lang="en-IN" sz="2000" kern="100" dirty="0">
                <a:solidFill>
                  <a:srgbClr val="000000"/>
                </a:solidFill>
                <a:ea typeface="Aptos" panose="020B0004020202020204" pitchFamily="34" charset="0"/>
                <a:cs typeface="Times New Roman" panose="02020603050405020304" pitchFamily="18" charset="0"/>
              </a:rPr>
              <a:t> – Store game states for millions of players across shards.</a:t>
            </a:r>
          </a:p>
          <a:p>
            <a:pPr marL="342900" indent="-342900">
              <a:lnSpc>
                <a:spcPct val="200000"/>
              </a:lnSpc>
              <a:spcAft>
                <a:spcPts val="800"/>
              </a:spcAft>
              <a:buFont typeface="+mj-lt"/>
              <a:buAutoNum type="arabicPeriod"/>
              <a:tabLst>
                <a:tab pos="457200" algn="l"/>
              </a:tabLst>
              <a:defRPr/>
            </a:pPr>
            <a:r>
              <a:rPr lang="en-IN" sz="2000" b="1" kern="100" dirty="0" err="1">
                <a:solidFill>
                  <a:srgbClr val="000000"/>
                </a:solidFill>
                <a:ea typeface="Aptos" panose="020B0004020202020204" pitchFamily="34" charset="0"/>
                <a:cs typeface="Times New Roman" panose="02020603050405020304" pitchFamily="18" charset="0"/>
              </a:rPr>
              <a:t>IoT</a:t>
            </a:r>
            <a:r>
              <a:rPr lang="en-IN" sz="2000" b="1" kern="100" dirty="0">
                <a:solidFill>
                  <a:srgbClr val="000000"/>
                </a:solidFill>
                <a:ea typeface="Aptos" panose="020B0004020202020204" pitchFamily="34" charset="0"/>
                <a:cs typeface="Times New Roman" panose="02020603050405020304" pitchFamily="18" charset="0"/>
              </a:rPr>
              <a:t> Data Storage</a:t>
            </a:r>
            <a:r>
              <a:rPr lang="en-IN" sz="2000" kern="100" dirty="0">
                <a:solidFill>
                  <a:srgbClr val="000000"/>
                </a:solidFill>
                <a:ea typeface="Aptos" panose="020B0004020202020204" pitchFamily="34" charset="0"/>
                <a:cs typeface="Times New Roman" panose="02020603050405020304" pitchFamily="18" charset="0"/>
              </a:rPr>
              <a:t> – Store sensor readings in different shards by device ID.</a:t>
            </a:r>
          </a:p>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E-commerce</a:t>
            </a:r>
            <a:r>
              <a:rPr lang="en-IN" sz="2000" kern="100" dirty="0">
                <a:solidFill>
                  <a:srgbClr val="000000"/>
                </a:solidFill>
                <a:ea typeface="Aptos" panose="020B0004020202020204" pitchFamily="34" charset="0"/>
                <a:cs typeface="Times New Roman" panose="02020603050405020304" pitchFamily="18" charset="0"/>
              </a:rPr>
              <a:t> – Orders distributed across shards by region or customer ID.</a:t>
            </a:r>
          </a:p>
          <a:p>
            <a:pPr marL="342900" indent="-342900">
              <a:lnSpc>
                <a:spcPct val="20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Search Engines</a:t>
            </a:r>
            <a:r>
              <a:rPr lang="en-IN" sz="2000" kern="100" dirty="0">
                <a:solidFill>
                  <a:srgbClr val="000000"/>
                </a:solidFill>
                <a:ea typeface="Aptos" panose="020B0004020202020204" pitchFamily="34" charset="0"/>
                <a:cs typeface="Times New Roman" panose="02020603050405020304" pitchFamily="18" charset="0"/>
              </a:rPr>
              <a:t> – Split index into shards for faster search.</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74</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Applications of </a:t>
            </a:r>
            <a:r>
              <a:rPr lang="en-IN" sz="2800" b="1" kern="100" dirty="0" err="1" smtClean="0">
                <a:ea typeface="Aptos" panose="020B0004020202020204" pitchFamily="34" charset="0"/>
                <a:cs typeface="Times New Roman" panose="02020603050405020304" pitchFamily="18" charset="0"/>
              </a:rPr>
              <a:t>Sharding</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0607790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524315"/>
          </a:xfrm>
          <a:prstGeom prst="rect">
            <a:avLst/>
          </a:prstGeom>
          <a:noFill/>
        </p:spPr>
        <p:txBody>
          <a:bodyPr wrap="square" rtlCol="0">
            <a:spAutoFit/>
          </a:bodyPr>
          <a:lstStyle/>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Clients --&gt;| Query Router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           |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 +----+----+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 Shard 1 | | Shard 2 | | Shard 3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 +---------+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ID 1–1000   ID 1001–2000   ID 2001–3000</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75</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Diagram</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7957977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16140"/>
          </a:xfrm>
          <a:prstGeom prst="rect">
            <a:avLst/>
          </a:prstGeom>
          <a:noFill/>
        </p:spPr>
        <p:txBody>
          <a:bodyPr wrap="square" rtlCol="0">
            <a:spAutoFit/>
          </a:bodyPr>
          <a:lstStyle/>
          <a:p>
            <a:pPr algn="ctr">
              <a:lnSpc>
                <a:spcPct val="115000"/>
              </a:lnSpc>
              <a:spcAft>
                <a:spcPts val="800"/>
              </a:spcAft>
              <a:defRPr/>
            </a:pPr>
            <a:endParaRPr lang="en-IN" sz="2000" kern="100" dirty="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Summary</a:t>
            </a:r>
            <a:endParaRPr lang="en-IN" sz="2800" kern="100" dirty="0">
              <a:ea typeface="Aptos" panose="020B0004020202020204" pitchFamily="34"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 y="1014775"/>
            <a:ext cx="9144000" cy="4828450"/>
          </a:xfrm>
          <a:prstGeom prst="rect">
            <a:avLst/>
          </a:prstGeom>
        </p:spPr>
      </p:pic>
    </p:spTree>
    <p:extLst>
      <p:ext uri="{BB962C8B-B14F-4D97-AF65-F5344CB8AC3E}">
        <p14:creationId xmlns:p14="http://schemas.microsoft.com/office/powerpoint/2010/main" val="223104043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3642664"/>
          </a:xfrm>
          <a:prstGeom prst="rect">
            <a:avLst/>
          </a:prstGeom>
          <a:noFill/>
        </p:spPr>
        <p:txBody>
          <a:bodyPr wrap="square" rtlCol="0">
            <a:spAutoFit/>
          </a:bodyPr>
          <a:lstStyle/>
          <a:p>
            <a:pPr marL="342900" indent="-342900" algn="just">
              <a:lnSpc>
                <a:spcPct val="200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Strong Consistency</a:t>
            </a:r>
            <a:r>
              <a:rPr lang="en-IN" sz="2000" kern="100" dirty="0">
                <a:solidFill>
                  <a:srgbClr val="000000"/>
                </a:solidFill>
                <a:ea typeface="Aptos" panose="020B0004020202020204" pitchFamily="34" charset="0"/>
                <a:cs typeface="Times New Roman" panose="02020603050405020304" pitchFamily="18" charset="0"/>
              </a:rPr>
              <a:t>: Achievable with synchronous replication.</a:t>
            </a:r>
          </a:p>
          <a:p>
            <a:pPr marL="342900" indent="-342900" algn="just">
              <a:lnSpc>
                <a:spcPct val="200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Eventual Consistency</a:t>
            </a:r>
            <a:r>
              <a:rPr lang="en-IN" sz="2000" kern="100" dirty="0">
                <a:solidFill>
                  <a:srgbClr val="000000"/>
                </a:solidFill>
                <a:ea typeface="Aptos" panose="020B0004020202020204" pitchFamily="34" charset="0"/>
                <a:cs typeface="Times New Roman" panose="02020603050405020304" pitchFamily="18" charset="0"/>
              </a:rPr>
              <a:t>: Common in asynchronous replication (slaves catch up later).</a:t>
            </a:r>
          </a:p>
          <a:p>
            <a:pPr marL="342900" indent="-342900" algn="just">
              <a:lnSpc>
                <a:spcPct val="200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Read-After-Write Consistency</a:t>
            </a:r>
            <a:r>
              <a:rPr lang="en-IN" sz="2000" kern="100" dirty="0">
                <a:solidFill>
                  <a:srgbClr val="000000"/>
                </a:solidFill>
                <a:ea typeface="Aptos" panose="020B0004020202020204" pitchFamily="34" charset="0"/>
                <a:cs typeface="Times New Roman" panose="02020603050405020304" pitchFamily="18" charset="0"/>
              </a:rPr>
              <a:t>: Guaranteed only if reading from master.</a:t>
            </a:r>
          </a:p>
          <a:p>
            <a:pPr algn="just">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77</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in the </a:t>
            </a:r>
            <a:r>
              <a:rPr lang="en-IN" sz="2800" b="1" kern="100" dirty="0" smtClean="0">
                <a:ea typeface="Aptos" panose="020B0004020202020204" pitchFamily="34" charset="0"/>
                <a:cs typeface="Times New Roman" panose="02020603050405020304" pitchFamily="18" charset="0"/>
              </a:rPr>
              <a:t>Master-Slave Replication</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6082176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5648726"/>
          </a:xfrm>
          <a:prstGeom prst="rect">
            <a:avLst/>
          </a:prstGeom>
          <a:noFill/>
        </p:spPr>
        <p:txBody>
          <a:bodyPr wrap="square" rtlCol="0">
            <a:spAutoFit/>
          </a:bodyPr>
          <a:lstStyle/>
          <a:p>
            <a:pPr>
              <a:lnSpc>
                <a:spcPct val="115000"/>
              </a:lnSpc>
              <a:spcAft>
                <a:spcPts val="800"/>
              </a:spcAft>
              <a:defRPr/>
            </a:pPr>
            <a:r>
              <a:rPr lang="en-IN" sz="2800" b="1" kern="100" dirty="0" smtClean="0">
                <a:ea typeface="Aptos" panose="020B0004020202020204" pitchFamily="34" charset="0"/>
                <a:cs typeface="Times New Roman" panose="02020603050405020304" pitchFamily="18" charset="0"/>
              </a:rPr>
              <a:t>Advantages</a:t>
            </a:r>
            <a:endParaRPr lang="en-IN" sz="2800" kern="100" dirty="0">
              <a:ea typeface="Aptos" panose="020B0004020202020204" pitchFamily="34" charset="0"/>
              <a:cs typeface="Times New Roman" panose="02020603050405020304" pitchFamily="18" charset="0"/>
            </a:endParaRPr>
          </a:p>
          <a:p>
            <a:pPr marL="342900" indent="-342900">
              <a:lnSpc>
                <a:spcPct val="115000"/>
              </a:lnSpc>
              <a:spcAft>
                <a:spcPts val="800"/>
              </a:spcAft>
              <a:buFont typeface="+mj-lt"/>
              <a:buAutoNum type="arabicPeriod"/>
              <a:tabLst>
                <a:tab pos="457200" algn="l"/>
              </a:tabLst>
              <a:defRPr/>
            </a:pPr>
            <a:r>
              <a:rPr lang="en-IN" sz="2000" b="1" kern="100" dirty="0">
                <a:ea typeface="Aptos" panose="020B0004020202020204" pitchFamily="34" charset="0"/>
                <a:cs typeface="Times New Roman" panose="02020603050405020304" pitchFamily="18" charset="0"/>
              </a:rPr>
              <a:t>Read Scalability</a:t>
            </a:r>
            <a:r>
              <a:rPr lang="en-IN" sz="2000" kern="100" dirty="0">
                <a:ea typeface="Aptos" panose="020B0004020202020204" pitchFamily="34" charset="0"/>
                <a:cs typeface="Times New Roman" panose="02020603050405020304" pitchFamily="18" charset="0"/>
              </a:rPr>
              <a:t> – Multiple slaves can serve reads.</a:t>
            </a:r>
          </a:p>
          <a:p>
            <a:pPr marL="342900" indent="-342900">
              <a:lnSpc>
                <a:spcPct val="115000"/>
              </a:lnSpc>
              <a:spcAft>
                <a:spcPts val="800"/>
              </a:spcAft>
              <a:buFont typeface="+mj-lt"/>
              <a:buAutoNum type="arabicPeriod"/>
              <a:tabLst>
                <a:tab pos="457200" algn="l"/>
              </a:tabLst>
              <a:defRPr/>
            </a:pPr>
            <a:r>
              <a:rPr lang="en-IN" sz="2000" b="1" kern="100" dirty="0">
                <a:ea typeface="Aptos" panose="020B0004020202020204" pitchFamily="34" charset="0"/>
                <a:cs typeface="Times New Roman" panose="02020603050405020304" pitchFamily="18" charset="0"/>
              </a:rPr>
              <a:t>High Availability</a:t>
            </a:r>
            <a:r>
              <a:rPr lang="en-IN" sz="2000" kern="100" dirty="0">
                <a:ea typeface="Aptos" panose="020B0004020202020204" pitchFamily="34" charset="0"/>
                <a:cs typeface="Times New Roman" panose="02020603050405020304" pitchFamily="18" charset="0"/>
              </a:rPr>
              <a:t> – If master fails, a slave can be promoted to master.</a:t>
            </a:r>
          </a:p>
          <a:p>
            <a:pPr marL="342900" indent="-342900">
              <a:lnSpc>
                <a:spcPct val="115000"/>
              </a:lnSpc>
              <a:spcAft>
                <a:spcPts val="800"/>
              </a:spcAft>
              <a:buFont typeface="+mj-lt"/>
              <a:buAutoNum type="arabicPeriod"/>
              <a:tabLst>
                <a:tab pos="457200" algn="l"/>
              </a:tabLst>
              <a:defRPr/>
            </a:pPr>
            <a:r>
              <a:rPr lang="en-IN" sz="2000" b="1" kern="100" dirty="0">
                <a:ea typeface="Aptos" panose="020B0004020202020204" pitchFamily="34" charset="0"/>
                <a:cs typeface="Times New Roman" panose="02020603050405020304" pitchFamily="18" charset="0"/>
              </a:rPr>
              <a:t>Data Backup</a:t>
            </a:r>
            <a:r>
              <a:rPr lang="en-IN" sz="2000" kern="100" dirty="0">
                <a:ea typeface="Aptos" panose="020B0004020202020204" pitchFamily="34" charset="0"/>
                <a:cs typeface="Times New Roman" panose="02020603050405020304" pitchFamily="18" charset="0"/>
              </a:rPr>
              <a:t> – Slaves act as live backups.</a:t>
            </a:r>
          </a:p>
          <a:p>
            <a:pPr marL="342900" indent="-342900">
              <a:lnSpc>
                <a:spcPct val="115000"/>
              </a:lnSpc>
              <a:spcAft>
                <a:spcPts val="800"/>
              </a:spcAft>
              <a:buFont typeface="+mj-lt"/>
              <a:buAutoNum type="arabicPeriod"/>
              <a:tabLst>
                <a:tab pos="457200" algn="l"/>
              </a:tabLst>
              <a:defRPr/>
            </a:pPr>
            <a:r>
              <a:rPr lang="en-IN" sz="2000" b="1" kern="100" dirty="0">
                <a:ea typeface="Aptos" panose="020B0004020202020204" pitchFamily="34" charset="0"/>
                <a:cs typeface="Times New Roman" panose="02020603050405020304" pitchFamily="18" charset="0"/>
              </a:rPr>
              <a:t>Load Balancing</a:t>
            </a:r>
            <a:r>
              <a:rPr lang="en-IN" sz="2000" kern="100" dirty="0">
                <a:ea typeface="Aptos" panose="020B0004020202020204" pitchFamily="34" charset="0"/>
                <a:cs typeface="Times New Roman" panose="02020603050405020304" pitchFamily="18" charset="0"/>
              </a:rPr>
              <a:t> – Distributes read load</a:t>
            </a:r>
            <a:r>
              <a:rPr lang="en-IN" sz="2000" kern="100" dirty="0" smtClean="0">
                <a:ea typeface="Aptos" panose="020B0004020202020204" pitchFamily="34" charset="0"/>
                <a:cs typeface="Times New Roman" panose="02020603050405020304" pitchFamily="18" charset="0"/>
              </a:rPr>
              <a:t>.</a:t>
            </a:r>
            <a:endParaRPr lang="en-IN" sz="2000" kern="100" dirty="0">
              <a:ea typeface="Aptos" panose="020B0004020202020204" pitchFamily="34" charset="0"/>
              <a:cs typeface="Times New Roman" panose="02020603050405020304" pitchFamily="18" charset="0"/>
            </a:endParaRPr>
          </a:p>
          <a:p>
            <a:pPr>
              <a:lnSpc>
                <a:spcPct val="115000"/>
              </a:lnSpc>
              <a:spcAft>
                <a:spcPts val="800"/>
              </a:spcAft>
              <a:defRPr/>
            </a:pPr>
            <a:r>
              <a:rPr lang="en-IN" sz="2800" b="1" kern="100" dirty="0" smtClean="0">
                <a:ea typeface="Aptos" panose="020B0004020202020204" pitchFamily="34" charset="0"/>
                <a:cs typeface="Times New Roman" panose="02020603050405020304" pitchFamily="18" charset="0"/>
              </a:rPr>
              <a:t>Disadvantages</a:t>
            </a:r>
            <a:endParaRPr lang="en-IN" sz="2800" kern="100" dirty="0">
              <a:ea typeface="Aptos" panose="020B0004020202020204" pitchFamily="34" charset="0"/>
              <a:cs typeface="Times New Roman" panose="02020603050405020304" pitchFamily="18" charset="0"/>
            </a:endParaRPr>
          </a:p>
          <a:p>
            <a:pPr marL="342900" indent="-342900">
              <a:lnSpc>
                <a:spcPct val="115000"/>
              </a:lnSpc>
              <a:spcAft>
                <a:spcPts val="800"/>
              </a:spcAft>
              <a:buFont typeface="+mj-lt"/>
              <a:buAutoNum type="arabicPeriod"/>
              <a:tabLst>
                <a:tab pos="457200" algn="l"/>
              </a:tabLst>
              <a:defRPr/>
            </a:pPr>
            <a:r>
              <a:rPr lang="en-IN" sz="2000" b="1" kern="100" dirty="0">
                <a:ea typeface="Aptos" panose="020B0004020202020204" pitchFamily="34" charset="0"/>
                <a:cs typeface="Times New Roman" panose="02020603050405020304" pitchFamily="18" charset="0"/>
              </a:rPr>
              <a:t>Write Bottleneck</a:t>
            </a:r>
            <a:r>
              <a:rPr lang="en-IN" sz="2000" kern="100" dirty="0">
                <a:ea typeface="Aptos" panose="020B0004020202020204" pitchFamily="34" charset="0"/>
                <a:cs typeface="Times New Roman" panose="02020603050405020304" pitchFamily="18" charset="0"/>
              </a:rPr>
              <a:t> – Only one master handles writes.</a:t>
            </a:r>
          </a:p>
          <a:p>
            <a:pPr marL="342900" indent="-342900">
              <a:lnSpc>
                <a:spcPct val="115000"/>
              </a:lnSpc>
              <a:spcAft>
                <a:spcPts val="800"/>
              </a:spcAft>
              <a:buFont typeface="+mj-lt"/>
              <a:buAutoNum type="arabicPeriod"/>
              <a:tabLst>
                <a:tab pos="457200" algn="l"/>
              </a:tabLst>
              <a:defRPr/>
            </a:pPr>
            <a:r>
              <a:rPr lang="en-IN" sz="2000" b="1" kern="100" dirty="0">
                <a:ea typeface="Aptos" panose="020B0004020202020204" pitchFamily="34" charset="0"/>
                <a:cs typeface="Times New Roman" panose="02020603050405020304" pitchFamily="18" charset="0"/>
              </a:rPr>
              <a:t>Replication Lag</a:t>
            </a:r>
            <a:r>
              <a:rPr lang="en-IN" sz="2000" kern="100" dirty="0">
                <a:ea typeface="Aptos" panose="020B0004020202020204" pitchFamily="34" charset="0"/>
                <a:cs typeface="Times New Roman" panose="02020603050405020304" pitchFamily="18" charset="0"/>
              </a:rPr>
              <a:t> – Slaves may have outdated data (in </a:t>
            </a:r>
            <a:r>
              <a:rPr lang="en-IN" sz="2000" kern="100" dirty="0" err="1">
                <a:ea typeface="Aptos" panose="020B0004020202020204" pitchFamily="34" charset="0"/>
                <a:cs typeface="Times New Roman" panose="02020603050405020304" pitchFamily="18" charset="0"/>
              </a:rPr>
              <a:t>async</a:t>
            </a:r>
            <a:r>
              <a:rPr lang="en-IN" sz="2000" kern="100" dirty="0">
                <a:ea typeface="Aptos" panose="020B0004020202020204" pitchFamily="34" charset="0"/>
                <a:cs typeface="Times New Roman" panose="02020603050405020304" pitchFamily="18" charset="0"/>
              </a:rPr>
              <a:t> mode).</a:t>
            </a:r>
          </a:p>
          <a:p>
            <a:pPr marL="342900" indent="-342900">
              <a:lnSpc>
                <a:spcPct val="115000"/>
              </a:lnSpc>
              <a:spcAft>
                <a:spcPts val="800"/>
              </a:spcAft>
              <a:buFont typeface="+mj-lt"/>
              <a:buAutoNum type="arabicPeriod"/>
              <a:tabLst>
                <a:tab pos="457200" algn="l"/>
              </a:tabLst>
              <a:defRPr/>
            </a:pPr>
            <a:r>
              <a:rPr lang="en-IN" sz="2000" b="1" kern="100" dirty="0">
                <a:ea typeface="Aptos" panose="020B0004020202020204" pitchFamily="34" charset="0"/>
                <a:cs typeface="Times New Roman" panose="02020603050405020304" pitchFamily="18" charset="0"/>
              </a:rPr>
              <a:t>Failover Complexity</a:t>
            </a:r>
            <a:r>
              <a:rPr lang="en-IN" sz="2000" kern="100" dirty="0">
                <a:ea typeface="Aptos" panose="020B0004020202020204" pitchFamily="34" charset="0"/>
                <a:cs typeface="Times New Roman" panose="02020603050405020304" pitchFamily="18" charset="0"/>
              </a:rPr>
              <a:t> – Promoting a slave to master can be tricky.</a:t>
            </a:r>
          </a:p>
          <a:p>
            <a:pPr marL="342900" indent="-342900">
              <a:lnSpc>
                <a:spcPct val="115000"/>
              </a:lnSpc>
              <a:spcAft>
                <a:spcPts val="800"/>
              </a:spcAft>
              <a:buFont typeface="+mj-lt"/>
              <a:buAutoNum type="arabicPeriod"/>
              <a:tabLst>
                <a:tab pos="457200" algn="l"/>
              </a:tabLst>
              <a:defRPr/>
            </a:pPr>
            <a:r>
              <a:rPr lang="en-IN" sz="2000" b="1" kern="100" dirty="0">
                <a:ea typeface="Aptos" panose="020B0004020202020204" pitchFamily="34" charset="0"/>
                <a:cs typeface="Times New Roman" panose="02020603050405020304" pitchFamily="18" charset="0"/>
              </a:rPr>
              <a:t>Single Point of Failure</a:t>
            </a:r>
            <a:r>
              <a:rPr lang="en-IN" sz="2000" kern="100" dirty="0">
                <a:ea typeface="Aptos" panose="020B0004020202020204" pitchFamily="34" charset="0"/>
                <a:cs typeface="Times New Roman" panose="02020603050405020304" pitchFamily="18" charset="0"/>
              </a:rPr>
              <a:t> – If master fails before replication, data loss can occur.</a:t>
            </a:r>
          </a:p>
          <a:p>
            <a:pPr>
              <a:lnSpc>
                <a:spcPct val="115000"/>
              </a:lnSpc>
              <a:spcAft>
                <a:spcPts val="800"/>
              </a:spcAft>
              <a:defRPr/>
            </a:pPr>
            <a:r>
              <a:rPr lang="en-IN" sz="2000" kern="100" dirty="0">
                <a:ea typeface="Aptos" panose="020B0004020202020204" pitchFamily="34" charset="0"/>
                <a:cs typeface="Times New Roman" panose="02020603050405020304" pitchFamily="18" charset="0"/>
              </a:rPr>
              <a:t/>
            </a:r>
            <a:br>
              <a:rPr lang="en-IN" sz="2000" kern="100" dirty="0">
                <a:ea typeface="Aptos" panose="020B0004020202020204" pitchFamily="34" charset="0"/>
                <a:cs typeface="Times New Roman" panose="02020603050405020304" pitchFamily="18" charset="0"/>
              </a:rPr>
            </a:br>
            <a:endParaRPr lang="en-IN" sz="2000" kern="100" dirty="0">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78</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in the </a:t>
            </a:r>
            <a:r>
              <a:rPr lang="en-IN" sz="2800" b="1" kern="100" dirty="0" smtClean="0">
                <a:ea typeface="Aptos" panose="020B0004020202020204" pitchFamily="34" charset="0"/>
                <a:cs typeface="Times New Roman" panose="02020603050405020304" pitchFamily="18" charset="0"/>
              </a:rPr>
              <a:t>Master-Slave Replication</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7663474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083169"/>
          </a:xfrm>
          <a:prstGeom prst="rect">
            <a:avLst/>
          </a:prstGeom>
          <a:noFill/>
        </p:spPr>
        <p:txBody>
          <a:bodyPr wrap="square" rtlCol="0">
            <a:spAutoFit/>
          </a:bodyPr>
          <a:lstStyle/>
          <a:p>
            <a:pPr marL="342900" indent="-342900">
              <a:lnSpc>
                <a:spcPct val="150000"/>
              </a:lnSpc>
              <a:spcAft>
                <a:spcPts val="800"/>
              </a:spcAft>
              <a:buSzPts val="1000"/>
              <a:buFont typeface="Symbol" panose="05050102010706020507" pitchFamily="18" charset="2"/>
              <a:buChar char=""/>
              <a:tabLst>
                <a:tab pos="457200" algn="l"/>
              </a:tabLst>
              <a:defRPr/>
            </a:pPr>
            <a:r>
              <a:rPr lang="en-IN" sz="2000" b="1" kern="100" dirty="0" smtClean="0">
                <a:solidFill>
                  <a:srgbClr val="000000"/>
                </a:solidFill>
                <a:ea typeface="Aptos" panose="020B0004020202020204" pitchFamily="34" charset="0"/>
                <a:cs typeface="Times New Roman" panose="02020603050405020304" pitchFamily="18" charset="0"/>
              </a:rPr>
              <a:t>MONGODB – </a:t>
            </a:r>
            <a:r>
              <a:rPr lang="en-IN" sz="2000" kern="100" dirty="0">
                <a:solidFill>
                  <a:srgbClr val="000000"/>
                </a:solidFill>
                <a:ea typeface="Aptos" panose="020B0004020202020204" pitchFamily="34" charset="0"/>
                <a:cs typeface="Times New Roman" panose="02020603050405020304" pitchFamily="18" charset="0"/>
              </a:rPr>
              <a:t>Replica sets can be configured in a primary-secondary (master-slave) pattern</a:t>
            </a:r>
            <a:r>
              <a:rPr lang="en-IN" sz="2000" kern="100" dirty="0" smtClean="0">
                <a:solidFill>
                  <a:srgbClr val="000000"/>
                </a:solidFill>
                <a:ea typeface="Aptos" panose="020B0004020202020204" pitchFamily="34" charset="0"/>
                <a:cs typeface="Times New Roman" panose="02020603050405020304" pitchFamily="18" charset="0"/>
              </a:rPr>
              <a:t>.</a:t>
            </a:r>
          </a:p>
          <a:p>
            <a:pPr marL="342900" indent="-342900">
              <a:lnSpc>
                <a:spcPct val="150000"/>
              </a:lnSpc>
              <a:spcAft>
                <a:spcPts val="800"/>
              </a:spcAft>
              <a:buSzPts val="1000"/>
              <a:buFont typeface="Symbol" panose="05050102010706020507" pitchFamily="18" charset="2"/>
              <a:buChar char=""/>
              <a:tabLst>
                <a:tab pos="457200" algn="l"/>
              </a:tabLst>
              <a:defRPr/>
            </a:pPr>
            <a:r>
              <a:rPr lang="en-IN" sz="2000" b="1" kern="100" dirty="0" smtClean="0">
                <a:solidFill>
                  <a:srgbClr val="000000"/>
                </a:solidFill>
                <a:ea typeface="Aptos" panose="020B0004020202020204" pitchFamily="34" charset="0"/>
                <a:cs typeface="Times New Roman" panose="02020603050405020304" pitchFamily="18" charset="0"/>
              </a:rPr>
              <a:t>REDIS </a:t>
            </a:r>
            <a:r>
              <a:rPr lang="en-IN" sz="2000" b="1" kern="100" dirty="0">
                <a:solidFill>
                  <a:srgbClr val="000000"/>
                </a:solidFill>
                <a:ea typeface="Aptos" panose="020B0004020202020204" pitchFamily="34" charset="0"/>
                <a:cs typeface="Times New Roman" panose="02020603050405020304" pitchFamily="18" charset="0"/>
              </a:rPr>
              <a:t>– </a:t>
            </a:r>
            <a:r>
              <a:rPr lang="en-IN" sz="2000" kern="100" dirty="0" smtClean="0">
                <a:solidFill>
                  <a:srgbClr val="000000"/>
                </a:solidFill>
                <a:ea typeface="Aptos" panose="020B0004020202020204" pitchFamily="34" charset="0"/>
                <a:cs typeface="Times New Roman" panose="02020603050405020304" pitchFamily="18" charset="0"/>
              </a:rPr>
              <a:t>Supports master-slave replication for read scaling.</a:t>
            </a:r>
            <a:endParaRPr lang="en-IN" sz="2000" kern="100" dirty="0">
              <a:solidFill>
                <a:srgbClr val="000000"/>
              </a:solidFill>
              <a:ea typeface="Aptos" panose="020B0004020202020204" pitchFamily="34" charset="0"/>
              <a:cs typeface="Times New Roman" panose="02020603050405020304" pitchFamily="18" charset="0"/>
            </a:endParaRPr>
          </a:p>
          <a:p>
            <a:pPr marL="342900" indent="-342900">
              <a:lnSpc>
                <a:spcPct val="150000"/>
              </a:lnSpc>
              <a:spcAft>
                <a:spcPts val="800"/>
              </a:spcAft>
              <a:buSzPts val="1000"/>
              <a:buFont typeface="Symbol" panose="05050102010706020507" pitchFamily="18" charset="2"/>
              <a:buChar char=""/>
              <a:tabLst>
                <a:tab pos="457200" algn="l"/>
              </a:tabLst>
              <a:defRPr/>
            </a:pPr>
            <a:r>
              <a:rPr lang="en-IN" sz="2000" b="1" kern="100" dirty="0" smtClean="0">
                <a:solidFill>
                  <a:srgbClr val="000000"/>
                </a:solidFill>
                <a:ea typeface="Aptos" panose="020B0004020202020204" pitchFamily="34" charset="0"/>
                <a:cs typeface="Times New Roman" panose="02020603050405020304" pitchFamily="18" charset="0"/>
              </a:rPr>
              <a:t>CASSANDRA </a:t>
            </a:r>
            <a:r>
              <a:rPr lang="en-IN" sz="2000" b="1" kern="100" dirty="0">
                <a:solidFill>
                  <a:srgbClr val="000000"/>
                </a:solidFill>
                <a:ea typeface="Aptos" panose="020B0004020202020204" pitchFamily="34" charset="0"/>
                <a:cs typeface="Times New Roman" panose="02020603050405020304" pitchFamily="18" charset="0"/>
              </a:rPr>
              <a:t>– </a:t>
            </a:r>
            <a:r>
              <a:rPr lang="en-IN" sz="2000" kern="100" dirty="0" smtClean="0">
                <a:solidFill>
                  <a:srgbClr val="000000"/>
                </a:solidFill>
                <a:ea typeface="Aptos" panose="020B0004020202020204" pitchFamily="34" charset="0"/>
                <a:cs typeface="Times New Roman" panose="02020603050405020304" pitchFamily="18" charset="0"/>
              </a:rPr>
              <a:t>Although more peer-to-peer. It can simulate master-slave roles in certain configurations.</a:t>
            </a:r>
            <a:endParaRPr lang="en-IN" sz="2000" kern="100" dirty="0">
              <a:solidFill>
                <a:srgbClr val="000000"/>
              </a:solidFill>
              <a:ea typeface="Aptos" panose="020B0004020202020204" pitchFamily="34" charset="0"/>
              <a:cs typeface="Times New Roman" panose="02020603050405020304" pitchFamily="18" charset="0"/>
            </a:endParaRPr>
          </a:p>
          <a:p>
            <a:pPr marL="342900" indent="-342900">
              <a:lnSpc>
                <a:spcPct val="150000"/>
              </a:lnSpc>
              <a:spcAft>
                <a:spcPts val="800"/>
              </a:spcAft>
              <a:buSzPts val="1000"/>
              <a:buFont typeface="Symbol" panose="05050102010706020507" pitchFamily="18" charset="2"/>
              <a:buChar char=""/>
              <a:tabLst>
                <a:tab pos="457200" algn="l"/>
              </a:tabLst>
              <a:defRPr/>
            </a:pPr>
            <a:endParaRPr lang="en-IN" sz="2000"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79</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NoSQL Examples</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5298197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544834"/>
          </a:xfrm>
          <a:prstGeom prst="rect">
            <a:avLst/>
          </a:prstGeom>
          <a:noFill/>
        </p:spPr>
        <p:txBody>
          <a:bodyPr wrap="square" rtlCol="0">
            <a:spAutoFit/>
          </a:bodyPr>
          <a:lstStyle/>
          <a:p>
            <a:pPr algn="just">
              <a:lnSpc>
                <a:spcPct val="200000"/>
              </a:lnSpc>
              <a:defRPr/>
            </a:pPr>
            <a:r>
              <a:rPr lang="en-IN" sz="2000" b="1" dirty="0"/>
              <a:t>Scenario:</a:t>
            </a:r>
            <a:r>
              <a:rPr lang="en-IN" sz="2000" dirty="0"/>
              <a:t> A social media app with millions of users.</a:t>
            </a:r>
          </a:p>
          <a:p>
            <a:pPr algn="just">
              <a:lnSpc>
                <a:spcPct val="200000"/>
              </a:lnSpc>
              <a:defRPr/>
            </a:pPr>
            <a:r>
              <a:rPr lang="en-IN" sz="2000" dirty="0"/>
              <a:t>Master handles all posts, likes, and comments </a:t>
            </a:r>
            <a:r>
              <a:rPr lang="en-IN" sz="2000" b="1" dirty="0"/>
              <a:t>writes</a:t>
            </a:r>
            <a:r>
              <a:rPr lang="en-IN" sz="2000" dirty="0"/>
              <a:t>.</a:t>
            </a:r>
          </a:p>
          <a:p>
            <a:pPr algn="just">
              <a:lnSpc>
                <a:spcPct val="200000"/>
              </a:lnSpc>
              <a:defRPr/>
            </a:pPr>
            <a:r>
              <a:rPr lang="en-IN" sz="2000" dirty="0"/>
              <a:t>Slaves handle profile searches, feed loading, and viewing comments (reads).</a:t>
            </a:r>
          </a:p>
          <a:p>
            <a:pPr algn="just">
              <a:lnSpc>
                <a:spcPct val="200000"/>
              </a:lnSpc>
              <a:defRPr/>
            </a:pPr>
            <a:r>
              <a:rPr lang="en-IN" sz="2000" dirty="0"/>
              <a:t>If traffic spikes, more slave nodes can be added to handle reads without affecting the master.</a:t>
            </a:r>
          </a:p>
          <a:p>
            <a:pPr marL="342900" indent="-342900" algn="just">
              <a:lnSpc>
                <a:spcPct val="150000"/>
              </a:lnSpc>
              <a:spcAft>
                <a:spcPts val="800"/>
              </a:spcAft>
              <a:buSzPts val="1000"/>
              <a:buFont typeface="Symbol" panose="05050102010706020507" pitchFamily="18" charset="2"/>
              <a:buChar char=""/>
              <a:tabLst>
                <a:tab pos="457200" algn="l"/>
              </a:tabLst>
              <a:defRPr/>
            </a:pPr>
            <a:endParaRPr lang="en-IN" sz="2000" kern="100" dirty="0" smtClean="0">
              <a:solidFill>
                <a:srgbClr val="000000"/>
              </a:solidFill>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80</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Examples Scenario</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3616023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5078954"/>
          </a:xfrm>
          <a:prstGeom prst="rect">
            <a:avLst/>
          </a:prstGeom>
          <a:noFill/>
        </p:spPr>
        <p:txBody>
          <a:bodyPr wrap="square" rtlCol="0">
            <a:spAutoFit/>
          </a:bodyPr>
          <a:lstStyle/>
          <a:p>
            <a:pPr marL="342900" indent="-342900">
              <a:lnSpc>
                <a:spcPct val="15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E-commerce websites</a:t>
            </a:r>
            <a:r>
              <a:rPr lang="en-IN" sz="2000" kern="100" dirty="0">
                <a:solidFill>
                  <a:srgbClr val="000000"/>
                </a:solidFill>
                <a:ea typeface="Aptos" panose="020B0004020202020204" pitchFamily="34" charset="0"/>
                <a:cs typeface="Times New Roman" panose="02020603050405020304" pitchFamily="18" charset="0"/>
              </a:rPr>
              <a:t> – Product updates handled by master, product searches handled by slaves.</a:t>
            </a:r>
          </a:p>
          <a:p>
            <a:pPr marL="342900" indent="-342900">
              <a:lnSpc>
                <a:spcPct val="15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Social networks</a:t>
            </a:r>
            <a:r>
              <a:rPr lang="en-IN" sz="2000" kern="100" dirty="0">
                <a:solidFill>
                  <a:srgbClr val="000000"/>
                </a:solidFill>
                <a:ea typeface="Aptos" panose="020B0004020202020204" pitchFamily="34" charset="0"/>
                <a:cs typeface="Times New Roman" panose="02020603050405020304" pitchFamily="18" charset="0"/>
              </a:rPr>
              <a:t> – Posting a new update (master), reading feeds (slaves).</a:t>
            </a:r>
          </a:p>
          <a:p>
            <a:pPr marL="342900" indent="-342900">
              <a:lnSpc>
                <a:spcPct val="15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Online gaming</a:t>
            </a:r>
            <a:r>
              <a:rPr lang="en-IN" sz="2000" kern="100" dirty="0">
                <a:solidFill>
                  <a:srgbClr val="000000"/>
                </a:solidFill>
                <a:ea typeface="Aptos" panose="020B0004020202020204" pitchFamily="34" charset="0"/>
                <a:cs typeface="Times New Roman" panose="02020603050405020304" pitchFamily="18" charset="0"/>
              </a:rPr>
              <a:t> – Master stores player state updates, slaves handle </a:t>
            </a:r>
            <a:r>
              <a:rPr lang="en-IN" sz="2000" kern="100" dirty="0" err="1">
                <a:solidFill>
                  <a:srgbClr val="000000"/>
                </a:solidFill>
                <a:ea typeface="Aptos" panose="020B0004020202020204" pitchFamily="34" charset="0"/>
                <a:cs typeface="Times New Roman" panose="02020603050405020304" pitchFamily="18" charset="0"/>
              </a:rPr>
              <a:t>leaderboard</a:t>
            </a:r>
            <a:r>
              <a:rPr lang="en-IN" sz="2000" kern="100" dirty="0">
                <a:solidFill>
                  <a:srgbClr val="000000"/>
                </a:solidFill>
                <a:ea typeface="Aptos" panose="020B0004020202020204" pitchFamily="34" charset="0"/>
                <a:cs typeface="Times New Roman" panose="02020603050405020304" pitchFamily="18" charset="0"/>
              </a:rPr>
              <a:t> reads.</a:t>
            </a:r>
          </a:p>
          <a:p>
            <a:pPr marL="342900" indent="-342900">
              <a:lnSpc>
                <a:spcPct val="15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Content delivery platforms</a:t>
            </a:r>
            <a:r>
              <a:rPr lang="en-IN" sz="2000" kern="100" dirty="0">
                <a:solidFill>
                  <a:srgbClr val="000000"/>
                </a:solidFill>
                <a:ea typeface="Aptos" panose="020B0004020202020204" pitchFamily="34" charset="0"/>
                <a:cs typeface="Times New Roman" panose="02020603050405020304" pitchFamily="18" charset="0"/>
              </a:rPr>
              <a:t> – Master stores uploaded files metadata, slaves serve read requests.</a:t>
            </a:r>
          </a:p>
          <a:p>
            <a:pPr marL="342900" indent="-342900" algn="just">
              <a:lnSpc>
                <a:spcPct val="150000"/>
              </a:lnSpc>
              <a:spcAft>
                <a:spcPts val="800"/>
              </a:spcAft>
              <a:buSzPts val="1000"/>
              <a:buFont typeface="Symbol" panose="05050102010706020507" pitchFamily="18" charset="2"/>
              <a:buChar char=""/>
              <a:tabLst>
                <a:tab pos="457200" algn="l"/>
              </a:tabLst>
              <a:defRPr/>
            </a:pPr>
            <a:endParaRPr lang="en-IN" sz="2000" kern="100" dirty="0" smtClean="0">
              <a:solidFill>
                <a:srgbClr val="000000"/>
              </a:solidFill>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81</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Real-world Applications</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0300060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2695353"/>
          </a:xfrm>
          <a:prstGeom prst="rect">
            <a:avLst/>
          </a:prstGeom>
          <a:noFill/>
        </p:spPr>
        <p:txBody>
          <a:bodyPr wrap="square" rtlCol="0">
            <a:spAutoFit/>
          </a:bodyPr>
          <a:lstStyle/>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Writes</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Client ------------------&gt; Master</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Reads   \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\-------&gt; Slave 1</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\------&gt; Slave 2</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\-----&gt; Slave 3</a:t>
            </a:r>
            <a:endParaRPr lang="en-IN" sz="2000" kern="100" dirty="0">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82</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Simple Diagram</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5838106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16140"/>
          </a:xfrm>
          <a:prstGeom prst="rect">
            <a:avLst/>
          </a:prstGeom>
          <a:noFill/>
        </p:spPr>
        <p:txBody>
          <a:bodyPr wrap="square" rtlCol="0">
            <a:spAutoFit/>
          </a:bodyPr>
          <a:lstStyle/>
          <a:p>
            <a:pPr algn="ctr">
              <a:lnSpc>
                <a:spcPct val="115000"/>
              </a:lnSpc>
              <a:spcAft>
                <a:spcPts val="800"/>
              </a:spcAft>
              <a:defRPr/>
            </a:pPr>
            <a:endParaRPr lang="en-IN" sz="2000" kern="100" dirty="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83</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Summary</a:t>
            </a:r>
            <a:endParaRPr lang="en-IN" sz="2800" kern="100" dirty="0">
              <a:ea typeface="Aptos" panose="020B0004020202020204" pitchFamily="34"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0" y="1066800"/>
            <a:ext cx="9144000" cy="5096698"/>
          </a:xfrm>
          <a:prstGeom prst="rect">
            <a:avLst/>
          </a:prstGeom>
        </p:spPr>
      </p:pic>
    </p:spTree>
    <p:extLst>
      <p:ext uri="{BB962C8B-B14F-4D97-AF65-F5344CB8AC3E}">
        <p14:creationId xmlns:p14="http://schemas.microsoft.com/office/powerpoint/2010/main" val="287048005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575163"/>
          </a:xfrm>
          <a:prstGeom prst="rect">
            <a:avLst/>
          </a:prstGeom>
          <a:noFill/>
        </p:spPr>
        <p:txBody>
          <a:bodyPr wrap="square" rtlCol="0">
            <a:spAutoFit/>
          </a:bodyPr>
          <a:lstStyle/>
          <a:p>
            <a:pPr marL="342900" indent="-342900" algn="just">
              <a:lnSpc>
                <a:spcPct val="250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Eventual Consistency</a:t>
            </a:r>
            <a:r>
              <a:rPr lang="en-IN" kern="100" dirty="0">
                <a:solidFill>
                  <a:srgbClr val="000000"/>
                </a:solidFill>
                <a:ea typeface="Aptos" panose="020B0004020202020204" pitchFamily="34" charset="0"/>
                <a:cs typeface="Times New Roman" panose="02020603050405020304" pitchFamily="18" charset="0"/>
              </a:rPr>
              <a:t>: Most common; updates propagate gradually until all peers have the same data.</a:t>
            </a:r>
          </a:p>
          <a:p>
            <a:pPr marL="342900" indent="-342900" algn="just">
              <a:lnSpc>
                <a:spcPct val="250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Strong Consistency</a:t>
            </a:r>
            <a:r>
              <a:rPr lang="en-IN" kern="100" dirty="0">
                <a:solidFill>
                  <a:srgbClr val="000000"/>
                </a:solidFill>
                <a:ea typeface="Aptos" panose="020B0004020202020204" pitchFamily="34" charset="0"/>
                <a:cs typeface="Times New Roman" panose="02020603050405020304" pitchFamily="18" charset="0"/>
              </a:rPr>
              <a:t>: Possible but complex — requires coordination and locking.</a:t>
            </a:r>
          </a:p>
          <a:p>
            <a:pPr marL="342900" indent="-342900" algn="just">
              <a:lnSpc>
                <a:spcPct val="250000"/>
              </a:lnSpc>
              <a:spcAft>
                <a:spcPts val="800"/>
              </a:spcAft>
              <a:buSzPts val="1000"/>
              <a:buFont typeface="Symbol" panose="05050102010706020507" pitchFamily="18" charset="2"/>
              <a:buChar char=""/>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Causal Consistency</a:t>
            </a:r>
            <a:r>
              <a:rPr lang="en-IN" kern="100" dirty="0">
                <a:solidFill>
                  <a:srgbClr val="000000"/>
                </a:solidFill>
                <a:ea typeface="Aptos" panose="020B0004020202020204" pitchFamily="34" charset="0"/>
                <a:cs typeface="Times New Roman" panose="02020603050405020304" pitchFamily="18" charset="0"/>
              </a:rPr>
              <a:t>: Updates that are related are seen in the correct order across peers.</a:t>
            </a:r>
          </a:p>
          <a:p>
            <a:pPr algn="just">
              <a:lnSpc>
                <a:spcPct val="115000"/>
              </a:lnSpc>
              <a:spcAft>
                <a:spcPts val="800"/>
              </a:spcAft>
              <a:buSzPts val="1000"/>
              <a:tabLst>
                <a:tab pos="457200" algn="l"/>
              </a:tabLst>
              <a:defRPr/>
            </a:pPr>
            <a:endParaRPr lang="en-US" b="1" kern="100" dirty="0" smtClean="0">
              <a:solidFill>
                <a:srgbClr val="000000"/>
              </a:solidFill>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defRPr/>
            </a:pPr>
            <a:endParaRPr lang="en-IN"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84</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a:t>
            </a:r>
            <a:r>
              <a:rPr lang="en-IN" sz="2800" b="1" kern="100" dirty="0" smtClean="0">
                <a:ea typeface="Aptos" panose="020B0004020202020204" pitchFamily="34" charset="0"/>
                <a:cs typeface="Times New Roman" panose="02020603050405020304" pitchFamily="18" charset="0"/>
              </a:rPr>
              <a:t>in Peer-to-peer Model</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0116653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5048562"/>
          </a:xfrm>
          <a:prstGeom prst="rect">
            <a:avLst/>
          </a:prstGeom>
          <a:noFill/>
        </p:spPr>
        <p:txBody>
          <a:bodyPr wrap="square" rtlCol="0">
            <a:spAutoFit/>
          </a:bodyPr>
          <a:lstStyle/>
          <a:p>
            <a:pPr marL="342900" indent="-342900" algn="just">
              <a:lnSpc>
                <a:spcPct val="250000"/>
              </a:lnSpc>
              <a:spcAft>
                <a:spcPts val="800"/>
              </a:spcAft>
              <a:buSzPts val="1000"/>
              <a:buFont typeface="Symbol" panose="05050102010706020507" pitchFamily="18" charset="2"/>
              <a:buChar char=""/>
              <a:tabLst>
                <a:tab pos="457200" algn="l"/>
              </a:tabLst>
              <a:defRPr/>
            </a:pPr>
            <a:r>
              <a:rPr lang="en-IN" b="1" kern="100" dirty="0" smtClean="0">
                <a:solidFill>
                  <a:srgbClr val="000000"/>
                </a:solidFill>
                <a:ea typeface="Aptos" panose="020B0004020202020204" pitchFamily="34" charset="0"/>
                <a:cs typeface="Times New Roman" panose="02020603050405020304" pitchFamily="18" charset="0"/>
              </a:rPr>
              <a:t>Advantages:</a:t>
            </a:r>
          </a:p>
          <a:p>
            <a:pPr marL="342900" indent="-342900" algn="just">
              <a:lnSpc>
                <a:spcPct val="200000"/>
              </a:lnSpc>
              <a:spcAft>
                <a:spcPts val="800"/>
              </a:spcAft>
              <a:buFont typeface="+mj-lt"/>
              <a:buAutoNum type="arabicPeriod"/>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No single point of failure</a:t>
            </a:r>
            <a:r>
              <a:rPr lang="en-IN" kern="100" dirty="0">
                <a:solidFill>
                  <a:srgbClr val="000000"/>
                </a:solidFill>
                <a:ea typeface="Aptos" panose="020B0004020202020204" pitchFamily="34" charset="0"/>
                <a:cs typeface="Times New Roman" panose="02020603050405020304" pitchFamily="18" charset="0"/>
              </a:rPr>
              <a:t> – All nodes can handle writes.</a:t>
            </a:r>
          </a:p>
          <a:p>
            <a:pPr marL="342900" indent="-342900" algn="just">
              <a:lnSpc>
                <a:spcPct val="200000"/>
              </a:lnSpc>
              <a:spcAft>
                <a:spcPts val="800"/>
              </a:spcAft>
              <a:buFont typeface="+mj-lt"/>
              <a:buAutoNum type="arabicPeriod"/>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High availability</a:t>
            </a:r>
            <a:r>
              <a:rPr lang="en-IN" kern="100" dirty="0">
                <a:solidFill>
                  <a:srgbClr val="000000"/>
                </a:solidFill>
                <a:ea typeface="Aptos" panose="020B0004020202020204" pitchFamily="34" charset="0"/>
                <a:cs typeface="Times New Roman" panose="02020603050405020304" pitchFamily="18" charset="0"/>
              </a:rPr>
              <a:t> – Even if several nodes go down, others can continue.</a:t>
            </a:r>
          </a:p>
          <a:p>
            <a:pPr marL="342900" indent="-342900" algn="just">
              <a:lnSpc>
                <a:spcPct val="200000"/>
              </a:lnSpc>
              <a:spcAft>
                <a:spcPts val="800"/>
              </a:spcAft>
              <a:buFont typeface="+mj-lt"/>
              <a:buAutoNum type="arabicPeriod"/>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Write scalability</a:t>
            </a:r>
            <a:r>
              <a:rPr lang="en-IN" kern="100" dirty="0">
                <a:solidFill>
                  <a:srgbClr val="000000"/>
                </a:solidFill>
                <a:ea typeface="Aptos" panose="020B0004020202020204" pitchFamily="34" charset="0"/>
                <a:cs typeface="Times New Roman" panose="02020603050405020304" pitchFamily="18" charset="0"/>
              </a:rPr>
              <a:t> – Multiple writes can happen at the same time in different locations.</a:t>
            </a:r>
          </a:p>
          <a:p>
            <a:pPr marL="342900" indent="-342900" algn="just">
              <a:lnSpc>
                <a:spcPct val="200000"/>
              </a:lnSpc>
              <a:spcAft>
                <a:spcPts val="800"/>
              </a:spcAft>
              <a:buFont typeface="+mj-lt"/>
              <a:buAutoNum type="arabicPeriod"/>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Geographical distribution</a:t>
            </a:r>
            <a:r>
              <a:rPr lang="en-IN" kern="100" dirty="0">
                <a:solidFill>
                  <a:srgbClr val="000000"/>
                </a:solidFill>
                <a:ea typeface="Aptos" panose="020B0004020202020204" pitchFamily="34" charset="0"/>
                <a:cs typeface="Times New Roman" panose="02020603050405020304" pitchFamily="18" charset="0"/>
              </a:rPr>
              <a:t> – Ideal for apps with global users.</a:t>
            </a:r>
          </a:p>
          <a:p>
            <a:pPr marL="342900" indent="-342900" algn="just">
              <a:lnSpc>
                <a:spcPct val="250000"/>
              </a:lnSpc>
              <a:spcAft>
                <a:spcPts val="800"/>
              </a:spcAft>
              <a:buSzPts val="1000"/>
              <a:buFont typeface="Symbol" panose="05050102010706020507" pitchFamily="18" charset="2"/>
              <a:buChar char=""/>
              <a:tabLst>
                <a:tab pos="457200" algn="l"/>
              </a:tabLst>
              <a:defRPr/>
            </a:pPr>
            <a:endParaRPr lang="en-IN" kern="100" dirty="0">
              <a:solidFill>
                <a:srgbClr val="000000"/>
              </a:solidFill>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defRPr/>
            </a:pPr>
            <a:endParaRPr lang="en-US" b="1" kern="100" dirty="0" smtClean="0">
              <a:solidFill>
                <a:srgbClr val="000000"/>
              </a:solidFill>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defRPr/>
            </a:pPr>
            <a:endParaRPr lang="en-IN"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85</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in Peer-to-peer Model</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4024663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391972"/>
          </a:xfrm>
          <a:prstGeom prst="rect">
            <a:avLst/>
          </a:prstGeom>
          <a:noFill/>
        </p:spPr>
        <p:txBody>
          <a:bodyPr wrap="square" rtlCol="0">
            <a:spAutoFit/>
          </a:bodyPr>
          <a:lstStyle/>
          <a:p>
            <a:pPr marL="342900" indent="-342900" algn="just">
              <a:lnSpc>
                <a:spcPct val="250000"/>
              </a:lnSpc>
              <a:spcAft>
                <a:spcPts val="800"/>
              </a:spcAft>
              <a:buSzPts val="1000"/>
              <a:buFont typeface="Symbol" panose="05050102010706020507" pitchFamily="18" charset="2"/>
              <a:buChar char=""/>
              <a:tabLst>
                <a:tab pos="457200" algn="l"/>
              </a:tabLst>
              <a:defRPr/>
            </a:pPr>
            <a:r>
              <a:rPr lang="en-IN" b="1" kern="100" dirty="0" smtClean="0">
                <a:solidFill>
                  <a:srgbClr val="000000"/>
                </a:solidFill>
                <a:ea typeface="Aptos" panose="020B0004020202020204" pitchFamily="34" charset="0"/>
                <a:cs typeface="Times New Roman" panose="02020603050405020304" pitchFamily="18" charset="0"/>
              </a:rPr>
              <a:t>Disadvantages:</a:t>
            </a:r>
          </a:p>
          <a:p>
            <a:pPr marL="342900" indent="-342900">
              <a:lnSpc>
                <a:spcPct val="200000"/>
              </a:lnSpc>
              <a:spcAft>
                <a:spcPts val="800"/>
              </a:spcAft>
              <a:buFont typeface="+mj-lt"/>
              <a:buAutoNum type="arabicPeriod"/>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Conflict resolution complexity</a:t>
            </a:r>
            <a:r>
              <a:rPr lang="en-IN" kern="100" dirty="0">
                <a:solidFill>
                  <a:srgbClr val="000000"/>
                </a:solidFill>
                <a:ea typeface="Aptos" panose="020B0004020202020204" pitchFamily="34" charset="0"/>
                <a:cs typeface="Times New Roman" panose="02020603050405020304" pitchFamily="18" charset="0"/>
              </a:rPr>
              <a:t> – More chances of update conflicts.</a:t>
            </a:r>
          </a:p>
          <a:p>
            <a:pPr marL="342900" indent="-342900">
              <a:lnSpc>
                <a:spcPct val="200000"/>
              </a:lnSpc>
              <a:spcAft>
                <a:spcPts val="800"/>
              </a:spcAft>
              <a:buFont typeface="+mj-lt"/>
              <a:buAutoNum type="arabicPeriod"/>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Higher network traffic</a:t>
            </a:r>
            <a:r>
              <a:rPr lang="en-IN" kern="100" dirty="0">
                <a:solidFill>
                  <a:srgbClr val="000000"/>
                </a:solidFill>
                <a:ea typeface="Aptos" panose="020B0004020202020204" pitchFamily="34" charset="0"/>
                <a:cs typeface="Times New Roman" panose="02020603050405020304" pitchFamily="18" charset="0"/>
              </a:rPr>
              <a:t> – Each write must be shared with all peers.</a:t>
            </a:r>
          </a:p>
          <a:p>
            <a:pPr marL="342900" indent="-342900">
              <a:lnSpc>
                <a:spcPct val="200000"/>
              </a:lnSpc>
              <a:spcAft>
                <a:spcPts val="800"/>
              </a:spcAft>
              <a:buFont typeface="+mj-lt"/>
              <a:buAutoNum type="arabicPeriod"/>
              <a:tabLst>
                <a:tab pos="457200" algn="l"/>
              </a:tabLst>
              <a:defRPr/>
            </a:pPr>
            <a:r>
              <a:rPr lang="en-IN" b="1" kern="100" dirty="0">
                <a:solidFill>
                  <a:srgbClr val="000000"/>
                </a:solidFill>
                <a:ea typeface="Aptos" panose="020B0004020202020204" pitchFamily="34" charset="0"/>
                <a:cs typeface="Times New Roman" panose="02020603050405020304" pitchFamily="18" charset="0"/>
              </a:rPr>
              <a:t>Data convergence delay</a:t>
            </a:r>
            <a:r>
              <a:rPr lang="en-IN" kern="100" dirty="0">
                <a:solidFill>
                  <a:srgbClr val="000000"/>
                </a:solidFill>
                <a:ea typeface="Aptos" panose="020B0004020202020204" pitchFamily="34" charset="0"/>
                <a:cs typeface="Times New Roman" panose="02020603050405020304" pitchFamily="18" charset="0"/>
              </a:rPr>
              <a:t> – Time needed for all peers to sync.</a:t>
            </a:r>
          </a:p>
          <a:p>
            <a:pPr marL="342900" indent="-342900" algn="just">
              <a:lnSpc>
                <a:spcPct val="250000"/>
              </a:lnSpc>
              <a:spcAft>
                <a:spcPts val="800"/>
              </a:spcAft>
              <a:buSzPts val="1000"/>
              <a:buFont typeface="Symbol" panose="05050102010706020507" pitchFamily="18" charset="2"/>
              <a:buChar char=""/>
              <a:tabLst>
                <a:tab pos="457200" algn="l"/>
              </a:tabLst>
              <a:defRPr/>
            </a:pPr>
            <a:endParaRPr lang="en-IN" kern="100" dirty="0">
              <a:solidFill>
                <a:srgbClr val="000000"/>
              </a:solidFill>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defRPr/>
            </a:pPr>
            <a:endParaRPr lang="en-US" b="1" kern="100" dirty="0" smtClean="0">
              <a:solidFill>
                <a:srgbClr val="000000"/>
              </a:solidFill>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defRPr/>
            </a:pPr>
            <a:endParaRPr lang="en-IN"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86</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in Peer-to-peer Model</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4973311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3621504"/>
          </a:xfrm>
          <a:prstGeom prst="rect">
            <a:avLst/>
          </a:prstGeom>
          <a:noFill/>
        </p:spPr>
        <p:txBody>
          <a:bodyPr wrap="square" rtlCol="0">
            <a:spAutoFit/>
          </a:bodyPr>
          <a:lstStyle/>
          <a:p>
            <a:pPr marL="342900" indent="-342900">
              <a:lnSpc>
                <a:spcPct val="200000"/>
              </a:lnSpc>
              <a:spcAft>
                <a:spcPts val="800"/>
              </a:spcAft>
              <a:buSzPts val="1000"/>
              <a:buFont typeface="Symbol" panose="05050102010706020507" pitchFamily="18" charset="2"/>
              <a:buChar char=""/>
              <a:tabLst>
                <a:tab pos="457200" algn="l"/>
              </a:tabLst>
              <a:defRPr/>
            </a:pPr>
            <a:r>
              <a:rPr lang="en-IN" sz="2000" b="1" kern="100" dirty="0" err="1">
                <a:solidFill>
                  <a:srgbClr val="000000"/>
                </a:solidFill>
                <a:ea typeface="Aptos" panose="020B0004020202020204" pitchFamily="34" charset="0"/>
                <a:cs typeface="Times New Roman" panose="02020603050405020304" pitchFamily="18" charset="0"/>
              </a:rPr>
              <a:t>CouchDB</a:t>
            </a:r>
            <a:r>
              <a:rPr lang="en-IN" sz="2000" kern="100" dirty="0">
                <a:solidFill>
                  <a:srgbClr val="000000"/>
                </a:solidFill>
                <a:ea typeface="Aptos" panose="020B0004020202020204" pitchFamily="34" charset="0"/>
                <a:cs typeface="Times New Roman" panose="02020603050405020304" pitchFamily="18" charset="0"/>
              </a:rPr>
              <a:t> – Uses multi-master (peer-to-peer) replication.</a:t>
            </a:r>
          </a:p>
          <a:p>
            <a:pPr marL="342900" indent="-342900">
              <a:lnSpc>
                <a:spcPct val="200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Cassandra</a:t>
            </a:r>
            <a:r>
              <a:rPr lang="en-IN" sz="2000" kern="100" dirty="0">
                <a:solidFill>
                  <a:srgbClr val="000000"/>
                </a:solidFill>
                <a:ea typeface="Aptos" panose="020B0004020202020204" pitchFamily="34" charset="0"/>
                <a:cs typeface="Times New Roman" panose="02020603050405020304" pitchFamily="18" charset="0"/>
              </a:rPr>
              <a:t> – All nodes are peers; data is partitioned and replicated.</a:t>
            </a:r>
          </a:p>
          <a:p>
            <a:pPr marL="342900" indent="-342900">
              <a:lnSpc>
                <a:spcPct val="200000"/>
              </a:lnSpc>
              <a:spcAft>
                <a:spcPts val="800"/>
              </a:spcAft>
              <a:buSzPts val="1000"/>
              <a:buFont typeface="Symbol" panose="05050102010706020507" pitchFamily="18" charset="2"/>
              <a:buChar char=""/>
              <a:tabLst>
                <a:tab pos="457200" algn="l"/>
              </a:tabLst>
              <a:defRPr/>
            </a:pPr>
            <a:r>
              <a:rPr lang="en-IN" sz="2000" b="1" kern="100" dirty="0" err="1">
                <a:solidFill>
                  <a:srgbClr val="000000"/>
                </a:solidFill>
                <a:ea typeface="Aptos" panose="020B0004020202020204" pitchFamily="34" charset="0"/>
                <a:cs typeface="Times New Roman" panose="02020603050405020304" pitchFamily="18" charset="0"/>
              </a:rPr>
              <a:t>Riak</a:t>
            </a:r>
            <a:r>
              <a:rPr lang="en-IN" sz="2000" kern="100" dirty="0">
                <a:solidFill>
                  <a:srgbClr val="000000"/>
                </a:solidFill>
                <a:ea typeface="Aptos" panose="020B0004020202020204" pitchFamily="34" charset="0"/>
                <a:cs typeface="Times New Roman" panose="02020603050405020304" pitchFamily="18" charset="0"/>
              </a:rPr>
              <a:t> – Offers decentralized replication.</a:t>
            </a:r>
          </a:p>
          <a:p>
            <a:pPr marL="342900" indent="-342900">
              <a:lnSpc>
                <a:spcPct val="150000"/>
              </a:lnSpc>
              <a:spcAft>
                <a:spcPts val="800"/>
              </a:spcAft>
              <a:buSzPts val="1000"/>
              <a:buFont typeface="Symbol" panose="05050102010706020507" pitchFamily="18" charset="2"/>
              <a:buChar char=""/>
              <a:tabLst>
                <a:tab pos="457200" algn="l"/>
              </a:tabLst>
              <a:defRPr/>
            </a:pPr>
            <a:endParaRPr lang="en-IN" sz="2000"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87</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NoSQL Examples</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9846406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716035"/>
          </a:xfrm>
          <a:prstGeom prst="rect">
            <a:avLst/>
          </a:prstGeom>
          <a:noFill/>
        </p:spPr>
        <p:txBody>
          <a:bodyPr wrap="square" rtlCol="0">
            <a:spAutoFit/>
          </a:bodyPr>
          <a:lstStyle/>
          <a:p>
            <a:pPr>
              <a:lnSpc>
                <a:spcPct val="200000"/>
              </a:lnSpc>
              <a:spcAft>
                <a:spcPts val="800"/>
              </a:spcAft>
              <a:defRPr/>
            </a:pPr>
            <a:r>
              <a:rPr lang="en-IN" sz="2000" b="1" kern="100" dirty="0">
                <a:solidFill>
                  <a:srgbClr val="000000"/>
                </a:solidFill>
                <a:ea typeface="Aptos" panose="020B0004020202020204" pitchFamily="34" charset="0"/>
                <a:cs typeface="Times New Roman" panose="02020603050405020304" pitchFamily="18" charset="0"/>
              </a:rPr>
              <a:t>Scenario:</a:t>
            </a:r>
            <a:r>
              <a:rPr lang="en-IN" sz="2000" kern="100" dirty="0">
                <a:solidFill>
                  <a:srgbClr val="000000"/>
                </a:solidFill>
                <a:ea typeface="Aptos" panose="020B0004020202020204" pitchFamily="34" charset="0"/>
                <a:cs typeface="Times New Roman" panose="02020603050405020304" pitchFamily="18" charset="0"/>
              </a:rPr>
              <a:t> A ride-sharing app like Uber.</a:t>
            </a:r>
            <a:endParaRPr lang="en-IN" sz="2000" kern="100" dirty="0">
              <a:ea typeface="Aptos" panose="020B0004020202020204" pitchFamily="34" charset="0"/>
              <a:cs typeface="Times New Roman" panose="02020603050405020304" pitchFamily="18" charset="0"/>
            </a:endParaRPr>
          </a:p>
          <a:p>
            <a:pPr marL="342900" indent="-342900">
              <a:lnSpc>
                <a:spcPct val="200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Multiple servers across the world (peers).</a:t>
            </a:r>
          </a:p>
          <a:p>
            <a:pPr marL="342900" indent="-342900">
              <a:lnSpc>
                <a:spcPct val="200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A driver in India updates their status to "Available".</a:t>
            </a:r>
          </a:p>
          <a:p>
            <a:pPr marL="342900" indent="-342900">
              <a:lnSpc>
                <a:spcPct val="200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That change is sent to all peers, so riders everywhere see the updated availability.</a:t>
            </a:r>
          </a:p>
          <a:p>
            <a:pPr marL="342900" indent="-342900">
              <a:lnSpc>
                <a:spcPct val="200000"/>
              </a:lnSpc>
              <a:spcAft>
                <a:spcPts val="800"/>
              </a:spcAft>
              <a:buSzPts val="1000"/>
              <a:buFont typeface="Symbol" panose="05050102010706020507" pitchFamily="18" charset="2"/>
              <a:buChar char=""/>
              <a:tabLst>
                <a:tab pos="457200" algn="l"/>
              </a:tabLst>
              <a:defRPr/>
            </a:pPr>
            <a:r>
              <a:rPr lang="en-IN" sz="2000" kern="100" dirty="0">
                <a:solidFill>
                  <a:srgbClr val="000000"/>
                </a:solidFill>
                <a:ea typeface="Aptos" panose="020B0004020202020204" pitchFamily="34" charset="0"/>
                <a:cs typeface="Times New Roman" panose="02020603050405020304" pitchFamily="18" charset="0"/>
              </a:rPr>
              <a:t>If two peers update at once (e.g., driver changes to "Busy" and another server sets "Available"), conflict resolution rules decide the final status.</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88</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Examples Scenarios</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03751220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113306"/>
          </a:xfrm>
          <a:prstGeom prst="rect">
            <a:avLst/>
          </a:prstGeom>
          <a:noFill/>
        </p:spPr>
        <p:txBody>
          <a:bodyPr wrap="square" rtlCol="0">
            <a:spAutoFit/>
          </a:bodyPr>
          <a:lstStyle/>
          <a:p>
            <a:pPr marL="342900" indent="-342900" algn="just">
              <a:lnSpc>
                <a:spcPct val="25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Global social networks</a:t>
            </a:r>
            <a:r>
              <a:rPr lang="en-IN" sz="2000" kern="100" dirty="0">
                <a:solidFill>
                  <a:srgbClr val="000000"/>
                </a:solidFill>
                <a:ea typeface="Aptos" panose="020B0004020202020204" pitchFamily="34" charset="0"/>
                <a:cs typeface="Times New Roman" panose="02020603050405020304" pitchFamily="18" charset="0"/>
              </a:rPr>
              <a:t> – Users update profiles from anywhere; data syncs globally.</a:t>
            </a:r>
          </a:p>
          <a:p>
            <a:pPr marL="342900" indent="-342900" algn="just">
              <a:lnSpc>
                <a:spcPct val="25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Collaborative tools</a:t>
            </a:r>
            <a:r>
              <a:rPr lang="en-IN" sz="2000" kern="100" dirty="0">
                <a:solidFill>
                  <a:srgbClr val="000000"/>
                </a:solidFill>
                <a:ea typeface="Aptos" panose="020B0004020202020204" pitchFamily="34" charset="0"/>
                <a:cs typeface="Times New Roman" panose="02020603050405020304" pitchFamily="18" charset="0"/>
              </a:rPr>
              <a:t> – Google Docs-like real-time editing from multiple users.</a:t>
            </a:r>
          </a:p>
          <a:p>
            <a:pPr marL="342900" indent="-342900" algn="just">
              <a:lnSpc>
                <a:spcPct val="25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Content delivery</a:t>
            </a:r>
            <a:r>
              <a:rPr lang="en-IN" sz="2000" kern="100" dirty="0">
                <a:solidFill>
                  <a:srgbClr val="000000"/>
                </a:solidFill>
                <a:ea typeface="Aptos" panose="020B0004020202020204" pitchFamily="34" charset="0"/>
                <a:cs typeface="Times New Roman" panose="02020603050405020304" pitchFamily="18" charset="0"/>
              </a:rPr>
              <a:t> – Media files uploaded in one region available in all regions.</a:t>
            </a:r>
          </a:p>
          <a:p>
            <a:pPr marL="342900" indent="-342900" algn="just">
              <a:lnSpc>
                <a:spcPct val="250000"/>
              </a:lnSpc>
              <a:spcAft>
                <a:spcPts val="800"/>
              </a:spcAft>
              <a:buFont typeface="+mj-lt"/>
              <a:buAutoNum type="arabicPeriod"/>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Offline-first apps</a:t>
            </a:r>
            <a:r>
              <a:rPr lang="en-IN" sz="2000" kern="100" dirty="0">
                <a:solidFill>
                  <a:srgbClr val="000000"/>
                </a:solidFill>
                <a:ea typeface="Aptos" panose="020B0004020202020204" pitchFamily="34" charset="0"/>
                <a:cs typeface="Times New Roman" panose="02020603050405020304" pitchFamily="18" charset="0"/>
              </a:rPr>
              <a:t> – Users work offline, and updates sync when connected.</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89</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Real-world Applications</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7432963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3466975"/>
          </a:xfrm>
          <a:prstGeom prst="rect">
            <a:avLst/>
          </a:prstGeom>
          <a:noFill/>
        </p:spPr>
        <p:txBody>
          <a:bodyPr wrap="square" rtlCol="0">
            <a:spAutoFit/>
          </a:bodyPr>
          <a:lstStyle/>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Peer A &lt;-----&gt; Peer B</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   \         /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    \       /    |</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v     \     /     v</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           Peer C</a:t>
            </a:r>
            <a:endParaRPr lang="en-IN" sz="2000" kern="100" dirty="0">
              <a:ea typeface="Aptos" panose="020B0004020202020204" pitchFamily="34" charset="0"/>
              <a:cs typeface="Times New Roman" panose="02020603050405020304" pitchFamily="18" charset="0"/>
            </a:endParaRPr>
          </a:p>
          <a:p>
            <a:pPr algn="ctr">
              <a:lnSpc>
                <a:spcPct val="115000"/>
              </a:lnSpc>
              <a:spcAft>
                <a:spcPts val="800"/>
              </a:spcAft>
              <a:defRPr/>
            </a:pPr>
            <a:r>
              <a:rPr lang="en-IN" sz="2000" kern="100" dirty="0">
                <a:solidFill>
                  <a:srgbClr val="000000"/>
                </a:solidFill>
                <a:ea typeface="Aptos" panose="020B0004020202020204" pitchFamily="34" charset="0"/>
                <a:cs typeface="Times New Roman" panose="02020603050405020304" pitchFamily="18" charset="0"/>
              </a:rPr>
              <a:t>All peers are </a:t>
            </a:r>
            <a:r>
              <a:rPr lang="en-IN" sz="2000" b="1" kern="100" dirty="0">
                <a:solidFill>
                  <a:srgbClr val="000000"/>
                </a:solidFill>
                <a:ea typeface="Aptos" panose="020B0004020202020204" pitchFamily="34" charset="0"/>
                <a:cs typeface="Times New Roman" panose="02020603050405020304" pitchFamily="18" charset="0"/>
              </a:rPr>
              <a:t>equal</a:t>
            </a:r>
            <a:r>
              <a:rPr lang="en-IN" sz="2000" kern="100" dirty="0">
                <a:solidFill>
                  <a:srgbClr val="000000"/>
                </a:solidFill>
                <a:ea typeface="Aptos" panose="020B0004020202020204" pitchFamily="34" charset="0"/>
                <a:cs typeface="Times New Roman" panose="02020603050405020304" pitchFamily="18" charset="0"/>
              </a:rPr>
              <a:t> and can talk to each other directly.</a:t>
            </a:r>
            <a:endParaRPr lang="en-IN" sz="2000" kern="100" dirty="0">
              <a:ea typeface="Aptos" panose="020B0004020202020204" pitchFamily="34" charset="0"/>
              <a:cs typeface="Times New Roman" panose="02020603050405020304" pitchFamily="18" charset="0"/>
            </a:endParaRPr>
          </a:p>
          <a:p>
            <a:pPr algn="just">
              <a:lnSpc>
                <a:spcPct val="250000"/>
              </a:lnSpc>
              <a:spcAft>
                <a:spcPts val="800"/>
              </a:spcAft>
              <a:tabLst>
                <a:tab pos="457200" algn="l"/>
              </a:tabLst>
              <a:defRPr/>
            </a:pPr>
            <a:endParaRPr lang="en-IN" sz="2000" kern="100" dirty="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90</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US" sz="2800" b="1" kern="100" dirty="0" smtClean="0">
                <a:ea typeface="Aptos" panose="020B0004020202020204" pitchFamily="34" charset="0"/>
                <a:cs typeface="Times New Roman" panose="02020603050405020304" pitchFamily="18" charset="0"/>
              </a:rPr>
              <a:t>Diagram</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0683598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91</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US" sz="2800" b="1" kern="100" dirty="0" smtClean="0">
                <a:ea typeface="Aptos" panose="020B0004020202020204" pitchFamily="34" charset="0"/>
                <a:cs typeface="Times New Roman" panose="02020603050405020304" pitchFamily="18" charset="0"/>
              </a:rPr>
              <a:t>Comparison: Master-Slave vs Peer-to-Peer </a:t>
            </a:r>
            <a:endParaRPr lang="en-IN" sz="2800" kern="100" dirty="0">
              <a:ea typeface="Aptos" panose="020B0004020202020204" pitchFamily="34"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212558" y="1219200"/>
            <a:ext cx="8510337" cy="4724094"/>
          </a:xfrm>
          <a:prstGeom prst="rect">
            <a:avLst/>
          </a:prstGeom>
        </p:spPr>
      </p:pic>
    </p:spTree>
    <p:extLst>
      <p:ext uri="{BB962C8B-B14F-4D97-AF65-F5344CB8AC3E}">
        <p14:creationId xmlns:p14="http://schemas.microsoft.com/office/powerpoint/2010/main" val="158050061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92</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US" sz="2800" b="1" kern="100" dirty="0" smtClean="0">
                <a:ea typeface="Aptos" panose="020B0004020202020204" pitchFamily="34" charset="0"/>
                <a:cs typeface="Times New Roman" panose="02020603050405020304" pitchFamily="18" charset="0"/>
              </a:rPr>
              <a:t>Key Takeaway</a:t>
            </a:r>
            <a:endParaRPr lang="en-IN" sz="2800" kern="100" dirty="0">
              <a:ea typeface="Aptos" panose="020B0004020202020204" pitchFamily="34" charset="0"/>
              <a:cs typeface="Times New Roman" panose="02020603050405020304" pitchFamily="18" charset="0"/>
            </a:endParaRPr>
          </a:p>
        </p:txBody>
      </p:sp>
      <p:sp>
        <p:nvSpPr>
          <p:cNvPr id="2" name="Rectangle 1"/>
          <p:cNvSpPr/>
          <p:nvPr/>
        </p:nvSpPr>
        <p:spPr>
          <a:xfrm>
            <a:off x="1050758" y="1752600"/>
            <a:ext cx="6553200" cy="1200329"/>
          </a:xfrm>
          <a:prstGeom prst="rect">
            <a:avLst/>
          </a:prstGeom>
        </p:spPr>
        <p:txBody>
          <a:bodyPr wrap="square">
            <a:spAutoFit/>
          </a:bodyPr>
          <a:lstStyle/>
          <a:p>
            <a:pPr algn="just">
              <a:defRPr/>
            </a:pPr>
            <a:r>
              <a:rPr lang="en-IN" dirty="0">
                <a:solidFill>
                  <a:srgbClr val="000000"/>
                </a:solidFill>
                <a:ea typeface="Aptos" panose="020B0004020202020204" pitchFamily="34" charset="0"/>
                <a:cs typeface="Times New Roman" panose="02020603050405020304" pitchFamily="18" charset="0"/>
              </a:rPr>
              <a:t>Peer-to-Peer replication is </a:t>
            </a:r>
            <a:r>
              <a:rPr lang="en-IN" b="1" dirty="0">
                <a:solidFill>
                  <a:srgbClr val="000000"/>
                </a:solidFill>
                <a:ea typeface="Aptos" panose="020B0004020202020204" pitchFamily="34" charset="0"/>
                <a:cs typeface="Times New Roman" panose="02020603050405020304" pitchFamily="18" charset="0"/>
              </a:rPr>
              <a:t>ideal for high availability and global systems</a:t>
            </a:r>
            <a:r>
              <a:rPr lang="en-IN" dirty="0">
                <a:solidFill>
                  <a:srgbClr val="000000"/>
                </a:solidFill>
                <a:ea typeface="Aptos" panose="020B0004020202020204" pitchFamily="34" charset="0"/>
                <a:cs typeface="Times New Roman" panose="02020603050405020304" pitchFamily="18" charset="0"/>
              </a:rPr>
              <a:t> where </a:t>
            </a:r>
            <a:r>
              <a:rPr lang="en-IN" b="1" dirty="0">
                <a:solidFill>
                  <a:srgbClr val="000000"/>
                </a:solidFill>
                <a:ea typeface="Aptos" panose="020B0004020202020204" pitchFamily="34" charset="0"/>
                <a:cs typeface="Times New Roman" panose="02020603050405020304" pitchFamily="18" charset="0"/>
              </a:rPr>
              <a:t>any node</a:t>
            </a:r>
            <a:r>
              <a:rPr lang="en-IN" dirty="0">
                <a:solidFill>
                  <a:srgbClr val="000000"/>
                </a:solidFill>
                <a:ea typeface="Aptos" panose="020B0004020202020204" pitchFamily="34" charset="0"/>
                <a:cs typeface="Times New Roman" panose="02020603050405020304" pitchFamily="18" charset="0"/>
              </a:rPr>
              <a:t> can process updates. However, it requires </a:t>
            </a:r>
            <a:r>
              <a:rPr lang="en-IN" b="1" dirty="0">
                <a:solidFill>
                  <a:srgbClr val="000000"/>
                </a:solidFill>
                <a:ea typeface="Aptos" panose="020B0004020202020204" pitchFamily="34" charset="0"/>
                <a:cs typeface="Times New Roman" panose="02020603050405020304" pitchFamily="18" charset="0"/>
              </a:rPr>
              <a:t>smart conflict resolution</a:t>
            </a:r>
            <a:r>
              <a:rPr lang="en-IN" dirty="0">
                <a:solidFill>
                  <a:srgbClr val="000000"/>
                </a:solidFill>
                <a:ea typeface="Aptos" panose="020B0004020202020204" pitchFamily="34" charset="0"/>
                <a:cs typeface="Times New Roman" panose="02020603050405020304" pitchFamily="18" charset="0"/>
              </a:rPr>
              <a:t> and careful design to maintain data consistency</a:t>
            </a:r>
            <a:endParaRPr lang="en-IN" dirty="0"/>
          </a:p>
        </p:txBody>
      </p:sp>
    </p:spTree>
    <p:extLst>
      <p:ext uri="{BB962C8B-B14F-4D97-AF65-F5344CB8AC3E}">
        <p14:creationId xmlns:p14="http://schemas.microsoft.com/office/powerpoint/2010/main" val="68379191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3970318"/>
          </a:xfrm>
          <a:prstGeom prst="rect">
            <a:avLst/>
          </a:prstGeom>
          <a:noFill/>
        </p:spPr>
        <p:txBody>
          <a:bodyPr wrap="square" rtlCol="0">
            <a:spAutoFit/>
          </a:bodyPr>
          <a:lstStyle/>
          <a:p>
            <a:pPr algn="just">
              <a:lnSpc>
                <a:spcPct val="100000"/>
              </a:lnSpc>
              <a:spcBef>
                <a:spcPct val="0"/>
              </a:spcBef>
              <a:buFontTx/>
              <a:buNone/>
            </a:pPr>
            <a:r>
              <a:rPr lang="en-US" altLang="en-US" dirty="0"/>
              <a:t>When </a:t>
            </a:r>
            <a:r>
              <a:rPr lang="en-US" altLang="en-US" dirty="0" err="1"/>
              <a:t>sharding</a:t>
            </a:r>
            <a:r>
              <a:rPr lang="en-US" altLang="en-US" dirty="0"/>
              <a:t> and replication are combined, </a:t>
            </a:r>
            <a:r>
              <a:rPr lang="en-US" altLang="en-US" b="1" dirty="0"/>
              <a:t>consistency</a:t>
            </a:r>
            <a:r>
              <a:rPr lang="en-US" altLang="en-US" dirty="0"/>
              <a:t> ensures that all users see </a:t>
            </a:r>
            <a:r>
              <a:rPr lang="en-US" altLang="en-US" b="1" dirty="0"/>
              <a:t>correct and up-to-date data</a:t>
            </a:r>
            <a:r>
              <a:rPr lang="en-US" altLang="en-US" dirty="0" smtClean="0"/>
              <a:t>.</a:t>
            </a:r>
          </a:p>
          <a:p>
            <a:pPr algn="just">
              <a:lnSpc>
                <a:spcPct val="100000"/>
              </a:lnSpc>
              <a:spcBef>
                <a:spcPct val="0"/>
              </a:spcBef>
              <a:buFontTx/>
              <a:buNone/>
            </a:pPr>
            <a:endParaRPr lang="en-US" altLang="en-US" dirty="0"/>
          </a:p>
          <a:p>
            <a:pPr algn="just">
              <a:lnSpc>
                <a:spcPct val="100000"/>
              </a:lnSpc>
              <a:spcBef>
                <a:spcPct val="0"/>
              </a:spcBef>
              <a:buFontTx/>
              <a:buNone/>
            </a:pPr>
            <a:r>
              <a:rPr lang="en-US" altLang="en-US" b="1" dirty="0">
                <a:latin typeface="Calibri" panose="020F0502020204030204" pitchFamily="34" charset="0"/>
              </a:rPr>
              <a:t>Types of </a:t>
            </a:r>
            <a:r>
              <a:rPr lang="en-US" altLang="en-US" b="1" dirty="0" smtClean="0">
                <a:latin typeface="Calibri" panose="020F0502020204030204" pitchFamily="34" charset="0"/>
              </a:rPr>
              <a:t>Consistency:</a:t>
            </a:r>
          </a:p>
          <a:p>
            <a:pPr marL="342900" indent="-342900" algn="just">
              <a:spcBef>
                <a:spcPct val="0"/>
              </a:spcBef>
              <a:buFont typeface="+mj-lt"/>
              <a:buAutoNum type="arabicPeriod"/>
            </a:pPr>
            <a:r>
              <a:rPr lang="en-US" altLang="en-US" dirty="0" smtClean="0">
                <a:latin typeface="Calibri" panose="020F0502020204030204" pitchFamily="34" charset="0"/>
              </a:rPr>
              <a:t>Strong Consistency: </a:t>
            </a:r>
            <a:r>
              <a:rPr lang="en-US" altLang="en-US" dirty="0"/>
              <a:t>All nodes see the </a:t>
            </a:r>
            <a:r>
              <a:rPr lang="en-US" altLang="en-US" b="1" dirty="0"/>
              <a:t>same data immediately</a:t>
            </a:r>
            <a:r>
              <a:rPr lang="en-US" altLang="en-US" dirty="0" smtClean="0"/>
              <a:t>.</a:t>
            </a:r>
          </a:p>
          <a:p>
            <a:pPr algn="just">
              <a:spcBef>
                <a:spcPct val="0"/>
              </a:spcBef>
            </a:pPr>
            <a:r>
              <a:rPr lang="en-US" altLang="en-US" dirty="0">
                <a:latin typeface="Calibri" panose="020F0502020204030204" pitchFamily="34" charset="0"/>
              </a:rPr>
              <a:t> </a:t>
            </a:r>
            <a:r>
              <a:rPr lang="en-US" altLang="en-US" dirty="0" smtClean="0">
                <a:latin typeface="Calibri" panose="020F0502020204030204" pitchFamily="34" charset="0"/>
              </a:rPr>
              <a:t>       Example: Banking Transactions, Drawback: Higher latency.</a:t>
            </a:r>
          </a:p>
          <a:p>
            <a:pPr algn="just">
              <a:spcBef>
                <a:spcPct val="0"/>
              </a:spcBef>
            </a:pPr>
            <a:r>
              <a:rPr lang="en-US" altLang="en-US" dirty="0" smtClean="0">
                <a:latin typeface="Calibri" panose="020F0502020204030204" pitchFamily="34" charset="0"/>
              </a:rPr>
              <a:t>2.   Eventual Consistency: Updates propagate gradually, Users may see slightly stale data.</a:t>
            </a:r>
          </a:p>
          <a:p>
            <a:pPr algn="just">
              <a:spcBef>
                <a:spcPct val="0"/>
              </a:spcBef>
            </a:pPr>
            <a:r>
              <a:rPr lang="en-US" altLang="en-US" dirty="0">
                <a:latin typeface="Calibri" panose="020F0502020204030204" pitchFamily="34" charset="0"/>
              </a:rPr>
              <a:t> </a:t>
            </a:r>
            <a:r>
              <a:rPr lang="en-US" altLang="en-US" dirty="0" smtClean="0">
                <a:latin typeface="Calibri" panose="020F0502020204030204" pitchFamily="34" charset="0"/>
              </a:rPr>
              <a:t>       Example: Social media likes count. Drawback: Temporary inconsistency.</a:t>
            </a:r>
          </a:p>
          <a:p>
            <a:pPr marL="342900" indent="-342900" algn="just">
              <a:spcBef>
                <a:spcPct val="0"/>
              </a:spcBef>
              <a:buAutoNum type="arabicPeriod" startAt="3"/>
            </a:pPr>
            <a:r>
              <a:rPr lang="en-US" altLang="en-US" dirty="0" smtClean="0">
                <a:latin typeface="Calibri" panose="020F0502020204030204" pitchFamily="34" charset="0"/>
              </a:rPr>
              <a:t>Casual Consistency: Related operations are in seen in order.</a:t>
            </a:r>
          </a:p>
          <a:p>
            <a:pPr algn="just">
              <a:spcBef>
                <a:spcPct val="0"/>
              </a:spcBef>
            </a:pPr>
            <a:r>
              <a:rPr lang="en-US" altLang="en-US" dirty="0" smtClean="0">
                <a:latin typeface="Calibri" panose="020F0502020204030204" pitchFamily="34" charset="0"/>
              </a:rPr>
              <a:t>        Example: Alice posts-&gt;Bob’s reply must come after Alice’s post.       </a:t>
            </a:r>
          </a:p>
          <a:p>
            <a:pPr marL="342900" indent="-342900" algn="just">
              <a:spcBef>
                <a:spcPct val="0"/>
              </a:spcBef>
              <a:buAutoNum type="arabicPeriod" startAt="4"/>
            </a:pPr>
            <a:r>
              <a:rPr lang="en-US" altLang="en-US" dirty="0" err="1" smtClean="0">
                <a:latin typeface="Calibri" panose="020F0502020204030204" pitchFamily="34" charset="0"/>
              </a:rPr>
              <a:t>Turnable</a:t>
            </a:r>
            <a:r>
              <a:rPr lang="en-US" altLang="en-US" dirty="0" smtClean="0">
                <a:latin typeface="Calibri" panose="020F0502020204030204" pitchFamily="34" charset="0"/>
              </a:rPr>
              <a:t> Consistency (Cassandra, </a:t>
            </a:r>
            <a:r>
              <a:rPr lang="en-US" altLang="en-US" dirty="0" err="1" smtClean="0">
                <a:latin typeface="Calibri" panose="020F0502020204030204" pitchFamily="34" charset="0"/>
              </a:rPr>
              <a:t>DynamoDB</a:t>
            </a:r>
            <a:r>
              <a:rPr lang="en-US" altLang="en-US" dirty="0" smtClean="0">
                <a:latin typeface="Calibri" panose="020F0502020204030204" pitchFamily="34" charset="0"/>
              </a:rPr>
              <a:t>): Developers choose level per operation.</a:t>
            </a:r>
          </a:p>
          <a:p>
            <a:pPr algn="just">
              <a:spcBef>
                <a:spcPct val="0"/>
              </a:spcBef>
            </a:pPr>
            <a:r>
              <a:rPr lang="en-US" altLang="en-US" dirty="0">
                <a:latin typeface="Calibri" panose="020F0502020204030204" pitchFamily="34" charset="0"/>
              </a:rPr>
              <a:t> </a:t>
            </a:r>
            <a:r>
              <a:rPr lang="en-US" altLang="en-US" dirty="0" smtClean="0">
                <a:latin typeface="Calibri" panose="020F0502020204030204" pitchFamily="34" charset="0"/>
              </a:rPr>
              <a:t>       Balance between speed and accuracy.</a:t>
            </a:r>
          </a:p>
          <a:p>
            <a:pPr marL="342900" indent="-342900" algn="just">
              <a:spcBef>
                <a:spcPct val="0"/>
              </a:spcBef>
              <a:buFont typeface="+mj-lt"/>
              <a:buAutoNum type="arabicPeriod"/>
            </a:pPr>
            <a:endParaRPr lang="en-US" altLang="en-US" dirty="0">
              <a:latin typeface="Calibri" panose="020F0502020204030204" pitchFamily="34" charset="0"/>
            </a:endParaRPr>
          </a:p>
          <a:p>
            <a:pPr algn="just">
              <a:lnSpc>
                <a:spcPct val="100000"/>
              </a:lnSpc>
              <a:spcBef>
                <a:spcPct val="0"/>
              </a:spcBef>
              <a:buFontTx/>
              <a:buNone/>
            </a:pPr>
            <a:endParaRPr lang="en-US" altLang="en-US"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93</a:t>
            </a:fld>
            <a:endParaRPr lang="en-US"/>
          </a:p>
        </p:txBody>
      </p:sp>
      <p:sp>
        <p:nvSpPr>
          <p:cNvPr id="5" name="TextBox 4"/>
          <p:cNvSpPr txBox="1"/>
          <p:nvPr/>
        </p:nvSpPr>
        <p:spPr>
          <a:xfrm>
            <a:off x="328862" y="287211"/>
            <a:ext cx="8053137" cy="587853"/>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a:t>
            </a:r>
            <a:r>
              <a:rPr lang="en-IN" sz="2800" b="1" kern="100" dirty="0" smtClean="0">
                <a:ea typeface="Aptos" panose="020B0004020202020204" pitchFamily="34" charset="0"/>
                <a:cs typeface="Times New Roman" panose="02020603050405020304" pitchFamily="18" charset="0"/>
              </a:rPr>
              <a:t>in “</a:t>
            </a:r>
            <a:r>
              <a:rPr lang="en-IN" sz="2800" b="1" kern="100" dirty="0" err="1" smtClean="0">
                <a:ea typeface="Aptos" panose="020B0004020202020204" pitchFamily="34" charset="0"/>
                <a:cs typeface="Times New Roman" panose="02020603050405020304" pitchFamily="18" charset="0"/>
              </a:rPr>
              <a:t>Sharding+Replication</a:t>
            </a:r>
            <a:r>
              <a:rPr lang="en-IN" sz="2800" b="1" kern="100" dirty="0" smtClean="0">
                <a:ea typeface="Aptos" panose="020B0004020202020204" pitchFamily="34" charset="0"/>
                <a:cs typeface="Times New Roman" panose="02020603050405020304" pitchFamily="18" charset="0"/>
              </a:rPr>
              <a:t>” Model</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53248383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2062103"/>
          </a:xfrm>
          <a:prstGeom prst="rect">
            <a:avLst/>
          </a:prstGeom>
          <a:noFill/>
        </p:spPr>
        <p:txBody>
          <a:bodyPr wrap="square" rtlCol="0">
            <a:spAutoFit/>
          </a:bodyPr>
          <a:lstStyle/>
          <a:p>
            <a:pPr algn="just">
              <a:lnSpc>
                <a:spcPct val="100000"/>
              </a:lnSpc>
              <a:spcBef>
                <a:spcPct val="0"/>
              </a:spcBef>
              <a:buFontTx/>
              <a:buNone/>
            </a:pPr>
            <a:r>
              <a:rPr lang="en-US" altLang="en-US" sz="2000" b="1" u="sng" dirty="0" smtClean="0"/>
              <a:t>Advantages in combining both</a:t>
            </a:r>
            <a:r>
              <a:rPr lang="en-US" altLang="en-US" u="sng" dirty="0" smtClean="0"/>
              <a:t>:</a:t>
            </a:r>
          </a:p>
          <a:p>
            <a:pPr algn="just">
              <a:lnSpc>
                <a:spcPct val="100000"/>
              </a:lnSpc>
              <a:spcBef>
                <a:spcPct val="0"/>
              </a:spcBef>
              <a:buFontTx/>
              <a:buNone/>
            </a:pPr>
            <a:endParaRPr lang="en-US" altLang="en-US" u="sng" dirty="0" smtClean="0"/>
          </a:p>
          <a:p>
            <a:pPr>
              <a:lnSpc>
                <a:spcPct val="100000"/>
              </a:lnSpc>
              <a:spcBef>
                <a:spcPct val="0"/>
              </a:spcBef>
              <a:buFontTx/>
              <a:buNone/>
            </a:pPr>
            <a:r>
              <a:rPr lang="en-IN" altLang="en-US" dirty="0"/>
              <a:t>✅ </a:t>
            </a:r>
            <a:r>
              <a:rPr lang="en-IN" altLang="en-US" b="1" dirty="0" smtClean="0"/>
              <a:t>Scalable</a:t>
            </a:r>
            <a:r>
              <a:rPr lang="en-IN" altLang="en-US" dirty="0" smtClean="0"/>
              <a:t> </a:t>
            </a:r>
            <a:r>
              <a:rPr lang="en-IN" altLang="en-US" dirty="0"/>
              <a:t>→ Can handle huge datasets.</a:t>
            </a:r>
            <a:br>
              <a:rPr lang="en-IN" altLang="en-US" dirty="0"/>
            </a:br>
            <a:r>
              <a:rPr lang="en-IN" altLang="en-US" dirty="0"/>
              <a:t>✅ </a:t>
            </a:r>
            <a:r>
              <a:rPr lang="en-IN" altLang="en-US" b="1" dirty="0"/>
              <a:t>Reliable</a:t>
            </a:r>
            <a:r>
              <a:rPr lang="en-IN" altLang="en-US" dirty="0"/>
              <a:t> → Data is not lost if servers fail.</a:t>
            </a:r>
            <a:br>
              <a:rPr lang="en-IN" altLang="en-US" dirty="0"/>
            </a:br>
            <a:r>
              <a:rPr lang="en-IN" altLang="en-US" dirty="0"/>
              <a:t>✅ </a:t>
            </a:r>
            <a:r>
              <a:rPr lang="en-IN" altLang="en-US" b="1" dirty="0"/>
              <a:t>Flexible consistency</a:t>
            </a:r>
            <a:r>
              <a:rPr lang="en-IN" altLang="en-US" dirty="0"/>
              <a:t> → Choose strong/eventual/</a:t>
            </a:r>
            <a:r>
              <a:rPr lang="en-IN" altLang="en-US" dirty="0" err="1"/>
              <a:t>tunable</a:t>
            </a:r>
            <a:r>
              <a:rPr lang="en-IN" altLang="en-US" dirty="0"/>
              <a:t>.</a:t>
            </a:r>
            <a:br>
              <a:rPr lang="en-IN" altLang="en-US" dirty="0"/>
            </a:br>
            <a:r>
              <a:rPr lang="en-IN" altLang="en-US" dirty="0"/>
              <a:t>✅ </a:t>
            </a:r>
            <a:r>
              <a:rPr lang="en-IN" altLang="en-US" b="1" dirty="0"/>
              <a:t>Better performance</a:t>
            </a:r>
            <a:r>
              <a:rPr lang="en-IN" altLang="en-US" dirty="0"/>
              <a:t> → Reads/writes distributed across shards and </a:t>
            </a:r>
            <a:r>
              <a:rPr lang="en-IN" altLang="en-US" dirty="0" smtClean="0"/>
              <a:t>replicas.</a:t>
            </a:r>
            <a:endParaRPr lang="en-IN" altLang="en-US" dirty="0"/>
          </a:p>
          <a:p>
            <a:pPr algn="just">
              <a:lnSpc>
                <a:spcPct val="100000"/>
              </a:lnSpc>
              <a:spcBef>
                <a:spcPct val="0"/>
              </a:spcBef>
              <a:buFontTx/>
              <a:buNone/>
            </a:pPr>
            <a:endParaRPr lang="en-US" altLang="en-US"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94</a:t>
            </a:fld>
            <a:endParaRPr lang="en-US"/>
          </a:p>
        </p:txBody>
      </p:sp>
      <p:sp>
        <p:nvSpPr>
          <p:cNvPr id="5" name="TextBox 4"/>
          <p:cNvSpPr txBox="1"/>
          <p:nvPr/>
        </p:nvSpPr>
        <p:spPr>
          <a:xfrm>
            <a:off x="328862" y="287211"/>
            <a:ext cx="8053137" cy="587853"/>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a:t>
            </a:r>
            <a:r>
              <a:rPr lang="en-IN" sz="2800" b="1" kern="100" dirty="0" smtClean="0">
                <a:ea typeface="Aptos" panose="020B0004020202020204" pitchFamily="34" charset="0"/>
                <a:cs typeface="Times New Roman" panose="02020603050405020304" pitchFamily="18" charset="0"/>
              </a:rPr>
              <a:t>in “</a:t>
            </a:r>
            <a:r>
              <a:rPr lang="en-IN" sz="2800" b="1" kern="100" dirty="0" err="1" smtClean="0">
                <a:ea typeface="Aptos" panose="020B0004020202020204" pitchFamily="34" charset="0"/>
                <a:cs typeface="Times New Roman" panose="02020603050405020304" pitchFamily="18" charset="0"/>
              </a:rPr>
              <a:t>Sharding+Replication</a:t>
            </a:r>
            <a:r>
              <a:rPr lang="en-IN" sz="2800" b="1" kern="100" dirty="0" smtClean="0">
                <a:ea typeface="Aptos" panose="020B0004020202020204" pitchFamily="34" charset="0"/>
                <a:cs typeface="Times New Roman" panose="02020603050405020304" pitchFamily="18" charset="0"/>
              </a:rPr>
              <a:t>” Model</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9353324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001095"/>
          </a:xfrm>
          <a:prstGeom prst="rect">
            <a:avLst/>
          </a:prstGeom>
          <a:noFill/>
        </p:spPr>
        <p:txBody>
          <a:bodyPr wrap="square" rtlCol="0">
            <a:spAutoFit/>
          </a:bodyPr>
          <a:lstStyle/>
          <a:p>
            <a:pPr algn="just">
              <a:lnSpc>
                <a:spcPct val="100000"/>
              </a:lnSpc>
              <a:spcBef>
                <a:spcPct val="0"/>
              </a:spcBef>
              <a:buFontTx/>
              <a:buNone/>
            </a:pPr>
            <a:r>
              <a:rPr lang="en-US" altLang="en-US" sz="2000" b="1" u="sng" dirty="0" smtClean="0"/>
              <a:t>Challenges in combining both</a:t>
            </a:r>
            <a:r>
              <a:rPr lang="en-US" altLang="en-US" u="sng" dirty="0" smtClean="0"/>
              <a:t>:</a:t>
            </a:r>
          </a:p>
          <a:p>
            <a:pPr>
              <a:lnSpc>
                <a:spcPct val="200000"/>
              </a:lnSpc>
              <a:spcBef>
                <a:spcPct val="0"/>
              </a:spcBef>
            </a:pPr>
            <a:r>
              <a:rPr lang="en-US" altLang="en-US" b="1" dirty="0" smtClean="0"/>
              <a:t>Cross-shard transactions</a:t>
            </a:r>
            <a:r>
              <a:rPr lang="en-US" altLang="en-US" dirty="0" smtClean="0"/>
              <a:t>: Updating multiple shards while keeping replicas in sync is complex.</a:t>
            </a:r>
          </a:p>
          <a:p>
            <a:pPr>
              <a:lnSpc>
                <a:spcPct val="200000"/>
              </a:lnSpc>
              <a:spcBef>
                <a:spcPct val="0"/>
              </a:spcBef>
            </a:pPr>
            <a:r>
              <a:rPr lang="en-US" altLang="en-US" b="1" dirty="0" smtClean="0"/>
              <a:t>Trade-off (CAP theorem)</a:t>
            </a:r>
            <a:r>
              <a:rPr lang="en-US" altLang="en-US" dirty="0" smtClean="0"/>
              <a:t>: Can’t have all 3 at once → </a:t>
            </a:r>
            <a:r>
              <a:rPr lang="en-US" altLang="en-US" b="1" dirty="0" smtClean="0"/>
              <a:t>Consistency, Availability, Partition tolerance</a:t>
            </a:r>
            <a:r>
              <a:rPr lang="en-US" altLang="en-US" dirty="0" smtClean="0"/>
              <a:t>.</a:t>
            </a:r>
          </a:p>
          <a:p>
            <a:pPr>
              <a:lnSpc>
                <a:spcPct val="200000"/>
              </a:lnSpc>
              <a:spcBef>
                <a:spcPct val="0"/>
              </a:spcBef>
            </a:pPr>
            <a:r>
              <a:rPr lang="en-US" altLang="en-US" b="1" dirty="0" smtClean="0"/>
              <a:t>Network Latency</a:t>
            </a:r>
            <a:r>
              <a:rPr lang="en-US" altLang="en-US" dirty="0" smtClean="0"/>
              <a:t>: Strong consistency requires more coordination.</a:t>
            </a:r>
          </a:p>
          <a:p>
            <a:pPr>
              <a:lnSpc>
                <a:spcPct val="200000"/>
              </a:lnSpc>
              <a:spcBef>
                <a:spcPct val="0"/>
              </a:spcBef>
            </a:pPr>
            <a:r>
              <a:rPr lang="en-US" altLang="en-US" b="1" dirty="0" smtClean="0"/>
              <a:t>Load balancing</a:t>
            </a:r>
            <a:r>
              <a:rPr lang="en-US" altLang="en-US" dirty="0" smtClean="0"/>
              <a:t>: Distributing queries evenly among shards and replicas.</a:t>
            </a:r>
          </a:p>
          <a:p>
            <a:pPr algn="just">
              <a:lnSpc>
                <a:spcPct val="100000"/>
              </a:lnSpc>
              <a:spcBef>
                <a:spcPct val="0"/>
              </a:spcBef>
              <a:buFontTx/>
              <a:buNone/>
            </a:pPr>
            <a:endParaRPr lang="en-US" altLang="en-US"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95</a:t>
            </a:fld>
            <a:endParaRPr lang="en-US"/>
          </a:p>
        </p:txBody>
      </p:sp>
      <p:sp>
        <p:nvSpPr>
          <p:cNvPr id="5" name="TextBox 4"/>
          <p:cNvSpPr txBox="1"/>
          <p:nvPr/>
        </p:nvSpPr>
        <p:spPr>
          <a:xfrm>
            <a:off x="328862" y="287211"/>
            <a:ext cx="8053137" cy="587853"/>
          </a:xfrm>
          <a:prstGeom prst="rect">
            <a:avLst/>
          </a:prstGeom>
          <a:noFill/>
        </p:spPr>
        <p:txBody>
          <a:bodyPr wrap="square" rtlCol="0">
            <a:spAutoFit/>
          </a:bodyPr>
          <a:lstStyle/>
          <a:p>
            <a:pPr>
              <a:lnSpc>
                <a:spcPct val="115000"/>
              </a:lnSpc>
              <a:spcAft>
                <a:spcPts val="600"/>
              </a:spcAft>
              <a:defRPr/>
            </a:pPr>
            <a:r>
              <a:rPr lang="en-IN" sz="2800" b="1" kern="100" dirty="0">
                <a:ea typeface="Aptos" panose="020B0004020202020204" pitchFamily="34" charset="0"/>
                <a:cs typeface="Times New Roman" panose="02020603050405020304" pitchFamily="18" charset="0"/>
              </a:rPr>
              <a:t>Consistency </a:t>
            </a:r>
            <a:r>
              <a:rPr lang="en-IN" sz="2800" b="1" kern="100" dirty="0" smtClean="0">
                <a:ea typeface="Aptos" panose="020B0004020202020204" pitchFamily="34" charset="0"/>
                <a:cs typeface="Times New Roman" panose="02020603050405020304" pitchFamily="18" charset="0"/>
              </a:rPr>
              <a:t>in “</a:t>
            </a:r>
            <a:r>
              <a:rPr lang="en-IN" sz="2800" b="1" kern="100" dirty="0" err="1" smtClean="0">
                <a:ea typeface="Aptos" panose="020B0004020202020204" pitchFamily="34" charset="0"/>
                <a:cs typeface="Times New Roman" panose="02020603050405020304" pitchFamily="18" charset="0"/>
              </a:rPr>
              <a:t>Sharding+Replication</a:t>
            </a:r>
            <a:r>
              <a:rPr lang="en-IN" sz="2800" b="1" kern="100" dirty="0" smtClean="0">
                <a:ea typeface="Aptos" panose="020B0004020202020204" pitchFamily="34" charset="0"/>
                <a:cs typeface="Times New Roman" panose="02020603050405020304" pitchFamily="18" charset="0"/>
              </a:rPr>
              <a:t>” Model</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84276781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5668731"/>
          </a:xfrm>
          <a:prstGeom prst="rect">
            <a:avLst/>
          </a:prstGeom>
          <a:noFill/>
        </p:spPr>
        <p:txBody>
          <a:bodyPr wrap="square" rtlCol="0">
            <a:spAutoFit/>
          </a:bodyPr>
          <a:lstStyle/>
          <a:p>
            <a:pPr marL="342900" indent="-342900" algn="just">
              <a:lnSpc>
                <a:spcPct val="250000"/>
              </a:lnSpc>
              <a:spcAft>
                <a:spcPts val="800"/>
              </a:spcAft>
              <a:buSzPts val="1000"/>
              <a:buFont typeface="Symbol" panose="05050102010706020507" pitchFamily="18" charset="2"/>
              <a:buChar char=""/>
              <a:tabLst>
                <a:tab pos="457200" algn="l"/>
              </a:tabLst>
              <a:defRPr/>
            </a:pPr>
            <a:r>
              <a:rPr lang="en-US" b="1" dirty="0" smtClean="0"/>
              <a:t>Consistency Model Used:</a:t>
            </a:r>
          </a:p>
          <a:p>
            <a:pPr marL="342900" indent="-342900" algn="just">
              <a:lnSpc>
                <a:spcPct val="250000"/>
              </a:lnSpc>
              <a:spcAft>
                <a:spcPts val="800"/>
              </a:spcAft>
              <a:buSzPts val="1000"/>
              <a:buFont typeface="Symbol" panose="05050102010706020507" pitchFamily="18" charset="2"/>
              <a:buChar char=""/>
              <a:tabLst>
                <a:tab pos="457200" algn="l"/>
              </a:tabLst>
              <a:defRPr/>
            </a:pPr>
            <a:r>
              <a:rPr lang="en-US" b="1" dirty="0"/>
              <a:t>Strong Consistency (synchronous replication):</a:t>
            </a:r>
            <a:r>
              <a:rPr lang="en-US" dirty="0"/>
              <a:t> Every replica updated before acknowledging a write → slower but reliable</a:t>
            </a:r>
            <a:r>
              <a:rPr lang="en-US" dirty="0" smtClean="0"/>
              <a:t>.</a:t>
            </a:r>
          </a:p>
          <a:p>
            <a:pPr marL="342900" indent="-342900" algn="just">
              <a:lnSpc>
                <a:spcPct val="250000"/>
              </a:lnSpc>
              <a:spcAft>
                <a:spcPts val="800"/>
              </a:spcAft>
              <a:buSzPts val="1000"/>
              <a:buFont typeface="Symbol" panose="05050102010706020507" pitchFamily="18" charset="2"/>
              <a:buChar char=""/>
              <a:tabLst>
                <a:tab pos="457200" algn="l"/>
              </a:tabLst>
              <a:defRPr/>
            </a:pPr>
            <a:r>
              <a:rPr lang="en-US" b="1" dirty="0"/>
              <a:t>Eventual Consistency (asynchronous replication):</a:t>
            </a:r>
            <a:r>
              <a:rPr lang="en-US" dirty="0"/>
              <a:t> Updates propagate later → faster but may show stale data</a:t>
            </a:r>
            <a:r>
              <a:rPr lang="en-US" dirty="0" smtClean="0"/>
              <a:t>.</a:t>
            </a:r>
          </a:p>
          <a:p>
            <a:pPr marL="342900" indent="-342900" algn="just">
              <a:lnSpc>
                <a:spcPct val="250000"/>
              </a:lnSpc>
              <a:spcAft>
                <a:spcPts val="800"/>
              </a:spcAft>
              <a:buSzPts val="1000"/>
              <a:buFont typeface="Symbol" panose="05050102010706020507" pitchFamily="18" charset="2"/>
              <a:buChar char=""/>
              <a:tabLst>
                <a:tab pos="457200" algn="l"/>
              </a:tabLst>
              <a:defRPr/>
            </a:pPr>
            <a:r>
              <a:rPr lang="en-US" b="1" dirty="0"/>
              <a:t>Quorum-Based Consistency:</a:t>
            </a:r>
            <a:r>
              <a:rPr lang="en-US" dirty="0"/>
              <a:t> A read/write succeeds only after contacting a majority of replicas → balance between strong and eventual.</a:t>
            </a:r>
            <a:endParaRPr lang="en-US" b="1" kern="100" dirty="0" smtClean="0">
              <a:solidFill>
                <a:srgbClr val="000000"/>
              </a:solidFill>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defRPr/>
            </a:pPr>
            <a:endParaRPr lang="en-IN"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96</a:t>
            </a:fld>
            <a:endParaRPr lang="en-US"/>
          </a:p>
        </p:txBody>
      </p:sp>
      <p:sp>
        <p:nvSpPr>
          <p:cNvPr id="5" name="TextBox 4"/>
          <p:cNvSpPr txBox="1"/>
          <p:nvPr/>
        </p:nvSpPr>
        <p:spPr>
          <a:xfrm>
            <a:off x="328862" y="287211"/>
            <a:ext cx="8205537" cy="587853"/>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Consistency in  “</a:t>
            </a:r>
            <a:r>
              <a:rPr lang="en-IN" sz="2800" b="1" kern="100" dirty="0" err="1" smtClean="0">
                <a:ea typeface="Aptos" panose="020B0004020202020204" pitchFamily="34" charset="0"/>
                <a:cs typeface="Times New Roman" panose="02020603050405020304" pitchFamily="18" charset="0"/>
              </a:rPr>
              <a:t>Sharding+Replication</a:t>
            </a:r>
            <a:r>
              <a:rPr lang="en-IN" sz="2800" b="1" kern="100" dirty="0" smtClean="0">
                <a:ea typeface="Aptos" panose="020B0004020202020204" pitchFamily="34" charset="0"/>
                <a:cs typeface="Times New Roman" panose="02020603050405020304" pitchFamily="18" charset="0"/>
              </a:rPr>
              <a:t>” Model</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862599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97</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US" sz="2800" b="1" kern="100" dirty="0" smtClean="0">
                <a:ea typeface="Aptos" panose="020B0004020202020204" pitchFamily="34" charset="0"/>
                <a:cs typeface="Times New Roman" panose="02020603050405020304" pitchFamily="18" charset="0"/>
              </a:rPr>
              <a:t>Diagram</a:t>
            </a:r>
            <a:endParaRPr lang="en-IN" sz="2800" kern="100" dirty="0">
              <a:ea typeface="Aptos" panose="020B0004020202020204" pitchFamily="34" charset="0"/>
              <a:cs typeface="Times New Roman" panose="0202060305040502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1066800"/>
            <a:ext cx="4572000" cy="4953000"/>
          </a:xfrm>
          <a:prstGeom prst="rect">
            <a:avLst/>
          </a:prstGeom>
        </p:spPr>
      </p:pic>
    </p:spTree>
    <p:extLst>
      <p:ext uri="{BB962C8B-B14F-4D97-AF65-F5344CB8AC3E}">
        <p14:creationId xmlns:p14="http://schemas.microsoft.com/office/powerpoint/2010/main" val="1808471358"/>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3621504"/>
          </a:xfrm>
          <a:prstGeom prst="rect">
            <a:avLst/>
          </a:prstGeom>
          <a:noFill/>
        </p:spPr>
        <p:txBody>
          <a:bodyPr wrap="square" rtlCol="0">
            <a:spAutoFit/>
          </a:bodyPr>
          <a:lstStyle/>
          <a:p>
            <a:pPr marL="342900" indent="-342900">
              <a:lnSpc>
                <a:spcPct val="200000"/>
              </a:lnSpc>
              <a:spcAft>
                <a:spcPts val="800"/>
              </a:spcAft>
              <a:buSzPts val="1000"/>
              <a:buFont typeface="Symbol" panose="05050102010706020507" pitchFamily="18" charset="2"/>
              <a:buChar char=""/>
              <a:tabLst>
                <a:tab pos="457200" algn="l"/>
              </a:tabLst>
              <a:defRPr/>
            </a:pPr>
            <a:r>
              <a:rPr lang="en-IN" sz="2000" b="1" kern="100" dirty="0" err="1">
                <a:solidFill>
                  <a:srgbClr val="000000"/>
                </a:solidFill>
                <a:ea typeface="Aptos" panose="020B0004020202020204" pitchFamily="34" charset="0"/>
                <a:cs typeface="Times New Roman" panose="02020603050405020304" pitchFamily="18" charset="0"/>
              </a:rPr>
              <a:t>CouchDB</a:t>
            </a:r>
            <a:r>
              <a:rPr lang="en-IN" sz="2000" kern="100" dirty="0">
                <a:solidFill>
                  <a:srgbClr val="000000"/>
                </a:solidFill>
                <a:ea typeface="Aptos" panose="020B0004020202020204" pitchFamily="34" charset="0"/>
                <a:cs typeface="Times New Roman" panose="02020603050405020304" pitchFamily="18" charset="0"/>
              </a:rPr>
              <a:t> – Uses multi-master (peer-to-peer) replication.</a:t>
            </a:r>
          </a:p>
          <a:p>
            <a:pPr marL="342900" indent="-342900">
              <a:lnSpc>
                <a:spcPct val="200000"/>
              </a:lnSpc>
              <a:spcAft>
                <a:spcPts val="800"/>
              </a:spcAft>
              <a:buSzPts val="1000"/>
              <a:buFont typeface="Symbol" panose="05050102010706020507" pitchFamily="18" charset="2"/>
              <a:buChar char=""/>
              <a:tabLst>
                <a:tab pos="457200" algn="l"/>
              </a:tabLst>
              <a:defRPr/>
            </a:pPr>
            <a:r>
              <a:rPr lang="en-IN" sz="2000" b="1" kern="100" dirty="0">
                <a:solidFill>
                  <a:srgbClr val="000000"/>
                </a:solidFill>
                <a:ea typeface="Aptos" panose="020B0004020202020204" pitchFamily="34" charset="0"/>
                <a:cs typeface="Times New Roman" panose="02020603050405020304" pitchFamily="18" charset="0"/>
              </a:rPr>
              <a:t>Cassandra</a:t>
            </a:r>
            <a:r>
              <a:rPr lang="en-IN" sz="2000" kern="100" dirty="0">
                <a:solidFill>
                  <a:srgbClr val="000000"/>
                </a:solidFill>
                <a:ea typeface="Aptos" panose="020B0004020202020204" pitchFamily="34" charset="0"/>
                <a:cs typeface="Times New Roman" panose="02020603050405020304" pitchFamily="18" charset="0"/>
              </a:rPr>
              <a:t> – All nodes are peers; data is partitioned and replicated.</a:t>
            </a:r>
          </a:p>
          <a:p>
            <a:pPr marL="342900" indent="-342900">
              <a:lnSpc>
                <a:spcPct val="200000"/>
              </a:lnSpc>
              <a:spcAft>
                <a:spcPts val="800"/>
              </a:spcAft>
              <a:buSzPts val="1000"/>
              <a:buFont typeface="Symbol" panose="05050102010706020507" pitchFamily="18" charset="2"/>
              <a:buChar char=""/>
              <a:tabLst>
                <a:tab pos="457200" algn="l"/>
              </a:tabLst>
              <a:defRPr/>
            </a:pPr>
            <a:r>
              <a:rPr lang="en-IN" sz="2000" b="1" kern="100" dirty="0" err="1">
                <a:solidFill>
                  <a:srgbClr val="000000"/>
                </a:solidFill>
                <a:ea typeface="Aptos" panose="020B0004020202020204" pitchFamily="34" charset="0"/>
                <a:cs typeface="Times New Roman" panose="02020603050405020304" pitchFamily="18" charset="0"/>
              </a:rPr>
              <a:t>Riak</a:t>
            </a:r>
            <a:r>
              <a:rPr lang="en-IN" sz="2000" kern="100" dirty="0">
                <a:solidFill>
                  <a:srgbClr val="000000"/>
                </a:solidFill>
                <a:ea typeface="Aptos" panose="020B0004020202020204" pitchFamily="34" charset="0"/>
                <a:cs typeface="Times New Roman" panose="02020603050405020304" pitchFamily="18" charset="0"/>
              </a:rPr>
              <a:t> – Offers decentralized replication.</a:t>
            </a:r>
          </a:p>
          <a:p>
            <a:pPr marL="342900" indent="-342900">
              <a:lnSpc>
                <a:spcPct val="150000"/>
              </a:lnSpc>
              <a:spcAft>
                <a:spcPts val="800"/>
              </a:spcAft>
              <a:buSzPts val="1000"/>
              <a:buFont typeface="Symbol" panose="05050102010706020507" pitchFamily="18" charset="2"/>
              <a:buChar char=""/>
              <a:tabLst>
                <a:tab pos="457200" algn="l"/>
              </a:tabLst>
              <a:defRPr/>
            </a:pPr>
            <a:endParaRPr lang="en-IN" sz="2000"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US" sz="2000" b="1" kern="100" dirty="0" smtClean="0">
              <a:solidFill>
                <a:srgbClr val="000000"/>
              </a:solidFill>
              <a:ea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defRPr/>
            </a:pPr>
            <a:endParaRPr lang="en-IN" sz="2000" b="1" kern="100" dirty="0" smtClean="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98</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NoSQL Examples</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203437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3477875"/>
          </a:xfrm>
          <a:prstGeom prst="rect">
            <a:avLst/>
          </a:prstGeom>
          <a:noFill/>
        </p:spPr>
        <p:txBody>
          <a:bodyPr wrap="square" rtlCol="0">
            <a:spAutoFit/>
          </a:bodyPr>
          <a:lstStyle/>
          <a:p>
            <a:pPr>
              <a:lnSpc>
                <a:spcPts val="2400"/>
              </a:lnSpc>
              <a:defRPr/>
            </a:pPr>
            <a:r>
              <a:rPr lang="en-IN" sz="2000" dirty="0"/>
              <a:t>Banking </a:t>
            </a:r>
            <a:r>
              <a:rPr lang="en-IN" sz="2000" dirty="0" smtClean="0"/>
              <a:t>System  </a:t>
            </a:r>
          </a:p>
          <a:p>
            <a:pPr>
              <a:lnSpc>
                <a:spcPts val="2400"/>
              </a:lnSpc>
              <a:defRPr/>
            </a:pPr>
            <a:r>
              <a:rPr lang="en-IN" sz="2000" dirty="0"/>
              <a:t>Shard 1: Customer </a:t>
            </a:r>
            <a:r>
              <a:rPr lang="en-IN" sz="2000" dirty="0" smtClean="0"/>
              <a:t>Accounts</a:t>
            </a:r>
          </a:p>
          <a:p>
            <a:pPr>
              <a:lnSpc>
                <a:spcPts val="2400"/>
              </a:lnSpc>
              <a:defRPr/>
            </a:pPr>
            <a:r>
              <a:rPr lang="en-IN" sz="2000" dirty="0"/>
              <a:t>Shard 2: </a:t>
            </a:r>
            <a:r>
              <a:rPr lang="en-IN" sz="2000" dirty="0" smtClean="0"/>
              <a:t>Transactions</a:t>
            </a:r>
          </a:p>
          <a:p>
            <a:pPr>
              <a:lnSpc>
                <a:spcPts val="2400"/>
              </a:lnSpc>
              <a:defRPr/>
            </a:pPr>
            <a:r>
              <a:rPr lang="en-IN" sz="2000" dirty="0"/>
              <a:t>Shard 3: Loan </a:t>
            </a:r>
            <a:r>
              <a:rPr lang="en-IN" sz="2000" dirty="0" smtClean="0"/>
              <a:t>Details</a:t>
            </a:r>
          </a:p>
          <a:p>
            <a:pPr>
              <a:lnSpc>
                <a:spcPts val="2400"/>
              </a:lnSpc>
              <a:defRPr/>
            </a:pPr>
            <a:r>
              <a:rPr lang="en-US" sz="2000" dirty="0"/>
              <a:t>Replication ensures availability even if one node fails.</a:t>
            </a:r>
          </a:p>
          <a:p>
            <a:pPr>
              <a:lnSpc>
                <a:spcPts val="2400"/>
              </a:lnSpc>
              <a:defRPr/>
            </a:pPr>
            <a:endParaRPr lang="en-IN" sz="2000" dirty="0" smtClean="0"/>
          </a:p>
          <a:p>
            <a:pPr>
              <a:lnSpc>
                <a:spcPts val="2400"/>
              </a:lnSpc>
              <a:defRPr/>
            </a:pPr>
            <a:r>
              <a:rPr lang="en-IN" sz="2000" dirty="0"/>
              <a:t>E-commerce </a:t>
            </a:r>
            <a:r>
              <a:rPr lang="en-IN" sz="2000" dirty="0" smtClean="0"/>
              <a:t>System</a:t>
            </a:r>
          </a:p>
          <a:p>
            <a:pPr>
              <a:lnSpc>
                <a:spcPts val="2400"/>
              </a:lnSpc>
              <a:defRPr/>
            </a:pPr>
            <a:r>
              <a:rPr lang="en-IN" sz="2000" dirty="0"/>
              <a:t>Shard 1: </a:t>
            </a:r>
            <a:r>
              <a:rPr lang="en-IN" sz="2000" dirty="0" smtClean="0"/>
              <a:t>Users</a:t>
            </a:r>
          </a:p>
          <a:p>
            <a:pPr>
              <a:lnSpc>
                <a:spcPts val="2400"/>
              </a:lnSpc>
              <a:defRPr/>
            </a:pPr>
            <a:r>
              <a:rPr lang="en-IN" sz="2000" dirty="0"/>
              <a:t>Shard 2: </a:t>
            </a:r>
            <a:r>
              <a:rPr lang="en-IN" sz="2000" dirty="0" smtClean="0"/>
              <a:t>Orders</a:t>
            </a:r>
          </a:p>
          <a:p>
            <a:pPr>
              <a:lnSpc>
                <a:spcPts val="2400"/>
              </a:lnSpc>
              <a:defRPr/>
            </a:pPr>
            <a:r>
              <a:rPr lang="en-IN" sz="2000" dirty="0"/>
              <a:t>Shard 3: Inventory &amp; </a:t>
            </a:r>
            <a:r>
              <a:rPr lang="en-IN" sz="2000" dirty="0" smtClean="0"/>
              <a:t>Payments</a:t>
            </a:r>
          </a:p>
          <a:p>
            <a:pPr>
              <a:lnSpc>
                <a:spcPts val="2400"/>
              </a:lnSpc>
              <a:defRPr/>
            </a:pPr>
            <a:r>
              <a:rPr lang="en-US" sz="2000" dirty="0"/>
              <a:t>Replication provides high read throughput for product searches.</a:t>
            </a:r>
            <a:endParaRPr lang="en-IN" sz="2000" kern="100" dirty="0">
              <a:solidFill>
                <a:srgbClr val="000000"/>
              </a:solidFill>
              <a:ea typeface="Aptos" panose="020B0004020202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99</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Examples Scenarios</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9344031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3477875"/>
          </a:xfrm>
          <a:prstGeom prst="rect">
            <a:avLst/>
          </a:prstGeom>
          <a:noFill/>
        </p:spPr>
        <p:txBody>
          <a:bodyPr wrap="square" rtlCol="0">
            <a:spAutoFit/>
          </a:bodyPr>
          <a:lstStyle/>
          <a:p>
            <a:pPr>
              <a:lnSpc>
                <a:spcPct val="100000"/>
              </a:lnSpc>
              <a:spcBef>
                <a:spcPct val="0"/>
              </a:spcBef>
              <a:buFontTx/>
              <a:buNone/>
            </a:pPr>
            <a:r>
              <a:rPr lang="en-US" altLang="en-US" sz="2200" dirty="0"/>
              <a:t>Imagine a </a:t>
            </a:r>
            <a:r>
              <a:rPr lang="en-US" altLang="en-US" sz="2200" b="1" dirty="0"/>
              <a:t>global shopping website</a:t>
            </a:r>
            <a:r>
              <a:rPr lang="en-US" altLang="en-US" sz="2200" dirty="0"/>
              <a:t>:</a:t>
            </a:r>
          </a:p>
          <a:p>
            <a:pPr>
              <a:lnSpc>
                <a:spcPct val="100000"/>
              </a:lnSpc>
              <a:spcBef>
                <a:spcPct val="0"/>
              </a:spcBef>
              <a:buFontTx/>
              <a:buNone/>
            </a:pPr>
            <a:r>
              <a:rPr lang="en-US" altLang="en-US" sz="2200" b="1" dirty="0" err="1"/>
              <a:t>Sharding</a:t>
            </a:r>
            <a:r>
              <a:rPr lang="en-US" altLang="en-US" sz="2200" dirty="0"/>
              <a:t>:</a:t>
            </a:r>
          </a:p>
          <a:p>
            <a:pPr lvl="1">
              <a:lnSpc>
                <a:spcPct val="100000"/>
              </a:lnSpc>
              <a:spcBef>
                <a:spcPct val="0"/>
              </a:spcBef>
              <a:buFontTx/>
              <a:buNone/>
            </a:pPr>
            <a:r>
              <a:rPr lang="en-US" altLang="en-US" sz="2200" dirty="0"/>
              <a:t>Asia customers → Shard A</a:t>
            </a:r>
          </a:p>
          <a:p>
            <a:pPr lvl="1">
              <a:lnSpc>
                <a:spcPct val="100000"/>
              </a:lnSpc>
              <a:spcBef>
                <a:spcPct val="0"/>
              </a:spcBef>
              <a:buFontTx/>
              <a:buNone/>
            </a:pPr>
            <a:r>
              <a:rPr lang="en-US" altLang="en-US" sz="2200" dirty="0"/>
              <a:t>Europe customers → Shard B</a:t>
            </a:r>
          </a:p>
          <a:p>
            <a:pPr lvl="1">
              <a:lnSpc>
                <a:spcPct val="100000"/>
              </a:lnSpc>
              <a:spcBef>
                <a:spcPct val="0"/>
              </a:spcBef>
              <a:buFontTx/>
              <a:buNone/>
            </a:pPr>
            <a:r>
              <a:rPr lang="en-US" altLang="en-US" sz="2200" dirty="0"/>
              <a:t>America customers → Shard C</a:t>
            </a:r>
          </a:p>
          <a:p>
            <a:pPr>
              <a:lnSpc>
                <a:spcPct val="100000"/>
              </a:lnSpc>
              <a:spcBef>
                <a:spcPct val="0"/>
              </a:spcBef>
              <a:buFontTx/>
              <a:buNone/>
            </a:pPr>
            <a:r>
              <a:rPr lang="en-US" altLang="en-US" sz="2200" b="1" dirty="0"/>
              <a:t>Replication</a:t>
            </a:r>
            <a:r>
              <a:rPr lang="en-US" altLang="en-US" sz="2200" dirty="0"/>
              <a:t>:</a:t>
            </a:r>
          </a:p>
          <a:p>
            <a:pPr lvl="1">
              <a:lnSpc>
                <a:spcPct val="100000"/>
              </a:lnSpc>
              <a:spcBef>
                <a:spcPct val="0"/>
              </a:spcBef>
              <a:buFontTx/>
              <a:buNone/>
            </a:pPr>
            <a:r>
              <a:rPr lang="en-US" altLang="en-US" sz="2200" dirty="0"/>
              <a:t>Each shard has 1 primary + 2 replicas.</a:t>
            </a:r>
          </a:p>
          <a:p>
            <a:pPr>
              <a:lnSpc>
                <a:spcPct val="100000"/>
              </a:lnSpc>
              <a:spcBef>
                <a:spcPct val="0"/>
              </a:spcBef>
              <a:buFontTx/>
              <a:buNone/>
            </a:pPr>
            <a:r>
              <a:rPr lang="en-US" altLang="en-US" sz="2200" b="1" dirty="0"/>
              <a:t>Consistency</a:t>
            </a:r>
            <a:r>
              <a:rPr lang="en-US" altLang="en-US" sz="2200" dirty="0"/>
              <a:t>:</a:t>
            </a:r>
          </a:p>
          <a:p>
            <a:pPr lvl="1">
              <a:lnSpc>
                <a:spcPct val="100000"/>
              </a:lnSpc>
              <a:spcBef>
                <a:spcPct val="0"/>
              </a:spcBef>
              <a:buFontTx/>
              <a:buNone/>
            </a:pPr>
            <a:r>
              <a:rPr lang="en-US" altLang="en-US" sz="2200" dirty="0"/>
              <a:t>Payments = Strong consistency.</a:t>
            </a:r>
          </a:p>
          <a:p>
            <a:pPr lvl="1">
              <a:lnSpc>
                <a:spcPct val="100000"/>
              </a:lnSpc>
              <a:spcBef>
                <a:spcPct val="0"/>
              </a:spcBef>
              <a:buFontTx/>
              <a:buNone/>
            </a:pPr>
            <a:r>
              <a:rPr lang="en-US" altLang="en-US" sz="2200" dirty="0"/>
              <a:t>Product catalog = Eventual consistency.</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100</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Examples Scenarios</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2396553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2862322"/>
          </a:xfrm>
          <a:prstGeom prst="rect">
            <a:avLst/>
          </a:prstGeom>
          <a:noFill/>
        </p:spPr>
        <p:txBody>
          <a:bodyPr wrap="square" rtlCol="0">
            <a:spAutoFit/>
          </a:bodyPr>
          <a:lstStyle/>
          <a:p>
            <a:r>
              <a:rPr lang="en-US" sz="2000" dirty="0" smtClean="0"/>
              <a:t>Real-World </a:t>
            </a:r>
            <a:r>
              <a:rPr lang="en-US" sz="2000" dirty="0"/>
              <a:t>Applications of </a:t>
            </a:r>
            <a:r>
              <a:rPr lang="en-US" sz="2000" dirty="0" err="1"/>
              <a:t>Sharding</a:t>
            </a:r>
            <a:r>
              <a:rPr lang="en-US" sz="2000" dirty="0"/>
              <a:t> + Replication</a:t>
            </a:r>
          </a:p>
          <a:p>
            <a:r>
              <a:rPr lang="en-US" sz="2000" b="1" dirty="0"/>
              <a:t>MongoDB</a:t>
            </a:r>
            <a:r>
              <a:rPr lang="en-US" sz="2000" dirty="0"/>
              <a:t> – Uses </a:t>
            </a:r>
            <a:r>
              <a:rPr lang="en-US" sz="2000" b="1" dirty="0" err="1"/>
              <a:t>sharded</a:t>
            </a:r>
            <a:r>
              <a:rPr lang="en-US" sz="2000" b="1" dirty="0"/>
              <a:t> clusters + replica sets</a:t>
            </a:r>
            <a:r>
              <a:rPr lang="en-US" sz="2000" dirty="0"/>
              <a:t> for high scalability and fault tolerance.</a:t>
            </a:r>
          </a:p>
          <a:p>
            <a:r>
              <a:rPr lang="en-US" sz="2000" b="1" dirty="0"/>
              <a:t>Cassandra</a:t>
            </a:r>
            <a:r>
              <a:rPr lang="en-US" sz="2000" dirty="0"/>
              <a:t> – Data partitioned (shards) and replicated across data centers with tunable consistency.</a:t>
            </a:r>
          </a:p>
          <a:p>
            <a:r>
              <a:rPr lang="en-US" sz="2000" b="1" dirty="0"/>
              <a:t>Google Spanner</a:t>
            </a:r>
            <a:r>
              <a:rPr lang="en-US" sz="2000" dirty="0"/>
              <a:t> – Combines </a:t>
            </a:r>
            <a:r>
              <a:rPr lang="en-US" sz="2000" dirty="0" err="1"/>
              <a:t>sharding</a:t>
            </a:r>
            <a:r>
              <a:rPr lang="en-US" sz="2000" dirty="0"/>
              <a:t> + replication with </a:t>
            </a:r>
            <a:r>
              <a:rPr lang="en-US" sz="2000" b="1" dirty="0"/>
              <a:t>global consistency guarantees</a:t>
            </a:r>
            <a:r>
              <a:rPr lang="en-US" sz="2000" dirty="0"/>
              <a:t>.</a:t>
            </a:r>
          </a:p>
          <a:p>
            <a:r>
              <a:rPr lang="en-US" sz="2000" b="1" dirty="0"/>
              <a:t>Amazon </a:t>
            </a:r>
            <a:r>
              <a:rPr lang="en-US" sz="2000" b="1" dirty="0" err="1"/>
              <a:t>DynamoDB</a:t>
            </a:r>
            <a:r>
              <a:rPr lang="en-US" sz="2000" dirty="0"/>
              <a:t> – Provides auto-</a:t>
            </a:r>
            <a:r>
              <a:rPr lang="en-US" sz="2000" dirty="0" err="1"/>
              <a:t>sharding</a:t>
            </a:r>
            <a:r>
              <a:rPr lang="en-US" sz="2000" dirty="0"/>
              <a:t> and replication, offering eventual consistency and strong consistency options.</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101</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Real-world Applications</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68368550"/>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600" cy="4921219"/>
          </a:xfrm>
          <a:prstGeom prst="rect">
            <a:avLst/>
          </a:prstGeom>
          <a:noFill/>
        </p:spPr>
        <p:txBody>
          <a:bodyPr wrap="square" rtlCol="0">
            <a:spAutoFit/>
          </a:bodyPr>
          <a:lstStyle/>
          <a:p>
            <a:pPr algn="just">
              <a:lnSpc>
                <a:spcPct val="200000"/>
              </a:lnSpc>
              <a:spcBef>
                <a:spcPct val="0"/>
              </a:spcBef>
            </a:pPr>
            <a:r>
              <a:rPr lang="en-IN" altLang="en-US" sz="2000" b="1" dirty="0" err="1"/>
              <a:t>Sharding</a:t>
            </a:r>
            <a:r>
              <a:rPr lang="en-IN" altLang="en-US" sz="2000" dirty="0"/>
              <a:t> = Divide data for scalability.</a:t>
            </a:r>
          </a:p>
          <a:p>
            <a:pPr algn="just">
              <a:lnSpc>
                <a:spcPct val="200000"/>
              </a:lnSpc>
              <a:spcBef>
                <a:spcPct val="0"/>
              </a:spcBef>
            </a:pPr>
            <a:r>
              <a:rPr lang="en-IN" altLang="en-US" sz="2000" b="1" dirty="0"/>
              <a:t>Replication</a:t>
            </a:r>
            <a:r>
              <a:rPr lang="en-IN" altLang="en-US" sz="2000" dirty="0"/>
              <a:t> = Copy data for availability.</a:t>
            </a:r>
          </a:p>
          <a:p>
            <a:pPr algn="just">
              <a:lnSpc>
                <a:spcPct val="200000"/>
              </a:lnSpc>
              <a:spcBef>
                <a:spcPct val="0"/>
              </a:spcBef>
            </a:pPr>
            <a:r>
              <a:rPr lang="en-IN" altLang="en-US" sz="2000" b="1" dirty="0"/>
              <a:t>Consistency</a:t>
            </a:r>
            <a:r>
              <a:rPr lang="en-IN" altLang="en-US" sz="2000" dirty="0"/>
              <a:t> = Controls how updates are visible.</a:t>
            </a:r>
          </a:p>
          <a:p>
            <a:pPr algn="just">
              <a:lnSpc>
                <a:spcPct val="200000"/>
              </a:lnSpc>
              <a:spcBef>
                <a:spcPct val="0"/>
              </a:spcBef>
            </a:pPr>
            <a:r>
              <a:rPr lang="en-IN" altLang="en-US" sz="2000" b="1" dirty="0"/>
              <a:t>Combining them</a:t>
            </a:r>
            <a:r>
              <a:rPr lang="en-IN" altLang="en-US" sz="2000" dirty="0"/>
              <a:t> = Foundation of </a:t>
            </a:r>
            <a:r>
              <a:rPr lang="en-IN" altLang="en-US" sz="2000" b="1" dirty="0"/>
              <a:t>modern distributed NoSQL systems</a:t>
            </a:r>
            <a:r>
              <a:rPr lang="en-IN" altLang="en-US" sz="2000" dirty="0"/>
              <a:t> like MongoDB, Cassandra, </a:t>
            </a:r>
            <a:r>
              <a:rPr lang="en-IN" altLang="en-US" sz="2000" dirty="0" err="1"/>
              <a:t>DynamoDB</a:t>
            </a:r>
            <a:r>
              <a:rPr lang="en-IN" altLang="en-US" sz="2000" dirty="0"/>
              <a:t>.</a:t>
            </a:r>
          </a:p>
          <a:p>
            <a:pPr algn="just">
              <a:lnSpc>
                <a:spcPct val="200000"/>
              </a:lnSpc>
              <a:spcBef>
                <a:spcPct val="0"/>
              </a:spcBef>
            </a:pPr>
            <a:r>
              <a:rPr lang="en-IN" altLang="en-US" sz="2000" b="1" dirty="0"/>
              <a:t>Applications</a:t>
            </a:r>
            <a:r>
              <a:rPr lang="en-IN" altLang="en-US" sz="2000" dirty="0"/>
              <a:t> = E-commerce, social media, finance, </a:t>
            </a:r>
            <a:r>
              <a:rPr lang="en-IN" altLang="en-US" sz="2000" dirty="0" err="1"/>
              <a:t>IoT</a:t>
            </a:r>
            <a:r>
              <a:rPr lang="en-IN" altLang="en-US" sz="2000" dirty="0"/>
              <a:t>.</a:t>
            </a:r>
          </a:p>
          <a:p>
            <a:pPr algn="just">
              <a:lnSpc>
                <a:spcPct val="200000"/>
              </a:lnSpc>
              <a:spcBef>
                <a:spcPct val="0"/>
              </a:spcBef>
              <a:buFontTx/>
              <a:buNone/>
            </a:pPr>
            <a:r>
              <a:rPr lang="en-IN" altLang="en-US" sz="2000" dirty="0"/>
              <a:t>👉 This combination allows systems to be </a:t>
            </a:r>
            <a:r>
              <a:rPr lang="en-IN" altLang="en-US" sz="2000" b="1" dirty="0"/>
              <a:t>fast, fault-tolerant, scalable, and reliable</a:t>
            </a:r>
            <a:r>
              <a:rPr lang="en-IN" altLang="en-US" sz="2000" dirty="0"/>
              <a:t>.</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102</a:t>
            </a:fld>
            <a:endParaRPr lang="en-US"/>
          </a:p>
        </p:txBody>
      </p:sp>
      <p:sp>
        <p:nvSpPr>
          <p:cNvPr id="5" name="TextBox 4"/>
          <p:cNvSpPr txBox="1"/>
          <p:nvPr/>
        </p:nvSpPr>
        <p:spPr>
          <a:xfrm>
            <a:off x="328863" y="287211"/>
            <a:ext cx="7315200" cy="545599"/>
          </a:xfrm>
          <a:prstGeom prst="rect">
            <a:avLst/>
          </a:prstGeom>
          <a:noFill/>
        </p:spPr>
        <p:txBody>
          <a:bodyPr wrap="square" rtlCol="0">
            <a:spAutoFit/>
          </a:bodyPr>
          <a:lstStyle/>
          <a:p>
            <a:pPr>
              <a:lnSpc>
                <a:spcPct val="115000"/>
              </a:lnSpc>
              <a:spcAft>
                <a:spcPts val="600"/>
              </a:spcAft>
              <a:defRPr/>
            </a:pPr>
            <a:r>
              <a:rPr lang="en-IN" sz="2800" b="1" kern="100" dirty="0" smtClean="0">
                <a:ea typeface="Aptos" panose="020B0004020202020204" pitchFamily="34" charset="0"/>
                <a:cs typeface="Times New Roman" panose="02020603050405020304" pitchFamily="18" charset="0"/>
              </a:rPr>
              <a:t>Summary</a:t>
            </a:r>
            <a:endParaRPr lang="en-IN" sz="2800" kern="100" dirty="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55833189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103</a:t>
            </a:fld>
            <a:endParaRPr lang="en-US"/>
          </a:p>
        </p:txBody>
      </p:sp>
      <p:sp>
        <p:nvSpPr>
          <p:cNvPr id="5" name="TextBox 4"/>
          <p:cNvSpPr txBox="1"/>
          <p:nvPr/>
        </p:nvSpPr>
        <p:spPr>
          <a:xfrm>
            <a:off x="328863" y="287211"/>
            <a:ext cx="7315200" cy="587853"/>
          </a:xfrm>
          <a:prstGeom prst="rect">
            <a:avLst/>
          </a:prstGeom>
          <a:noFill/>
        </p:spPr>
        <p:txBody>
          <a:bodyPr wrap="square" rtlCol="0">
            <a:spAutoFit/>
          </a:bodyPr>
          <a:lstStyle/>
          <a:p>
            <a:pPr>
              <a:lnSpc>
                <a:spcPct val="115000"/>
              </a:lnSpc>
              <a:spcAft>
                <a:spcPts val="600"/>
              </a:spcAft>
              <a:defRPr/>
            </a:pPr>
            <a:r>
              <a:rPr lang="en-US" sz="2800" b="1" kern="100" dirty="0" smtClean="0">
                <a:ea typeface="Aptos" panose="020B0004020202020204" pitchFamily="34" charset="0"/>
                <a:cs typeface="Times New Roman" panose="02020603050405020304" pitchFamily="18" charset="0"/>
              </a:rPr>
              <a:t>Comparison: with other models</a:t>
            </a:r>
            <a:endParaRPr lang="en-IN" sz="2800" kern="100" dirty="0">
              <a:ea typeface="Aptos" panose="020B0004020202020204" pitchFamily="34"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83085"/>
            <a:ext cx="9144000" cy="5601936"/>
          </a:xfrm>
          <a:prstGeom prst="rect">
            <a:avLst/>
          </a:prstGeom>
        </p:spPr>
      </p:pic>
    </p:spTree>
    <p:extLst>
      <p:ext uri="{BB962C8B-B14F-4D97-AF65-F5344CB8AC3E}">
        <p14:creationId xmlns:p14="http://schemas.microsoft.com/office/powerpoint/2010/main" val="4741160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5016758"/>
          </a:xfrm>
          <a:prstGeom prst="rect">
            <a:avLst/>
          </a:prstGeom>
          <a:noFill/>
        </p:spPr>
        <p:txBody>
          <a:bodyPr wrap="square" rtlCol="0">
            <a:spAutoFit/>
          </a:bodyPr>
          <a:lstStyle/>
          <a:p>
            <a:pPr marL="342900" indent="-342900" algn="just">
              <a:buFont typeface="Wingdings" panose="05000000000000000000" pitchFamily="2" charset="2"/>
              <a:buChar char="§"/>
            </a:pPr>
            <a:r>
              <a:rPr lang="en-US" altLang="en-US" sz="2000" dirty="0"/>
              <a:t>A quorum is a minimum number of votes or acknowledgments required from nodes in a distributed system to consider a read or write operation valid and successful. This mechanism helps ensure consistency and availability in the face of network partitions or node failures. </a:t>
            </a:r>
          </a:p>
          <a:p>
            <a:pPr marL="342900" indent="-342900" algn="just">
              <a:buFont typeface="Wingdings" panose="05000000000000000000" pitchFamily="2" charset="2"/>
              <a:buChar char="§"/>
            </a:pPr>
            <a:r>
              <a:rPr lang="en-US" altLang="en-US" sz="2000" dirty="0" smtClean="0"/>
              <a:t>There </a:t>
            </a:r>
            <a:r>
              <a:rPr lang="en-US" altLang="en-US" sz="2000" dirty="0"/>
              <a:t>are typically two types of quorums used in distributed systems: </a:t>
            </a:r>
          </a:p>
          <a:p>
            <a:pPr marL="342900" indent="-342900" algn="just">
              <a:buFont typeface="Wingdings" panose="05000000000000000000" pitchFamily="2" charset="2"/>
              <a:buChar char="§"/>
            </a:pPr>
            <a:r>
              <a:rPr lang="en-US" altLang="en-US" sz="2000" dirty="0">
                <a:solidFill>
                  <a:schemeClr val="accent2"/>
                </a:solidFill>
              </a:rPr>
              <a:t>Write Quorum (W): </a:t>
            </a:r>
            <a:r>
              <a:rPr lang="en-US" altLang="en-US" sz="2000" dirty="0"/>
              <a:t>The minimum number of replicas that must acknowledge a write operation before it is considered successful. This ensures that the data is sufficiently replicated across the system to maintain consistency. </a:t>
            </a:r>
          </a:p>
          <a:p>
            <a:pPr marL="342900" indent="-342900" algn="just">
              <a:buFont typeface="Wingdings" panose="05000000000000000000" pitchFamily="2" charset="2"/>
              <a:buChar char="§"/>
            </a:pPr>
            <a:r>
              <a:rPr lang="en-US" altLang="en-US" sz="2000" dirty="0">
                <a:solidFill>
                  <a:schemeClr val="accent2"/>
                </a:solidFill>
              </a:rPr>
              <a:t>Read Quorum (R): </a:t>
            </a:r>
            <a:r>
              <a:rPr lang="en-US" altLang="en-US" sz="2000" dirty="0"/>
              <a:t>The minimum number of replicas that must be accessed for a read operation to return a valid result. This ensures that the read operation reflects the most recent write, maintaining consistency from the user’s perspective. </a:t>
            </a:r>
            <a:endParaRPr lang="en-US" altLang="en-US" sz="2000" dirty="0" smtClean="0"/>
          </a:p>
          <a:p>
            <a:pPr marL="342900" indent="-342900" algn="just">
              <a:buFont typeface="Wingdings" panose="05000000000000000000" pitchFamily="2" charset="2"/>
              <a:buChar char="§"/>
            </a:pPr>
            <a:r>
              <a:rPr lang="en-US" sz="2000" dirty="0" smtClean="0"/>
              <a:t>The</a:t>
            </a:r>
            <a:r>
              <a:rPr lang="en-US" altLang="en-US" sz="2000" dirty="0" smtClean="0"/>
              <a:t> </a:t>
            </a:r>
            <a:r>
              <a:rPr lang="en-US" altLang="en-US" sz="2000" dirty="0"/>
              <a:t>relationship between the number of nodes you need to contact for a read (R), those confirming a write (W), and the replication factor (N) can be captured in an inequality: </a:t>
            </a:r>
            <a:r>
              <a:rPr lang="en-US" altLang="en-US" sz="2000" dirty="0">
                <a:solidFill>
                  <a:schemeClr val="accent2"/>
                </a:solidFill>
              </a:rPr>
              <a:t>W&gt;N/2 </a:t>
            </a:r>
            <a:r>
              <a:rPr lang="en-US" altLang="en-US" sz="2000" dirty="0" smtClean="0">
                <a:solidFill>
                  <a:schemeClr val="accent2"/>
                </a:solidFill>
              </a:rPr>
              <a:t>, R+W&gt;N</a:t>
            </a:r>
            <a:endParaRPr lang="en-IN" altLang="en-US" sz="2000" dirty="0">
              <a:solidFill>
                <a:schemeClr val="accent2"/>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104</a:t>
            </a:fld>
            <a:endParaRPr lang="en-US"/>
          </a:p>
        </p:txBody>
      </p:sp>
      <p:sp>
        <p:nvSpPr>
          <p:cNvPr id="5" name="TextBox 4"/>
          <p:cNvSpPr txBox="1"/>
          <p:nvPr/>
        </p:nvSpPr>
        <p:spPr>
          <a:xfrm>
            <a:off x="-1524000" y="290839"/>
            <a:ext cx="5889009" cy="523220"/>
          </a:xfrm>
          <a:prstGeom prst="rect">
            <a:avLst/>
          </a:prstGeom>
          <a:noFill/>
        </p:spPr>
        <p:txBody>
          <a:bodyPr wrap="square" rtlCol="0">
            <a:spAutoFit/>
          </a:bodyPr>
          <a:lstStyle/>
          <a:p>
            <a:pPr algn="ctr"/>
            <a:r>
              <a:rPr lang="en-US" sz="2800" dirty="0" smtClean="0"/>
              <a:t>Quorums</a:t>
            </a:r>
            <a:endParaRPr lang="en-IN" sz="2800" dirty="0"/>
          </a:p>
        </p:txBody>
      </p:sp>
    </p:spTree>
    <p:extLst>
      <p:ext uri="{BB962C8B-B14F-4D97-AF65-F5344CB8AC3E}">
        <p14:creationId xmlns:p14="http://schemas.microsoft.com/office/powerpoint/2010/main" val="3007105419"/>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2862322"/>
          </a:xfrm>
          <a:prstGeom prst="rect">
            <a:avLst/>
          </a:prstGeom>
          <a:noFill/>
        </p:spPr>
        <p:txBody>
          <a:bodyPr wrap="square" rtlCol="0">
            <a:spAutoFit/>
          </a:bodyPr>
          <a:lstStyle/>
          <a:p>
            <a:pPr marL="342900" indent="-342900" algn="just">
              <a:buFont typeface="Wingdings" panose="05000000000000000000" pitchFamily="2" charset="2"/>
              <a:buChar char="§"/>
            </a:pPr>
            <a:r>
              <a:rPr lang="en-US" sz="2000" dirty="0"/>
              <a:t>Version stamps in NoSQL databases are unique values, such as timestamps, counters, or hashes, associated with a data item that change with each modification. </a:t>
            </a:r>
            <a:endParaRPr lang="en-US" sz="2000" dirty="0" smtClean="0"/>
          </a:p>
          <a:p>
            <a:pPr marL="342900" indent="-342900" algn="just">
              <a:buFont typeface="Wingdings" panose="05000000000000000000" pitchFamily="2" charset="2"/>
              <a:buChar char="§"/>
            </a:pPr>
            <a:endParaRPr lang="en-US" sz="2000" dirty="0" smtClean="0"/>
          </a:p>
          <a:p>
            <a:pPr marL="342900" indent="-342900" algn="just">
              <a:buFont typeface="Wingdings" panose="05000000000000000000" pitchFamily="2" charset="2"/>
              <a:buChar char="§"/>
            </a:pPr>
            <a:r>
              <a:rPr lang="en-US" sz="2000" dirty="0"/>
              <a:t>They are crucial for concurrency control, allowing applications to detect data conflicts by checking if the version stamp has changed since the data was last read. If the stamp has been altered, it indicates another process updated the data, prompting the application to apply a conflict resolution strategy instead of overwriting it with stale information. </a:t>
            </a:r>
            <a:endParaRPr lang="en-IN" sz="2000"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105</a:t>
            </a:fld>
            <a:endParaRPr lang="en-US"/>
          </a:p>
        </p:txBody>
      </p:sp>
      <p:sp>
        <p:nvSpPr>
          <p:cNvPr id="5" name="TextBox 4"/>
          <p:cNvSpPr txBox="1"/>
          <p:nvPr/>
        </p:nvSpPr>
        <p:spPr>
          <a:xfrm>
            <a:off x="-1447800" y="304800"/>
            <a:ext cx="5889009" cy="523220"/>
          </a:xfrm>
          <a:prstGeom prst="rect">
            <a:avLst/>
          </a:prstGeom>
          <a:noFill/>
        </p:spPr>
        <p:txBody>
          <a:bodyPr wrap="square" rtlCol="0">
            <a:spAutoFit/>
          </a:bodyPr>
          <a:lstStyle/>
          <a:p>
            <a:pPr algn="ctr"/>
            <a:r>
              <a:rPr lang="en-US" sz="2800" dirty="0" smtClean="0"/>
              <a:t>Version Stamps</a:t>
            </a:r>
            <a:endParaRPr lang="en-IN" sz="2800" dirty="0"/>
          </a:p>
        </p:txBody>
      </p:sp>
    </p:spTree>
    <p:extLst>
      <p:ext uri="{BB962C8B-B14F-4D97-AF65-F5344CB8AC3E}">
        <p14:creationId xmlns:p14="http://schemas.microsoft.com/office/powerpoint/2010/main" val="62695525"/>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5170646"/>
          </a:xfrm>
          <a:prstGeom prst="rect">
            <a:avLst/>
          </a:prstGeom>
          <a:noFill/>
        </p:spPr>
        <p:txBody>
          <a:bodyPr wrap="square" rtlCol="0">
            <a:spAutoFit/>
          </a:bodyPr>
          <a:lstStyle/>
          <a:p>
            <a:pPr marL="342900" indent="-342900" algn="just">
              <a:buFont typeface="Wingdings" panose="05000000000000000000" pitchFamily="2" charset="2"/>
              <a:buChar char="§"/>
            </a:pPr>
            <a:r>
              <a:rPr lang="en-IN" sz="2400" dirty="0" smtClean="0"/>
              <a:t>Purpose of versioning</a:t>
            </a:r>
          </a:p>
          <a:p>
            <a:pPr algn="just"/>
            <a:r>
              <a:rPr lang="en-US" sz="2400" dirty="0"/>
              <a:t> </a:t>
            </a:r>
            <a:r>
              <a:rPr lang="en-US" sz="2400" dirty="0" smtClean="0"/>
              <a:t>    </a:t>
            </a:r>
            <a:r>
              <a:rPr lang="en-US" b="1" dirty="0"/>
              <a:t>Track Changes:</a:t>
            </a:r>
            <a:r>
              <a:rPr lang="en-US" dirty="0"/>
              <a:t> Helps identify when and how a data item was modified</a:t>
            </a:r>
            <a:r>
              <a:rPr lang="en-US" dirty="0" smtClean="0"/>
              <a:t>.</a:t>
            </a:r>
          </a:p>
          <a:p>
            <a:pPr algn="just"/>
            <a:r>
              <a:rPr lang="en-US" dirty="0"/>
              <a:t> </a:t>
            </a:r>
            <a:r>
              <a:rPr lang="en-US" dirty="0" smtClean="0"/>
              <a:t>      </a:t>
            </a:r>
            <a:r>
              <a:rPr lang="en-US" b="1" dirty="0"/>
              <a:t>Detect Conflicts:</a:t>
            </a:r>
            <a:r>
              <a:rPr lang="en-US" dirty="0"/>
              <a:t> Ensures updates from different nodes are not silently overwritten</a:t>
            </a:r>
            <a:r>
              <a:rPr lang="en-US" dirty="0" smtClean="0"/>
              <a:t>.</a:t>
            </a:r>
          </a:p>
          <a:p>
            <a:pPr algn="just"/>
            <a:r>
              <a:rPr lang="en-US" dirty="0"/>
              <a:t> </a:t>
            </a:r>
            <a:r>
              <a:rPr lang="en-US" dirty="0" smtClean="0"/>
              <a:t>      </a:t>
            </a:r>
            <a:r>
              <a:rPr lang="en-US" b="1" dirty="0"/>
              <a:t>Maintain Order:</a:t>
            </a:r>
            <a:r>
              <a:rPr lang="en-US" dirty="0"/>
              <a:t> Provides a logical sequence of updates across distributed replicas</a:t>
            </a:r>
            <a:r>
              <a:rPr lang="en-US" dirty="0" smtClean="0"/>
              <a:t>.</a:t>
            </a:r>
          </a:p>
          <a:p>
            <a:pPr algn="just"/>
            <a:r>
              <a:rPr lang="en-US" dirty="0"/>
              <a:t> </a:t>
            </a:r>
            <a:r>
              <a:rPr lang="en-US" dirty="0" smtClean="0"/>
              <a:t>      </a:t>
            </a:r>
            <a:r>
              <a:rPr lang="en-US" b="1" dirty="0"/>
              <a:t>Support Consistency Models:</a:t>
            </a:r>
            <a:r>
              <a:rPr lang="en-US" dirty="0"/>
              <a:t> Enables conflict resolution strategies like </a:t>
            </a:r>
            <a:r>
              <a:rPr lang="en-US" i="1" dirty="0" smtClean="0"/>
              <a:t>last-write-</a:t>
            </a:r>
          </a:p>
          <a:p>
            <a:pPr algn="just"/>
            <a:r>
              <a:rPr lang="en-US" i="1" dirty="0"/>
              <a:t> </a:t>
            </a:r>
            <a:r>
              <a:rPr lang="en-US" i="1" dirty="0" smtClean="0"/>
              <a:t>      wins</a:t>
            </a:r>
            <a:r>
              <a:rPr lang="en-US" dirty="0"/>
              <a:t>, </a:t>
            </a:r>
            <a:r>
              <a:rPr lang="en-US" i="1" dirty="0"/>
              <a:t>merge</a:t>
            </a:r>
            <a:r>
              <a:rPr lang="en-US" dirty="0"/>
              <a:t>, or </a:t>
            </a:r>
            <a:r>
              <a:rPr lang="en-US" i="1" dirty="0"/>
              <a:t>application-defined policies</a:t>
            </a:r>
            <a:r>
              <a:rPr lang="en-US" dirty="0" smtClean="0"/>
              <a:t>.</a:t>
            </a:r>
          </a:p>
          <a:p>
            <a:pPr algn="just"/>
            <a:endParaRPr lang="en-IN" dirty="0" smtClean="0"/>
          </a:p>
          <a:p>
            <a:pPr marL="342900" indent="-342900" algn="just">
              <a:buFont typeface="Wingdings" panose="05000000000000000000" pitchFamily="2" charset="2"/>
              <a:buChar char="§"/>
            </a:pPr>
            <a:r>
              <a:rPr lang="en-US" sz="2400" dirty="0" smtClean="0"/>
              <a:t>Version stamps in multiple nodes</a:t>
            </a:r>
          </a:p>
          <a:p>
            <a:pPr algn="just"/>
            <a:r>
              <a:rPr lang="en-US" sz="2400" dirty="0"/>
              <a:t>      </a:t>
            </a:r>
            <a:r>
              <a:rPr lang="en-US" dirty="0"/>
              <a:t>Each data item is associated with a </a:t>
            </a:r>
            <a:r>
              <a:rPr lang="en-US" b="1" dirty="0"/>
              <a:t>version stamp</a:t>
            </a:r>
            <a:r>
              <a:rPr lang="en-US" dirty="0"/>
              <a:t> (can be a timestamp, counter, or </a:t>
            </a:r>
            <a:endParaRPr lang="en-US" dirty="0" smtClean="0"/>
          </a:p>
          <a:p>
            <a:pPr algn="just"/>
            <a:r>
              <a:rPr lang="en-US" dirty="0"/>
              <a:t> </a:t>
            </a:r>
            <a:r>
              <a:rPr lang="en-US" dirty="0" smtClean="0"/>
              <a:t>       vector </a:t>
            </a:r>
            <a:r>
              <a:rPr lang="en-US" dirty="0"/>
              <a:t>clock). </a:t>
            </a:r>
            <a:endParaRPr lang="en-US" dirty="0" smtClean="0"/>
          </a:p>
          <a:p>
            <a:r>
              <a:rPr lang="en-US" dirty="0"/>
              <a:t> </a:t>
            </a:r>
            <a:r>
              <a:rPr lang="en-US" dirty="0" smtClean="0"/>
              <a:t>       </a:t>
            </a:r>
            <a:r>
              <a:rPr lang="en-US" dirty="0"/>
              <a:t>When an update occurs:</a:t>
            </a:r>
          </a:p>
          <a:p>
            <a:r>
              <a:rPr lang="en-US" dirty="0" smtClean="0"/>
              <a:t>          </a:t>
            </a:r>
            <a:r>
              <a:rPr lang="en-US" i="1" dirty="0" smtClean="0"/>
              <a:t>The </a:t>
            </a:r>
            <a:r>
              <a:rPr lang="en-US" b="1" i="1" dirty="0"/>
              <a:t>node increments its local version</a:t>
            </a:r>
            <a:r>
              <a:rPr lang="en-US" i="1" dirty="0"/>
              <a:t> for that item.</a:t>
            </a:r>
          </a:p>
          <a:p>
            <a:r>
              <a:rPr lang="en-US" dirty="0" smtClean="0"/>
              <a:t>          </a:t>
            </a:r>
            <a:r>
              <a:rPr lang="en-US" i="1" dirty="0" smtClean="0"/>
              <a:t>The </a:t>
            </a:r>
            <a:r>
              <a:rPr lang="en-US" i="1" dirty="0"/>
              <a:t>new version stamp is sent along with the updated data to other replicas</a:t>
            </a:r>
            <a:r>
              <a:rPr lang="en-US" i="1" dirty="0" smtClean="0"/>
              <a:t>.</a:t>
            </a:r>
          </a:p>
          <a:p>
            <a:r>
              <a:rPr lang="en-US" dirty="0" smtClean="0"/>
              <a:t>        Multiple </a:t>
            </a:r>
            <a:r>
              <a:rPr lang="en-US" dirty="0"/>
              <a:t>nodes may generate different version stamps → useful for tracking </a:t>
            </a:r>
            <a:endParaRPr lang="en-US" dirty="0" smtClean="0"/>
          </a:p>
          <a:p>
            <a:r>
              <a:rPr lang="en-US" b="1" dirty="0"/>
              <a:t> </a:t>
            </a:r>
            <a:r>
              <a:rPr lang="en-US" b="1" dirty="0" smtClean="0"/>
              <a:t>       concurrent </a:t>
            </a:r>
            <a:r>
              <a:rPr lang="en-US" b="1" dirty="0"/>
              <a:t>updates</a:t>
            </a:r>
            <a:r>
              <a:rPr lang="en-US" dirty="0"/>
              <a:t>. Helps distinguish whether an update is </a:t>
            </a:r>
            <a:r>
              <a:rPr lang="en-US" b="1" dirty="0"/>
              <a:t>newer, older, or </a:t>
            </a:r>
            <a:endParaRPr lang="en-US" b="1" dirty="0" smtClean="0"/>
          </a:p>
          <a:p>
            <a:r>
              <a:rPr lang="en-US" b="1" dirty="0"/>
              <a:t> </a:t>
            </a:r>
            <a:r>
              <a:rPr lang="en-US" b="1" dirty="0" smtClean="0"/>
              <a:t>        conflicting</a:t>
            </a:r>
            <a:r>
              <a:rPr lang="en-US" dirty="0"/>
              <a:t>.</a:t>
            </a:r>
          </a:p>
          <a:p>
            <a:pPr algn="just"/>
            <a:endParaRPr lang="en-US"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106</a:t>
            </a:fld>
            <a:endParaRPr lang="en-US"/>
          </a:p>
        </p:txBody>
      </p:sp>
      <p:sp>
        <p:nvSpPr>
          <p:cNvPr id="5" name="TextBox 4"/>
          <p:cNvSpPr txBox="1"/>
          <p:nvPr/>
        </p:nvSpPr>
        <p:spPr>
          <a:xfrm>
            <a:off x="-1447800" y="392590"/>
            <a:ext cx="5889009" cy="523220"/>
          </a:xfrm>
          <a:prstGeom prst="rect">
            <a:avLst/>
          </a:prstGeom>
          <a:noFill/>
        </p:spPr>
        <p:txBody>
          <a:bodyPr wrap="square" rtlCol="0">
            <a:spAutoFit/>
          </a:bodyPr>
          <a:lstStyle/>
          <a:p>
            <a:pPr algn="ctr"/>
            <a:r>
              <a:rPr lang="en-US" sz="2800" dirty="0" smtClean="0"/>
              <a:t>Version Stamps</a:t>
            </a:r>
            <a:endParaRPr lang="en-IN" sz="2800" dirty="0"/>
          </a:p>
        </p:txBody>
      </p:sp>
    </p:spTree>
    <p:extLst>
      <p:ext uri="{BB962C8B-B14F-4D97-AF65-F5344CB8AC3E}">
        <p14:creationId xmlns:p14="http://schemas.microsoft.com/office/powerpoint/2010/main" val="323191881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4985980"/>
          </a:xfrm>
          <a:prstGeom prst="rect">
            <a:avLst/>
          </a:prstGeom>
          <a:noFill/>
        </p:spPr>
        <p:txBody>
          <a:bodyPr wrap="square" rtlCol="0">
            <a:spAutoFit/>
          </a:bodyPr>
          <a:lstStyle/>
          <a:p>
            <a:pPr marL="342900" indent="-342900" algn="just">
              <a:buFont typeface="Wingdings" panose="05000000000000000000" pitchFamily="2" charset="2"/>
              <a:buChar char="§"/>
            </a:pPr>
            <a:r>
              <a:rPr lang="en-US" sz="2400" dirty="0" smtClean="0"/>
              <a:t>Conflict resolution:</a:t>
            </a:r>
          </a:p>
          <a:p>
            <a:pPr algn="just"/>
            <a:r>
              <a:rPr lang="en-US" sz="2400" dirty="0" smtClean="0"/>
              <a:t>      </a:t>
            </a:r>
            <a:r>
              <a:rPr lang="en-US" dirty="0"/>
              <a:t>When multiple versions of the same data exist across nodes, conflicts arise. </a:t>
            </a:r>
            <a:endParaRPr lang="en-US" dirty="0" smtClean="0"/>
          </a:p>
          <a:p>
            <a:pPr algn="just"/>
            <a:r>
              <a:rPr lang="en-US" dirty="0"/>
              <a:t> </a:t>
            </a:r>
            <a:r>
              <a:rPr lang="en-US" dirty="0" smtClean="0"/>
              <a:t>       Common </a:t>
            </a:r>
            <a:r>
              <a:rPr lang="en-US" dirty="0"/>
              <a:t>strategies</a:t>
            </a:r>
            <a:r>
              <a:rPr lang="en-US" dirty="0" smtClean="0"/>
              <a:t>:</a:t>
            </a:r>
          </a:p>
          <a:p>
            <a:pPr algn="just"/>
            <a:r>
              <a:rPr lang="en-US" dirty="0"/>
              <a:t> </a:t>
            </a:r>
            <a:r>
              <a:rPr lang="en-US" dirty="0" smtClean="0"/>
              <a:t>       1. Last-Write-Wins (LWW): </a:t>
            </a:r>
          </a:p>
          <a:p>
            <a:pPr algn="just"/>
            <a:r>
              <a:rPr lang="en-US" dirty="0"/>
              <a:t> </a:t>
            </a:r>
            <a:r>
              <a:rPr lang="en-US" dirty="0" smtClean="0"/>
              <a:t>                  a). The update with the latest timestamp/version replaces others.</a:t>
            </a:r>
          </a:p>
          <a:p>
            <a:pPr algn="just"/>
            <a:r>
              <a:rPr lang="en-US" dirty="0"/>
              <a:t> </a:t>
            </a:r>
            <a:r>
              <a:rPr lang="en-US" dirty="0" smtClean="0"/>
              <a:t>                  b). Simple but may cause data loss.</a:t>
            </a:r>
          </a:p>
          <a:p>
            <a:pPr algn="just"/>
            <a:r>
              <a:rPr lang="en-US" dirty="0"/>
              <a:t> </a:t>
            </a:r>
            <a:r>
              <a:rPr lang="en-US" dirty="0" smtClean="0"/>
              <a:t>                  c). Example: Social media status update (latest post is kept)</a:t>
            </a:r>
          </a:p>
          <a:p>
            <a:pPr algn="just"/>
            <a:r>
              <a:rPr lang="en-US" dirty="0"/>
              <a:t> </a:t>
            </a:r>
            <a:r>
              <a:rPr lang="en-US" dirty="0" smtClean="0"/>
              <a:t>       2. Merging:</a:t>
            </a:r>
          </a:p>
          <a:p>
            <a:pPr algn="just"/>
            <a:r>
              <a:rPr lang="en-US" dirty="0"/>
              <a:t> </a:t>
            </a:r>
            <a:r>
              <a:rPr lang="en-US" dirty="0" smtClean="0"/>
              <a:t>                   a). Conflicting versions are combined into a single consistent state.</a:t>
            </a:r>
          </a:p>
          <a:p>
            <a:pPr algn="just"/>
            <a:r>
              <a:rPr lang="en-US" dirty="0"/>
              <a:t> </a:t>
            </a:r>
            <a:r>
              <a:rPr lang="en-US" dirty="0" smtClean="0"/>
              <a:t>                   b). Example: Shopping cart items (union of products from different replicas)</a:t>
            </a:r>
          </a:p>
          <a:p>
            <a:pPr algn="just"/>
            <a:r>
              <a:rPr lang="en-US" dirty="0"/>
              <a:t> </a:t>
            </a:r>
            <a:r>
              <a:rPr lang="en-US" dirty="0" smtClean="0"/>
              <a:t>       3. Application-Defined Rules:</a:t>
            </a:r>
          </a:p>
          <a:p>
            <a:pPr algn="just"/>
            <a:r>
              <a:rPr lang="en-US" dirty="0"/>
              <a:t> </a:t>
            </a:r>
            <a:r>
              <a:rPr lang="en-US" dirty="0" smtClean="0"/>
              <a:t>                   a). The application logic decides how to resolve conflicts.</a:t>
            </a:r>
          </a:p>
          <a:p>
            <a:pPr algn="just"/>
            <a:r>
              <a:rPr lang="en-US" dirty="0"/>
              <a:t> </a:t>
            </a:r>
            <a:r>
              <a:rPr lang="en-US" dirty="0" smtClean="0"/>
              <a:t>                   b). Example: Banking transactions: additive merge (</a:t>
            </a:r>
            <a:r>
              <a:rPr lang="en-US" dirty="0" err="1" smtClean="0"/>
              <a:t>credit+debit</a:t>
            </a:r>
            <a:r>
              <a:rPr lang="en-US" dirty="0" smtClean="0"/>
              <a:t>), not </a:t>
            </a:r>
          </a:p>
          <a:p>
            <a:pPr algn="just"/>
            <a:r>
              <a:rPr lang="en-US" dirty="0"/>
              <a:t> </a:t>
            </a:r>
            <a:r>
              <a:rPr lang="en-US" dirty="0" smtClean="0"/>
              <a:t>                         overwrite</a:t>
            </a:r>
          </a:p>
          <a:p>
            <a:pPr algn="just"/>
            <a:r>
              <a:rPr lang="en-US" dirty="0"/>
              <a:t> </a:t>
            </a:r>
            <a:r>
              <a:rPr lang="en-US" dirty="0" smtClean="0"/>
              <a:t>       4. User Intervention:</a:t>
            </a:r>
          </a:p>
          <a:p>
            <a:pPr algn="just"/>
            <a:r>
              <a:rPr lang="en-US" dirty="0"/>
              <a:t> </a:t>
            </a:r>
            <a:r>
              <a:rPr lang="en-US" dirty="0" smtClean="0"/>
              <a:t>                  a). In rare case, system asks users to choose which version to keep.</a:t>
            </a:r>
          </a:p>
          <a:p>
            <a:pPr algn="just"/>
            <a:r>
              <a:rPr lang="en-US" dirty="0"/>
              <a:t> </a:t>
            </a:r>
            <a:r>
              <a:rPr lang="en-US" dirty="0" smtClean="0"/>
              <a:t>                  b). Example: Document editing in Google Docs. </a:t>
            </a:r>
            <a:endParaRPr lang="en-IN"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107</a:t>
            </a:fld>
            <a:endParaRPr lang="en-US"/>
          </a:p>
        </p:txBody>
      </p:sp>
      <p:sp>
        <p:nvSpPr>
          <p:cNvPr id="5" name="TextBox 4"/>
          <p:cNvSpPr txBox="1"/>
          <p:nvPr/>
        </p:nvSpPr>
        <p:spPr>
          <a:xfrm>
            <a:off x="-1317009" y="260061"/>
            <a:ext cx="5889009" cy="523220"/>
          </a:xfrm>
          <a:prstGeom prst="rect">
            <a:avLst/>
          </a:prstGeom>
          <a:noFill/>
        </p:spPr>
        <p:txBody>
          <a:bodyPr wrap="square" rtlCol="0">
            <a:spAutoFit/>
          </a:bodyPr>
          <a:lstStyle/>
          <a:p>
            <a:pPr algn="ctr"/>
            <a:r>
              <a:rPr lang="en-US" sz="2800" dirty="0" smtClean="0"/>
              <a:t>Version Stamps</a:t>
            </a:r>
            <a:endParaRPr lang="en-IN" sz="2800" dirty="0"/>
          </a:p>
        </p:txBody>
      </p:sp>
    </p:spTree>
    <p:extLst>
      <p:ext uri="{BB962C8B-B14F-4D97-AF65-F5344CB8AC3E}">
        <p14:creationId xmlns:p14="http://schemas.microsoft.com/office/powerpoint/2010/main" val="3103541360"/>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1077218"/>
          </a:xfrm>
          <a:prstGeom prst="rect">
            <a:avLst/>
          </a:prstGeom>
          <a:noFill/>
        </p:spPr>
        <p:txBody>
          <a:bodyPr wrap="square" rtlCol="0">
            <a:spAutoFit/>
          </a:bodyPr>
          <a:lstStyle/>
          <a:p>
            <a:pPr marL="342900" indent="-342900" algn="just">
              <a:buFont typeface="Wingdings" panose="05000000000000000000" pitchFamily="2" charset="2"/>
              <a:buChar char="§"/>
            </a:pPr>
            <a:r>
              <a:rPr lang="en-US" sz="2400" dirty="0" smtClean="0"/>
              <a:t>Summary:</a:t>
            </a:r>
          </a:p>
          <a:p>
            <a:pPr algn="just"/>
            <a:r>
              <a:rPr lang="en-US" sz="2000" dirty="0" smtClean="0"/>
              <a:t>Version stamps are essential for ensuring </a:t>
            </a:r>
            <a:r>
              <a:rPr lang="en-US" sz="2000" b="1" i="1" dirty="0" smtClean="0"/>
              <a:t>data consistency across distributed nodes</a:t>
            </a:r>
            <a:r>
              <a:rPr lang="en-US" sz="2000" dirty="0" smtClean="0"/>
              <a:t>, detecting conflicts, and enabling reliable conflict resolution policy. </a:t>
            </a:r>
            <a:endParaRPr lang="en-IN" sz="2000"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108</a:t>
            </a:fld>
            <a:endParaRPr lang="en-US"/>
          </a:p>
        </p:txBody>
      </p:sp>
      <p:sp>
        <p:nvSpPr>
          <p:cNvPr id="5" name="TextBox 4"/>
          <p:cNvSpPr txBox="1"/>
          <p:nvPr/>
        </p:nvSpPr>
        <p:spPr>
          <a:xfrm>
            <a:off x="-1349093" y="391794"/>
            <a:ext cx="5889009" cy="523220"/>
          </a:xfrm>
          <a:prstGeom prst="rect">
            <a:avLst/>
          </a:prstGeom>
          <a:noFill/>
        </p:spPr>
        <p:txBody>
          <a:bodyPr wrap="square" rtlCol="0">
            <a:spAutoFit/>
          </a:bodyPr>
          <a:lstStyle/>
          <a:p>
            <a:pPr algn="ctr"/>
            <a:r>
              <a:rPr lang="en-US" sz="2800" dirty="0" smtClean="0"/>
              <a:t>Version Stamps</a:t>
            </a:r>
            <a:endParaRPr lang="en-IN" sz="2800" dirty="0"/>
          </a:p>
        </p:txBody>
      </p:sp>
    </p:spTree>
    <p:extLst>
      <p:ext uri="{BB962C8B-B14F-4D97-AF65-F5344CB8AC3E}">
        <p14:creationId xmlns:p14="http://schemas.microsoft.com/office/powerpoint/2010/main" val="160931852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1200329"/>
          </a:xfrm>
          <a:prstGeom prst="rect">
            <a:avLst/>
          </a:prstGeom>
          <a:noFill/>
        </p:spPr>
        <p:txBody>
          <a:bodyPr wrap="square" rtlCol="0">
            <a:spAutoFit/>
          </a:bodyPr>
          <a:lstStyle/>
          <a:p>
            <a:pPr marL="342900" indent="-342900" algn="just">
              <a:buFont typeface="Wingdings" panose="05000000000000000000" pitchFamily="2" charset="2"/>
              <a:buChar char="§"/>
            </a:pPr>
            <a:r>
              <a:rPr lang="en-IN" sz="2400" dirty="0" smtClean="0"/>
              <a:t>Business Transactions (application-level)</a:t>
            </a:r>
          </a:p>
          <a:p>
            <a:pPr marL="342900" indent="-342900" algn="just">
              <a:buFont typeface="Wingdings" panose="05000000000000000000" pitchFamily="2" charset="2"/>
              <a:buChar char="§"/>
            </a:pPr>
            <a:r>
              <a:rPr lang="en-US" sz="2400" dirty="0" smtClean="0"/>
              <a:t>System Transactions (database/system-level)</a:t>
            </a:r>
          </a:p>
          <a:p>
            <a:pPr marL="342900" indent="-342900" algn="just">
              <a:buFont typeface="Wingdings" panose="05000000000000000000" pitchFamily="2" charset="2"/>
              <a:buChar char="§"/>
            </a:pPr>
            <a:r>
              <a:rPr lang="en-US" sz="2400" dirty="0" smtClean="0"/>
              <a:t>How transactions interact with consistency</a:t>
            </a:r>
            <a:endParaRPr lang="en-IN" sz="2400"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109</a:t>
            </a:fld>
            <a:endParaRPr lang="en-US"/>
          </a:p>
        </p:txBody>
      </p:sp>
      <p:sp>
        <p:nvSpPr>
          <p:cNvPr id="5" name="TextBox 4"/>
          <p:cNvSpPr txBox="1"/>
          <p:nvPr/>
        </p:nvSpPr>
        <p:spPr>
          <a:xfrm>
            <a:off x="20053" y="304800"/>
            <a:ext cx="5889009" cy="523220"/>
          </a:xfrm>
          <a:prstGeom prst="rect">
            <a:avLst/>
          </a:prstGeom>
          <a:noFill/>
        </p:spPr>
        <p:txBody>
          <a:bodyPr wrap="square" rtlCol="0">
            <a:spAutoFit/>
          </a:bodyPr>
          <a:lstStyle/>
          <a:p>
            <a:pPr algn="ctr"/>
            <a:r>
              <a:rPr lang="en-US" sz="2800" dirty="0" smtClean="0"/>
              <a:t>Transactions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1495" y="2895600"/>
            <a:ext cx="2197009" cy="1971675"/>
          </a:xfrm>
          <a:prstGeom prst="rect">
            <a:avLst/>
          </a:prstGeom>
        </p:spPr>
      </p:pic>
    </p:spTree>
    <p:extLst>
      <p:ext uri="{BB962C8B-B14F-4D97-AF65-F5344CB8AC3E}">
        <p14:creationId xmlns:p14="http://schemas.microsoft.com/office/powerpoint/2010/main" val="417362529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4401205"/>
          </a:xfrm>
          <a:prstGeom prst="rect">
            <a:avLst/>
          </a:prstGeom>
          <a:noFill/>
        </p:spPr>
        <p:txBody>
          <a:bodyPr wrap="square" rtlCol="0">
            <a:spAutoFit/>
          </a:bodyPr>
          <a:lstStyle/>
          <a:p>
            <a:pPr marL="342900" indent="-342900" algn="just">
              <a:buFont typeface="Wingdings" panose="05000000000000000000" pitchFamily="2" charset="2"/>
              <a:buChar char="§"/>
            </a:pPr>
            <a:r>
              <a:rPr lang="en-US" altLang="en-US" sz="2000" dirty="0" smtClean="0">
                <a:solidFill>
                  <a:schemeClr val="accent2"/>
                </a:solidFill>
              </a:rPr>
              <a:t>Business </a:t>
            </a:r>
            <a:r>
              <a:rPr lang="en-US" altLang="en-US" sz="2000" dirty="0">
                <a:solidFill>
                  <a:schemeClr val="accent2"/>
                </a:solidFill>
              </a:rPr>
              <a:t>transactions </a:t>
            </a:r>
            <a:r>
              <a:rPr lang="en-US" altLang="en-US" sz="2000" dirty="0"/>
              <a:t>refer to meaningful activities or interactions that occur in the context of a business operation. These transactions typically involve the exchange of goods, services, or information and have a direct impact on the organization's financials or operational processes. </a:t>
            </a:r>
            <a:endParaRPr lang="en-US" altLang="en-US" sz="2000" dirty="0" smtClean="0"/>
          </a:p>
          <a:p>
            <a:pPr marL="342900" indent="-342900" algn="just">
              <a:buFont typeface="Wingdings" panose="05000000000000000000" pitchFamily="2" charset="2"/>
              <a:buChar char="§"/>
            </a:pPr>
            <a:r>
              <a:rPr lang="en-US" altLang="en-US" sz="2000" dirty="0"/>
              <a:t>Examples include sales transactions, purchase orders, inventory management, and customer interactions. </a:t>
            </a:r>
            <a:endParaRPr lang="en-US" altLang="en-US" sz="2000" dirty="0" smtClean="0"/>
          </a:p>
          <a:p>
            <a:pPr marL="342900" indent="-342900" algn="just">
              <a:buFont typeface="Wingdings" panose="05000000000000000000" pitchFamily="2" charset="2"/>
              <a:buChar char="§"/>
            </a:pPr>
            <a:r>
              <a:rPr lang="en-US" altLang="en-US" sz="2000" dirty="0" smtClean="0">
                <a:solidFill>
                  <a:schemeClr val="accent2"/>
                </a:solidFill>
              </a:rPr>
              <a:t>System transactions</a:t>
            </a:r>
            <a:r>
              <a:rPr lang="en-US" altLang="en-US" sz="2000" dirty="0"/>
              <a:t>, on the other hand, refer to the operations performed by a database management system (DBMS) to ensure the integrity and consistency of data during business transactions. </a:t>
            </a:r>
            <a:endParaRPr lang="en-US" altLang="en-US" sz="2000" dirty="0" smtClean="0"/>
          </a:p>
          <a:p>
            <a:pPr marL="342900" indent="-342900" algn="just">
              <a:buFont typeface="Wingdings" panose="05000000000000000000" pitchFamily="2" charset="2"/>
              <a:buChar char="§"/>
            </a:pPr>
            <a:r>
              <a:rPr lang="en-US" altLang="en-US" sz="2000" dirty="0" smtClean="0"/>
              <a:t>These </a:t>
            </a:r>
            <a:r>
              <a:rPr lang="en-US" altLang="en-US" sz="2000" dirty="0"/>
              <a:t>transactions are fundamental to the functioning of the database and follow the ACID (Atomicity, Consistency, Isolation, Durability) properties to guarantee reliable processing.</a:t>
            </a:r>
            <a:endParaRPr lang="en-IN" altLang="en-US" sz="2000" dirty="0"/>
          </a:p>
          <a:p>
            <a:pPr marL="342900" indent="-342900" algn="just">
              <a:buFont typeface="Wingdings" panose="05000000000000000000" pitchFamily="2" charset="2"/>
              <a:buChar char="§"/>
            </a:pPr>
            <a:endParaRPr lang="en-US" altLang="en-US" sz="2000" dirty="0" smtClean="0"/>
          </a:p>
          <a:p>
            <a:pPr marL="342900" indent="-342900" algn="just">
              <a:buFont typeface="Wingdings" panose="05000000000000000000" pitchFamily="2" charset="2"/>
              <a:buChar char="§"/>
            </a:pPr>
            <a:endParaRPr lang="en-IN" altLang="en-US" sz="2000" dirty="0">
              <a:solidFill>
                <a:schemeClr val="accent2"/>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110</a:t>
            </a:fld>
            <a:endParaRPr lang="en-US"/>
          </a:p>
        </p:txBody>
      </p:sp>
      <p:sp>
        <p:nvSpPr>
          <p:cNvPr id="5" name="TextBox 4"/>
          <p:cNvSpPr txBox="1"/>
          <p:nvPr/>
        </p:nvSpPr>
        <p:spPr>
          <a:xfrm>
            <a:off x="0" y="369038"/>
            <a:ext cx="5889009" cy="523220"/>
          </a:xfrm>
          <a:prstGeom prst="rect">
            <a:avLst/>
          </a:prstGeom>
          <a:noFill/>
        </p:spPr>
        <p:txBody>
          <a:bodyPr wrap="square" rtlCol="0">
            <a:spAutoFit/>
          </a:bodyPr>
          <a:lstStyle/>
          <a:p>
            <a:pPr algn="ctr"/>
            <a:r>
              <a:rPr lang="en-IN" altLang="en-US" sz="2800" dirty="0">
                <a:solidFill>
                  <a:srgbClr val="FF0000"/>
                </a:solidFill>
              </a:rPr>
              <a:t>Business and System Transactions</a:t>
            </a:r>
            <a:endParaRPr lang="en-IN" sz="2800" dirty="0"/>
          </a:p>
        </p:txBody>
      </p:sp>
    </p:spTree>
    <p:extLst>
      <p:ext uri="{BB962C8B-B14F-4D97-AF65-F5344CB8AC3E}">
        <p14:creationId xmlns:p14="http://schemas.microsoft.com/office/powerpoint/2010/main" val="4105558035"/>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5324535"/>
          </a:xfrm>
          <a:prstGeom prst="rect">
            <a:avLst/>
          </a:prstGeom>
          <a:noFill/>
        </p:spPr>
        <p:txBody>
          <a:bodyPr wrap="square" rtlCol="0">
            <a:spAutoFit/>
          </a:bodyPr>
          <a:lstStyle/>
          <a:p>
            <a:pPr marL="342900" indent="-342900" algn="just">
              <a:buFont typeface="Wingdings" panose="05000000000000000000" pitchFamily="2" charset="2"/>
              <a:buChar char="§"/>
            </a:pPr>
            <a:r>
              <a:rPr lang="en-US" altLang="en-US" sz="2000" dirty="0" smtClean="0"/>
              <a:t>Version </a:t>
            </a:r>
            <a:r>
              <a:rPr lang="en-US" altLang="en-US" sz="2000" dirty="0"/>
              <a:t>stamps on multiple nodes are a crucial mechanism in distributed systems, enabling the tracking and management of data versions across different replicas or nodes. This approach helps maintain consistency, resolve conflicts, and ensure data integrity in environments where concurrent updates may occur. </a:t>
            </a:r>
            <a:endParaRPr lang="en-US" altLang="en-US" sz="2000" dirty="0" smtClean="0"/>
          </a:p>
          <a:p>
            <a:pPr marL="342900" indent="-342900" algn="just">
              <a:buFont typeface="Wingdings" panose="05000000000000000000" pitchFamily="2" charset="2"/>
              <a:buChar char="§"/>
            </a:pPr>
            <a:r>
              <a:rPr lang="en-US" altLang="en-US" sz="2000" dirty="0" smtClean="0"/>
              <a:t>In </a:t>
            </a:r>
            <a:r>
              <a:rPr lang="en-US" altLang="en-US" sz="2000" dirty="0"/>
              <a:t>a distributed system, each node maintains its own version stamp for data items, which can be either </a:t>
            </a:r>
            <a:r>
              <a:rPr lang="en-US" altLang="en-US" sz="2000" dirty="0">
                <a:solidFill>
                  <a:schemeClr val="accent2"/>
                </a:solidFill>
              </a:rPr>
              <a:t>logical timestamps, vector clocks, or physical timestamps. </a:t>
            </a:r>
            <a:endParaRPr lang="en-US" altLang="en-US" sz="2000" dirty="0" smtClean="0">
              <a:solidFill>
                <a:schemeClr val="accent2"/>
              </a:solidFill>
            </a:endParaRPr>
          </a:p>
          <a:p>
            <a:pPr marL="342900" indent="-342900" algn="just">
              <a:buFont typeface="Wingdings" panose="05000000000000000000" pitchFamily="2" charset="2"/>
              <a:buChar char="§"/>
            </a:pPr>
            <a:r>
              <a:rPr lang="en-US" altLang="en-US" sz="2000" dirty="0"/>
              <a:t>When a node performs an update to a data item, it associates the update with its current version stamp. This versioning allows the system to track changes and determine the most recent version of the data across all nodes. </a:t>
            </a:r>
          </a:p>
          <a:p>
            <a:pPr marL="342900" indent="-342900" algn="just">
              <a:buFont typeface="Wingdings" panose="05000000000000000000" pitchFamily="2" charset="2"/>
              <a:buChar char="§"/>
            </a:pPr>
            <a:endParaRPr lang="en-US" altLang="en-US" sz="2000" b="1" dirty="0" smtClean="0">
              <a:solidFill>
                <a:schemeClr val="accent2"/>
              </a:solidFill>
            </a:endParaRPr>
          </a:p>
          <a:p>
            <a:pPr marL="342900" indent="-342900" algn="just">
              <a:buFont typeface="Wingdings" panose="05000000000000000000" pitchFamily="2" charset="2"/>
              <a:buChar char="§"/>
            </a:pPr>
            <a:r>
              <a:rPr lang="en-US" altLang="en-US" sz="2000" b="1" dirty="0" smtClean="0">
                <a:solidFill>
                  <a:schemeClr val="accent2"/>
                </a:solidFill>
              </a:rPr>
              <a:t>Logical </a:t>
            </a:r>
            <a:r>
              <a:rPr lang="en-US" altLang="en-US" sz="2000" b="1" dirty="0">
                <a:solidFill>
                  <a:schemeClr val="accent2"/>
                </a:solidFill>
              </a:rPr>
              <a:t>Timestamps: </a:t>
            </a:r>
            <a:r>
              <a:rPr lang="en-US" altLang="en-US" sz="2000" dirty="0"/>
              <a:t>Each update is assigned a unique logical timestamp based on the order of operations. If two nodes perform updates concurrently, their timestamps help in determining the sequence of updates</a:t>
            </a:r>
            <a:r>
              <a:rPr lang="en-US" altLang="en-US" sz="1600" dirty="0"/>
              <a:t>. </a:t>
            </a:r>
          </a:p>
          <a:p>
            <a:pPr marL="342900" indent="-342900" algn="just">
              <a:buFont typeface="Wingdings" panose="05000000000000000000" pitchFamily="2" charset="2"/>
              <a:buChar char="§"/>
            </a:pPr>
            <a:endParaRPr lang="en-US" sz="2000" dirty="0" smtClean="0"/>
          </a:p>
          <a:p>
            <a:pPr marL="342900" indent="-342900" algn="just">
              <a:buFont typeface="Wingdings" panose="05000000000000000000" pitchFamily="2" charset="2"/>
              <a:buChar char="§"/>
            </a:pPr>
            <a:r>
              <a:rPr lang="en-US" sz="2000" dirty="0" smtClean="0"/>
              <a:t>Conflict resolution</a:t>
            </a:r>
            <a:endParaRPr lang="en-IN" sz="2000"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111</a:t>
            </a:fld>
            <a:endParaRPr lang="en-US"/>
          </a:p>
        </p:txBody>
      </p:sp>
      <p:sp>
        <p:nvSpPr>
          <p:cNvPr id="5" name="TextBox 4"/>
          <p:cNvSpPr txBox="1"/>
          <p:nvPr/>
        </p:nvSpPr>
        <p:spPr>
          <a:xfrm>
            <a:off x="208547" y="381000"/>
            <a:ext cx="5889009" cy="523220"/>
          </a:xfrm>
          <a:prstGeom prst="rect">
            <a:avLst/>
          </a:prstGeom>
          <a:noFill/>
        </p:spPr>
        <p:txBody>
          <a:bodyPr wrap="square" rtlCol="0">
            <a:spAutoFit/>
          </a:bodyPr>
          <a:lstStyle/>
          <a:p>
            <a:pPr algn="ctr"/>
            <a:r>
              <a:rPr lang="en-US" sz="2800" dirty="0" smtClean="0"/>
              <a:t>Version Stamps on Multiple Nodes</a:t>
            </a:r>
            <a:endParaRPr lang="en-IN" sz="2800" dirty="0"/>
          </a:p>
        </p:txBody>
      </p:sp>
    </p:spTree>
    <p:extLst>
      <p:ext uri="{BB962C8B-B14F-4D97-AF65-F5344CB8AC3E}">
        <p14:creationId xmlns:p14="http://schemas.microsoft.com/office/powerpoint/2010/main" val="3349946470"/>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2554545"/>
          </a:xfrm>
          <a:prstGeom prst="rect">
            <a:avLst/>
          </a:prstGeom>
          <a:noFill/>
        </p:spPr>
        <p:txBody>
          <a:bodyPr wrap="square" rtlCol="0">
            <a:spAutoFit/>
          </a:bodyPr>
          <a:lstStyle/>
          <a:p>
            <a:pPr marL="342900" indent="-342900" algn="just">
              <a:buFont typeface="Wingdings" panose="05000000000000000000" pitchFamily="2" charset="2"/>
              <a:buChar char="§"/>
            </a:pPr>
            <a:r>
              <a:rPr lang="en-US" altLang="en-US" sz="2000" b="1" dirty="0">
                <a:solidFill>
                  <a:schemeClr val="accent2"/>
                </a:solidFill>
              </a:rPr>
              <a:t>Vector Clocks: </a:t>
            </a:r>
            <a:r>
              <a:rPr lang="en-US" altLang="en-US" sz="2000" dirty="0"/>
              <a:t>Each node maintains a vector clock that counts the number of updates it has made and tracks updates from other nodes. When a node updates a data item, it increments its own entry in the vector clock and may also compare its vector with others to resolve </a:t>
            </a:r>
            <a:r>
              <a:rPr lang="en-US" altLang="en-US" sz="2000" dirty="0" smtClean="0"/>
              <a:t>conflicts.</a:t>
            </a:r>
            <a:endParaRPr lang="en-US" sz="2000" dirty="0" smtClean="0"/>
          </a:p>
          <a:p>
            <a:pPr marL="342900" indent="-342900" algn="just">
              <a:buFont typeface="Wingdings" panose="05000000000000000000" pitchFamily="2" charset="2"/>
              <a:buChar char="§"/>
            </a:pPr>
            <a:r>
              <a:rPr lang="en-US" altLang="en-US" sz="2000" b="1" dirty="0" smtClean="0">
                <a:solidFill>
                  <a:schemeClr val="accent2"/>
                </a:solidFill>
              </a:rPr>
              <a:t>Physical </a:t>
            </a:r>
            <a:r>
              <a:rPr lang="en-US" altLang="en-US" sz="2000" b="1" dirty="0">
                <a:solidFill>
                  <a:schemeClr val="accent2"/>
                </a:solidFill>
              </a:rPr>
              <a:t>Timestamps: </a:t>
            </a:r>
            <a:r>
              <a:rPr lang="en-US" altLang="en-US" sz="2000" dirty="0"/>
              <a:t>In systems using physical timestamps, each update is time-stamped based on real-time. However, this approach can face challenges related to clock synchronization across nodes.</a:t>
            </a:r>
            <a:endParaRPr lang="en-IN" altLang="en-US" sz="2000" dirty="0"/>
          </a:p>
          <a:p>
            <a:pPr marL="342900" indent="-342900" algn="just">
              <a:buFont typeface="Wingdings" panose="05000000000000000000" pitchFamily="2" charset="2"/>
              <a:buChar char="§"/>
            </a:pPr>
            <a:endParaRPr lang="en-IN" sz="2000"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112</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smtClean="0"/>
              <a:t>Version Stamps on Multiple Nodes</a:t>
            </a:r>
            <a:endParaRPr lang="en-IN" sz="2800" dirty="0"/>
          </a:p>
        </p:txBody>
      </p:sp>
    </p:spTree>
    <p:extLst>
      <p:ext uri="{BB962C8B-B14F-4D97-AF65-F5344CB8AC3E}">
        <p14:creationId xmlns:p14="http://schemas.microsoft.com/office/powerpoint/2010/main" val="248988360"/>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113</a:t>
            </a:fld>
            <a:endParaRPr lang="en-US"/>
          </a:p>
        </p:txBody>
      </p:sp>
      <p:pic>
        <p:nvPicPr>
          <p:cNvPr id="17410" name="Picture 2" descr="Clustering of graphs and search of assemblages"/>
          <p:cNvPicPr>
            <a:picLocks noChangeAspect="1" noChangeArrowheads="1"/>
          </p:cNvPicPr>
          <p:nvPr/>
        </p:nvPicPr>
        <p:blipFill rotWithShape="1">
          <a:blip r:embed="rId2">
            <a:extLst>
              <a:ext uri="{28A0092B-C50C-407E-A947-70E740481C1C}">
                <a14:useLocalDpi xmlns:a14="http://schemas.microsoft.com/office/drawing/2010/main" val="0"/>
              </a:ext>
            </a:extLst>
          </a:blip>
          <a:srcRect t="6666" b="17778"/>
          <a:stretch/>
        </p:blipFill>
        <p:spPr bwMode="auto">
          <a:xfrm>
            <a:off x="-1" y="457200"/>
            <a:ext cx="9134477" cy="5181600"/>
          </a:xfrm>
          <a:prstGeom prst="rect">
            <a:avLst/>
          </a:prstGeom>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6D4F69F-5146-49E3-921C-42C19CDF0728}"/>
              </a:ext>
            </a:extLst>
          </p:cNvPr>
          <p:cNvSpPr>
            <a:spLocks noGrp="1"/>
          </p:cNvSpPr>
          <p:nvPr>
            <p:ph type="ftr" sz="quarter" idx="11"/>
          </p:nvPr>
        </p:nvSpPr>
        <p:spPr/>
        <p:txBody>
          <a:bodyPr/>
          <a:lstStyle/>
          <a:p>
            <a:r>
              <a:rPr lang="en-US" dirty="0"/>
              <a:t>CSE3513 NoSQL Data Management</a:t>
            </a:r>
          </a:p>
        </p:txBody>
      </p:sp>
    </p:spTree>
    <p:extLst>
      <p:ext uri="{BB962C8B-B14F-4D97-AF65-F5344CB8AC3E}">
        <p14:creationId xmlns:p14="http://schemas.microsoft.com/office/powerpoint/2010/main" val="1639119821"/>
      </p:ext>
    </p:extLst>
  </p:cSld>
  <p:clrMapOvr>
    <a:masterClrMapping/>
  </p:clrMapOvr>
  <p:timing>
    <p:tnLst>
      <p:par>
        <p:cTn id="1" dur="indefinite" restart="never" nodeType="tmRoot"/>
      </p:par>
    </p:tnLst>
  </p:timing>
</p:sld>
</file>

<file path=ppt/theme/theme1.xml><?xml version="1.0" encoding="utf-8"?>
<a:theme xmlns:a="http://schemas.openxmlformats.org/drawingml/2006/main" name="Thiru_Regular">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iru_Regular" id="{8307898E-903F-4964-A0DF-A6DCECB060AB}" vid="{55A8074A-D5AE-4568-A496-E28AC65B10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095C7B49EE1146AAA8C8462146272B" ma:contentTypeVersion="13" ma:contentTypeDescription="Create a new document." ma:contentTypeScope="" ma:versionID="8fbffbc479621829441d6d4dd2e82675">
  <xsd:schema xmlns:xsd="http://www.w3.org/2001/XMLSchema" xmlns:xs="http://www.w3.org/2001/XMLSchema" xmlns:p="http://schemas.microsoft.com/office/2006/metadata/properties" xmlns:ns2="d256e026-6fec-4aae-99b6-8461207f8c96" xmlns:ns3="34af669e-4748-4732-b330-41524f39faf0" targetNamespace="http://schemas.microsoft.com/office/2006/metadata/properties" ma:root="true" ma:fieldsID="af9eab97b86410be42d0a81c39848e2f" ns2:_="" ns3:_="">
    <xsd:import namespace="d256e026-6fec-4aae-99b6-8461207f8c96"/>
    <xsd:import namespace="34af669e-4748-4732-b330-41524f39faf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56e026-6fec-4aae-99b6-8461207f8c9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1e15fc21-9b6e-469d-a2ab-87c63061b4a9}" ma:internalName="TaxCatchAll" ma:showField="CatchAllData" ma:web="d256e026-6fec-4aae-99b6-8461207f8c9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4af669e-4748-4732-b330-41524f39faf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4af669e-4748-4732-b330-41524f39faf0">
      <Terms xmlns="http://schemas.microsoft.com/office/infopath/2007/PartnerControls"/>
    </lcf76f155ced4ddcb4097134ff3c332f>
    <TaxCatchAll xmlns="d256e026-6fec-4aae-99b6-8461207f8c96" xsi:nil="true"/>
  </documentManagement>
</p:properties>
</file>

<file path=customXml/itemProps1.xml><?xml version="1.0" encoding="utf-8"?>
<ds:datastoreItem xmlns:ds="http://schemas.openxmlformats.org/officeDocument/2006/customXml" ds:itemID="{C0FDA373-D5CF-4F0F-A826-9892AA050C92}">
  <ds:schemaRefs>
    <ds:schemaRef ds:uri="http://schemas.microsoft.com/sharepoint/v3/contenttype/forms"/>
  </ds:schemaRefs>
</ds:datastoreItem>
</file>

<file path=customXml/itemProps2.xml><?xml version="1.0" encoding="utf-8"?>
<ds:datastoreItem xmlns:ds="http://schemas.openxmlformats.org/officeDocument/2006/customXml" ds:itemID="{EBD5350E-A17E-4EA1-870B-737693FEC1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56e026-6fec-4aae-99b6-8461207f8c96"/>
    <ds:schemaRef ds:uri="34af669e-4748-4732-b330-41524f39fa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5DFE7C8-44AE-4CA0-BC1C-D7A115A2224E}">
  <ds:schemaRefs>
    <ds:schemaRef ds:uri="http://www.w3.org/XML/1998/namespace"/>
    <ds:schemaRef ds:uri="http://schemas.openxmlformats.org/package/2006/metadata/core-properties"/>
    <ds:schemaRef ds:uri="http://schemas.microsoft.com/office/2006/metadata/properties"/>
    <ds:schemaRef ds:uri="http://purl.org/dc/elements/1.1/"/>
    <ds:schemaRef ds:uri="http://schemas.microsoft.com/office/2006/documentManagement/types"/>
    <ds:schemaRef ds:uri="34af669e-4748-4732-b330-41524f39faf0"/>
    <ds:schemaRef ds:uri="http://schemas.microsoft.com/office/infopath/2007/PartnerControls"/>
    <ds:schemaRef ds:uri="d256e026-6fec-4aae-99b6-8461207f8c96"/>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13506</TotalTime>
  <Words>7272</Words>
  <Application>Microsoft Office PowerPoint</Application>
  <PresentationFormat>On-screen Show (4:3)</PresentationFormat>
  <Paragraphs>987</Paragraphs>
  <Slides>113</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113</vt:i4>
      </vt:variant>
    </vt:vector>
  </HeadingPairs>
  <TitlesOfParts>
    <vt:vector size="124" baseType="lpstr">
      <vt:lpstr>Aptos</vt:lpstr>
      <vt:lpstr>Arial</vt:lpstr>
      <vt:lpstr>Bookman Old Style</vt:lpstr>
      <vt:lpstr>Calibri</vt:lpstr>
      <vt:lpstr>Cambria</vt:lpstr>
      <vt:lpstr>Courier New</vt:lpstr>
      <vt:lpstr>Segoe UI Emoji</vt:lpstr>
      <vt:lpstr>Symbol</vt:lpstr>
      <vt:lpstr>Times New Roman</vt:lpstr>
      <vt:lpstr>Wingdings</vt:lpstr>
      <vt:lpstr>Thiru_Regular</vt:lpstr>
      <vt:lpstr>PowerPoint Presentation</vt:lpstr>
      <vt:lpstr>Module 2 : Distributed Data Systems and Consistency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Thiruselvan Subramanian</dc:creator>
  <cp:lastModifiedBy>HP</cp:lastModifiedBy>
  <cp:revision>511</cp:revision>
  <dcterms:created xsi:type="dcterms:W3CDTF">2006-08-16T00:00:00Z</dcterms:created>
  <dcterms:modified xsi:type="dcterms:W3CDTF">2025-09-24T11:33:39Z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0x010100E5095C7B49EE1146AAA8C8462146272B</vt:lpwstr>
  </property>
</Properties>
</file>