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72"/>
  </p:notesMasterIdLst>
  <p:handoutMasterIdLst>
    <p:handoutMasterId r:id="rId73"/>
  </p:handoutMasterIdLst>
  <p:sldIdLst>
    <p:sldId id="256" r:id="rId5"/>
    <p:sldId id="262" r:id="rId6"/>
    <p:sldId id="263" r:id="rId7"/>
    <p:sldId id="267" r:id="rId8"/>
    <p:sldId id="265" r:id="rId9"/>
    <p:sldId id="266" r:id="rId10"/>
    <p:sldId id="434" r:id="rId11"/>
    <p:sldId id="435" r:id="rId12"/>
    <p:sldId id="440" r:id="rId13"/>
    <p:sldId id="444" r:id="rId14"/>
    <p:sldId id="445" r:id="rId15"/>
    <p:sldId id="446" r:id="rId16"/>
    <p:sldId id="447" r:id="rId17"/>
    <p:sldId id="441" r:id="rId18"/>
    <p:sldId id="448" r:id="rId19"/>
    <p:sldId id="442" r:id="rId20"/>
    <p:sldId id="443" r:id="rId21"/>
    <p:sldId id="439" r:id="rId22"/>
    <p:sldId id="449" r:id="rId23"/>
    <p:sldId id="451" r:id="rId24"/>
    <p:sldId id="452" r:id="rId25"/>
    <p:sldId id="450" r:id="rId26"/>
    <p:sldId id="453" r:id="rId27"/>
    <p:sldId id="454" r:id="rId28"/>
    <p:sldId id="502" r:id="rId29"/>
    <p:sldId id="456" r:id="rId30"/>
    <p:sldId id="457" r:id="rId31"/>
    <p:sldId id="458" r:id="rId32"/>
    <p:sldId id="459" r:id="rId33"/>
    <p:sldId id="460" r:id="rId34"/>
    <p:sldId id="461" r:id="rId35"/>
    <p:sldId id="462" r:id="rId36"/>
    <p:sldId id="465" r:id="rId37"/>
    <p:sldId id="463" r:id="rId38"/>
    <p:sldId id="464" r:id="rId39"/>
    <p:sldId id="466" r:id="rId40"/>
    <p:sldId id="467" r:id="rId41"/>
    <p:sldId id="468" r:id="rId42"/>
    <p:sldId id="469" r:id="rId43"/>
    <p:sldId id="470" r:id="rId44"/>
    <p:sldId id="471" r:id="rId45"/>
    <p:sldId id="472" r:id="rId46"/>
    <p:sldId id="473" r:id="rId47"/>
    <p:sldId id="474" r:id="rId48"/>
    <p:sldId id="477" r:id="rId49"/>
    <p:sldId id="478" r:id="rId50"/>
    <p:sldId id="479" r:id="rId51"/>
    <p:sldId id="475" r:id="rId52"/>
    <p:sldId id="476" r:id="rId53"/>
    <p:sldId id="481" r:id="rId54"/>
    <p:sldId id="480" r:id="rId55"/>
    <p:sldId id="482" r:id="rId56"/>
    <p:sldId id="484" r:id="rId57"/>
    <p:sldId id="485" r:id="rId58"/>
    <p:sldId id="486" r:id="rId59"/>
    <p:sldId id="487" r:id="rId60"/>
    <p:sldId id="488" r:id="rId61"/>
    <p:sldId id="489" r:id="rId62"/>
    <p:sldId id="490" r:id="rId63"/>
    <p:sldId id="491" r:id="rId64"/>
    <p:sldId id="492" r:id="rId65"/>
    <p:sldId id="493" r:id="rId66"/>
    <p:sldId id="495" r:id="rId67"/>
    <p:sldId id="498" r:id="rId68"/>
    <p:sldId id="499" r:id="rId69"/>
    <p:sldId id="500" r:id="rId70"/>
    <p:sldId id="501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88" autoAdjust="0"/>
    <p:restoredTop sz="94696"/>
  </p:normalViewPr>
  <p:slideViewPr>
    <p:cSldViewPr>
      <p:cViewPr varScale="1">
        <p:scale>
          <a:sx n="80" d="100"/>
          <a:sy n="80" d="100"/>
        </p:scale>
        <p:origin x="150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1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61D096-7E3B-4901-842A-409E8605E42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15BC48-F514-41A9-A06B-89726FEA9A4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79382B1-A318-4E25-8B63-3F37CB0D7274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D08C1B-89CC-4E1C-BEAF-FABC3A03FD30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680425-9698-4DA0-B543-89E03CD4FF44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DF3898-51C9-42CA-AFF7-14A768C26905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9E076F-7826-4434-B030-EF730E273267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09F549-E219-413D-B622-4D983791557B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42CD6-7FAF-40A4-81AA-297C9A9B6773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38856-79CA-49AF-934C-26554E0FC8D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CC4072-E3E6-4B98-A2C1-5BEC13CB7DE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E2650-6778-464F-AABC-7C744B7A5C3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rainkart.com/subject/Web-Technology_169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-6927" y="1041962"/>
            <a:ext cx="9144000" cy="20232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NoSQL Data Management</a:t>
            </a:r>
            <a:endParaRPr lang="en-IN" sz="2800" dirty="0"/>
          </a:p>
          <a:p>
            <a:r>
              <a:rPr lang="en-US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MODULE 4</a:t>
            </a:r>
            <a:endParaRPr lang="en-US" sz="2800" dirty="0"/>
          </a:p>
          <a:p>
            <a:endParaRPr lang="en-IN" sz="2800" dirty="0">
              <a:hlinkClick r:id="rId6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8208926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0" indent="0"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Tx/>
              <a:buNone/>
              <a:defRPr/>
            </a:pPr>
            <a:r>
              <a:rPr lang="en-IN" sz="2800" kern="0" dirty="0">
                <a:solidFill>
                  <a:prstClr val="black"/>
                </a:solidFill>
              </a:rPr>
              <a:t>School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279DD-902E-2A92-3D58-8E208C61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6200" y="6447632"/>
            <a:ext cx="30861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C05B8D3A-438B-3936-B6F4-1A08DB159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400800" y="653891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5193B60-C21E-E344-9567-CF508CE820DC}" type="slidenum">
              <a:rPr lang="en-US" altLang="en-US" sz="9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900" dirty="0">
              <a:solidFill>
                <a:srgbClr val="89898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4825B3-A782-574D-CF27-D06B0F367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60440"/>
              </p:ext>
            </p:extLst>
          </p:nvPr>
        </p:nvGraphicFramePr>
        <p:xfrm>
          <a:off x="533400" y="1447800"/>
          <a:ext cx="8229600" cy="4012502"/>
        </p:xfrm>
        <a:graphic>
          <a:graphicData uri="http://schemas.openxmlformats.org/drawingml/2006/table">
            <a:tbl>
              <a:tblPr firstRow="1" firstCol="1" bandRow="1"/>
              <a:tblGrid>
                <a:gridCol w="8229600">
                  <a:extLst>
                    <a:ext uri="{9D8B030D-6E8A-4147-A177-3AD203B41FA5}">
                      <a16:colId xmlns:a16="http://schemas.microsoft.com/office/drawing/2014/main" val="873729784"/>
                    </a:ext>
                  </a:extLst>
                </a:gridCol>
              </a:tblGrid>
              <a:tr h="3428999">
                <a:tc>
                  <a:txBody>
                    <a:bodyPr/>
                    <a:lstStyle/>
                    <a:p>
                      <a:pPr marL="457200" indent="-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itchFamily="2" charset="2"/>
                        <a:buChar char="v"/>
                      </a:pPr>
                      <a:r>
                        <a:rPr lang="en-US" sz="2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Document-Oriented Databases and Use Cases :</a:t>
                      </a:r>
                      <a:r>
                        <a:rPr lang="en-US" sz="2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Databases, What Is a Document Database?</a:t>
                      </a:r>
                    </a:p>
                    <a:p>
                      <a:pPr algn="just">
                        <a:buNone/>
                      </a:pP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Features : Consistency, Transactions, Availability, Query Features, Scaling</a:t>
                      </a:r>
                    </a:p>
                    <a:p>
                      <a:pPr algn="just">
                        <a:buNone/>
                      </a:pP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Suitable Use Cases:  Event Logging, Content Management Systems, Blogging Platforms, Web Analytics or Real-Time Analytics, E- Commerce Applications</a:t>
                      </a:r>
                    </a:p>
                    <a:p>
                      <a:pPr algn="just">
                        <a:buNone/>
                      </a:pP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Not to Use:  Complex Transactions Spanning Different Operations, Queries against Varying Aggregate Structure.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95" marR="50695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0214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611020-A372-FF5F-8C79-FA97E3FB7987}"/>
              </a:ext>
            </a:extLst>
          </p:cNvPr>
          <p:cNvSpPr txBox="1"/>
          <p:nvPr/>
        </p:nvSpPr>
        <p:spPr>
          <a:xfrm>
            <a:off x="218885" y="228600"/>
            <a:ext cx="8706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: </a:t>
            </a:r>
            <a:r>
              <a:rPr lang="en-US" sz="27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Document-Oriented Databases and Use Cases </a:t>
            </a:r>
            <a:endParaRPr lang="en-IN" sz="27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FD0A079-043B-68E9-7989-0B4C68FF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109" y="228600"/>
            <a:ext cx="5050291" cy="1052513"/>
          </a:xfrm>
        </p:spPr>
        <p:txBody>
          <a:bodyPr/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Summary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Text Placeholder 2">
            <a:extLst>
              <a:ext uri="{FF2B5EF4-FFF2-40B4-BE49-F238E27FC236}">
                <a16:creationId xmlns:a16="http://schemas.microsoft.com/office/drawing/2014/main" id="{9F5531EF-759F-E9DE-88CD-32466475E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09800"/>
            <a:ext cx="7886700" cy="3487341"/>
          </a:xfrm>
        </p:spPr>
        <p:txBody>
          <a:bodyPr/>
          <a:lstStyle/>
          <a:p>
            <a:r>
              <a:rPr lang="en-I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 :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 Databases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It’s Features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Suitable Use Cases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Not to Use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 Databases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D734C-1441-C994-6E07-7BB7702B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2400" y="6447633"/>
            <a:ext cx="30861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CSE3513 NoSQL Data Management 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5F22C452-7784-BA52-8F33-D910D00C5F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5DE88F4-8ADB-AC42-BE2D-7C66C66848DF}" type="slidenum">
              <a:rPr lang="en-US" altLang="en-US" sz="9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900">
              <a:solidFill>
                <a:srgbClr val="89898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0800-7B88-BA23-A868-474D319F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105"/>
            <a:ext cx="7886700" cy="797886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 Document-Oriented Databases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BE72-8B06-B0DD-A10C-E92C641A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764" y="2438400"/>
            <a:ext cx="5375796" cy="2972733"/>
          </a:xfrm>
        </p:spPr>
        <p:txBody>
          <a:bodyPr/>
          <a:lstStyle/>
          <a:p>
            <a:pPr marL="257175" indent="-257175"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type of NoSQL database that stores and manages data in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format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typically using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57175" indent="-257175">
              <a:buFont typeface="Wingdings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record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key–value pairs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arrays, and nested objects.</a:t>
            </a:r>
          </a:p>
          <a:p>
            <a:pPr marL="257175" indent="-257175">
              <a:buFont typeface="Wingdings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relational databases (which use tables, rows, and columns), document databases are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schema-less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more flexible.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FDBC6-6C4E-1AF0-9F16-EA1F4E52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CSE3513 NoSQL Data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91380-B11A-5A3C-E7DD-3B72458B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FE51F-14E7-5446-973A-8F4B806F1C1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A3556B8-2081-62E0-D492-B0CEA2247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36" y="1626267"/>
            <a:ext cx="3086100" cy="361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DE209-947E-9857-AE8D-651228C4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4464" y="5551035"/>
            <a:ext cx="3086100" cy="273844"/>
          </a:xfrm>
        </p:spPr>
        <p:txBody>
          <a:bodyPr/>
          <a:lstStyle/>
          <a:p>
            <a:pPr>
              <a:defRPr/>
            </a:pPr>
            <a:r>
              <a:rPr lang="en-US"/>
              <a:t>CSE3513 NoSQL Data Management </a:t>
            </a:r>
          </a:p>
        </p:txBody>
      </p:sp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04FC52C-3CA1-891F-6A6A-4664E2A905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794147A-AB1D-D54A-ADFE-29A351EBB24F}" type="slidenum">
              <a:rPr lang="en-US" altLang="en-US" smtClean="0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B31F4-6A51-0775-C9D5-AD2E385DA4FC}"/>
              </a:ext>
            </a:extLst>
          </p:cNvPr>
          <p:cNvSpPr txBox="1"/>
          <p:nvPr/>
        </p:nvSpPr>
        <p:spPr>
          <a:xfrm>
            <a:off x="629728" y="1905000"/>
            <a:ext cx="72950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splitting data across multiple tables,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related data is stored together in one document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4313" indent="-214313">
              <a:buFont typeface="Wingdings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applications that deal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or unstructured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4313" indent="-214313">
              <a:buFont typeface="Wingdings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2F524-DA8B-1411-B2AC-B8251E6B8191}"/>
              </a:ext>
            </a:extLst>
          </p:cNvPr>
          <p:cNvSpPr txBox="1"/>
          <p:nvPr/>
        </p:nvSpPr>
        <p:spPr>
          <a:xfrm>
            <a:off x="304800" y="12117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829FC83-C798-F952-9CAD-E7F21582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3"/>
            <a:ext cx="8305800" cy="777877"/>
          </a:xfrm>
        </p:spPr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Document Structure Example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55111-5E17-AD77-53C9-EC854C73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CSE3513 NoSQL Data Management </a:t>
            </a: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F329D8BE-EFDC-CB0F-3EF2-C70C939DE3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428686A-F035-3E4C-A24D-69BB51630907}" type="slidenum">
              <a:rPr lang="en-US" altLang="en-US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4B61B30C-7D44-3E51-0702-9BAA07DA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2819400" cy="5105400"/>
          </a:xfrm>
          <a:prstGeom prst="rect">
            <a:avLst/>
          </a:prstGeom>
        </p:spPr>
      </p:pic>
      <p:sp>
        <p:nvSpPr>
          <p:cNvPr id="31" name="Shape 2">
            <a:extLst>
              <a:ext uri="{FF2B5EF4-FFF2-40B4-BE49-F238E27FC236}">
                <a16:creationId xmlns:a16="http://schemas.microsoft.com/office/drawing/2014/main" id="{4F9EFD1D-46FD-103C-E40E-EFF7B662B8CA}"/>
              </a:ext>
            </a:extLst>
          </p:cNvPr>
          <p:cNvSpPr/>
          <p:nvPr/>
        </p:nvSpPr>
        <p:spPr>
          <a:xfrm>
            <a:off x="2819400" y="1304994"/>
            <a:ext cx="2990929" cy="4325660"/>
          </a:xfrm>
          <a:prstGeom prst="roundRect">
            <a:avLst>
              <a:gd name="adj" fmla="val 675"/>
            </a:avLst>
          </a:prstGeom>
          <a:solidFill>
            <a:srgbClr val="F2F2F2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496760-D98F-1D22-13F7-ED55D3C367AB}"/>
              </a:ext>
            </a:extLst>
          </p:cNvPr>
          <p:cNvSpPr txBox="1"/>
          <p:nvPr/>
        </p:nvSpPr>
        <p:spPr>
          <a:xfrm>
            <a:off x="2952671" y="1366165"/>
            <a:ext cx="29909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{"</a:t>
            </a:r>
            <a:r>
              <a:rPr lang="en-US" dirty="0" err="1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student_id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": 101,  "name": "Aisha Khan",  "department": "CSE",  "courses":</a:t>
            </a:r>
          </a:p>
          <a:p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   {"course_code":"DS101","grade": "A" },</a:t>
            </a:r>
          </a:p>
          <a:p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{"course_code":"DB202","grade": "B+"}</a:t>
            </a:r>
          </a:p>
          <a:p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],  "contact":{"email": "</a:t>
            </a:r>
            <a:r>
              <a:rPr lang="en-US" dirty="0" err="1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aisha@example.com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",    "phone": "9876543210"  }</a:t>
            </a:r>
          </a:p>
          <a:p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5AF77B00-1FB2-7ABA-D9CA-D4F02E907199}"/>
              </a:ext>
            </a:extLst>
          </p:cNvPr>
          <p:cNvSpPr/>
          <p:nvPr/>
        </p:nvSpPr>
        <p:spPr>
          <a:xfrm>
            <a:off x="5960533" y="1190714"/>
            <a:ext cx="3219529" cy="96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Traditional   Vs Document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E7303244-A81F-5BF2-A245-FC7FD471FE7C}"/>
              </a:ext>
            </a:extLst>
          </p:cNvPr>
          <p:cNvSpPr/>
          <p:nvPr/>
        </p:nvSpPr>
        <p:spPr>
          <a:xfrm>
            <a:off x="6195404" y="1767088"/>
            <a:ext cx="2420409" cy="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 a </a:t>
            </a: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relational database</a:t>
            </a: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this student record would require: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0E956F11-D675-E9BB-095A-F699CD0D352E}"/>
              </a:ext>
            </a:extLst>
          </p:cNvPr>
          <p:cNvSpPr/>
          <p:nvPr/>
        </p:nvSpPr>
        <p:spPr>
          <a:xfrm>
            <a:off x="6195404" y="2606329"/>
            <a:ext cx="242040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Students table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C8395A29-C803-F5C8-000B-D307B326EEF0}"/>
              </a:ext>
            </a:extLst>
          </p:cNvPr>
          <p:cNvSpPr/>
          <p:nvPr/>
        </p:nvSpPr>
        <p:spPr>
          <a:xfrm>
            <a:off x="6195404" y="3082203"/>
            <a:ext cx="242040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Courses table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1A2A67FD-5567-3992-ECD2-D799CF78960C}"/>
              </a:ext>
            </a:extLst>
          </p:cNvPr>
          <p:cNvSpPr/>
          <p:nvPr/>
        </p:nvSpPr>
        <p:spPr>
          <a:xfrm>
            <a:off x="6195404" y="3467824"/>
            <a:ext cx="242040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StudentCourses junction table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72C35F2C-8FAB-A158-4D02-6C34069B49E8}"/>
              </a:ext>
            </a:extLst>
          </p:cNvPr>
          <p:cNvSpPr/>
          <p:nvPr/>
        </p:nvSpPr>
        <p:spPr>
          <a:xfrm>
            <a:off x="6178471" y="3853445"/>
            <a:ext cx="242040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Contact details table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003EF2DD-CB99-1F60-3DB8-ACC96A2ABB27}"/>
              </a:ext>
            </a:extLst>
          </p:cNvPr>
          <p:cNvSpPr/>
          <p:nvPr/>
        </p:nvSpPr>
        <p:spPr>
          <a:xfrm>
            <a:off x="6195404" y="4385696"/>
            <a:ext cx="2420409" cy="16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With </a:t>
            </a:r>
            <a:r>
              <a:rPr lang="en-US" sz="1450" b="1" dirty="0">
                <a:solidFill>
                  <a:srgbClr val="FF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document databases</a:t>
            </a: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the entire profile exists as </a:t>
            </a: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one cohesive document</a:t>
            </a: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easier to query and update.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A67872-BC15-BB3B-F3E5-C1803D84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808039"/>
            <a:ext cx="8229600" cy="715962"/>
          </a:xfrm>
        </p:spPr>
        <p:txBody>
          <a:bodyPr/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Features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7006E7-705C-0B62-391D-3F658C4E1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524001"/>
            <a:ext cx="4419600" cy="4267200"/>
          </a:xfrm>
        </p:spPr>
        <p:txBody>
          <a:bodyPr/>
          <a:lstStyle/>
          <a:p>
            <a:pPr marL="571500" indent="-5715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pPr marL="571500" indent="-571500"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</a:p>
          <a:p>
            <a:pPr marL="571500" indent="-571500"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571500" indent="-571500"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Features</a:t>
            </a:r>
          </a:p>
          <a:p>
            <a:pPr marL="571500" indent="-571500"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6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1D1A-4E7F-EA14-3347-2124DE79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09600"/>
            <a:ext cx="8229600" cy="715962"/>
          </a:xfrm>
        </p:spPr>
        <p:txBody>
          <a:bodyPr/>
          <a:lstStyle/>
          <a:p>
            <a:r>
              <a:rPr lang="en-US" sz="3600" dirty="0"/>
              <a:t>II.1.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F195A-0AA3-D4CB-A97F-0A1D2388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8234"/>
            <a:ext cx="8763000" cy="486299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ensures that when data is written to the database, all users see the same data view — either the new or the old, but not a mix of both.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sets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 group of database nodes containing copies of the same data.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96407B-A620-6F98-965B-2808965B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75CE6-8408-7DB7-8DE2-DAAE3100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1A7ABD-7545-0AC3-B17C-4E6684CC6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376" y="4668662"/>
            <a:ext cx="2257691" cy="15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5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5A64-EF3E-314D-E602-43884D52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5921"/>
            <a:ext cx="8229600" cy="468043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replica set has: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(handles all writes)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nodes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(replicate data from primary)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depends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nodes confirm a 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it’s marked successful.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540E0-A595-7780-95A8-7F8EE138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A51E-25DE-D2D9-EF31-6846AFC0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5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EDAD-60FA-4881-0895-AFDB80A5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Consistency – 'w' Parameter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FC3C-5010-6EF0-534E-5EC93D612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 level of write consistency with parameter 'w'.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Code Example: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'w' defines servers that must confirm the write:</a:t>
            </a:r>
          </a:p>
          <a:p>
            <a:pPr lvl="1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w:1 → Only primary node (fast, less consistent)</a:t>
            </a:r>
          </a:p>
          <a:p>
            <a:pPr lvl="1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w:'majority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→ Most nodes (balanced)</a:t>
            </a:r>
          </a:p>
          <a:p>
            <a:pPr lvl="1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Higher w → Stronger consistency, slower writes</a:t>
            </a:r>
          </a:p>
          <a:p>
            <a:pPr lvl="1">
              <a:buFont typeface="Wingdings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For 3 nodes, w: 'majority' means write completes after 2 confirmations.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205E1-D2AD-88BF-2A28-AE797735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A2C40-7E5E-7375-55A5-AA486537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C03D7-3E1D-DE14-6308-575E65161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078" r="33333" b="17357"/>
          <a:stretch>
            <a:fillRect/>
          </a:stretch>
        </p:blipFill>
        <p:spPr>
          <a:xfrm>
            <a:off x="533400" y="2133600"/>
            <a:ext cx="829056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1DB6-C856-8A14-CE3D-993382F1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Consistency – Using slave0k()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AEC9-0B11-0FC1-6331-D1C2D3B5D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Reads by default happen from primary node.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slave0k to allow reads from secondary nodes (improves performance).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set at connection, database, collection, or query level.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9D375-A836-6261-DBD6-477D9A3B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6E884-48F1-97B1-6923-E5E336A5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D162A-7574-46F4-DBB6-2F3DA2C39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67910"/>
            <a:ext cx="56388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4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7EED-A8A7-AC77-9A96-FEDFF638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WriteConcern</a:t>
            </a:r>
            <a:r>
              <a:rPr lang="en-IN" dirty="0"/>
              <a:t> – Controlling Write Safety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6D620-5DA4-507A-B396-063F87A27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83247"/>
            <a:ext cx="8229600" cy="4680431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how safe a write operation should be.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writes are replicated or written to disk before confirming.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control over reliability of write operations.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590D3-450D-7B31-2E07-213631C7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24B62-C94E-F6FE-B83F-991513EF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1997F6-4DF6-0759-8AA9-8A56A769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76026"/>
            <a:ext cx="6502400" cy="69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1263A-B774-E14B-D399-EED957360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67200"/>
            <a:ext cx="6553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4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529A-0C2D-4C99-C6F7-D4C90755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09600"/>
            <a:ext cx="8229600" cy="715962"/>
          </a:xfrm>
        </p:spPr>
        <p:txBody>
          <a:bodyPr/>
          <a:lstStyle/>
          <a:p>
            <a:r>
              <a:rPr lang="en-IN" sz="3200" dirty="0"/>
              <a:t>Trade-off</a:t>
            </a:r>
            <a:br>
              <a:rPr lang="en-IN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2FFE-2673-5A62-C3D9-2C43B6DD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58483"/>
            <a:ext cx="8229600" cy="468043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Consistency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Slower (waits for all replicas)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 Consistency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Faster, but temporary lag in updates.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2EC16-4A74-1315-3F13-2354FB7D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80BAE-F4AD-2137-E836-E56CADE2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6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DFB2-E081-57DD-7C22-381700E7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Consistency &amp;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19F160-5AEA-64EC-CB41-4B3AB05C8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072101"/>
              </p:ext>
            </p:extLst>
          </p:nvPr>
        </p:nvGraphicFramePr>
        <p:xfrm>
          <a:off x="482600" y="1295400"/>
          <a:ext cx="8229600" cy="454850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1911898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563657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02936511"/>
                    </a:ext>
                  </a:extLst>
                </a:gridCol>
              </a:tblGrid>
              <a:tr h="89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Effect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76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Low w / No </a:t>
                      </a:r>
                      <a:r>
                        <a:rPr lang="en-IN" sz="2400" b="1" dirty="0" err="1"/>
                        <a:t>WriteConcern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Faster writes, risk of data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Logging,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12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High w / REPLICAS_SAFE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Safer writes, slower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Financial, order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43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slaveOk</a:t>
                      </a:r>
                      <a:r>
                        <a:rPr lang="en-IN" sz="2400" b="1" dirty="0"/>
                        <a:t> = true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Faster reads, may return old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Reporting,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3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slaveOk = false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Strong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Real-time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85897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8BD9F-B217-58F5-624E-6CEB1242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B8EE5-14DD-E01A-2E78-452EBEAA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5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F5BA-79B1-5DC4-615A-A5C8FA1E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1561861"/>
            <a:ext cx="8229600" cy="715962"/>
          </a:xfrm>
        </p:spPr>
        <p:txBody>
          <a:bodyPr/>
          <a:lstStyle/>
          <a:p>
            <a:r>
              <a:rPr lang="en-IN" dirty="0"/>
              <a:t>Example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F6C8-D395-92B9-8065-1D6F63825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77823"/>
            <a:ext cx="8229600" cy="468043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e-commerce site updates a product price: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consistency ensures all customers see the new price.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 consistency allows some customers to briefly see the old price before replicas sync.</a:t>
            </a:r>
          </a:p>
          <a:p>
            <a:pPr marL="457200" lvl="1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67C03-D22D-3E6B-5889-5FEBEF6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AC4CA-CADB-6997-89AB-7C5B6BD7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2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F252-9D64-7AEC-714B-B46815DB5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Consistency in a </a:t>
            </a:r>
            <a:r>
              <a:rPr lang="en-IN" dirty="0" err="1"/>
              <a:t>NutShell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AECA5-AFD8-0576-9CA0-FFE9C2A4B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80431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Consistency is configurable in MongoDB.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Replica Sets balance between speed and reliability.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write safety.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slaveOk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read flexibility.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Choose based on business needs:</a:t>
            </a:r>
          </a:p>
          <a:p>
            <a:pPr marL="457200" lvl="1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– Critical apps → High consistency</a:t>
            </a:r>
          </a:p>
          <a:p>
            <a:pPr marL="457200" lvl="1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   – Analytical apps → High performance</a:t>
            </a:r>
          </a:p>
          <a:p>
            <a:endParaRPr lang="en-I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AD4C6-52D7-AEFB-4097-E9C5A1C0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337B4-4FDC-21BA-44CC-230616CE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79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7147-A246-15FB-6D29-C935257A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45603"/>
            <a:ext cx="8229600" cy="715962"/>
          </a:xfrm>
        </p:spPr>
        <p:txBody>
          <a:bodyPr/>
          <a:lstStyle/>
          <a:p>
            <a:r>
              <a:rPr lang="en-US" dirty="0"/>
              <a:t>II.2.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Transactions</a:t>
            </a:r>
            <a:b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E409-2AAD-80AB-2136-CFC67477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RDBMS supports multi-operation transactions.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You can commit or rollback changes made across multiple tables.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ACID properties: Atomicity, Consistency, Isolation, Durability.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C75F7-3C1D-0AE2-C278-7293955E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1B93A-6BA2-AA11-599A-D0DB0346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2" descr="Commit, Rollback, Savepoint in MySQL Baeldung on SQL">
            <a:extLst>
              <a:ext uri="{FF2B5EF4-FFF2-40B4-BE49-F238E27FC236}">
                <a16:creationId xmlns:a16="http://schemas.microsoft.com/office/drawing/2014/main" id="{9E50E3AF-2F95-F296-564B-6D03C34DF6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" t="7550" r="-1" b="7655"/>
          <a:stretch>
            <a:fillRect/>
          </a:stretch>
        </p:blipFill>
        <p:spPr bwMode="auto">
          <a:xfrm>
            <a:off x="3962400" y="3581400"/>
            <a:ext cx="49787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54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46479-DD1D-2125-9607-09C9D711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1F3FE-ADBB-F2CA-66F0-06727C61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7A9-7687-0FE5-FE68-6D5F3EE5B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1371600"/>
            <a:ext cx="8915400" cy="468043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NoSQL databases like MongoDB differ from RDBMS.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Writes either succeed or fail — no rollback option.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Multi-document transactions generally not supported.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Single-document writes are atomic (all-or-nothing).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A JSON document write is treated as one complete operation.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7D585A-8D07-6004-9481-EC9F0F42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58750"/>
            <a:ext cx="8229600" cy="579438"/>
          </a:xfrm>
        </p:spPr>
        <p:txBody>
          <a:bodyPr/>
          <a:lstStyle/>
          <a:p>
            <a:r>
              <a:rPr lang="en-IN" dirty="0"/>
              <a:t>Transactions in NoSQL Databases</a:t>
            </a:r>
          </a:p>
        </p:txBody>
      </p:sp>
    </p:spTree>
    <p:extLst>
      <p:ext uri="{BB962C8B-B14F-4D97-AF65-F5344CB8AC3E}">
        <p14:creationId xmlns:p14="http://schemas.microsoft.com/office/powerpoint/2010/main" val="2675498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1C26-A3FC-5B04-3E93-F1B5CDEA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Multi-Operation 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98405-5C92-598B-F20D-1C0E8164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NoSQL databases (e.g.,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RavenDB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support multiple-operation transactions.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MongoDB (pre–4.0) did not support multi-document transactions.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Newer versions (≥4.0) support transactions within a single replica set.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2EE94-5C09-D2E3-7EF2-2AB24066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7D476-3C06-6275-9023-DBEA1106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93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BCD7-9EA4-69C2-CE79-2A0E93FD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</a:t>
            </a:r>
            <a:r>
              <a:rPr lang="en-IN" dirty="0" err="1"/>
              <a:t>WriteConcern</a:t>
            </a: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B845-A460-9B21-B652-4EECB347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10762"/>
            <a:ext cx="8915400" cy="468043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offers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controlling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safety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how many nodes must confirm a write before success.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levels:</a:t>
            </a:r>
          </a:p>
          <a:p>
            <a:pPr lvl="1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WriteConcern.NONE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Fastest, no confirmation (low safety)</a:t>
            </a:r>
          </a:p>
          <a:p>
            <a:pPr lvl="1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WriteConcern.REPLICAS_SAFE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Write confirmed by primary + at least one secondary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entries → Use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WriteConcern.NONE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(performance-focused)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→ Use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WriteConcern.REPLICAS_SAFE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(safety-focused)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D300E-A0C9-04D1-88B5-54CC7F3C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DD097-2072-243D-2571-414E774B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42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E850-FC98-C078-42B4-E7A3A7C6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Code – Using </a:t>
            </a:r>
            <a:r>
              <a:rPr lang="en-IN" dirty="0" err="1"/>
              <a:t>WriteConcern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05147A-34C2-D076-8E07-D9CDE8BFC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293" b="7217"/>
          <a:stretch>
            <a:fillRect/>
          </a:stretch>
        </p:blipFill>
        <p:spPr>
          <a:xfrm>
            <a:off x="533400" y="1143000"/>
            <a:ext cx="6929120" cy="3352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0015D-8956-A1CB-AF79-0A61C284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B2340-0AF1-328A-4BCB-3B4EEDCA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E790F-8ED1-AD99-9070-06F9A9663EDB}"/>
              </a:ext>
            </a:extLst>
          </p:cNvPr>
          <p:cNvSpPr txBox="1"/>
          <p:nvPr/>
        </p:nvSpPr>
        <p:spPr>
          <a:xfrm>
            <a:off x="2438400" y="4453467"/>
            <a:ext cx="7162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Explanation:</a:t>
            </a:r>
            <a:endParaRPr lang="en-I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/>
              <a:t>Ensures the order is stored on </a:t>
            </a:r>
            <a:r>
              <a:rPr lang="en-IN" sz="2400" b="1" dirty="0"/>
              <a:t>at least two nodes</a:t>
            </a:r>
            <a:r>
              <a:rPr lang="en-IN" sz="24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/>
              <a:t>Prevents data loss during node failure.</a:t>
            </a:r>
          </a:p>
        </p:txBody>
      </p:sp>
    </p:spTree>
    <p:extLst>
      <p:ext uri="{BB962C8B-B14F-4D97-AF65-F5344CB8AC3E}">
        <p14:creationId xmlns:p14="http://schemas.microsoft.com/office/powerpoint/2010/main" val="3520648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709F-951F-0B10-E1F0-C607AC97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686800" cy="4680431"/>
          </a:xfrm>
        </p:spPr>
        <p:txBody>
          <a:bodyPr/>
          <a:lstStyle/>
          <a:p>
            <a:pPr lvl="0">
              <a:defRPr/>
            </a:pPr>
            <a:r>
              <a:rPr lang="en-I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>
              <a:defRPr/>
            </a:pPr>
            <a:r>
              <a:rPr lang="en-I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banking app stores each account as a document:</a:t>
            </a:r>
          </a:p>
          <a:p>
            <a:pPr lvl="1">
              <a:defRPr/>
            </a:pPr>
            <a:r>
              <a:rPr lang="en-I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money between two accounts (two documents) → multi-document transaction.</a:t>
            </a:r>
          </a:p>
          <a:p>
            <a:pPr lvl="1">
              <a:defRPr/>
            </a:pPr>
            <a:r>
              <a:rPr lang="en-I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 one account’s balance → single-document atomic operation.</a:t>
            </a:r>
          </a:p>
          <a:p>
            <a:pPr lvl="1">
              <a:defRPr/>
            </a:pPr>
            <a:endParaRPr lang="en-I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I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pPr lvl="1">
              <a:defRPr/>
            </a:pPr>
            <a:r>
              <a:rPr lang="en-I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apps (require strict consistency)</a:t>
            </a:r>
          </a:p>
          <a:p>
            <a:pPr lvl="1">
              <a:defRPr/>
            </a:pPr>
            <a:r>
              <a:rPr lang="en-I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systems (avoid double deduction)</a:t>
            </a:r>
          </a:p>
          <a:p>
            <a:pPr lvl="0">
              <a:defRPr/>
            </a:pPr>
            <a:endParaRPr lang="en-US" sz="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C3454-8474-A0D8-BB70-F0063E9C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3B4D5-E353-7608-2603-67A3BAD0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3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0F39-42F6-7DAA-401D-3372471C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in a </a:t>
            </a:r>
            <a:r>
              <a:rPr lang="en-US" dirty="0" err="1"/>
              <a:t>NutShell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7EFC-CA5C-45EF-E1B4-F6272A6D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49380"/>
            <a:ext cx="8763000" cy="468043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supports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single-document transactions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multi-document consistency, use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in modern versions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WriteConcern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granular control over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reliability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appropriate settings based on: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criticality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requirements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E8CAA-E694-BE29-022C-69B6459A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EDA91-E205-90AF-BAAF-5A932ABB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419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CF11-62CF-16CB-7714-435AA4F2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II.3.</a:t>
            </a: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Availability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844A-90CD-46A7-98C5-AF5F8F0B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10762"/>
            <a:ext cx="8915400" cy="468043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database remains accessible even during failures.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 Theorem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have only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three: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Tolerance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often favour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+ Partition Tolerance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66F30-2306-0CD0-2CCF-B62A37AE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B9E4C-04FD-5188-3793-B2A50465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2" descr="The CAP Theorem: Understanding the Trade-offs in Distributed Systems | by  Kiran | Medium">
            <a:extLst>
              <a:ext uri="{FF2B5EF4-FFF2-40B4-BE49-F238E27FC236}">
                <a16:creationId xmlns:a16="http://schemas.microsoft.com/office/drawing/2014/main" id="{1A620FCD-E785-48DE-87D7-05CB595C6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4" t="9610" r="29805" b="12468"/>
          <a:stretch>
            <a:fillRect/>
          </a:stretch>
        </p:blipFill>
        <p:spPr bwMode="auto">
          <a:xfrm>
            <a:off x="6553200" y="2498477"/>
            <a:ext cx="2133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923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CF11-62CF-16CB-7714-435AA4F2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How Availability is achieved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844A-90CD-46A7-98C5-AF5F8F0B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10762"/>
            <a:ext cx="8915400" cy="46804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(e.g., MongoDB,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CouchDB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RavenDB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replicated across multiple nodes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 if one fails, others serve data.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Master-Slave (Primary-Secondary)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setup: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(Primary) 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all writes.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(Secondary) nodes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replicate data from primary asynchronously.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66F30-2306-0CD0-2CCF-B62A37AE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B9E4C-04FD-5188-3793-B2A50465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27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3625-8A51-D12D-7280-A891BCE2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MongoDB Replica Sets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5CD9-9596-48F6-28A0-876AFD059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468043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ensures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Set: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of nodes with one primary and multiple secondaries.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secondaries copy data from the primary.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Election: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primary fails, the remaining nodes vote to elect a new primary.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automatically redirect traffic to the new primary.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Node A fails, Node B becomes the new primary automatically.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52E1B-48C0-D57F-F435-FF5B4CA9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C9DF5-ED32-4DF4-AE3D-91C5DE72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1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519B-EFB1-B46E-3B7E-EBF76621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How it Works….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AF5A-2B28-E983-CB69-9E50DFC19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33" y="1447800"/>
            <a:ext cx="8017933" cy="46804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replica set, there are two or more nodes participating in an asynchronous master-slave replication.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replica-set nodes elect the master, or primary, among themselves.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2C0B8-98DA-3011-DD2C-1060CC0C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946CA-7107-2876-FD43-DF05BC15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19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0FCE-7D04-596B-3155-B1EED2B08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all the nodes have equal voting rights, some nodes can be favoured for being closer to the other servers, for having more RAM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assign a priority—a number between 0 and 1000—to a node.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1C83C-B9C0-A991-6F8B-1746D3AC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61547-E69B-09C2-90B6-35020F38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04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CD55-E883-9CC7-4ED6-D7D2C99CE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804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requests go to the master node, and the data is replicated to the slave nodes.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master node goes down, the remaining nodes in the replica set vote among themselves to elect a new master;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55A58-3DA6-704C-DB76-56B5E15A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84C6-D36A-5AF4-5D90-10F1053F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71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5F822-20D5-8982-3F1C-05069A31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future requests are routed to the new master, and the slave nodes start getting data from the new master.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node that failed comes back online, it joins in as a slave and catches up with the rest of the nodes by pulling all the data it needs to get current. 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EBA7D-2BFA-2D22-0C79-79FE27A0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0688E-C562-DB00-F9E9-B08404ED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98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C538-42FC-AC40-3B8E-A725E652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953000"/>
            <a:ext cx="8229600" cy="715962"/>
          </a:xfrm>
        </p:spPr>
        <p:txBody>
          <a:bodyPr/>
          <a:lstStyle/>
          <a:p>
            <a:r>
              <a:rPr lang="en-IN" sz="2000" dirty="0"/>
              <a:t>Fig: Replica set configuration with higher priority assigned to nodes in the same data </a:t>
            </a:r>
            <a:r>
              <a:rPr lang="en-IN" sz="2000" dirty="0" err="1"/>
              <a:t>center</a:t>
            </a:r>
            <a:r>
              <a:rPr lang="en-IN" sz="2000" dirty="0"/>
              <a:t> </a:t>
            </a:r>
            <a:br>
              <a:rPr lang="en-IN" sz="2000" dirty="0"/>
            </a:b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1FF94F-2A9E-D7B3-3636-91D4089CE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926" t="9563" r="14680" b="12312"/>
          <a:stretch>
            <a:fillRect/>
          </a:stretch>
        </p:blipFill>
        <p:spPr>
          <a:xfrm>
            <a:off x="8466" y="0"/>
            <a:ext cx="9135533" cy="45062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C12FA-701A-447F-A7CE-2E115D86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B20CA-9F45-78B4-9C9E-9DC5810A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18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0F97D-B246-AFD3-F3D0-33A2D74B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333" y="1143000"/>
            <a:ext cx="8839200" cy="468043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two nodes,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A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running the MongoDB database in the primary data-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C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secondary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datacenter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want nodes in the primary data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elected as primary nodes, we can assign them a higher priority than the other nodes.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nodes can be added to the replica sets without having to take them offline.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E1C74-6E55-AE10-E661-E39172FF3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8B19A-701D-7762-0828-14C8247E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45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40AE-4E59-FDFA-CD1E-50D9CB5B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Connectivity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FC04A-66B1-1299-1B4E-96582B5B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14DEF-E961-8825-37DE-46E12037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72EC40-4CB3-24E8-3A16-0B38DEE508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371600"/>
            <a:ext cx="906780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application connects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one node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replica 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database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discovers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other nodes.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the current primary fails:</a:t>
            </a:r>
          </a:p>
          <a:p>
            <a:pPr marL="400050" lvl="1" indent="0" eaLnBrk="0" hangingPunc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driver connects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primary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manual intervention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needed for failover or node management.</a:t>
            </a:r>
          </a:p>
        </p:txBody>
      </p:sp>
    </p:spTree>
    <p:extLst>
      <p:ext uri="{BB962C8B-B14F-4D97-AF65-F5344CB8AC3E}">
        <p14:creationId xmlns:p14="http://schemas.microsoft.com/office/powerpoint/2010/main" val="435513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85E1-A255-C3B4-6A96-810A5A75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-221458"/>
            <a:ext cx="8229600" cy="715962"/>
          </a:xfrm>
        </p:spPr>
        <p:txBody>
          <a:bodyPr/>
          <a:lstStyle/>
          <a:p>
            <a:pPr algn="ctr"/>
            <a:r>
              <a:rPr lang="en-IN" dirty="0"/>
              <a:t>Benefits of Replica Sets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DC9F50-62CB-8FDA-528C-F16813014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423427"/>
              </p:ext>
            </p:extLst>
          </p:nvPr>
        </p:nvGraphicFramePr>
        <p:xfrm>
          <a:off x="381000" y="619936"/>
          <a:ext cx="8382000" cy="517126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20628239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786904715"/>
                    </a:ext>
                  </a:extLst>
                </a:gridCol>
              </a:tblGrid>
              <a:tr h="470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Feature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Purpose / Benefit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804469"/>
                  </a:ext>
                </a:extLst>
              </a:tr>
              <a:tr h="846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High Availability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Database remains online during node failures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168100"/>
                  </a:ext>
                </a:extLst>
              </a:tr>
              <a:tr h="846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Data Redundancy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Copies of data across multiple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01856"/>
                  </a:ext>
                </a:extLst>
              </a:tr>
              <a:tr h="470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Automatic Failover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manual switch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329275"/>
                  </a:ext>
                </a:extLst>
              </a:tr>
              <a:tr h="846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Read Scaling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Read operations can be distributed to secondaries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316559"/>
                  </a:ext>
                </a:extLst>
              </a:tr>
              <a:tr h="846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Server Maintenance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Perform updates without downtime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239677"/>
                  </a:ext>
                </a:extLst>
              </a:tr>
              <a:tr h="846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Disaster Recovery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Secondary nodes act as backups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72836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DBDFE-26EC-7C24-E1E8-B20600CB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66FFC-EDD5-C7A6-1D35-B73A807C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30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25C8-02B6-F05F-0014-5CD809E0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in A </a:t>
            </a:r>
            <a:r>
              <a:rPr lang="en-US" dirty="0" err="1"/>
              <a:t>NutShell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C730-871D-FDB9-3981-FFEF7FA82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49380"/>
            <a:ext cx="8763000" cy="4680431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maintained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sets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failover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elections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primary resides in desired location.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remain connected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failovers—no manual action needed.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safety, uptime, and seamless maintenance.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6717D-A154-A3DD-B996-144645D8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93D26-CA02-B065-1B63-E70A7BB6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67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0793-79A7-AFD3-4216-48A4E9E0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II.4. Query Features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17C55-699B-8918-4742-4E9C206D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D5A64-ACAA-F2AF-91D9-9328BA9F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4E0B473-8C4F-8CEC-DD34-58EB62B83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66009"/>
            <a:ext cx="8229600" cy="3985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offer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powerful and flexible querying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options.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key-value stores, they allow you to query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documents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not just by key.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Bring querying closer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RDBMS model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SQL).</a:t>
            </a:r>
          </a:p>
        </p:txBody>
      </p:sp>
    </p:spTree>
    <p:extLst>
      <p:ext uri="{BB962C8B-B14F-4D97-AF65-F5344CB8AC3E}">
        <p14:creationId xmlns:p14="http://schemas.microsoft.com/office/powerpoint/2010/main" val="1826830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1CCA-469B-0E27-94E3-1AD8DFFB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MongoDB Example</a:t>
            </a:r>
            <a:br>
              <a:rPr lang="en-IN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F52F97-A605-6FA9-71FA-0B0F451E5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219200"/>
            <a:ext cx="7789333" cy="5613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C1E01-036F-5626-39D2-3DDB48B2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F1595-EFD1-1C1E-D442-77C06479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4F6C4-729A-185C-41AF-962EEB89DEC9}"/>
              </a:ext>
            </a:extLst>
          </p:cNvPr>
          <p:cNvSpPr txBox="1"/>
          <p:nvPr/>
        </p:nvSpPr>
        <p:spPr>
          <a:xfrm>
            <a:off x="473242" y="1801364"/>
            <a:ext cx="8229600" cy="474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query language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SQL-like operations: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8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greater than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8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orderby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sorting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$explain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execution plan for optimization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can be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and nested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84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210E-FB50-5679-BD7B-F5C9F92F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vs MongoDB Query Comparison</a:t>
            </a:r>
            <a:br>
              <a:rPr lang="en-IN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7CD164-C894-7988-F3A6-AB6BC074A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148307"/>
              </p:ext>
            </p:extLst>
          </p:nvPr>
        </p:nvGraphicFramePr>
        <p:xfrm>
          <a:off x="457200" y="1622425"/>
          <a:ext cx="8229600" cy="31089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74297186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583049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2614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Requirement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SQL Query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MongoDB Query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32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all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* FROM order;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db.order.find()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36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for one 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* FROM order WHERE customerId = "883c2c5b4e5b";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db.order.find({"customerId":"883c2c5b4e5b"})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84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Specific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SELECT </a:t>
                      </a:r>
                      <a:r>
                        <a:rPr lang="en-IN" dirty="0" err="1"/>
                        <a:t>orderId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orderDate</a:t>
                      </a:r>
                      <a:r>
                        <a:rPr lang="en-IN" dirty="0"/>
                        <a:t> FROM order WHERE </a:t>
                      </a:r>
                      <a:r>
                        <a:rPr lang="en-IN" dirty="0" err="1"/>
                        <a:t>customerId</a:t>
                      </a:r>
                      <a:r>
                        <a:rPr lang="en-IN" dirty="0"/>
                        <a:t>="883c2c5b4e5b";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db.order.find</a:t>
                      </a:r>
                      <a:r>
                        <a:rPr lang="en-IN" dirty="0"/>
                        <a:t>({customerId:"883c2c5b4e5b"},{orderId:1,orderDate:1})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52718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FE1B2-E56D-8CD9-61FB-E11A4EEF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484DA-649A-33D4-F888-D490E34A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87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93D4-1579-F963-BD72-3117781E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Views and Aggregation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7631-8970-426A-2DA8-129AD943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like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CouchDB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(materialized or dynamic).</a:t>
            </a:r>
          </a:p>
          <a:p>
            <a:pPr lvl="0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aggregation tasks like counting reviews or finding average ratings.</a:t>
            </a:r>
          </a:p>
          <a:p>
            <a:pPr lvl="0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Materialized views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precomputed results for faster retrieval.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49E6D-22C0-5C5A-DDE3-E047C672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2B340-413C-8945-2224-6B59A616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40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872F-D0F0-4041-1440-A8255495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FBD6-40BD-410D-734D-DFA28D9AD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10762"/>
            <a:ext cx="8534400" cy="4680431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querying (like RDBMS)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data queries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syntax (human-readable)</a:t>
            </a:r>
          </a:p>
          <a:p>
            <a:pPr marL="0" lvl="0" indent="0">
              <a:lnSpc>
                <a:spcPct val="150000"/>
              </a:lnSpc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e-commerce platform: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average rating of a product, use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439EC-CE6C-B24B-1BE2-F8809B67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3DBB2-62BE-988A-42C3-93AE6D7B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26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A533-C115-5C54-17E5-E39B0412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Features in a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NutShell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249F2-F270-7359-09C5-71A4F0BE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2127D-435C-C927-AC0A-D2EA91F3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174B43-FC18-BDB1-79FE-378DC328CA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59175"/>
            <a:ext cx="7924799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rich querying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similar to SQL but more flexible.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CouchDB: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 (materialized or dynamic)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JSON-based queries, simple syntax, supports nested document querying.</a:t>
            </a:r>
          </a:p>
          <a:p>
            <a:pPr eaLnBrk="0" hangingPunct="0">
              <a:spcBef>
                <a:spcPct val="0"/>
              </a:spcBef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code (no complex joins).</a:t>
            </a: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using materialized views.</a:t>
            </a: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great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and analytics apps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spcBef>
                <a:spcPct val="0"/>
              </a:spcBef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814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8917-37B3-7B89-190B-2016EDA0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II.5. Scaling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84330-F08C-4DF2-4F4C-386E6921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0F3A3-DD86-CB02-DBD5-09FA9CBB0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1DE8D6-E1AB-FC18-2C17-39A2BE1EB4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4666"/>
            <a:ext cx="8229600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Expanding database capacity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upgrading hardware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Handle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read/write load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by:</a:t>
            </a:r>
          </a:p>
          <a:p>
            <a:pPr lvl="2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more nodes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(horizontal scaling)</a:t>
            </a:r>
          </a:p>
          <a:p>
            <a:pPr lvl="2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Distributing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nodes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242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C972-CD9C-DFA6-5473-669F69CE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1B2C2-307E-1B4A-BF67-84DFED16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D13A0-8980-3ED4-ADEC-DA889B3D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97AA4-3D2E-E5C2-AB6C-8A13E8341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2C4BEAC4-1024-949B-6C67-A4DC42A3E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813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F49B-A5CA-9677-9A13-4AAE32EA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Scaling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823AE4-270A-459B-F466-0030204A3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225244"/>
              </p:ext>
            </p:extLst>
          </p:nvPr>
        </p:nvGraphicFramePr>
        <p:xfrm>
          <a:off x="457200" y="1600200"/>
          <a:ext cx="8229600" cy="21031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5162941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8470406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0315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Type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Purpose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Technique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38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Read Scaling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Handle increased read requests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Add read replicas/slaves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40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Write Scaling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Handle increased write requests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 sharding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44778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094DF-5851-8DA2-663D-F74D2842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54A26-59AD-3BF3-A9F5-B7E642C3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80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ongoDB - Replication and Sharding - GeeksforGeeks">
            <a:extLst>
              <a:ext uri="{FF2B5EF4-FFF2-40B4-BE49-F238E27FC236}">
                <a16:creationId xmlns:a16="http://schemas.microsoft.com/office/drawing/2014/main" id="{1C7BDE12-0672-1B95-2579-BAC480685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467" y="1295400"/>
            <a:ext cx="3674533" cy="299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158B42-F813-465E-8E64-C39E0536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Scaling – Using Replica Sets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C83F0-E475-A8E0-D583-C410ECB4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662D8-E158-9198-334F-632BB556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A08EE1-E031-76EF-7AB5-A8933CBD2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32124" y="1156369"/>
            <a:ext cx="563880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slaves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(secondary nodes) to handle higher read loads.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 can be directed to secondaries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slave0k flag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node joins automatically, syncs with existing data, and serves reads.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downtime → Continuous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120965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169C-4AEA-8201-76C2-7AEBE83F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Scaling – Sharding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423EF-00AA-3175-1D96-831845AF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2090C-AFAF-7757-ED9F-3EFDDF80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D322950-2D5D-6AE9-6031-4124D283D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533" y="1078497"/>
            <a:ext cx="8229600" cy="527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Sharding = Splitting data into smaller chunks (shards)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stored across nodes.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partitioning in RDBMS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shards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different machines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manages:</a:t>
            </a:r>
          </a:p>
          <a:p>
            <a:pPr lvl="2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distribution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rebalancing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MongoDB - Replication and Sharding - GeeksforGeeks">
            <a:extLst>
              <a:ext uri="{FF2B5EF4-FFF2-40B4-BE49-F238E27FC236}">
                <a16:creationId xmlns:a16="http://schemas.microsoft.com/office/drawing/2014/main" id="{85F23B02-B180-5E00-563E-27F79B68E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965" y="3065682"/>
            <a:ext cx="4428067" cy="32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9163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D08E-BE3C-5C09-5744-F847CBE6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Shard Key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F9824-C85D-0FDB-2BED-A2F358B3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FEBDF-240F-B3C0-E742-927067FB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0C025-5E71-BA91-F297-DAE357A7F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 key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how data is divided across nodes.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shard key carefully to maintain balance and performance.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customer location: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Coast → Shards in East</a:t>
            </a:r>
          </a:p>
          <a:p>
            <a:pPr lvl="2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Coast → Shards in West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latency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harding by Geography: When It Finally Works | by Thinking Loop | Medium">
            <a:extLst>
              <a:ext uri="{FF2B5EF4-FFF2-40B4-BE49-F238E27FC236}">
                <a16:creationId xmlns:a16="http://schemas.microsoft.com/office/drawing/2014/main" id="{ADD50D09-1430-6F73-DD01-D73B4855E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19400"/>
            <a:ext cx="40957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958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A7A1-7E73-0697-4673-847A86FF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Benefits of Scaling in MongoDB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A6234E-3A05-A279-9EF6-30B2007E0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589751"/>
              </p:ext>
            </p:extLst>
          </p:nvPr>
        </p:nvGraphicFramePr>
        <p:xfrm>
          <a:off x="431800" y="1661160"/>
          <a:ext cx="8229600" cy="3962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07194042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92389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Feature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Benefit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806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Read Replication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Handles heavy read loads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955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Sharding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Handles heavy write loads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20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Zero Downtime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Nodes added dynamically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20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Data Locality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Shards closer to users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290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High Availability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Continuous service through replica sets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00947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B2B44-E249-2DD0-8038-CC016DD6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5A06B-CD85-2B95-620F-A50AC9D2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68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4686-33B2-3D13-25C0-FFF62E86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in a </a:t>
            </a:r>
            <a:r>
              <a:rPr lang="en-US" dirty="0" err="1"/>
              <a:t>NutShell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47E41-3CB2-5F0D-0D38-0C818F98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39065-0024-2FEE-7347-18438070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4CA42C-758E-C302-DE2A-571EBDC8F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81383"/>
            <a:ext cx="777240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achieves scaling via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replication (reads)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sharding (writes)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Horizontal scaling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add nodes, not hardware.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downtime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shard key design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crucial for efficiency and load balance.</a:t>
            </a:r>
          </a:p>
        </p:txBody>
      </p:sp>
    </p:spTree>
    <p:extLst>
      <p:ext uri="{BB962C8B-B14F-4D97-AF65-F5344CB8AC3E}">
        <p14:creationId xmlns:p14="http://schemas.microsoft.com/office/powerpoint/2010/main" val="26768806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DE3C92-66FB-B3B2-5EF8-F3E8448F4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006645"/>
              </p:ext>
            </p:extLst>
          </p:nvPr>
        </p:nvGraphicFramePr>
        <p:xfrm>
          <a:off x="114300" y="457200"/>
          <a:ext cx="8915400" cy="5347281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1333809494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16518794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7809384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1963231945"/>
                    </a:ext>
                  </a:extLst>
                </a:gridCol>
              </a:tblGrid>
              <a:tr h="6676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Feature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Description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Example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Benefit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2032099"/>
                  </a:ext>
                </a:extLst>
              </a:tr>
              <a:tr h="10783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</a:rPr>
                        <a:t>Consistency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</a:rPr>
                        <a:t>Ensures same view of data across replicas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Price update in store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Reliable reads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5287433"/>
                  </a:ext>
                </a:extLst>
              </a:tr>
              <a:tr h="715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Transactions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Multi-operation atomic updates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Money transfer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Data integrity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6523264"/>
                  </a:ext>
                </a:extLst>
              </a:tr>
              <a:tr h="715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Availability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</a:rPr>
                        <a:t>System stays up despite failures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Failover to replica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Fault tolerance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1835009"/>
                  </a:ext>
                </a:extLst>
              </a:tr>
              <a:tr h="715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Query Features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Flexible, JSON-style queries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Find all users with age &gt; 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Powerful filtering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9341469"/>
                  </a:ext>
                </a:extLst>
              </a:tr>
              <a:tr h="14410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Scaling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Handle large data/load via sharding/replication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</a:rPr>
                        <a:t>Distribute users across servers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</a:rPr>
                        <a:t>Better performance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620929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106A0-207D-5CC7-BC81-E5EFBCA8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1143F-FE73-99CC-B344-2E07CB0A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67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499-62F6-F16F-D15D-22A1398C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3246"/>
            <a:ext cx="8229600" cy="715962"/>
          </a:xfrm>
        </p:spPr>
        <p:txBody>
          <a:bodyPr/>
          <a:lstStyle/>
          <a:p>
            <a:pPr algn="ctr"/>
            <a:r>
              <a:rPr lang="en-IN" sz="3600" dirty="0"/>
              <a:t>III. Suitable Use Cases </a:t>
            </a:r>
            <a:br>
              <a:rPr lang="en-IN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8DA35-E377-4144-9384-5E480C6C3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0741"/>
            <a:ext cx="8229600" cy="4680431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Logging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Content Management Systems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Blogging Platforms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Analytics or Real-Time Analytics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Commerce Applications </a:t>
            </a:r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52474-66BE-EF5E-CCAF-35C17BB6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A4F68-EE24-62E1-AA55-50D55A92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075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F434-5E79-D376-12D0-A5B5711D1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15962"/>
          </a:xfrm>
        </p:spPr>
        <p:txBody>
          <a:bodyPr/>
          <a:lstStyle/>
          <a:p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III.1. Event Logging</a:t>
            </a:r>
            <a:b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831F1-7FA8-3826-DE09-B4F49631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14291-4E30-CD9A-A999-CB16D28E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A67041D-704E-120A-C745-065F7C0364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956373"/>
            <a:ext cx="8534400" cy="5554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Logging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Recording activities or actions across applications.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Enterprises have many apps generating diverse event data.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ideal because they:</a:t>
            </a:r>
          </a:p>
          <a:p>
            <a:pPr lvl="1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changing event structures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(schema flexibility).</a:t>
            </a:r>
          </a:p>
          <a:p>
            <a:pPr lvl="1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all events.</a:t>
            </a:r>
          </a:p>
          <a:p>
            <a:pPr lvl="1" eaLnBrk="0" hangingPunct="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querying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event types.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30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055B-F52E-8402-ABFE-C0D7AFE1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48802"/>
            <a:ext cx="8229600" cy="715962"/>
          </a:xfrm>
        </p:spPr>
        <p:txBody>
          <a:bodyPr/>
          <a:lstStyle/>
          <a:p>
            <a:r>
              <a:rPr lang="en-IN" dirty="0"/>
              <a:t>Scaling &amp; Advantages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F40AC-7893-6557-1868-4FB5574A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C8184-CE48-0EB5-D0FE-68921617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A4EEBA-3FB7-22F1-8D1E-B1670C6571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476" y="1014885"/>
            <a:ext cx="8929047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Sharding: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 data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type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lang="en-US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spcBef>
                <a:spcPct val="0"/>
              </a:spcBef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📈 Scalable for large log volumes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🧩 Handles different data formats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⚡ Enables fast queries &amp; real-time analysis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🗄️ Central storage for all enterprise events</a:t>
            </a:r>
          </a:p>
          <a:p>
            <a:pPr eaLnBrk="0" hangingPunct="0">
              <a:spcBef>
                <a:spcPct val="0"/>
              </a:spcBef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3566C-C9E0-5A75-ACDB-A434942A34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721" b="6558"/>
          <a:stretch>
            <a:fillRect/>
          </a:stretch>
        </p:blipFill>
        <p:spPr>
          <a:xfrm>
            <a:off x="228600" y="2286000"/>
            <a:ext cx="5041485" cy="838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28D23D-BEB5-36FE-849D-2666A6549EC4}"/>
              </a:ext>
            </a:extLst>
          </p:cNvPr>
          <p:cNvSpPr txBox="1"/>
          <p:nvPr/>
        </p:nvSpPr>
        <p:spPr>
          <a:xfrm>
            <a:off x="5476301" y="2449716"/>
            <a:ext cx="33201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order_processed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Shard 1, 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customer_logged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Shard 2</a:t>
            </a:r>
          </a:p>
          <a:p>
            <a:pPr eaLnBrk="0" hangingPunct="0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599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8383-7A29-2652-702F-B769C0BD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22797"/>
            <a:ext cx="8229600" cy="777877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III.2. Content Management Systems</a:t>
            </a:r>
            <a:b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9EF43-8DA4-D3E3-7145-E585A0A21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Structure: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predefined schema → easy to store and update diverse content.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documents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data simple and human-readable.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503E7-05C2-0B67-DB04-E2E59ADA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34960-1555-AF84-3B08-88586218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6" name="Picture 6" descr="Advantage Of Using Content Management System - Illusion Groups India">
            <a:extLst>
              <a:ext uri="{FF2B5EF4-FFF2-40B4-BE49-F238E27FC236}">
                <a16:creationId xmlns:a16="http://schemas.microsoft.com/office/drawing/2014/main" id="{DB50C150-82C0-6B0E-1259-BDA3CC220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2" t="7503" r="8062" b="9749"/>
          <a:stretch>
            <a:fillRect/>
          </a:stretch>
        </p:blipFill>
        <p:spPr bwMode="auto">
          <a:xfrm>
            <a:off x="1981200" y="3555993"/>
            <a:ext cx="48006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223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901C6-1CFC-A1A2-297F-4B038CC3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5C694-31E7-79AA-5ECD-D5DC0979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0382E-4516-059D-48D3-AA1A2C9CA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80431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Fit For: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📰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Systems (CMS)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Comments &amp; Discussions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👤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Registrations &amp; Profiles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Publishing Applications</a:t>
            </a:r>
          </a:p>
          <a:p>
            <a:pPr marL="457200" lvl="1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JSON document can store user details, comments, and posts — all in one flexible structure.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09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1B84-C209-2BF8-47D2-50FF1964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715962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C298-6129-B616-C67E-9ED017CD0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3" y="1350962"/>
            <a:ext cx="8229600" cy="468043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Handles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content updates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redesigning schema.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Supports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 content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Ideal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modern, web-facing applications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requiring flexibility and speed.</a:t>
            </a:r>
          </a:p>
          <a:p>
            <a:pPr marL="0" indent="0"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“Document databases are the backbone of dynamic, content-driven web applications.”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9A7A1-04C0-42A1-083B-A244427D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5D8B-E377-F926-8E55-B2E16F72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141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24075-C7B2-760B-ADC0-39600825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45603"/>
            <a:ext cx="8229600" cy="715962"/>
          </a:xfrm>
        </p:spPr>
        <p:txBody>
          <a:bodyPr/>
          <a:lstStyle/>
          <a:p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III. 3. Blogging Platforms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A2EE-21BA-35F4-FAFD-2B14B2E4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DF54B-C12C-B3FC-F69A-013F094B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6D1489-92EF-FA5C-695F-A1370CAB64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067" y="1223107"/>
            <a:ext cx="8195733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20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Blogs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evolving structures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(titles, tags, comments, media, etc.).</a:t>
            </a:r>
          </a:p>
          <a:p>
            <a:pPr eaLnBrk="0" hangingPunct="0">
              <a:lnSpc>
                <a:spcPct val="20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fixed schema → easily adapt to new fields like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“featured image”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“reading time”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200000"/>
              </a:lnSpc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JSON-based storage fits perfectly for storing post content and metadata. </a:t>
            </a:r>
          </a:p>
        </p:txBody>
      </p:sp>
    </p:spTree>
    <p:extLst>
      <p:ext uri="{BB962C8B-B14F-4D97-AF65-F5344CB8AC3E}">
        <p14:creationId xmlns:p14="http://schemas.microsoft.com/office/powerpoint/2010/main" val="33187074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555E-290F-8A05-52A4-E295966C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6523"/>
            <a:ext cx="8229600" cy="715962"/>
          </a:xfrm>
        </p:spPr>
        <p:txBody>
          <a:bodyPr/>
          <a:lstStyle/>
          <a:p>
            <a:r>
              <a:rPr lang="en-IN" dirty="0"/>
              <a:t>Benefits for Blogging Platforms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4A70-7C09-1BFA-96BA-648B133DF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88784"/>
            <a:ext cx="8991600" cy="46804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Flexibility: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new fields (likes, shares, tags) anytime.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reads/writes for posts and user comments.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thousands of posts and comments via sharding.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Comments, tags, and author info can live inside the same document.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Updates: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Modify content or structure without schema migration.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ADABF-1E68-5FBA-35A5-FEDBF9FE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59E35-7CC1-2D8D-C9B4-D611EA28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2723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663D-D8AB-7FAF-F418-B387DE29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15962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III. 4. Web Analytics or Real-Time Analytics</a:t>
            </a:r>
            <a:b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76A68-172B-3F44-D2B9-D7AA0DA4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30F23-779F-1D9F-6244-F4BCFDFB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F0AE4D-6C48-79D1-7846-4EC03FC18B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325562"/>
            <a:ext cx="8534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Handling: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efficiently store and update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views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visitors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Updates: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parts of a document can be updated → no need to rewrite the entire record.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Schema Flexibility: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metrics (e.g., “time spent,” “clicks,” “shares”) can be added anytime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schema changes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>
              <a:spcBef>
                <a:spcPct val="0"/>
              </a:spcBef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928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9C01-74F4-9926-E700-BFBF1C09F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08" y="1349380"/>
            <a:ext cx="8229600" cy="4680431"/>
          </a:xfrm>
        </p:spPr>
        <p:txBody>
          <a:bodyPr/>
          <a:lstStyle/>
          <a:p>
            <a:pPr eaLnBrk="0" hangingPunct="0">
              <a:spcBef>
                <a:spcPct val="0"/>
              </a:spcBef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Use Cases: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Analytics: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page views, unique visitors, session duration.</a:t>
            </a:r>
          </a:p>
          <a:p>
            <a:pPr lvl="1" eaLnBrk="0" hangingPunct="0">
              <a:spcBef>
                <a:spcPct val="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🛍️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Insights: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live sales, cart abandonment, conversion rates.</a:t>
            </a:r>
          </a:p>
          <a:p>
            <a:pPr lvl="1" eaLnBrk="0" hangingPunct="0">
              <a:spcBef>
                <a:spcPct val="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Performance Tracking: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user interactions and API response times.</a:t>
            </a:r>
          </a:p>
          <a:p>
            <a:pPr lvl="1" eaLnBrk="0" hangingPunct="0">
              <a:spcBef>
                <a:spcPct val="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Monitoring: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sensor data and update device metrics in real-time.</a:t>
            </a:r>
          </a:p>
          <a:p>
            <a:pPr>
              <a:lnSpc>
                <a:spcPct val="2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69141-7233-B4A9-10BA-4FBC4628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1DD6C-D287-30C7-123A-CBD86061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DCF7058-E6AE-96AD-B661-206CA445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318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DEBD-D444-D95F-1763-022547B3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71003"/>
            <a:ext cx="8229600" cy="715962"/>
          </a:xfrm>
        </p:spPr>
        <p:txBody>
          <a:bodyPr/>
          <a:lstStyle/>
          <a:p>
            <a:r>
              <a:rPr lang="en-US" sz="3200" dirty="0"/>
              <a:t>III. 5. 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 Commerce Applications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84C2-7E42-678C-FEC5-9DC3DB087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38200"/>
            <a:ext cx="9067800" cy="46804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Document Databases?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data (products, customers, orders) varies in structure.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flexibility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easy addition of new fields (e.g., offers, reviews, images).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downtime or costly migrations when requirements change.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4DE6D-697E-77B2-3CB8-D2B8EDE6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FF60-0B8E-60FB-353A-1E457565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94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0DB2-71C7-3908-FA64-7DD0FA43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71003"/>
            <a:ext cx="8229600" cy="7159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6765-B702-F746-3C13-FA1D719E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Each product can have unique attributes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size, 	brand, specs).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Orders can embed customer info, payment details, and 	item list in one document.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👤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Store purchase history, preferences, and wish lists 	dynamically.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Ratings: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Embedded comments and feedback stored within product 	documents.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D2AE5-3CE4-1E14-4B94-37B60481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58532-E2E0-B940-924D-94A4F12C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70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C126-3897-1348-A7FE-B4C73BAE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00400"/>
            <a:ext cx="8229600" cy="715962"/>
          </a:xfrm>
        </p:spPr>
        <p:txBody>
          <a:bodyPr/>
          <a:lstStyle/>
          <a:p>
            <a:pPr algn="ctr"/>
            <a:r>
              <a:rPr lang="en-IN" sz="3200" dirty="0"/>
              <a:t>IV. When Not to Use Document Databases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6C8BF-78C4-9E02-7DA5-3FF5D7ED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E1377-2447-734B-8C50-636E3FC3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586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129E-2AE5-4ACD-7426-238D1DA1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IV.1.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Complex Transactions Spanning Different Operations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EBB59-368A-D811-6C14-47C866C5C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49380"/>
            <a:ext cx="8229600" cy="4680431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are not ideal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atomic, cross-document transactions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designed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single-document atomicity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multi-document operations.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needing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transactional consistency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banking, accounting systems) may face limitations.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document databases like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RavenDB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limited support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multi-document transactions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1C313-894B-DBCB-2D31-AF4FA803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BCBB5-F2BF-C5F2-5366-F6F46540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815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946F-57F4-FBD0-D7D4-23066CA6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IV.2. </a:t>
            </a:r>
            <a:r>
              <a:rPr lang="en-IN" dirty="0"/>
              <a:t>Queries against Varying Aggregate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E588-D983-538C-F7AA-CC9054A93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Schema Challenge: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enforce a fixed schema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data is stored as application-specific entities.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design changes frequently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query structures must also change.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hoc queries become complex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structures vary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an RDBMS where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tables keep changing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C4FBB-CFCD-D2DE-899C-19873E07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7B468-C571-D9C7-4461-865BADA0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9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A502-5C9E-9281-8481-7D34F9C1E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382000" cy="4680431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Workaround: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need to be stored at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level of granularity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(normalized form).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this defeats the purpose of using a document database.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“When aggregate structures change often, querying becomes inefficient — making document databases less suitable.”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B347C-DCAC-89C1-083A-964A04CF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20AFC-9D7A-AF5E-B691-496300A1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78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88532-35B3-22BD-B2B3-9DAA4D68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CSE3513 NoSQL Data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AEBB8-8E1F-A533-8AFD-88688C89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6" name="Picture 2" descr="Clustering of graphs and search of assemblages">
            <a:extLst>
              <a:ext uri="{FF2B5EF4-FFF2-40B4-BE49-F238E27FC236}">
                <a16:creationId xmlns:a16="http://schemas.microsoft.com/office/drawing/2014/main" id="{E166EEFC-6AC5-401F-4AD6-E6EABBD024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881033" y="1524000"/>
            <a:ext cx="7381934" cy="41787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076437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095C7B49EE1146AAA8C8462146272B" ma:contentTypeVersion="13" ma:contentTypeDescription="Create a new document." ma:contentTypeScope="" ma:versionID="8fbffbc479621829441d6d4dd2e82675">
  <xsd:schema xmlns:xsd="http://www.w3.org/2001/XMLSchema" xmlns:xs="http://www.w3.org/2001/XMLSchema" xmlns:p="http://schemas.microsoft.com/office/2006/metadata/properties" xmlns:ns2="d256e026-6fec-4aae-99b6-8461207f8c96" xmlns:ns3="34af669e-4748-4732-b330-41524f39faf0" targetNamespace="http://schemas.microsoft.com/office/2006/metadata/properties" ma:root="true" ma:fieldsID="af9eab97b86410be42d0a81c39848e2f" ns2:_="" ns3:_="">
    <xsd:import namespace="d256e026-6fec-4aae-99b6-8461207f8c96"/>
    <xsd:import namespace="34af669e-4748-4732-b330-41524f39faf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6e026-6fec-4aae-99b6-8461207f8c9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e15fc21-9b6e-469d-a2ab-87c63061b4a9}" ma:internalName="TaxCatchAll" ma:showField="CatchAllData" ma:web="d256e026-6fec-4aae-99b6-8461207f8c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af669e-4748-4732-b330-41524f39fa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af669e-4748-4732-b330-41524f39faf0">
      <Terms xmlns="http://schemas.microsoft.com/office/infopath/2007/PartnerControls"/>
    </lcf76f155ced4ddcb4097134ff3c332f>
    <TaxCatchAll xmlns="d256e026-6fec-4aae-99b6-8461207f8c96" xsi:nil="true"/>
  </documentManagement>
</p:properties>
</file>

<file path=customXml/itemProps1.xml><?xml version="1.0" encoding="utf-8"?>
<ds:datastoreItem xmlns:ds="http://schemas.openxmlformats.org/officeDocument/2006/customXml" ds:itemID="{EBD5350E-A17E-4EA1-870B-737693FEC1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56e026-6fec-4aae-99b6-8461207f8c96"/>
    <ds:schemaRef ds:uri="34af669e-4748-4732-b330-41524f39f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DFE7C8-44AE-4CA0-BC1C-D7A115A2224E}">
  <ds:schemaRefs>
    <ds:schemaRef ds:uri="34af669e-4748-4732-b330-41524f39faf0"/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d256e026-6fec-4aae-99b6-8461207f8c96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19095</TotalTime>
  <Words>3451</Words>
  <Application>Microsoft Office PowerPoint</Application>
  <PresentationFormat>On-screen Show (4:3)</PresentationFormat>
  <Paragraphs>591</Paragraphs>
  <Slides>67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9" baseType="lpstr">
      <vt:lpstr>Arial</vt:lpstr>
      <vt:lpstr>Bookman Old Style</vt:lpstr>
      <vt:lpstr>Calibri</vt:lpstr>
      <vt:lpstr>Cambria</vt:lpstr>
      <vt:lpstr>Consolas</vt:lpstr>
      <vt:lpstr>Courier New</vt:lpstr>
      <vt:lpstr>Inter</vt:lpstr>
      <vt:lpstr>Inter Bold</vt:lpstr>
      <vt:lpstr>Symbol</vt:lpstr>
      <vt:lpstr>Times New Roman</vt:lpstr>
      <vt:lpstr>Wingdings</vt:lpstr>
      <vt:lpstr>Thiru_Regular</vt:lpstr>
      <vt:lpstr>PowerPoint Presentation</vt:lpstr>
      <vt:lpstr>PowerPoint Presentation</vt:lpstr>
      <vt:lpstr>Session Summary </vt:lpstr>
      <vt:lpstr>I. Document-Oriented Databases  </vt:lpstr>
      <vt:lpstr>PowerPoint Presentation</vt:lpstr>
      <vt:lpstr>Document Structure Example </vt:lpstr>
      <vt:lpstr>II. Features  </vt:lpstr>
      <vt:lpstr>II.1. Consistency </vt:lpstr>
      <vt:lpstr>PowerPoint Presentation</vt:lpstr>
      <vt:lpstr>Write Consistency – 'w' Parameter</vt:lpstr>
      <vt:lpstr>Read Consistency – Using slave0k()</vt:lpstr>
      <vt:lpstr>WriteConcern – Controlling Write Safety</vt:lpstr>
      <vt:lpstr>Trade-off </vt:lpstr>
      <vt:lpstr>Trade-Off Between Consistency &amp; Performance</vt:lpstr>
      <vt:lpstr>Example </vt:lpstr>
      <vt:lpstr>Consistency in a NutShell</vt:lpstr>
      <vt:lpstr>II.2. Transactions </vt:lpstr>
      <vt:lpstr>Transactions in NoSQL Databases</vt:lpstr>
      <vt:lpstr>Multi-Operation Transactions</vt:lpstr>
      <vt:lpstr>Role of WriteConcern </vt:lpstr>
      <vt:lpstr>Example Code – Using WriteConcern</vt:lpstr>
      <vt:lpstr>PowerPoint Presentation</vt:lpstr>
      <vt:lpstr>Transaction in a NutShell</vt:lpstr>
      <vt:lpstr>II.3. Availability</vt:lpstr>
      <vt:lpstr>How Availability is achieved</vt:lpstr>
      <vt:lpstr>MongoDB Replica Sets</vt:lpstr>
      <vt:lpstr>How it Works….</vt:lpstr>
      <vt:lpstr>PowerPoint Presentation</vt:lpstr>
      <vt:lpstr>PowerPoint Presentation</vt:lpstr>
      <vt:lpstr>PowerPoint Presentation</vt:lpstr>
      <vt:lpstr>Fig: Replica set configuration with higher priority assigned to nodes in the same data center  </vt:lpstr>
      <vt:lpstr>PowerPoint Presentation</vt:lpstr>
      <vt:lpstr>Application Connectivity</vt:lpstr>
      <vt:lpstr>Benefits of Replica Sets</vt:lpstr>
      <vt:lpstr>Availability in A NutShell </vt:lpstr>
      <vt:lpstr>II.4. Query Features</vt:lpstr>
      <vt:lpstr>MongoDB Example </vt:lpstr>
      <vt:lpstr>SQL vs MongoDB Query Comparison </vt:lpstr>
      <vt:lpstr>Views and Aggregation </vt:lpstr>
      <vt:lpstr>Advantages </vt:lpstr>
      <vt:lpstr>Query Features in a NutShell</vt:lpstr>
      <vt:lpstr>II.5. Scaling </vt:lpstr>
      <vt:lpstr>PowerPoint Presentation</vt:lpstr>
      <vt:lpstr>Types of Scaling</vt:lpstr>
      <vt:lpstr>Read Scaling – Using Replica Sets</vt:lpstr>
      <vt:lpstr>Write Scaling – Sharding</vt:lpstr>
      <vt:lpstr>Importance of Shard Key</vt:lpstr>
      <vt:lpstr>Key Benefits of Scaling in MongoDB</vt:lpstr>
      <vt:lpstr>Scaling in a NutShell</vt:lpstr>
      <vt:lpstr>PowerPoint Presentation</vt:lpstr>
      <vt:lpstr>III. Suitable Use Cases  </vt:lpstr>
      <vt:lpstr>III.1. Event Logging </vt:lpstr>
      <vt:lpstr>Scaling &amp; Advantages</vt:lpstr>
      <vt:lpstr>III.2. Content Management Systems </vt:lpstr>
      <vt:lpstr>PowerPoint Presentation</vt:lpstr>
      <vt:lpstr>Key Advantages </vt:lpstr>
      <vt:lpstr>III. 3. Blogging Platforms </vt:lpstr>
      <vt:lpstr>Benefits for Blogging Platforms</vt:lpstr>
      <vt:lpstr>III. 4. Web Analytics or Real-Time Analytics </vt:lpstr>
      <vt:lpstr>PowerPoint Presentation</vt:lpstr>
      <vt:lpstr>III. 5. E- Commerce Applications  </vt:lpstr>
      <vt:lpstr>Use Cases </vt:lpstr>
      <vt:lpstr>IV. When Not to Use Document Databases</vt:lpstr>
      <vt:lpstr>IV.1. Complex Transactions Spanning Different Operations </vt:lpstr>
      <vt:lpstr>IV.2. Queries against Varying Aggregate Structure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HP</cp:lastModifiedBy>
  <cp:revision>591</cp:revision>
  <dcterms:created xsi:type="dcterms:W3CDTF">2006-08-16T00:00:00Z</dcterms:created>
  <dcterms:modified xsi:type="dcterms:W3CDTF">2025-11-06T09:43:53Z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0x010100E5095C7B49EE1146AAA8C8462146272B</vt:lpwstr>
  </property>
</Properties>
</file>