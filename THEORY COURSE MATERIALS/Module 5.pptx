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0"/>
  </p:notesMasterIdLst>
  <p:sldIdLst>
    <p:sldId id="303" r:id="rId3"/>
    <p:sldId id="256" r:id="rId4"/>
    <p:sldId id="257" r:id="rId5"/>
    <p:sldId id="259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3" r:id="rId40"/>
    <p:sldId id="295" r:id="rId41"/>
    <p:sldId id="296" r:id="rId42"/>
    <p:sldId id="297" r:id="rId43"/>
    <p:sldId id="298" r:id="rId44"/>
    <p:sldId id="304" r:id="rId45"/>
    <p:sldId id="299" r:id="rId46"/>
    <p:sldId id="300" r:id="rId47"/>
    <p:sldId id="301" r:id="rId48"/>
    <p:sldId id="30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36B70-9576-4AAF-B0D1-FB9B68E4CFE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FDDA06-956D-4BD6-BF94-3C203CB5F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2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0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0F01-EEC9-DEDA-2FF8-FEDE05CC0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2890FA-643F-30C4-1814-AA77B61C2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8B4AC-6698-4D1B-E05E-AAEBE0C20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A0EE4-3791-AC7D-5274-2CB051F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B6380-6299-0891-7C98-07971BAF1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8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B95F-C57F-2D80-7239-6CE9FC88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BA4E9-1A43-00DA-322A-6F3EEA3AC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D37C8-6E40-9362-EE37-B9A99075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2BDE9-3D8E-4117-7676-334CE8514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5E73C-98B1-F8A7-E802-7F9759E2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61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DFB06-34C5-76E3-A1E1-B15E56CD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95FD-9F64-395F-7E85-F10709EDC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71C1B-2ADE-DA5D-8778-BCAEC594F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26C04-51D7-3D96-7BCA-9FEAB2E9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698B6-686C-3E55-31AB-A75046BB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2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EFAE5-9772-748A-B735-B0947CF9B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541CC-CEA1-E9D1-EF03-0A7A929B0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3761A-E96C-5631-0DF7-640901E05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E59D3-0AAE-B855-458A-8DE6136F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895A2-7EF2-91C5-8EBE-F59BD48E3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57FC4-0644-915B-1850-75A19E6E5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9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9FEA-9DA1-49FE-F1D4-AA7C9CF97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48582-80D7-45AF-F47F-33651F450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BDF9B-D357-0BA8-1F57-86F91410F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39DFD-55CB-8A34-0BBD-2EF6075C0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4077E-035C-78AA-C014-FAE16E25A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1F632-681C-B029-11E3-37FF4A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8A91E-D1DC-9E12-50C5-B3AF735CF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E7F4A0-1811-3D71-BCF4-D878A728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3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FEBE-AE3A-FD6D-84A1-7AE5A1DFC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3C9F9-8828-0C65-E42B-9765ECAB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AC300-7D6C-000F-A1FC-F19F8353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D009E-6BC0-6E3D-CB5C-62DFB4E30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1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3B2167-1CA1-037D-BD50-55BF77A97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CAED8-9957-4BA1-04B1-D746A70BA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AA112-D259-349A-84EA-CC2996E1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5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E1E6-9D4D-0F97-C794-F5743850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D99E6-5DE1-D84F-1AE9-CDDBA8F8D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62604-18CB-6CD2-AF8F-F72B35D42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A9454-06E2-9AB3-82D4-1E9C067A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5CA26-2518-8389-FD5A-B3ECC2F1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A2E42-EB40-10CD-0DC5-4496BE8F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1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AE0F-84DC-04AB-FB6C-5044806C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4B6E7-3FDC-C9AE-81F7-75A618A1FE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4B0B0-1AC5-DF12-722B-A8ECA087E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E0D93-34CE-439D-4286-96896CEDA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ACFC1-ECBF-22AF-CE45-37C1BC044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EA4F9-AEAD-8E49-C5EF-EB1B62A8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5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E46D-416D-741D-1B3D-60644A9D1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7A9EF-E6B0-493B-F3A1-18EC6503E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B3E4F-31CE-6157-FD22-C5DE886C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6D16F-0C80-B19F-D84F-CD9264C1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3DC70-BBA7-12D3-1AC0-CAB5AD657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2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CABE37-FDE1-E1AD-559A-8AD5B47E0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76043-FE8E-B409-9C81-2841AC78C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9A187-C1E1-7EC4-4217-75B7A81D8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54242-F53D-5F1C-0AB6-B7B89196E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0DD49-D7A4-512F-A709-F87BC6406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1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64126" y="2490927"/>
            <a:ext cx="3063747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1F3863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0422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471C4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4536A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6125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471C4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5517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4471C4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312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9715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30777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>
            <a:lvl1pPr>
              <a:defRPr/>
            </a:lvl1pPr>
          </a:lstStyle>
          <a:p>
            <a:fld id="{2961D096-7E3B-4901-842A-409E8605E423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CSE2024 NoSQL Databases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854560" y="6530213"/>
            <a:ext cx="253365" cy="215444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52140-DF33-42B2-90EF-9E9B8553C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6"/>
            <a:ext cx="12192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6754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2C934-55B8-7BEB-F9C7-0E9BF16E4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50C8C-174D-59C4-DECE-28699D753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4BD8-199B-695D-55AE-6047A74C3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077E5-A0AE-46CD-ACD1-46099FF430D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6A6D-8DC3-F772-7A79-69E0C527B1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55BE2-39AE-C425-B68B-43AD97282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465407-5154-4AF9-827E-AF92238B9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0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173204"/>
            <a:ext cx="12192000" cy="168479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1747" y="31191"/>
            <a:ext cx="469709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4471C4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1575" y="3108451"/>
            <a:ext cx="6660515" cy="2103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4536A"/>
                </a:solidFill>
                <a:latin typeface="Caladea"/>
                <a:cs typeface="Calade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54560" y="6530213"/>
            <a:ext cx="253365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9685">
              <a:lnSpc>
                <a:spcPts val="1639"/>
              </a:lnSpc>
            </a:pPr>
            <a:fld id="{81D60167-4931-47E6-BA6A-407CBD079E47}" type="slidenum">
              <a:rPr spc="-5" dirty="0">
                <a:latin typeface="Arial"/>
                <a:cs typeface="Arial"/>
              </a:rPr>
              <a:pPr marL="19685">
                <a:lnSpc>
                  <a:spcPts val="1639"/>
                </a:lnSpc>
              </a:pPr>
              <a:t>‹#›</a:t>
            </a:fld>
            <a:endParaRPr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939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www.brainkart.com/subject/Web-Technology_169/" TargetMode="Externa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E4517-6C23-48B3-9024-02BD16E6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9F73C4-29F8-4839-BE55-953164711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206461" y="0"/>
            <a:ext cx="7779079" cy="13093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5994CEF-AC9F-45F1-B856-7E13245F08BF}"/>
              </a:ext>
            </a:extLst>
          </p:cNvPr>
          <p:cNvSpPr txBox="1">
            <a:spLocks/>
          </p:cNvSpPr>
          <p:nvPr/>
        </p:nvSpPr>
        <p:spPr bwMode="auto">
          <a:xfrm>
            <a:off x="1517073" y="1041962"/>
            <a:ext cx="9144000" cy="20232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Bookman Old Style" panose="02050604050505020204" pitchFamily="18" charset="0"/>
                <a:ea typeface="+mj-ea"/>
                <a:cs typeface="+mj-cs"/>
              </a:defRPr>
            </a:lvl1pPr>
            <a:lvl2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3429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6858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0287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3716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IN" sz="2800" dirty="0"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NoSQL Data Management</a:t>
            </a:r>
            <a:endParaRPr lang="en-IN" sz="2800" dirty="0"/>
          </a:p>
          <a:p>
            <a:r>
              <a:rPr lang="en-US" sz="2800" dirty="0"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MODULE 5- </a:t>
            </a:r>
            <a:endParaRPr lang="en-US" sz="2800" dirty="0"/>
          </a:p>
          <a:p>
            <a:pPr marL="12700" lvl="0" eaLnBrk="1" fontAlgn="auto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defRPr/>
            </a:pPr>
            <a:r>
              <a:rPr lang="en-US" sz="2800" spc="-5" dirty="0">
                <a:solidFill>
                  <a:srgbClr val="EC7C30"/>
                </a:solidFill>
                <a:latin typeface="Carlito"/>
                <a:cs typeface="Carlito"/>
              </a:rPr>
              <a:t>Graph Databases and Connected Data Solutions</a:t>
            </a:r>
            <a:endParaRPr lang="en-US" sz="2800" b="0" dirty="0">
              <a:solidFill>
                <a:prstClr val="black"/>
              </a:solidFill>
              <a:latin typeface="Carlito"/>
              <a:cs typeface="Carlito"/>
            </a:endParaRPr>
          </a:p>
          <a:p>
            <a:endParaRPr lang="en-IN" sz="2800" dirty="0">
              <a:hlinkClick r:id="rId6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7D772C-CE7C-4E6F-8FFF-BDAD62483336}"/>
              </a:ext>
            </a:extLst>
          </p:cNvPr>
          <p:cNvSpPr txBox="1">
            <a:spLocks/>
          </p:cNvSpPr>
          <p:nvPr/>
        </p:nvSpPr>
        <p:spPr bwMode="auto">
          <a:xfrm>
            <a:off x="2230474" y="5613718"/>
            <a:ext cx="7772400" cy="8996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152400" indent="-152400" algn="l" rtl="0" eaLnBrk="0" fontAlgn="base" hangingPunct="0">
              <a:lnSpc>
                <a:spcPct val="75000"/>
              </a:lnSpc>
              <a:spcBef>
                <a:spcPct val="65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1800" b="1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514350" indent="-1428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Courier New" pitchFamily="49" charset="0"/>
              <a:buChar char="o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2pPr>
            <a:lvl3pPr marL="942975" indent="-2571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3pPr>
            <a:lvl4pPr marL="12858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4pPr>
            <a:lvl5pPr marL="16287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5pPr>
            <a:lvl6pPr marL="19716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6pPr>
            <a:lvl7pPr marL="23145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7pPr>
            <a:lvl8pPr marL="26574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8pPr>
            <a:lvl9pPr marL="30003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kern="0" dirty="0"/>
              <a:t>Department of Computer Science Engineering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 kern="0" dirty="0"/>
              <a:t>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347091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966575" y="6426504"/>
            <a:ext cx="1466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adea"/>
                <a:ea typeface="+mn-ea"/>
                <a:cs typeface="Caladea"/>
              </a:rPr>
              <a:t>1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adea"/>
              <a:ea typeface="+mn-ea"/>
              <a:cs typeface="Calade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2600" y="1819275"/>
            <a:ext cx="8686800" cy="1860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-5" normalizeH="0" baseline="0" noProof="0" dirty="0">
                <a:ln>
                  <a:noFill/>
                </a:ln>
                <a:solidFill>
                  <a:srgbClr val="EC7C30"/>
                </a:solidFill>
                <a:effectLst/>
                <a:uLnTx/>
                <a:uFillTx/>
                <a:latin typeface="Carlito"/>
                <a:ea typeface="+mn-ea"/>
                <a:cs typeface="Carlito"/>
              </a:rPr>
              <a:t>Graph Databases and Connected Data Solutions</a:t>
            </a:r>
            <a:endParaRPr kumimoji="0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rlito"/>
              <a:ea typeface="+mn-ea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504" y="350006"/>
            <a:ext cx="9736991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Graph Databases and Connected Data Solutions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0716" y="984700"/>
            <a:ext cx="1094871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What Is a Graph Database?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Features</a:t>
            </a:r>
          </a:p>
          <a:p>
            <a:pPr marL="1428750" lvl="2" indent="-514350" algn="just">
              <a:buFont typeface="+mj-lt"/>
              <a:buAutoNum type="romanLcPeriod"/>
            </a:pPr>
            <a:r>
              <a:rPr lang="en-US" sz="2000" dirty="0"/>
              <a:t>Consistency, </a:t>
            </a:r>
          </a:p>
          <a:p>
            <a:pPr marL="1428750" lvl="2" indent="-514350" algn="just">
              <a:buFont typeface="+mj-lt"/>
              <a:buAutoNum type="romanLcPeriod"/>
            </a:pPr>
            <a:r>
              <a:rPr lang="en-US" sz="2000" dirty="0"/>
              <a:t>Transactions,</a:t>
            </a:r>
          </a:p>
          <a:p>
            <a:pPr marL="1428750" lvl="2" indent="-514350" algn="just">
              <a:buFont typeface="+mj-lt"/>
              <a:buAutoNum type="romanLcPeriod"/>
            </a:pPr>
            <a:r>
              <a:rPr lang="en-US" sz="2000" dirty="0"/>
              <a:t> Availability, </a:t>
            </a:r>
          </a:p>
          <a:p>
            <a:pPr marL="1428750" lvl="2" indent="-514350" algn="just">
              <a:buFont typeface="+mj-lt"/>
              <a:buAutoNum type="romanLcPeriod"/>
            </a:pPr>
            <a:r>
              <a:rPr lang="en-US" sz="2000" dirty="0"/>
              <a:t>Query Features,</a:t>
            </a:r>
          </a:p>
          <a:p>
            <a:pPr marL="1428750" lvl="2" indent="-514350" algn="just">
              <a:buFont typeface="+mj-lt"/>
              <a:buAutoNum type="romanLcPeriod"/>
            </a:pPr>
            <a:r>
              <a:rPr lang="en-US" sz="2000" dirty="0"/>
              <a:t> Scaling,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Suitable Use Cases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en-US" sz="2000" dirty="0"/>
              <a:t>Connected Data, 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en-US" sz="2000" dirty="0"/>
              <a:t>Routing, Dispatch, and Location-Based Services, 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en-US" sz="2000" dirty="0"/>
              <a:t>Recommendation Engines,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When Not to Use.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723D8-C61F-93EE-80B9-78E18F840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8A5A70-BE30-9711-5A14-B3FEED1209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1. What is a Graph Database?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A4A308A-2B2A-6632-6B87-22BEFF729A74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D10042-F4D8-7611-0550-66B2F603240F}"/>
              </a:ext>
            </a:extLst>
          </p:cNvPr>
          <p:cNvSpPr txBox="1"/>
          <p:nvPr/>
        </p:nvSpPr>
        <p:spPr>
          <a:xfrm>
            <a:off x="690716" y="984700"/>
            <a:ext cx="109487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 graph database stores </a:t>
            </a:r>
            <a:r>
              <a:rPr lang="en-US" sz="2800" dirty="0">
                <a:solidFill>
                  <a:srgbClr val="FF33CC"/>
                </a:solidFill>
              </a:rPr>
              <a:t>entities</a:t>
            </a:r>
            <a:r>
              <a:rPr lang="en-US" sz="2800" dirty="0"/>
              <a:t> (nodes) and </a:t>
            </a:r>
            <a:r>
              <a:rPr lang="en-US" sz="2800" dirty="0">
                <a:solidFill>
                  <a:srgbClr val="FF33CC"/>
                </a:solidFill>
              </a:rPr>
              <a:t>relationships</a:t>
            </a:r>
            <a:r>
              <a:rPr lang="en-US" sz="2800" dirty="0"/>
              <a:t> (edges) as first-class citizens.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Nodes and edges can carry properties.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This structure makes traversals, shortest-path queries, multi-hop patterns, and pattern-matching 						cheap and expressive compared to relational or pure document models.</a:t>
            </a:r>
          </a:p>
        </p:txBody>
      </p:sp>
    </p:spTree>
    <p:extLst>
      <p:ext uri="{BB962C8B-B14F-4D97-AF65-F5344CB8AC3E}">
        <p14:creationId xmlns:p14="http://schemas.microsoft.com/office/powerpoint/2010/main" val="2747473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43E9D-41F4-D05C-C5CB-C34D20D09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E95E77-48D5-DAB9-3EFB-B7809409FA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1. What is a Graph Database?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D1D253B-AD44-85F2-29B6-75DB9F6F34A5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96BFB-9E9A-0F25-DCC6-10F7A069DA65}"/>
              </a:ext>
            </a:extLst>
          </p:cNvPr>
          <p:cNvSpPr txBox="1"/>
          <p:nvPr/>
        </p:nvSpPr>
        <p:spPr>
          <a:xfrm>
            <a:off x="324466" y="984700"/>
            <a:ext cx="530351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Graph Type:</a:t>
            </a:r>
          </a:p>
          <a:p>
            <a:pPr algn="just"/>
            <a:r>
              <a:rPr lang="en-US" dirty="0"/>
              <a:t>	This is a </a:t>
            </a:r>
            <a:r>
              <a:rPr lang="en-US" b="1" dirty="0"/>
              <a:t>property graph</a:t>
            </a:r>
            <a:r>
              <a:rPr lang="en-US" dirty="0"/>
              <a:t>, showing how people, companies, and books are connected by relationships such as </a:t>
            </a:r>
            <a:r>
              <a:rPr lang="en-US" i="1" dirty="0">
                <a:solidFill>
                  <a:srgbClr val="7030A0"/>
                </a:solidFill>
              </a:rPr>
              <a:t>friend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i="1" dirty="0">
                <a:solidFill>
                  <a:srgbClr val="7030A0"/>
                </a:solidFill>
              </a:rPr>
              <a:t>employee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i="1" dirty="0">
                <a:solidFill>
                  <a:srgbClr val="7030A0"/>
                </a:solidFill>
              </a:rPr>
              <a:t>likes</a:t>
            </a:r>
            <a:r>
              <a:rPr lang="en-US" dirty="0">
                <a:solidFill>
                  <a:srgbClr val="7030A0"/>
                </a:solidFill>
              </a:rPr>
              <a:t>, </a:t>
            </a:r>
            <a:r>
              <a:rPr lang="en-US" i="1" dirty="0">
                <a:solidFill>
                  <a:srgbClr val="7030A0"/>
                </a:solidFill>
              </a:rPr>
              <a:t>author</a:t>
            </a:r>
            <a:r>
              <a:rPr lang="en-US" dirty="0">
                <a:solidFill>
                  <a:srgbClr val="7030A0"/>
                </a:solidFill>
              </a:rPr>
              <a:t>, and </a:t>
            </a:r>
            <a:r>
              <a:rPr lang="en-US" i="1" dirty="0">
                <a:solidFill>
                  <a:srgbClr val="7030A0"/>
                </a:solidFill>
              </a:rPr>
              <a:t>category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lvl="0"/>
            <a:r>
              <a:rPr lang="en-US" b="1" dirty="0"/>
              <a:t>Main Entities (Nodes):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People:</a:t>
            </a:r>
            <a:r>
              <a:rPr lang="en-US" dirty="0"/>
              <a:t> Anna, Barbara, Carol, Dawn, Elizabeth, Jill, Martin, Pramod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Company:</a:t>
            </a:r>
            <a:r>
              <a:rPr lang="en-US" dirty="0"/>
              <a:t> </a:t>
            </a:r>
            <a:r>
              <a:rPr lang="en-US" dirty="0" err="1"/>
              <a:t>BigCo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Books:</a:t>
            </a:r>
            <a:r>
              <a:rPr lang="en-US" dirty="0"/>
              <a:t> Refactoring, NoSQL Distilled, Database Refactoring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b="1" dirty="0"/>
              <a:t>Categories:</a:t>
            </a:r>
            <a:r>
              <a:rPr lang="en-US" dirty="0"/>
              <a:t> Databases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D6D88E-C21E-5C9F-65D2-24B52F9D4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978" y="727565"/>
            <a:ext cx="6505023" cy="497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30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49DF-9496-77FB-AFDF-B088CE7D9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4CA91F3-1574-7510-2C79-10858BFB34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1. What is a Graph Database?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E1A54AA-5334-C5C5-42C7-FDA1183E50E3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E6C41-BF7F-75AB-28D7-B3144AADFEC7}"/>
              </a:ext>
            </a:extLst>
          </p:cNvPr>
          <p:cNvSpPr txBox="1"/>
          <p:nvPr/>
        </p:nvSpPr>
        <p:spPr>
          <a:xfrm>
            <a:off x="153384" y="984700"/>
            <a:ext cx="5486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Relationships (Edges):</a:t>
            </a:r>
            <a:endParaRPr lang="en-US" dirty="0"/>
          </a:p>
          <a:p>
            <a:pPr lvl="1"/>
            <a:r>
              <a:rPr lang="en-US" b="1" dirty="0"/>
              <a:t>employee:</a:t>
            </a:r>
            <a:r>
              <a:rPr lang="en-US" dirty="0"/>
              <a:t> Connects people (Anna, Barbara) to company </a:t>
            </a:r>
            <a:r>
              <a:rPr lang="en-US" i="1" dirty="0" err="1"/>
              <a:t>BigCo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friend:</a:t>
            </a:r>
            <a:r>
              <a:rPr lang="en-US" dirty="0"/>
              <a:t> Shows friendships between people 		(e.g., Barbara–Anna, Carol–Barbara, Dawn–Carol, Jill–Dawn, Martin–Pramod).</a:t>
            </a:r>
          </a:p>
          <a:p>
            <a:pPr lvl="1"/>
            <a:r>
              <a:rPr lang="en-US" b="1" dirty="0"/>
              <a:t>likes:</a:t>
            </a:r>
            <a:r>
              <a:rPr lang="en-US" dirty="0"/>
              <a:t> Shows which books people like 		(e.g., Barbara likes </a:t>
            </a:r>
            <a:r>
              <a:rPr lang="en-US" i="1" dirty="0"/>
              <a:t>Refactoring</a:t>
            </a:r>
            <a:r>
              <a:rPr lang="en-US" dirty="0"/>
              <a:t> and </a:t>
            </a:r>
            <a:r>
              <a:rPr lang="en-US" i="1" dirty="0"/>
              <a:t>NoSQL Distilled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author:</a:t>
            </a:r>
            <a:r>
              <a:rPr lang="en-US" dirty="0"/>
              <a:t> Connects authors to the books they wrote 	(e.g., Martin → </a:t>
            </a:r>
            <a:r>
              <a:rPr lang="en-US" i="1" dirty="0"/>
              <a:t>Refactoring</a:t>
            </a:r>
            <a:r>
              <a:rPr lang="en-US" dirty="0"/>
              <a:t>, Martin → </a:t>
            </a:r>
            <a:r>
              <a:rPr lang="en-US" i="1" dirty="0"/>
              <a:t>NoSQL Distilled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category:</a:t>
            </a:r>
            <a:r>
              <a:rPr lang="en-US" dirty="0"/>
              <a:t> Connects books to their subject category 	(e.g., </a:t>
            </a:r>
            <a:r>
              <a:rPr lang="en-US" i="1" dirty="0"/>
              <a:t>NoSQL Distilled</a:t>
            </a:r>
            <a:r>
              <a:rPr lang="en-US" dirty="0"/>
              <a:t> → </a:t>
            </a:r>
            <a:r>
              <a:rPr lang="en-US" i="1" dirty="0"/>
              <a:t>Databases</a:t>
            </a:r>
            <a:r>
              <a:rPr lang="en-US" dirty="0"/>
              <a:t>).</a:t>
            </a:r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15484D-A8F2-E21A-9543-F433276E9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977" y="727565"/>
            <a:ext cx="6505023" cy="497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78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7E28-53C4-BBBB-C3DC-E20261CC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38F7B3-BCC4-2FC0-1390-336FBEDB5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1. What is a Graph Database?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BCC3966-AD54-3D00-F068-EC75A880D230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6AE18-786E-14DD-8FF1-A506B9F8C0A7}"/>
              </a:ext>
            </a:extLst>
          </p:cNvPr>
          <p:cNvSpPr txBox="1"/>
          <p:nvPr/>
        </p:nvSpPr>
        <p:spPr>
          <a:xfrm>
            <a:off x="206477" y="990599"/>
            <a:ext cx="559848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Directionality: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All arrows show </a:t>
            </a:r>
            <a:r>
              <a:rPr lang="en-US" b="1" dirty="0"/>
              <a:t>directed relationships</a:t>
            </a:r>
            <a:r>
              <a:rPr lang="en-US" dirty="0"/>
              <a:t> — e.g., “Anna → </a:t>
            </a:r>
            <a:r>
              <a:rPr lang="en-US" dirty="0" err="1"/>
              <a:t>BigCo</a:t>
            </a:r>
            <a:r>
              <a:rPr lang="en-US" dirty="0"/>
              <a:t>” means “Anna is an employee of </a:t>
            </a:r>
            <a:r>
              <a:rPr lang="en-US" dirty="0" err="1"/>
              <a:t>BigCo</a:t>
            </a:r>
            <a:r>
              <a:rPr lang="en-US" dirty="0"/>
              <a:t>”.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Example Connections:</a:t>
            </a:r>
            <a:endParaRPr lang="en-US" dirty="0"/>
          </a:p>
          <a:p>
            <a:pPr lvl="1"/>
            <a:r>
              <a:rPr lang="en-US" dirty="0"/>
              <a:t>Barbara is connected to many nodes: she is friends with Anna and Carol, likes several books, and works at </a:t>
            </a:r>
            <a:r>
              <a:rPr lang="en-US" dirty="0" err="1"/>
              <a:t>BigCo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Books like </a:t>
            </a:r>
            <a:r>
              <a:rPr lang="en-US" i="1" dirty="0"/>
              <a:t>NoSQL Distilled</a:t>
            </a:r>
            <a:r>
              <a:rPr lang="en-US" dirty="0"/>
              <a:t> have multiple incoming edges (liked by many people, authored by Martin and Pramod).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Databases</a:t>
            </a:r>
            <a:r>
              <a:rPr lang="en-US" dirty="0"/>
              <a:t> node connects multiple books by category.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169D00-2E94-62A4-D519-B191CDC54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977" y="727565"/>
            <a:ext cx="6505023" cy="497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71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A4500-0C09-AF52-1D51-D8C7B5081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3C71C3-7B70-76F1-E84E-BE7E461595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1. What is a Graph Database?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A5BDC83-4FC0-0348-2728-9BD667E0015C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2230AF-B596-F4D8-39F8-823BFC3BF501}"/>
              </a:ext>
            </a:extLst>
          </p:cNvPr>
          <p:cNvSpPr txBox="1"/>
          <p:nvPr/>
        </p:nvSpPr>
        <p:spPr>
          <a:xfrm>
            <a:off x="271369" y="984700"/>
            <a:ext cx="54156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Purpose of the Diagram: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It demonstrates how a </a:t>
            </a:r>
            <a:r>
              <a:rPr lang="en-US" b="1" dirty="0"/>
              <a:t>graph database</a:t>
            </a:r>
            <a:r>
              <a:rPr lang="en-US" dirty="0"/>
              <a:t> (like Neo4j, </a:t>
            </a:r>
            <a:r>
              <a:rPr lang="en-US" dirty="0" err="1"/>
              <a:t>ArangoDB</a:t>
            </a:r>
            <a:r>
              <a:rPr lang="en-US" dirty="0"/>
              <a:t>, or MongoDB with $</a:t>
            </a:r>
            <a:r>
              <a:rPr lang="en-US" dirty="0" err="1"/>
              <a:t>graphLookup</a:t>
            </a:r>
            <a:r>
              <a:rPr lang="en-US" dirty="0"/>
              <a:t>) models </a:t>
            </a:r>
            <a:r>
              <a:rPr lang="en-US" b="1" dirty="0"/>
              <a:t>real-world relationships</a:t>
            </a:r>
            <a:r>
              <a:rPr lang="en-US" dirty="0"/>
              <a:t> — ideal for queries like: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“Who are Barbara’s friends’ favorite books?”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“Which authors wrote books in the ‘Databases’ category?”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“Who at </a:t>
            </a:r>
            <a:r>
              <a:rPr lang="en-US" dirty="0" err="1"/>
              <a:t>BigCo</a:t>
            </a:r>
            <a:r>
              <a:rPr lang="en-US" dirty="0"/>
              <a:t> likes books by Martin?”</a:t>
            </a:r>
          </a:p>
          <a:p>
            <a:pPr lvl="0"/>
            <a:endParaRPr lang="en-US" b="1" dirty="0"/>
          </a:p>
          <a:p>
            <a:pPr lvl="0"/>
            <a:r>
              <a:rPr lang="en-US" b="1" dirty="0"/>
              <a:t>Key Concept: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/>
              <a:t>Each node and relationship can have </a:t>
            </a:r>
            <a:r>
              <a:rPr lang="en-US" b="1" dirty="0"/>
              <a:t>properties</a:t>
            </a:r>
            <a:r>
              <a:rPr lang="en-US" dirty="0"/>
              <a:t> (attributes like name, role, or date).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/>
              <a:t>Graph databases excel at quickly traversing these relationships.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51B410-CB33-1BC1-1330-17F294950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977" y="727565"/>
            <a:ext cx="6505023" cy="497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23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9C32-9BE9-3BCE-1A10-D2D0AE3E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549CDC-BFFA-8140-6FC9-1A917D1965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1. What is a Graph Database?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343308B-D8C2-0D54-B37F-B6759215D3EA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7BEB2-565E-F199-FB5F-ACB454EA6FFF}"/>
              </a:ext>
            </a:extLst>
          </p:cNvPr>
          <p:cNvSpPr txBox="1"/>
          <p:nvPr/>
        </p:nvSpPr>
        <p:spPr>
          <a:xfrm>
            <a:off x="254164" y="1073190"/>
            <a:ext cx="62233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One more Example: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33CC"/>
                </a:solidFill>
              </a:rPr>
              <a:t>Nodes: </a:t>
            </a:r>
            <a:r>
              <a:rPr lang="en-US" sz="2800" dirty="0"/>
              <a:t>Saraswati, Lakshmi, Parvati, Varanasi, Mumbai, </a:t>
            </a:r>
            <a:r>
              <a:rPr lang="en-US" sz="2800" dirty="0" err="1"/>
              <a:t>Diwali_Fair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33CC"/>
                </a:solidFill>
              </a:rPr>
              <a:t>Edges/relations: </a:t>
            </a:r>
            <a:r>
              <a:rPr lang="en-US" sz="2800" dirty="0"/>
              <a:t>FRIENDS_WITH, LIVES_IN, HOSTS_EVENT, ATTENDS_EVENT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lab Light" panose="020F0502020204030204" pitchFamily="34" charset="0"/>
              <a:ea typeface="+mn-ea"/>
              <a:cs typeface="Calade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B18760-7B29-F87E-9CF4-1BE73EE5D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602" y="920299"/>
            <a:ext cx="5659087" cy="403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45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0FA05-8A9C-5AF7-1DC8-3969840B8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BB263B-C854-9C4C-E5CF-7BC4A644CD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2.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D4EE19D-6E17-4D0E-61A5-A1236F425FFA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D2B36-9A11-5B0A-B9A1-4E6224BD3B43}"/>
              </a:ext>
            </a:extLst>
          </p:cNvPr>
          <p:cNvSpPr txBox="1"/>
          <p:nvPr/>
        </p:nvSpPr>
        <p:spPr>
          <a:xfrm>
            <a:off x="143551" y="836933"/>
            <a:ext cx="119048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There are many </a:t>
            </a:r>
            <a:r>
              <a:rPr lang="en-US" sz="2800" b="1" dirty="0"/>
              <a:t>graph databases </a:t>
            </a:r>
            <a:r>
              <a:rPr lang="en-US" sz="2800" dirty="0"/>
              <a:t>available, 						such as </a:t>
            </a:r>
            <a:r>
              <a:rPr lang="en-US" sz="2800" b="1" dirty="0">
                <a:solidFill>
                  <a:srgbClr val="FF33CC"/>
                </a:solidFill>
              </a:rPr>
              <a:t>Neo4J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33CC"/>
                </a:solidFill>
              </a:rPr>
              <a:t>Infinite Graph</a:t>
            </a:r>
            <a:r>
              <a:rPr lang="en-US" sz="2800" dirty="0"/>
              <a:t>, </a:t>
            </a:r>
            <a:r>
              <a:rPr lang="en-US" sz="2800" dirty="0" err="1">
                <a:solidFill>
                  <a:srgbClr val="FF33CC"/>
                </a:solidFill>
              </a:rPr>
              <a:t>OrientDB</a:t>
            </a:r>
            <a:r>
              <a:rPr lang="en-US" sz="2800" dirty="0"/>
              <a:t>, or </a:t>
            </a:r>
            <a:r>
              <a:rPr lang="en-US" sz="2800" dirty="0" err="1">
                <a:solidFill>
                  <a:srgbClr val="FF33CC"/>
                </a:solidFill>
              </a:rPr>
              <a:t>FlockDB</a:t>
            </a:r>
            <a:r>
              <a:rPr lang="en-US" sz="2800" dirty="0"/>
              <a:t> 				(which is a special case: a graph database that only supports single-depth relationships or adjacency lists, where you cannot traverse more than one level deep for relationships).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For example, 											will take </a:t>
            </a:r>
            <a:r>
              <a:rPr lang="en-US" sz="2800" b="1" dirty="0">
                <a:solidFill>
                  <a:srgbClr val="FF33CC"/>
                </a:solidFill>
              </a:rPr>
              <a:t>Neo4J</a:t>
            </a:r>
            <a:r>
              <a:rPr lang="en-US" sz="2800" dirty="0"/>
              <a:t> as a representative of the graph database solutions 			to discuss how they work 								and how they can be used to solve application problems.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lab Light" panose="020F0502020204030204" pitchFamily="34" charset="0"/>
              <a:ea typeface="+mn-ea"/>
              <a:cs typeface="Caladea"/>
            </a:endParaRPr>
          </a:p>
        </p:txBody>
      </p:sp>
    </p:spTree>
    <p:extLst>
      <p:ext uri="{BB962C8B-B14F-4D97-AF65-F5344CB8AC3E}">
        <p14:creationId xmlns:p14="http://schemas.microsoft.com/office/powerpoint/2010/main" val="3204623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CFAB-7E43-7D99-6B5B-91AD18FC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B2148-CCE5-C6A1-22E7-413EE5D06E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2.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AF1046C-5510-55D9-5075-63197E712667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47AC9-6EB2-9C52-1717-0C6F62C786E8}"/>
              </a:ext>
            </a:extLst>
          </p:cNvPr>
          <p:cNvSpPr txBox="1"/>
          <p:nvPr/>
        </p:nvSpPr>
        <p:spPr>
          <a:xfrm>
            <a:off x="143551" y="836933"/>
            <a:ext cx="119048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In Neo4J, creating a graph is as simple as creating 2 nodes and then creating a relationship. 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Let’s create two nodes, Martin and Pramod: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</a:rPr>
              <a:t>Node martin = </a:t>
            </a:r>
            <a:r>
              <a:rPr lang="en-US" sz="2800" dirty="0" err="1">
                <a:solidFill>
                  <a:srgbClr val="7030A0"/>
                </a:solidFill>
              </a:rPr>
              <a:t>graphDb.createNode</a:t>
            </a:r>
            <a:r>
              <a:rPr lang="en-US" sz="2800" dirty="0">
                <a:solidFill>
                  <a:srgbClr val="7030A0"/>
                </a:solidFill>
              </a:rPr>
              <a:t>();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7030A0"/>
                </a:solidFill>
              </a:rPr>
              <a:t>martin.setProperty</a:t>
            </a:r>
            <a:r>
              <a:rPr lang="en-US" sz="2800" dirty="0">
                <a:solidFill>
                  <a:srgbClr val="7030A0"/>
                </a:solidFill>
              </a:rPr>
              <a:t>("name", "Martin");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7030A0"/>
              </a:solidFill>
            </a:endParaRP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</a:rPr>
              <a:t>Node </a:t>
            </a:r>
            <a:r>
              <a:rPr lang="en-US" sz="2800" dirty="0" err="1">
                <a:solidFill>
                  <a:srgbClr val="7030A0"/>
                </a:solidFill>
              </a:rPr>
              <a:t>pramod</a:t>
            </a:r>
            <a:r>
              <a:rPr lang="en-US" sz="2800" dirty="0">
                <a:solidFill>
                  <a:srgbClr val="7030A0"/>
                </a:solidFill>
              </a:rPr>
              <a:t> = </a:t>
            </a:r>
            <a:r>
              <a:rPr lang="en-US" sz="2800" dirty="0" err="1">
                <a:solidFill>
                  <a:srgbClr val="7030A0"/>
                </a:solidFill>
              </a:rPr>
              <a:t>graphDb.createNode</a:t>
            </a:r>
            <a:r>
              <a:rPr lang="en-US" sz="2800" dirty="0">
                <a:solidFill>
                  <a:srgbClr val="7030A0"/>
                </a:solidFill>
              </a:rPr>
              <a:t>();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7030A0"/>
                </a:solidFill>
              </a:rPr>
              <a:t>pramod.setProperty</a:t>
            </a:r>
            <a:r>
              <a:rPr lang="en-US" sz="2800" dirty="0">
                <a:solidFill>
                  <a:srgbClr val="7030A0"/>
                </a:solidFill>
              </a:rPr>
              <a:t>("name", "Pramod");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 Slab Light" panose="020F0502020204030204" pitchFamily="34" charset="0"/>
              <a:ea typeface="+mn-ea"/>
              <a:cs typeface="Caladea"/>
            </a:endParaRPr>
          </a:p>
        </p:txBody>
      </p:sp>
    </p:spTree>
    <p:extLst>
      <p:ext uri="{BB962C8B-B14F-4D97-AF65-F5344CB8AC3E}">
        <p14:creationId xmlns:p14="http://schemas.microsoft.com/office/powerpoint/2010/main" val="1021066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C8ACC-03BF-6031-E958-9C272E0A6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196B08-2CA7-A6CB-15C1-0BCDD6D1F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2.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A234121-A5C2-3BF0-DAD8-09BAC742A21B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6F867-E322-CE76-9327-C276218AE0DE}"/>
              </a:ext>
            </a:extLst>
          </p:cNvPr>
          <p:cNvSpPr txBox="1"/>
          <p:nvPr/>
        </p:nvSpPr>
        <p:spPr>
          <a:xfrm>
            <a:off x="143551" y="836933"/>
            <a:ext cx="119048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We have assigned the name property of the 2 nodes the values of Martin and Pramod.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Once we have more than one node, we can create a relationship: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7030A0"/>
                </a:solidFill>
              </a:rPr>
              <a:t>martin.createRelationshipTo</a:t>
            </a:r>
            <a:r>
              <a:rPr lang="en-US" sz="2800" dirty="0">
                <a:solidFill>
                  <a:srgbClr val="7030A0"/>
                </a:solidFill>
              </a:rPr>
              <a:t>(</a:t>
            </a:r>
            <a:r>
              <a:rPr lang="en-US" sz="2800" dirty="0" err="1">
                <a:solidFill>
                  <a:srgbClr val="7030A0"/>
                </a:solidFill>
              </a:rPr>
              <a:t>pramod</a:t>
            </a:r>
            <a:r>
              <a:rPr lang="en-US" sz="2800" dirty="0">
                <a:solidFill>
                  <a:srgbClr val="7030A0"/>
                </a:solidFill>
              </a:rPr>
              <a:t>, FRIEND);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7030A0"/>
                </a:solidFill>
              </a:rPr>
              <a:t>pramod.createRelationshipTo</a:t>
            </a:r>
            <a:r>
              <a:rPr lang="en-US" sz="2800" dirty="0">
                <a:solidFill>
                  <a:srgbClr val="7030A0"/>
                </a:solidFill>
              </a:rPr>
              <a:t>(martin, FRIEND);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 Slab Light" panose="020F0502020204030204" pitchFamily="34" charset="0"/>
              <a:ea typeface="+mn-ea"/>
              <a:cs typeface="Caladea"/>
            </a:endParaRPr>
          </a:p>
        </p:txBody>
      </p:sp>
    </p:spTree>
    <p:extLst>
      <p:ext uri="{BB962C8B-B14F-4D97-AF65-F5344CB8AC3E}">
        <p14:creationId xmlns:p14="http://schemas.microsoft.com/office/powerpoint/2010/main" val="1073357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D4B5E-B0C0-5704-6C37-A6C145459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AF00DB-4D14-EE2E-1348-E0EECF9B34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2.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B5C1995-E318-55A9-80D3-59B5664DACC5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251E6-A81E-207D-AF4C-5F467B1D2D8A}"/>
              </a:ext>
            </a:extLst>
          </p:cNvPr>
          <p:cNvSpPr txBox="1"/>
          <p:nvPr/>
        </p:nvSpPr>
        <p:spPr>
          <a:xfrm>
            <a:off x="143550" y="836933"/>
            <a:ext cx="47518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We have to create relationship between the nodes in </a:t>
            </a:r>
            <a:r>
              <a:rPr lang="en-US" sz="2000" dirty="0">
                <a:solidFill>
                  <a:srgbClr val="7030A0"/>
                </a:solidFill>
              </a:rPr>
              <a:t>both directions</a:t>
            </a:r>
            <a:r>
              <a:rPr lang="en-US" sz="2000" dirty="0"/>
              <a:t>, for the direction of the relationship matters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For example, 					a product node can be liked by user,		but the product cannot like the user.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This directionality helps in designing a rich domain model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Nodes know about INCOMING and OUTGOING relationships that are traversable both ways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ptos Slab Light" panose="020F0502020204030204" pitchFamily="34" charset="0"/>
              <a:ea typeface="+mn-ea"/>
              <a:cs typeface="Calade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A29168-FB54-82EC-3314-444154592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182" y="836933"/>
            <a:ext cx="7011886" cy="448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08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AA8EE-2D8F-C818-7796-53EA0D1B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735FAC1-3AB4-CB6F-80DB-16A1F9990B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Key Features of Graph Databases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C4ACB46-F107-B969-BE53-44810822BD91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FB6B4-110C-FDB5-286D-CAD7F763A681}"/>
              </a:ext>
            </a:extLst>
          </p:cNvPr>
          <p:cNvSpPr txBox="1"/>
          <p:nvPr/>
        </p:nvSpPr>
        <p:spPr>
          <a:xfrm>
            <a:off x="396725" y="1115714"/>
            <a:ext cx="113985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Schema Flexibility:</a:t>
            </a:r>
            <a:r>
              <a:rPr lang="en-US" sz="2400" dirty="0"/>
              <a:t> Graph databases are schema-optional, allowing dynamic evolution of data models.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Relationship-Centric Storage:</a:t>
            </a:r>
            <a:r>
              <a:rPr lang="en-US" sz="2400" dirty="0"/>
              <a:t> Relationships are stored as first-class citizens, allowing for fast traversals.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High Performance for Connected Queries:</a:t>
            </a:r>
            <a:r>
              <a:rPr lang="en-US" sz="2400" dirty="0"/>
              <a:t> Queries that explore multi-level relationships are efficient.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ACID Transactions:</a:t>
            </a:r>
            <a:r>
              <a:rPr lang="en-US" sz="2400" dirty="0"/>
              <a:t> Most modern graph databases (e.g., Neo4j) maintain full ACID properties.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Declarative Query Languages:</a:t>
            </a:r>
            <a:r>
              <a:rPr lang="en-US" sz="2400" dirty="0"/>
              <a:t> Languages like Cypher (Neo4j) or Gremlin provide expressive ways to query data.</a:t>
            </a:r>
          </a:p>
        </p:txBody>
      </p:sp>
    </p:spTree>
    <p:extLst>
      <p:ext uri="{BB962C8B-B14F-4D97-AF65-F5344CB8AC3E}">
        <p14:creationId xmlns:p14="http://schemas.microsoft.com/office/powerpoint/2010/main" val="2292639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4248-6FE3-22F8-3D42-51204E44B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A86F25-EF47-C979-5619-4DFF0A36BB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 err="1"/>
              <a:t>i</a:t>
            </a:r>
            <a:r>
              <a:rPr lang="en-US" sz="3200" b="1" dirty="0"/>
              <a:t>. Consistency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7015839-A3D7-F031-F353-C9B3F452E898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8712D-CA66-A4F6-5B8E-2F1ED2C464CD}"/>
              </a:ext>
            </a:extLst>
          </p:cNvPr>
          <p:cNvSpPr txBox="1"/>
          <p:nvPr/>
        </p:nvSpPr>
        <p:spPr>
          <a:xfrm>
            <a:off x="396725" y="1115714"/>
            <a:ext cx="113985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Graph databases typically support </a:t>
            </a:r>
            <a:r>
              <a:rPr lang="en-US" sz="2400" b="1" dirty="0"/>
              <a:t>strong consistency</a:t>
            </a:r>
            <a:r>
              <a:rPr lang="en-US" sz="2400" dirty="0"/>
              <a:t> through ACID-compliant transactions: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US" sz="2400" b="1" dirty="0"/>
              <a:t>Atomicity</a:t>
            </a:r>
            <a:r>
              <a:rPr lang="en-US" sz="2400" dirty="0"/>
              <a:t> ensures all relationship updates occur completely or not at all.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US" sz="2400" b="1" dirty="0"/>
              <a:t>Consistency</a:t>
            </a:r>
            <a:r>
              <a:rPr lang="en-US" sz="2400" dirty="0"/>
              <a:t> ensures data adheres to graph integrity constraints.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US" sz="2400" b="1" dirty="0"/>
              <a:t>Isolation</a:t>
            </a:r>
            <a:r>
              <a:rPr lang="en-US" sz="2400" dirty="0"/>
              <a:t> prevents concurrent operations from interfering.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US" sz="2400" b="1" dirty="0"/>
              <a:t>Durability</a:t>
            </a:r>
            <a:r>
              <a:rPr lang="en-US" sz="2400" dirty="0"/>
              <a:t> guarantees data persistence even after failures.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However, </a:t>
            </a:r>
            <a:r>
              <a:rPr lang="en-US" sz="2400" b="1" dirty="0"/>
              <a:t>distributed graph systems</a:t>
            </a:r>
            <a:r>
              <a:rPr lang="en-US" sz="2400" dirty="0"/>
              <a:t> may trade off some consistency for performance (following CAP theorem principles).</a:t>
            </a:r>
          </a:p>
        </p:txBody>
      </p:sp>
    </p:spTree>
    <p:extLst>
      <p:ext uri="{BB962C8B-B14F-4D97-AF65-F5344CB8AC3E}">
        <p14:creationId xmlns:p14="http://schemas.microsoft.com/office/powerpoint/2010/main" val="3452076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48B8-8253-942E-FAFF-6E25CF4B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B5F769-7AEC-E7F7-25E4-165F4E8B1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 err="1"/>
              <a:t>i</a:t>
            </a:r>
            <a:r>
              <a:rPr lang="en-US" sz="3200" b="1" dirty="0"/>
              <a:t>. Consistency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F04912C-9527-DCFE-31D3-03D2DB4115DB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9C854-FF26-A83E-A25F-FFCD1963A787}"/>
              </a:ext>
            </a:extLst>
          </p:cNvPr>
          <p:cNvSpPr txBox="1"/>
          <p:nvPr/>
        </p:nvSpPr>
        <p:spPr>
          <a:xfrm>
            <a:off x="396725" y="1115714"/>
            <a:ext cx="1139854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Since graph databases are operating on connected nodes, most graph database solutions usually do not support d</a:t>
            </a:r>
            <a:r>
              <a:rPr lang="en-US" sz="2400" b="1" dirty="0"/>
              <a:t>istributing the nodes on different servers</a:t>
            </a:r>
            <a:r>
              <a:rPr lang="en-US" sz="24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There are some solutions, however, that support </a:t>
            </a:r>
            <a:r>
              <a:rPr lang="en-US" sz="2400" b="1" dirty="0"/>
              <a:t>node distribution across a cluster of servers</a:t>
            </a:r>
            <a:r>
              <a:rPr lang="en-US" sz="2400" dirty="0"/>
              <a:t>, such as </a:t>
            </a:r>
            <a:r>
              <a:rPr lang="en-US" sz="2400" dirty="0">
                <a:solidFill>
                  <a:srgbClr val="FF33CC"/>
                </a:solidFill>
              </a:rPr>
              <a:t>Infinite Graph</a:t>
            </a:r>
            <a:r>
              <a:rPr lang="en-US" sz="24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Within a single server, data is always consistent, especially in Neo4J which is fully ACID-compliant.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When running </a:t>
            </a:r>
            <a:r>
              <a:rPr lang="en-US" sz="2400" dirty="0">
                <a:solidFill>
                  <a:srgbClr val="FF33CC"/>
                </a:solidFill>
              </a:rPr>
              <a:t>Neo4J</a:t>
            </a:r>
            <a:r>
              <a:rPr lang="en-US" sz="2400" dirty="0"/>
              <a:t> in a cluster, a write to the master is eventually synchronized to the slaves, while slaves are always available for read.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Writes to slaves are allowed and are immediately synchronized to the master; other slaves will not be synchronized immediately, though—they will have to wait for the data to propagate from the master.</a:t>
            </a:r>
          </a:p>
        </p:txBody>
      </p:sp>
    </p:spTree>
    <p:extLst>
      <p:ext uri="{BB962C8B-B14F-4D97-AF65-F5344CB8AC3E}">
        <p14:creationId xmlns:p14="http://schemas.microsoft.com/office/powerpoint/2010/main" val="3605534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77F56-F389-844A-B278-A8591BE2B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5EFE612-516D-D815-2198-1FDC773911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 err="1"/>
              <a:t>i</a:t>
            </a:r>
            <a:r>
              <a:rPr lang="en-US" sz="3200" b="1" dirty="0"/>
              <a:t>. Consistency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75E583D-2C52-E642-AD21-3EFB3920C68D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8C0856-7D1F-973D-85F9-6C4495996908}"/>
              </a:ext>
            </a:extLst>
          </p:cNvPr>
          <p:cNvSpPr txBox="1"/>
          <p:nvPr/>
        </p:nvSpPr>
        <p:spPr>
          <a:xfrm>
            <a:off x="208116" y="959597"/>
            <a:ext cx="116856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Graph databases </a:t>
            </a:r>
            <a:r>
              <a:rPr lang="en-US" sz="2400" dirty="0"/>
              <a:t>use connected data, so most of them </a:t>
            </a:r>
            <a:r>
              <a:rPr lang="en-US" sz="2400" b="1" dirty="0"/>
              <a:t>can’t easily split or distribute nodes </a:t>
            </a:r>
            <a:r>
              <a:rPr lang="en-US" sz="2400" dirty="0"/>
              <a:t>across multiple servers — everything usually stays on one machine.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Some graph databases, like </a:t>
            </a:r>
            <a:r>
              <a:rPr lang="en-US" sz="2400" b="1" dirty="0" err="1">
                <a:solidFill>
                  <a:srgbClr val="FF33CC"/>
                </a:solidFill>
              </a:rPr>
              <a:t>InfiniteGraph</a:t>
            </a:r>
            <a:r>
              <a:rPr lang="en-US" sz="2400" dirty="0"/>
              <a:t>, do support distributing nodes across several servers in a cluster.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When all data is on one server, it stays fully consistent, especially in systems like </a:t>
            </a:r>
            <a:r>
              <a:rPr lang="en-US" sz="2400" b="1" dirty="0">
                <a:solidFill>
                  <a:srgbClr val="FF33CC"/>
                </a:solidFill>
              </a:rPr>
              <a:t>Neo4j</a:t>
            </a:r>
            <a:r>
              <a:rPr lang="en-US" sz="2400" dirty="0"/>
              <a:t>, which follows </a:t>
            </a:r>
            <a:r>
              <a:rPr lang="en-US" sz="2400" b="1" dirty="0"/>
              <a:t>ACID rules </a:t>
            </a:r>
            <a:r>
              <a:rPr lang="en-US" sz="2400" dirty="0"/>
              <a:t>(safe and reliable transactions).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In a Neo4j cluster, when data is written to the </a:t>
            </a:r>
            <a:r>
              <a:rPr lang="en-US" sz="2400" dirty="0">
                <a:solidFill>
                  <a:srgbClr val="FF33CC"/>
                </a:solidFill>
              </a:rPr>
              <a:t>main (master) server</a:t>
            </a:r>
            <a:r>
              <a:rPr lang="en-US" sz="2400" dirty="0"/>
              <a:t>, it’s later copied (synchronized) to the </a:t>
            </a:r>
            <a:r>
              <a:rPr lang="en-US" sz="2400" dirty="0">
                <a:solidFill>
                  <a:srgbClr val="FF33CC"/>
                </a:solidFill>
              </a:rPr>
              <a:t>other servers (slaves)</a:t>
            </a:r>
            <a:r>
              <a:rPr lang="en-US" sz="2400" dirty="0"/>
              <a:t>. The slave servers can still handle read requests anytime.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If a </a:t>
            </a:r>
            <a:r>
              <a:rPr lang="en-US" sz="2400" b="1" dirty="0"/>
              <a:t>slave server accepts a write</a:t>
            </a:r>
            <a:r>
              <a:rPr lang="en-US" sz="2400" dirty="0"/>
              <a:t>, that change is sent immediately to the master, but other slaves won’t get it right away — they’ll get the update after it spreads from the master.</a:t>
            </a:r>
          </a:p>
        </p:txBody>
      </p:sp>
    </p:spTree>
    <p:extLst>
      <p:ext uri="{BB962C8B-B14F-4D97-AF65-F5344CB8AC3E}">
        <p14:creationId xmlns:p14="http://schemas.microsoft.com/office/powerpoint/2010/main" val="2287733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2C81-AC00-F561-F4B8-24906276F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E2E5EF8-970B-7AB6-C560-36E6E45FDF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 err="1"/>
              <a:t>i</a:t>
            </a:r>
            <a:r>
              <a:rPr lang="en-US" sz="3200" b="1" dirty="0"/>
              <a:t>. Consistency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ECC05AD-2C9A-8C72-F152-F9431BC73DB4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AAB2C-5C99-C576-4F6F-62121EB3AC34}"/>
              </a:ext>
            </a:extLst>
          </p:cNvPr>
          <p:cNvSpPr txBox="1"/>
          <p:nvPr/>
        </p:nvSpPr>
        <p:spPr>
          <a:xfrm>
            <a:off x="544707" y="1124779"/>
            <a:ext cx="111025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Graph databases keep data consistent by using </a:t>
            </a:r>
            <a:r>
              <a:rPr lang="en-US" sz="2400" b="1" dirty="0"/>
              <a:t>transactions</a:t>
            </a:r>
            <a:r>
              <a:rPr lang="en-US" sz="2400" dirty="0"/>
              <a:t> — every change follows strict rules.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They don’t allow </a:t>
            </a:r>
            <a:r>
              <a:rPr lang="en-US" sz="2400" b="1" dirty="0"/>
              <a:t>broken or dangling relationships</a:t>
            </a:r>
            <a:r>
              <a:rPr lang="en-US" sz="2400" dirty="0"/>
              <a:t>, meaning every connection must link two valid nodes.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start node &amp; end node </a:t>
            </a:r>
            <a:r>
              <a:rPr lang="en-US" sz="2400" dirty="0"/>
              <a:t>of a relationship must always exist — you can’t connect to something that isn’t there.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 node can only be deleted if it has </a:t>
            </a:r>
            <a:r>
              <a:rPr lang="en-US" sz="2400" b="1" dirty="0"/>
              <a:t>no relationships connected to it</a:t>
            </a:r>
            <a:r>
              <a:rPr lang="en-US" sz="2400" dirty="0"/>
              <a:t>; 			otherwise, the delete action isn’t allowed.</a:t>
            </a:r>
          </a:p>
        </p:txBody>
      </p:sp>
    </p:spTree>
    <p:extLst>
      <p:ext uri="{BB962C8B-B14F-4D97-AF65-F5344CB8AC3E}">
        <p14:creationId xmlns:p14="http://schemas.microsoft.com/office/powerpoint/2010/main" val="3391899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1A729-55B4-314B-1B52-56F6CE6A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6DBE36-D776-C00D-28D0-B592895CE2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ii. Transactions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1CB1E67-CA62-308F-F9ED-B83D3AD1F1C1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03503-C696-000A-3BA5-C00A09FB1D5C}"/>
              </a:ext>
            </a:extLst>
          </p:cNvPr>
          <p:cNvSpPr txBox="1"/>
          <p:nvPr/>
        </p:nvSpPr>
        <p:spPr>
          <a:xfrm>
            <a:off x="268777" y="1080174"/>
            <a:ext cx="115643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33CC"/>
                </a:solidFill>
              </a:rPr>
              <a:t>Neo4j</a:t>
            </a:r>
            <a:r>
              <a:rPr lang="en-US" sz="2400" dirty="0"/>
              <a:t> follows </a:t>
            </a:r>
            <a:r>
              <a:rPr lang="en-US" sz="2400" b="1" dirty="0"/>
              <a:t>ACID rules</a:t>
            </a:r>
            <a:r>
              <a:rPr lang="en-US" sz="2400" dirty="0"/>
              <a:t>, 									which means all data changes are done safely &amp; consistently.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Before you make any changes (like updating nodes or adding new relationships), 	you must start a transaction — this ensures the operation is done properly.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If you try to make changes without a transaction</a:t>
            </a:r>
            <a:r>
              <a:rPr lang="en-US" sz="2400" dirty="0"/>
              <a:t>, 					Neo4j will show an error called 				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NotInTransactionException</a:t>
            </a:r>
            <a:r>
              <a:rPr lang="en-US" sz="2400" dirty="0"/>
              <a:t>, meaning “you didn’t start a transaction.”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Reading data doesn’t need a transaction, 								so you can </a:t>
            </a:r>
            <a:r>
              <a:rPr lang="en-US" sz="2400" b="1" dirty="0"/>
              <a:t>look up or query information </a:t>
            </a:r>
            <a:r>
              <a:rPr lang="en-US" sz="2400" dirty="0"/>
              <a:t>freely without starting one.</a:t>
            </a:r>
          </a:p>
        </p:txBody>
      </p:sp>
    </p:spTree>
    <p:extLst>
      <p:ext uri="{BB962C8B-B14F-4D97-AF65-F5344CB8AC3E}">
        <p14:creationId xmlns:p14="http://schemas.microsoft.com/office/powerpoint/2010/main" val="2540064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BA0C2-FD2B-984A-44D7-CD16C5F02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924454-9362-D158-B10C-927C3BE125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ii. Transactions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F9F282E-9763-4992-105D-7F18BDE068D6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16620-BC74-165B-36C7-AC80A1028941}"/>
              </a:ext>
            </a:extLst>
          </p:cNvPr>
          <p:cNvSpPr txBox="1"/>
          <p:nvPr/>
        </p:nvSpPr>
        <p:spPr>
          <a:xfrm>
            <a:off x="544707" y="1124779"/>
            <a:ext cx="111025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Transactions in graph databases operate across nodes and relationships, 		ensuring referential integrity.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Example: </a:t>
            </a:r>
            <a:r>
              <a:rPr lang="en-US" sz="2400" dirty="0"/>
              <a:t>Adding a new friendship edge between 2 users requires 			both </a:t>
            </a:r>
            <a:r>
              <a:rPr lang="en-US" sz="2400" b="1" dirty="0"/>
              <a:t>nodes &amp; the edge to be created atomically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Graph databases like </a:t>
            </a:r>
            <a:r>
              <a:rPr lang="en-US" sz="2400" b="1" dirty="0">
                <a:solidFill>
                  <a:srgbClr val="FF33CC"/>
                </a:solidFill>
              </a:rPr>
              <a:t>Neo4j</a:t>
            </a:r>
            <a:r>
              <a:rPr lang="en-US" sz="2400" dirty="0"/>
              <a:t> and </a:t>
            </a:r>
            <a:r>
              <a:rPr lang="en-US" sz="2400" b="1" dirty="0" err="1">
                <a:solidFill>
                  <a:srgbClr val="FF33CC"/>
                </a:solidFill>
              </a:rPr>
              <a:t>ArangoDB</a:t>
            </a:r>
            <a:r>
              <a:rPr lang="en-US" sz="2400" dirty="0"/>
              <a:t> offer </a:t>
            </a:r>
            <a:r>
              <a:rPr lang="en-US" sz="2400" b="1" dirty="0"/>
              <a:t>multi-document transactions</a:t>
            </a:r>
            <a:r>
              <a:rPr lang="en-US" sz="2400" dirty="0"/>
              <a:t>, ensuring consistent state changes across complex operations.</a:t>
            </a:r>
          </a:p>
        </p:txBody>
      </p:sp>
    </p:spTree>
    <p:extLst>
      <p:ext uri="{BB962C8B-B14F-4D97-AF65-F5344CB8AC3E}">
        <p14:creationId xmlns:p14="http://schemas.microsoft.com/office/powerpoint/2010/main" val="3435565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FD70-5518-9A25-64C6-FCAC278B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8F92415-22EF-601F-820F-D27E4EF18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ii. Transactions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A92B659-2F2A-743C-46F7-EB2F55B08686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900B8-7F44-1314-060A-0F79542C3E7A}"/>
              </a:ext>
            </a:extLst>
          </p:cNvPr>
          <p:cNvSpPr txBox="1"/>
          <p:nvPr/>
        </p:nvSpPr>
        <p:spPr>
          <a:xfrm>
            <a:off x="544707" y="950079"/>
            <a:ext cx="60004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Transactions in graph databases operate across </a:t>
            </a:r>
            <a:r>
              <a:rPr lang="en-US" sz="2400" b="1" dirty="0"/>
              <a:t>nodes &amp; relationships</a:t>
            </a:r>
            <a:r>
              <a:rPr lang="en-US" sz="2400" dirty="0"/>
              <a:t>, ensuring referential integrity.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A transaction has to be marked as </a:t>
            </a:r>
            <a:r>
              <a:rPr lang="en-US" sz="2400" b="1" dirty="0"/>
              <a:t>success</a:t>
            </a:r>
            <a:r>
              <a:rPr lang="en-US" sz="2400" dirty="0"/>
              <a:t>, otherwise </a:t>
            </a:r>
            <a:r>
              <a:rPr lang="en-US" sz="2400" b="1" dirty="0">
                <a:solidFill>
                  <a:srgbClr val="FF33CC"/>
                </a:solidFill>
              </a:rPr>
              <a:t>Neo4J</a:t>
            </a:r>
            <a:r>
              <a:rPr lang="en-US" sz="2400" dirty="0"/>
              <a:t> assumes that it was a </a:t>
            </a:r>
            <a:r>
              <a:rPr lang="en-US" sz="2400" b="1" dirty="0"/>
              <a:t>failure</a:t>
            </a:r>
            <a:r>
              <a:rPr lang="en-US" sz="2400" dirty="0"/>
              <a:t> and rolls it back when finish is issued.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Setting success without issuing finish also </a:t>
            </a:r>
            <a:r>
              <a:rPr lang="en-US" sz="2400" b="1" dirty="0"/>
              <a:t>does not commit</a:t>
            </a:r>
            <a:r>
              <a:rPr lang="en-US" sz="2400" dirty="0"/>
              <a:t> the data to the database. 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804EC2-1E48-43D7-8C61-97FF227B6710}"/>
              </a:ext>
            </a:extLst>
          </p:cNvPr>
          <p:cNvSpPr txBox="1"/>
          <p:nvPr/>
        </p:nvSpPr>
        <p:spPr>
          <a:xfrm>
            <a:off x="6916845" y="950079"/>
            <a:ext cx="52751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Transaction	transaction	=	</a:t>
            </a:r>
            <a:r>
              <a:rPr lang="en-US" b="1" dirty="0" err="1">
                <a:solidFill>
                  <a:srgbClr val="7030A0"/>
                </a:solidFill>
              </a:rPr>
              <a:t>database.beginTx</a:t>
            </a:r>
            <a:r>
              <a:rPr lang="en-US" b="1" dirty="0">
                <a:solidFill>
                  <a:srgbClr val="7030A0"/>
                </a:solidFill>
              </a:rPr>
              <a:t>();</a:t>
            </a:r>
          </a:p>
          <a:p>
            <a:r>
              <a:rPr lang="en-US" b="1" dirty="0">
                <a:solidFill>
                  <a:srgbClr val="7030A0"/>
                </a:solidFill>
              </a:rPr>
              <a:t> try	{</a:t>
            </a:r>
          </a:p>
          <a:p>
            <a:r>
              <a:rPr lang="en-US" b="1" dirty="0">
                <a:solidFill>
                  <a:srgbClr val="7030A0"/>
                </a:solidFill>
              </a:rPr>
              <a:t> Node	node	=	</a:t>
            </a:r>
            <a:r>
              <a:rPr lang="en-US" b="1" dirty="0" err="1">
                <a:solidFill>
                  <a:srgbClr val="7030A0"/>
                </a:solidFill>
              </a:rPr>
              <a:t>database.createNode</a:t>
            </a:r>
            <a:r>
              <a:rPr lang="en-US" b="1" dirty="0">
                <a:solidFill>
                  <a:srgbClr val="7030A0"/>
                </a:solidFill>
              </a:rPr>
              <a:t>();</a:t>
            </a:r>
          </a:p>
          <a:p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err="1">
                <a:solidFill>
                  <a:srgbClr val="7030A0"/>
                </a:solidFill>
              </a:rPr>
              <a:t>node.setProperty</a:t>
            </a:r>
            <a:r>
              <a:rPr lang="en-US" b="1" dirty="0">
                <a:solidFill>
                  <a:srgbClr val="7030A0"/>
                </a:solidFill>
              </a:rPr>
              <a:t>("name",	"NoSQL	Distilled");</a:t>
            </a:r>
          </a:p>
          <a:p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err="1">
                <a:solidFill>
                  <a:srgbClr val="7030A0"/>
                </a:solidFill>
              </a:rPr>
              <a:t>node.setProperty</a:t>
            </a:r>
            <a:r>
              <a:rPr lang="en-US" b="1" dirty="0">
                <a:solidFill>
                  <a:srgbClr val="7030A0"/>
                </a:solidFill>
              </a:rPr>
              <a:t>("published",	"2012");</a:t>
            </a:r>
          </a:p>
          <a:p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err="1">
                <a:solidFill>
                  <a:srgbClr val="7030A0"/>
                </a:solidFill>
              </a:rPr>
              <a:t>transaction.success</a:t>
            </a:r>
            <a:r>
              <a:rPr lang="en-US" b="1" dirty="0">
                <a:solidFill>
                  <a:srgbClr val="7030A0"/>
                </a:solidFill>
              </a:rPr>
              <a:t>();</a:t>
            </a:r>
          </a:p>
          <a:p>
            <a:r>
              <a:rPr lang="en-US" b="1" dirty="0">
                <a:solidFill>
                  <a:srgbClr val="7030A0"/>
                </a:solidFill>
              </a:rPr>
              <a:t> }	finally	{</a:t>
            </a:r>
          </a:p>
          <a:p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err="1">
                <a:solidFill>
                  <a:srgbClr val="7030A0"/>
                </a:solidFill>
              </a:rPr>
              <a:t>transaction.finish</a:t>
            </a:r>
            <a:r>
              <a:rPr lang="en-US" b="1" dirty="0">
                <a:solidFill>
                  <a:srgbClr val="7030A0"/>
                </a:solidFill>
              </a:rPr>
              <a:t>();</a:t>
            </a:r>
          </a:p>
          <a:p>
            <a:r>
              <a:rPr lang="en-US" b="1" dirty="0">
                <a:solidFill>
                  <a:srgbClr val="7030A0"/>
                </a:solidFill>
              </a:rPr>
              <a:t>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19D3EC-2D65-64AD-C549-8D95FFB2F380}"/>
              </a:ext>
            </a:extLst>
          </p:cNvPr>
          <p:cNvSpPr txBox="1"/>
          <p:nvPr/>
        </p:nvSpPr>
        <p:spPr>
          <a:xfrm>
            <a:off x="544707" y="4337839"/>
            <a:ext cx="112755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This way of managing transactions has to be remembered when developing, 		as it differs from the standard way of doing transactions in an RDBMS</a:t>
            </a:r>
          </a:p>
        </p:txBody>
      </p:sp>
    </p:spTree>
    <p:extLst>
      <p:ext uri="{BB962C8B-B14F-4D97-AF65-F5344CB8AC3E}">
        <p14:creationId xmlns:p14="http://schemas.microsoft.com/office/powerpoint/2010/main" val="984758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5105D-713D-8E31-DB82-152D4059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A251BA-BA72-5219-E70C-78B0239CE8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iii. Availability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854D8D2-F1AC-6962-C0A8-33E173F792AB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576D3-EB10-D9F2-6B10-4F4FCAD82487}"/>
              </a:ext>
            </a:extLst>
          </p:cNvPr>
          <p:cNvSpPr txBox="1"/>
          <p:nvPr/>
        </p:nvSpPr>
        <p:spPr>
          <a:xfrm>
            <a:off x="544707" y="1124779"/>
            <a:ext cx="111025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Graph databases can be deployed in: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Single-node configurations</a:t>
            </a:r>
            <a:r>
              <a:rPr lang="en-US" sz="2400" dirty="0"/>
              <a:t> for simplicity &amp; strong consistency.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Clustered or distributed setups</a:t>
            </a:r>
            <a:r>
              <a:rPr lang="en-US" sz="2400" dirty="0"/>
              <a:t> for high availability &amp; fault tolerance.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Many provide </a:t>
            </a:r>
            <a:r>
              <a:rPr lang="en-US" sz="2400" b="1" dirty="0"/>
              <a:t>replication</a:t>
            </a:r>
            <a:r>
              <a:rPr lang="en-US" sz="2400" dirty="0"/>
              <a:t> and </a:t>
            </a:r>
            <a:r>
              <a:rPr lang="en-US" sz="2400" b="1" dirty="0"/>
              <a:t>failover mechanisms</a:t>
            </a:r>
            <a:r>
              <a:rPr lang="en-US" sz="2400" dirty="0"/>
              <a:t> to minimize downtime.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Distributed graph databases (e.g., Amazon Neptune, </a:t>
            </a:r>
            <a:r>
              <a:rPr lang="en-US" sz="2400" dirty="0" err="1"/>
              <a:t>Dgraph</a:t>
            </a:r>
            <a:r>
              <a:rPr lang="en-US" sz="2400" dirty="0"/>
              <a:t>) use </a:t>
            </a:r>
            <a:r>
              <a:rPr lang="en-US" sz="2400" b="1" dirty="0"/>
              <a:t>replication &amp; partitioning </a:t>
            </a:r>
            <a:r>
              <a:rPr lang="en-US" sz="2400" dirty="0"/>
              <a:t>to ensure </a:t>
            </a:r>
            <a:r>
              <a:rPr lang="en-US" sz="2400" b="1" dirty="0"/>
              <a:t>high availability</a:t>
            </a:r>
            <a:r>
              <a:rPr lang="en-US" sz="2400" dirty="0"/>
              <a:t> while balancing latency.</a:t>
            </a:r>
          </a:p>
        </p:txBody>
      </p:sp>
    </p:spTree>
    <p:extLst>
      <p:ext uri="{BB962C8B-B14F-4D97-AF65-F5344CB8AC3E}">
        <p14:creationId xmlns:p14="http://schemas.microsoft.com/office/powerpoint/2010/main" val="481794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174D-04B8-FC03-A661-17762C8F6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DB9311-3C30-43B7-3225-00AC13F21C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iii. Availability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8AC726C-09DF-CEFC-BDC7-CBC5C9FFFBF9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9D6B-4FF1-2F37-AD65-4C6A0A0F889A}"/>
              </a:ext>
            </a:extLst>
          </p:cNvPr>
          <p:cNvSpPr txBox="1"/>
          <p:nvPr/>
        </p:nvSpPr>
        <p:spPr>
          <a:xfrm>
            <a:off x="82931" y="836933"/>
            <a:ext cx="80351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In </a:t>
            </a:r>
            <a:r>
              <a:rPr lang="en-US" sz="2400" b="1" dirty="0">
                <a:solidFill>
                  <a:srgbClr val="FF33CC"/>
                </a:solidFill>
              </a:rPr>
              <a:t>Neo4j</a:t>
            </a:r>
            <a:r>
              <a:rPr lang="en-US" sz="2400" dirty="0"/>
              <a:t>, high availability is achieved by using </a:t>
            </a:r>
            <a:r>
              <a:rPr lang="en-US" sz="2400" b="1" dirty="0"/>
              <a:t>replicated slave servers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These slave servers can also handle </a:t>
            </a:r>
            <a:r>
              <a:rPr lang="en-US" sz="2400" b="1" dirty="0"/>
              <a:t>write operations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When a slave server receives a write</a:t>
            </a:r>
            <a:r>
              <a:rPr lang="en-US" sz="2400" dirty="0"/>
              <a:t>, it sends the </a:t>
            </a:r>
            <a:r>
              <a:rPr lang="en-US" sz="2400" b="1" dirty="0"/>
              <a:t>update</a:t>
            </a:r>
            <a:r>
              <a:rPr lang="en-US" sz="2400" dirty="0"/>
              <a:t> to the master server.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master server </a:t>
            </a:r>
            <a:r>
              <a:rPr lang="en-US" sz="2400" dirty="0"/>
              <a:t>commits the change first, and then the </a:t>
            </a:r>
            <a:r>
              <a:rPr lang="en-US" sz="2400" b="1" dirty="0"/>
              <a:t>slave server </a:t>
            </a:r>
            <a:r>
              <a:rPr lang="en-US" sz="2400" dirty="0"/>
              <a:t>applies it.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Other slaves in the system </a:t>
            </a:r>
            <a:r>
              <a:rPr lang="en-US" sz="2400" b="1" dirty="0"/>
              <a:t>will get the update later</a:t>
            </a:r>
            <a:r>
              <a:rPr lang="en-US" sz="2400" dirty="0"/>
              <a:t>, once it spreads from the master.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Other graph databases, like </a:t>
            </a:r>
            <a:r>
              <a:rPr lang="en-US" sz="2400" b="1" dirty="0" err="1">
                <a:solidFill>
                  <a:srgbClr val="FF33CC"/>
                </a:solidFill>
              </a:rPr>
              <a:t>InfiniteGraph</a:t>
            </a:r>
            <a:r>
              <a:rPr lang="en-US" sz="2400" b="1" dirty="0">
                <a:solidFill>
                  <a:srgbClr val="FF33CC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 err="1">
                <a:solidFill>
                  <a:srgbClr val="FF33CC"/>
                </a:solidFill>
              </a:rPr>
              <a:t>FlockDB</a:t>
            </a:r>
            <a:r>
              <a:rPr lang="en-US" sz="2400" dirty="0"/>
              <a:t>, 		support distributed storage of nodes across multiple servers.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758550-82AF-91AE-8646-3F9D9F5AA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017" y="125034"/>
            <a:ext cx="3802051" cy="39386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2555FD-9819-C457-4903-995E99AC6FAE}"/>
              </a:ext>
            </a:extLst>
          </p:cNvPr>
          <p:cNvSpPr txBox="1"/>
          <p:nvPr/>
        </p:nvSpPr>
        <p:spPr>
          <a:xfrm>
            <a:off x="4431788" y="5055395"/>
            <a:ext cx="75615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Slave writes → Master → Commit → Sync → Other Slaves.</a:t>
            </a:r>
          </a:p>
        </p:txBody>
      </p:sp>
    </p:spTree>
    <p:extLst>
      <p:ext uri="{BB962C8B-B14F-4D97-AF65-F5344CB8AC3E}">
        <p14:creationId xmlns:p14="http://schemas.microsoft.com/office/powerpoint/2010/main" val="2680849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0EC6E-F4E8-E402-5AED-22582AA0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A58545-CCB8-E7B7-09AC-B7D782393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iii. Availability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32C25EF-12AC-4300-81A0-472C29064BAD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5DD8-2209-7413-0FBF-34E7D27204A1}"/>
              </a:ext>
            </a:extLst>
          </p:cNvPr>
          <p:cNvSpPr txBox="1"/>
          <p:nvPr/>
        </p:nvSpPr>
        <p:spPr>
          <a:xfrm>
            <a:off x="544707" y="1124779"/>
            <a:ext cx="111025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33CC"/>
                </a:solidFill>
              </a:rPr>
              <a:t>Neo4j </a:t>
            </a:r>
            <a:r>
              <a:rPr lang="en-US" sz="2400" b="1" dirty="0"/>
              <a:t>uses Apache </a:t>
            </a:r>
            <a:r>
              <a:rPr lang="en-US" sz="2400" b="1" dirty="0" err="1"/>
              <a:t>ZooKeeper</a:t>
            </a:r>
            <a:r>
              <a:rPr lang="en-US" sz="2400" dirty="0"/>
              <a:t> to keep track of which server is the </a:t>
            </a:r>
            <a:r>
              <a:rPr lang="en-US" sz="2400" b="1" dirty="0"/>
              <a:t>master</a:t>
            </a:r>
            <a:r>
              <a:rPr lang="en-US" sz="2400" dirty="0"/>
              <a:t> 		and to record the </a:t>
            </a:r>
            <a:r>
              <a:rPr lang="en-US" sz="2400" b="1" dirty="0"/>
              <a:t>last transaction IDs</a:t>
            </a:r>
            <a:r>
              <a:rPr lang="en-US" sz="2400" dirty="0"/>
              <a:t> saved on </a:t>
            </a:r>
            <a:r>
              <a:rPr lang="en-US" sz="2400" b="1" dirty="0"/>
              <a:t>each slave node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When a </a:t>
            </a:r>
            <a:r>
              <a:rPr lang="en-US" sz="2400" b="1" dirty="0"/>
              <a:t>server starts up</a:t>
            </a:r>
            <a:r>
              <a:rPr lang="en-US" sz="2400" dirty="0"/>
              <a:t>, 									it contacts </a:t>
            </a:r>
            <a:r>
              <a:rPr lang="en-US" sz="2400" b="1" dirty="0" err="1"/>
              <a:t>ZooKeeper</a:t>
            </a:r>
            <a:r>
              <a:rPr lang="en-US" sz="2400" dirty="0"/>
              <a:t> to find out </a:t>
            </a:r>
            <a:r>
              <a:rPr lang="en-US" sz="2400" b="1" dirty="0"/>
              <a:t>which server is currently the master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If the </a:t>
            </a:r>
            <a:r>
              <a:rPr lang="en-US" sz="2400" b="1" dirty="0"/>
              <a:t>new server is the first one</a:t>
            </a:r>
            <a:r>
              <a:rPr lang="en-US" sz="2400" dirty="0"/>
              <a:t> to join the cluster, 					</a:t>
            </a:r>
            <a:r>
              <a:rPr lang="en-US" sz="2400" b="1" dirty="0"/>
              <a:t>it becomes the master</a:t>
            </a:r>
            <a:r>
              <a:rPr lang="en-US" sz="2400" dirty="0"/>
              <a:t> automatically.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If the </a:t>
            </a:r>
            <a:r>
              <a:rPr lang="en-US" sz="2400" b="1" dirty="0"/>
              <a:t>current master goes down</a:t>
            </a:r>
            <a:r>
              <a:rPr lang="en-US" sz="2400" dirty="0"/>
              <a:t>, 							</a:t>
            </a:r>
            <a:r>
              <a:rPr lang="en-US" sz="2400" b="1" dirty="0" err="1"/>
              <a:t>ZooKeeper</a:t>
            </a:r>
            <a:r>
              <a:rPr lang="en-US" sz="2400" b="1" dirty="0"/>
              <a:t> helps the cluster choose a new master</a:t>
            </a:r>
            <a:r>
              <a:rPr lang="en-US" sz="2400" dirty="0"/>
              <a:t> from the remaining active servers.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This process ensures that the system always has a </a:t>
            </a:r>
            <a:r>
              <a:rPr lang="en-US" sz="2400" b="1" dirty="0"/>
              <a:t>master available</a:t>
            </a:r>
            <a:r>
              <a:rPr lang="en-US" sz="2400" dirty="0"/>
              <a:t>, 		providing </a:t>
            </a:r>
            <a:r>
              <a:rPr lang="en-US" sz="2400" b="1" dirty="0"/>
              <a:t>high availability</a:t>
            </a:r>
            <a:r>
              <a:rPr lang="en-US" sz="2400" dirty="0"/>
              <a:t> even during failures.</a:t>
            </a:r>
          </a:p>
        </p:txBody>
      </p:sp>
    </p:spTree>
    <p:extLst>
      <p:ext uri="{BB962C8B-B14F-4D97-AF65-F5344CB8AC3E}">
        <p14:creationId xmlns:p14="http://schemas.microsoft.com/office/powerpoint/2010/main" val="771104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C2C9-5063-B501-A1B6-5C60CB67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6A1A17-8922-EB05-6913-C923C759B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iii. Availability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BB17730-C006-A8AA-19E3-29147CF04B90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C55BF-A897-13AC-1278-8164679B9E1A}"/>
              </a:ext>
            </a:extLst>
          </p:cNvPr>
          <p:cNvSpPr txBox="1"/>
          <p:nvPr/>
        </p:nvSpPr>
        <p:spPr>
          <a:xfrm>
            <a:off x="82932" y="1918601"/>
            <a:ext cx="49488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/>
              <a:t>ZooKeeper</a:t>
            </a:r>
            <a:r>
              <a:rPr lang="en-US" sz="2400" dirty="0"/>
              <a:t> connects to all </a:t>
            </a:r>
            <a:r>
              <a:rPr lang="en-US" sz="2400" b="1" dirty="0">
                <a:solidFill>
                  <a:srgbClr val="FF33CC"/>
                </a:solidFill>
              </a:rPr>
              <a:t>Neo4j</a:t>
            </a:r>
            <a:r>
              <a:rPr lang="en-US" sz="2400" dirty="0"/>
              <a:t> </a:t>
            </a:r>
            <a:r>
              <a:rPr lang="en-US" sz="2400" b="1" dirty="0"/>
              <a:t>nodes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It monitors who’s the </a:t>
            </a:r>
            <a:r>
              <a:rPr lang="en-US" sz="2400" b="1" dirty="0"/>
              <a:t>master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If the master fails, 		</a:t>
            </a:r>
            <a:r>
              <a:rPr lang="en-US" sz="2400" dirty="0" err="1"/>
              <a:t>ZooKeeper</a:t>
            </a:r>
            <a:r>
              <a:rPr lang="en-US" sz="2400" dirty="0"/>
              <a:t> promotes another slave to become the new master.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2C4A7B-4FFB-BB37-C1FF-7B66C4A36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789" y="125034"/>
            <a:ext cx="7077279" cy="546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90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C76F2-E996-FFDA-8EC3-DAAF9025C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676D833-2CDE-37C3-A745-68EAA4C8D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FCDE626-9B5B-2FF5-77B6-7AAA41464CCC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3FF67-AB31-BD66-7F10-00B663372F83}"/>
              </a:ext>
            </a:extLst>
          </p:cNvPr>
          <p:cNvSpPr txBox="1"/>
          <p:nvPr/>
        </p:nvSpPr>
        <p:spPr>
          <a:xfrm>
            <a:off x="544707" y="1124779"/>
            <a:ext cx="111025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Graph databases support specialized query capabilities such as: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Pattern Matching:</a:t>
            </a:r>
            <a:r>
              <a:rPr lang="en-US" sz="2400" dirty="0"/>
              <a:t> Find nodes and relationships that match specific topological patterns.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Path Finding:</a:t>
            </a:r>
            <a:r>
              <a:rPr lang="en-US" sz="2400" dirty="0"/>
              <a:t> Identify shortest paths or weighted routes between nodes.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Graph Algorithms:</a:t>
            </a:r>
            <a:r>
              <a:rPr lang="en-US" sz="2400" dirty="0"/>
              <a:t> Centrality, community detection, clustering, and similarity scoring.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Declarative Query Languages:</a:t>
            </a:r>
            <a:endParaRPr lang="en-US" sz="24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Cypher</a:t>
            </a:r>
            <a:r>
              <a:rPr lang="en-US" sz="2400" dirty="0"/>
              <a:t> (Neo4j) – human-readable, pattern-based syntax.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Gremlin</a:t>
            </a:r>
            <a:r>
              <a:rPr lang="en-US" sz="2400" dirty="0"/>
              <a:t> (Apache </a:t>
            </a:r>
            <a:r>
              <a:rPr lang="en-US" sz="2400" dirty="0" err="1"/>
              <a:t>TinkerPop</a:t>
            </a:r>
            <a:r>
              <a:rPr lang="en-US" sz="2400" dirty="0"/>
              <a:t>) – traversal-based approach.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SPARQL</a:t>
            </a:r>
            <a:r>
              <a:rPr lang="en-US" sz="2400" dirty="0"/>
              <a:t> (RDF/semantic graphs) – used for linked data queries.</a:t>
            </a:r>
          </a:p>
        </p:txBody>
      </p:sp>
    </p:spTree>
    <p:extLst>
      <p:ext uri="{BB962C8B-B14F-4D97-AF65-F5344CB8AC3E}">
        <p14:creationId xmlns:p14="http://schemas.microsoft.com/office/powerpoint/2010/main" val="1290726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3E1C5-AB02-8583-3C6E-93B8DB7A3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F2D08A6-54A7-6743-ED7B-712E3474C0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675A5FE-B6C1-6298-C89C-98ED34CFAFEC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2F01F-609B-EE5C-C9D8-802FE7D23AC5}"/>
              </a:ext>
            </a:extLst>
          </p:cNvPr>
          <p:cNvSpPr txBox="1"/>
          <p:nvPr/>
        </p:nvSpPr>
        <p:spPr>
          <a:xfrm>
            <a:off x="544707" y="1124779"/>
            <a:ext cx="111025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Node</a:t>
            </a:r>
            <a:r>
              <a:rPr lang="en-US" sz="2400" dirty="0"/>
              <a:t> properties can be </a:t>
            </a:r>
            <a:r>
              <a:rPr lang="en-US" sz="2400" b="1" dirty="0"/>
              <a:t>indexed</a:t>
            </a:r>
            <a:r>
              <a:rPr lang="en-US" sz="2400" dirty="0"/>
              <a:t> using the indexing service.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Relationships</a:t>
            </a:r>
            <a:r>
              <a:rPr lang="en-US" sz="2400" dirty="0"/>
              <a:t> (edges) can also be </a:t>
            </a:r>
            <a:r>
              <a:rPr lang="en-US" sz="2400" b="1" dirty="0"/>
              <a:t>indexed</a:t>
            </a:r>
            <a:r>
              <a:rPr lang="en-US" sz="2400" dirty="0"/>
              <a:t> to find them by their values.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Indexes help locate the </a:t>
            </a:r>
            <a:r>
              <a:rPr lang="en-US" sz="2400" b="1" dirty="0"/>
              <a:t>starting node </a:t>
            </a:r>
            <a:r>
              <a:rPr lang="en-US" sz="2400" dirty="0"/>
              <a:t>for a graph traversal.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Nodes can be indexed while </a:t>
            </a:r>
            <a:r>
              <a:rPr lang="en-US" sz="2400" b="1" dirty="0"/>
              <a:t>adding them </a:t>
            </a:r>
            <a:r>
              <a:rPr lang="en-US" sz="2400" dirty="0"/>
              <a:t>or later by scanning all nodes.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index is created using the </a:t>
            </a:r>
            <a:r>
              <a:rPr lang="en-US" sz="2400" b="1" dirty="0" err="1">
                <a:solidFill>
                  <a:srgbClr val="7030A0"/>
                </a:solidFill>
              </a:rPr>
              <a:t>IndexManager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	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Index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nodeIndex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graphDb.index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().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forNodes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("nodes")</a:t>
            </a:r>
          </a:p>
          <a:p>
            <a:pPr algn="just"/>
            <a:r>
              <a:rPr lang="en-US" sz="2400" dirty="0"/>
              <a:t>We are indexing the nodes for the </a:t>
            </a:r>
            <a:r>
              <a:rPr lang="en-US" sz="2400" b="1" dirty="0">
                <a:solidFill>
                  <a:srgbClr val="7030A0"/>
                </a:solidFill>
              </a:rPr>
              <a:t>name</a:t>
            </a:r>
            <a:r>
              <a:rPr lang="en-US" sz="2400" dirty="0"/>
              <a:t> property.</a:t>
            </a:r>
          </a:p>
          <a:p>
            <a:pPr algn="just"/>
            <a:r>
              <a:rPr lang="en-US" sz="2400" b="1" dirty="0">
                <a:solidFill>
                  <a:srgbClr val="FF33CC"/>
                </a:solidFill>
              </a:rPr>
              <a:t>Neo4J</a:t>
            </a:r>
            <a:r>
              <a:rPr lang="en-US" sz="2400" dirty="0"/>
              <a:t> uses </a:t>
            </a:r>
            <a:r>
              <a:rPr lang="en-US" sz="2400" b="1" dirty="0"/>
              <a:t>Lucene</a:t>
            </a:r>
            <a:r>
              <a:rPr lang="en-US" sz="2400" dirty="0"/>
              <a:t> as its indexing service.</a:t>
            </a:r>
          </a:p>
        </p:txBody>
      </p:sp>
    </p:spTree>
    <p:extLst>
      <p:ext uri="{BB962C8B-B14F-4D97-AF65-F5344CB8AC3E}">
        <p14:creationId xmlns:p14="http://schemas.microsoft.com/office/powerpoint/2010/main" val="531741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F025D-252E-6FBB-155D-741B44F0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5B77DC-8B02-FD30-0764-B0EF1B5E64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B4B8F34-96BA-2036-08C4-4CC90986E3E5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8E3A0-AEC9-5239-70FC-C2684E088E83}"/>
              </a:ext>
            </a:extLst>
          </p:cNvPr>
          <p:cNvSpPr txBox="1"/>
          <p:nvPr/>
        </p:nvSpPr>
        <p:spPr>
          <a:xfrm>
            <a:off x="544707" y="1124779"/>
            <a:ext cx="111025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When new nodes are created, they can be added to the index.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Transaction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transaction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graphDb.beginTx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(); </a:t>
            </a: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try { </a:t>
            </a:r>
          </a:p>
          <a:p>
            <a:pPr lvl="2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Index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nodeIndex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graphDb.index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().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forNodes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("nodes"); </a:t>
            </a:r>
          </a:p>
          <a:p>
            <a:pPr lvl="2" algn="just"/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nodeIndex.add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(martin, "name",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martin.getProperty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("name"));</a:t>
            </a:r>
          </a:p>
          <a:p>
            <a:pPr lvl="2" algn="just"/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nodeIndex.add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pramod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, "name",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pramod.getProperty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("name"));</a:t>
            </a:r>
          </a:p>
          <a:p>
            <a:pPr lvl="2" algn="just"/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transaction.success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(); </a:t>
            </a: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} finally { </a:t>
            </a: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transaction.finish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(); </a:t>
            </a:r>
          </a:p>
          <a:p>
            <a:pPr lvl="1"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2206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4FF34-CA4A-A87F-A4FF-A1A63002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4C0DA8A-9C68-0530-80C6-1995BF92CC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29C69B8-41B2-3879-838E-4BF3366F6BE2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4930F-E657-4EC3-EC6F-B0E2A569270B}"/>
              </a:ext>
            </a:extLst>
          </p:cNvPr>
          <p:cNvSpPr txBox="1"/>
          <p:nvPr/>
        </p:nvSpPr>
        <p:spPr>
          <a:xfrm>
            <a:off x="544707" y="1124779"/>
            <a:ext cx="111025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Indexing and Searching Nodes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Nodes and relationships can be </a:t>
            </a:r>
            <a:r>
              <a:rPr lang="en-US" sz="2400" b="1" dirty="0"/>
              <a:t>indexed</a:t>
            </a:r>
            <a:r>
              <a:rPr lang="en-US" sz="2400" dirty="0"/>
              <a:t> using an </a:t>
            </a:r>
            <a:r>
              <a:rPr lang="en-US" sz="2400" b="1" dirty="0"/>
              <a:t>indexing service</a:t>
            </a:r>
            <a:r>
              <a:rPr lang="en-U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Once indexed, they can be </a:t>
            </a:r>
            <a:r>
              <a:rPr lang="en-US" sz="2400" b="1" dirty="0"/>
              <a:t>searched by property values</a:t>
            </a:r>
            <a:r>
              <a:rPr lang="en-US" sz="2400" dirty="0"/>
              <a:t> (e.g., name = “Barbara”).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lvl="0"/>
            <a:r>
              <a:rPr lang="en-US" sz="2400" b="1" dirty="0"/>
              <a:t>Example:</a:t>
            </a:r>
            <a:endParaRPr lang="en-US" sz="2400" dirty="0"/>
          </a:p>
          <a:p>
            <a:pPr lvl="0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Node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nodeIndex.get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("name", "Barbara").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getSingle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();</a:t>
            </a:r>
          </a:p>
          <a:p>
            <a:pPr lvl="0"/>
            <a:r>
              <a:rPr lang="en-US" sz="2400" dirty="0"/>
              <a:t>This returns the node where the </a:t>
            </a:r>
            <a:r>
              <a:rPr lang="en-US" sz="2400" b="1" dirty="0"/>
              <a:t>name property = “Barbara”</a:t>
            </a:r>
            <a:r>
              <a:rPr lang="en-US" sz="2400" dirty="0"/>
              <a:t>.</a:t>
            </a:r>
          </a:p>
          <a:p>
            <a:pPr lvl="0"/>
            <a:endParaRPr lang="en-US" sz="2400" dirty="0"/>
          </a:p>
          <a:p>
            <a:pPr lvl="0"/>
            <a:r>
              <a:rPr lang="en-US" sz="2400" dirty="0"/>
              <a:t>After finding a node, we can get all its relationships.</a:t>
            </a:r>
          </a:p>
          <a:p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allRelationships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martin.getRelationships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348239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B22CC-CC09-1FFE-7551-C848E76B9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1EF8890-49C7-12EF-ECD1-F819B80CD7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9A4B136-2A6F-CD24-303B-32FAC5F25642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B50AB-0D1C-B719-FB7E-0EF3E546AA3D}"/>
              </a:ext>
            </a:extLst>
          </p:cNvPr>
          <p:cNvSpPr txBox="1"/>
          <p:nvPr/>
        </p:nvSpPr>
        <p:spPr>
          <a:xfrm>
            <a:off x="544707" y="1124779"/>
            <a:ext cx="111025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Directional Relationships</a:t>
            </a: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Relationships can be </a:t>
            </a:r>
            <a:r>
              <a:rPr lang="en-US" sz="2400" b="1" dirty="0"/>
              <a:t>incoming</a:t>
            </a:r>
            <a:r>
              <a:rPr lang="en-US" sz="2400" dirty="0"/>
              <a:t>, </a:t>
            </a:r>
            <a:r>
              <a:rPr lang="en-US" sz="2400" b="1" dirty="0"/>
              <a:t>outgoing</a:t>
            </a:r>
            <a:r>
              <a:rPr lang="en-US" sz="2400" dirty="0"/>
              <a:t>, or </a:t>
            </a:r>
            <a:r>
              <a:rPr lang="en-US" sz="2400" b="1" dirty="0"/>
              <a:t>both</a:t>
            </a:r>
            <a:r>
              <a:rPr lang="en-US" sz="24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Example of getting only incoming relationships:</a:t>
            </a:r>
          </a:p>
          <a:p>
            <a:pPr lvl="0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incomingRelations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martin.getRelationships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Direction.INCOMING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You can also </a:t>
            </a:r>
            <a:r>
              <a:rPr lang="en-US" sz="2400" b="1" dirty="0"/>
              <a:t>filter by relationship type</a:t>
            </a:r>
            <a:r>
              <a:rPr lang="en-US" sz="2400" dirty="0"/>
              <a:t> (e.g., LIKES).</a:t>
            </a:r>
          </a:p>
          <a:p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8397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70B92-B273-5DF5-EC5C-A82B7D34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E60DB7-10D8-1C00-0AC1-C284395E75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ADFAC1E-36BA-E924-76D1-9B86B9A65F7A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12446-272C-1D4D-50D7-4CFD9568B673}"/>
              </a:ext>
            </a:extLst>
          </p:cNvPr>
          <p:cNvSpPr txBox="1"/>
          <p:nvPr/>
        </p:nvSpPr>
        <p:spPr>
          <a:xfrm>
            <a:off x="544707" y="1124779"/>
            <a:ext cx="111025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Query Example – Who Likes “NoSQL Distilled”</a:t>
            </a: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To find all people who like a book “NoSQL Distilled”: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Node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nosqlDistilled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nodeIndex.get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("name", "NoSQL Distilled").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getSingle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();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relationships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nosqlDistilled.getRelationships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(INCOMING, LIKES);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for (Relationship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relationship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: relationships) {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likesNoSQLDistilled.add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relationship.getStartNode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());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This finds </a:t>
            </a:r>
            <a:r>
              <a:rPr lang="en-US" sz="2400" b="1" dirty="0"/>
              <a:t>all nodes that have an incoming ‘LIKES’ relationship</a:t>
            </a:r>
            <a:r>
              <a:rPr lang="en-US" sz="2400" dirty="0"/>
              <a:t> to the book.</a:t>
            </a:r>
          </a:p>
        </p:txBody>
      </p:sp>
    </p:spTree>
    <p:extLst>
      <p:ext uri="{BB962C8B-B14F-4D97-AF65-F5344CB8AC3E}">
        <p14:creationId xmlns:p14="http://schemas.microsoft.com/office/powerpoint/2010/main" val="2958902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32A3D-9202-3A91-6342-335A8B646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D6E4592-57E1-CF81-C0F0-2EA42814C6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AB511C7-D3C7-0B1C-6C1B-2AFADBE81B56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0E4C4-AB95-CF16-C654-D553B726AA90}"/>
              </a:ext>
            </a:extLst>
          </p:cNvPr>
          <p:cNvSpPr txBox="1"/>
          <p:nvPr/>
        </p:nvSpPr>
        <p:spPr>
          <a:xfrm>
            <a:off x="544707" y="1029438"/>
            <a:ext cx="1110258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Traversing the Graph</a:t>
            </a:r>
            <a:endParaRPr lang="en-US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Graph databases are </a:t>
            </a:r>
            <a:r>
              <a:rPr lang="en-US" sz="2000" b="1" dirty="0"/>
              <a:t>powerful for deep traversals</a:t>
            </a:r>
            <a:r>
              <a:rPr lang="en-US" sz="2000" dirty="0"/>
              <a:t>, not just direct links.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Traversals help find nodes </a:t>
            </a:r>
            <a:r>
              <a:rPr lang="en-US" sz="2000" b="1" dirty="0"/>
              <a:t>multiple levels away</a:t>
            </a:r>
            <a:r>
              <a:rPr lang="en-US" sz="2000" dirty="0"/>
              <a:t> (e.g., friends of friends).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/>
              <a:t>Example:</a:t>
            </a:r>
          </a:p>
          <a:p>
            <a:pPr lvl="1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Node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nodeIndex.get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("name", "Barbara").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getSingle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();</a:t>
            </a:r>
          </a:p>
          <a:p>
            <a:pPr lvl="1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Traverser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friendsTraverser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barbara.traverse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</a:p>
          <a:p>
            <a:pPr lvl="1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Order.BREADTH_FIRST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,</a:t>
            </a:r>
          </a:p>
          <a:p>
            <a:pPr lvl="1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StopEvaluator.END_OF_GRAPH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,</a:t>
            </a:r>
          </a:p>
          <a:p>
            <a:pPr lvl="1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ReturnableEvaluator.ALL_BUT_START_NODE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,</a:t>
            </a:r>
          </a:p>
          <a:p>
            <a:pPr lvl="1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EdgeType.FRIEND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,</a:t>
            </a:r>
          </a:p>
          <a:p>
            <a:pPr lvl="1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Direction.OUTGOING</a:t>
            </a: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finds all nodes </a:t>
            </a:r>
            <a:r>
              <a:rPr lang="en-US" sz="2000" b="1" dirty="0"/>
              <a:t>connected to Barbara through FRIEND relationships</a:t>
            </a:r>
            <a:r>
              <a:rPr lang="en-US" sz="2000" dirty="0"/>
              <a:t> — at any depth.</a:t>
            </a:r>
          </a:p>
        </p:txBody>
      </p:sp>
    </p:spTree>
    <p:extLst>
      <p:ext uri="{BB962C8B-B14F-4D97-AF65-F5344CB8AC3E}">
        <p14:creationId xmlns:p14="http://schemas.microsoft.com/office/powerpoint/2010/main" val="22140327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A317-8729-4F8B-0D6B-573E6AD8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9BCAD3-0268-3631-0771-CB133882ED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492BE7A-F26C-54B3-4842-57AC47361998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E179D-0DC0-6370-DF1F-81720082CC7C}"/>
              </a:ext>
            </a:extLst>
          </p:cNvPr>
          <p:cNvSpPr txBox="1"/>
          <p:nvPr/>
        </p:nvSpPr>
        <p:spPr>
          <a:xfrm>
            <a:off x="544707" y="1029438"/>
            <a:ext cx="111025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Finding Paths Between Nodes</a:t>
            </a: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You can find </a:t>
            </a:r>
            <a:r>
              <a:rPr lang="en-US" sz="2400" b="1" dirty="0"/>
              <a:t>all paths</a:t>
            </a:r>
            <a:r>
              <a:rPr lang="en-US" sz="2400" dirty="0"/>
              <a:t> or the </a:t>
            </a:r>
            <a:r>
              <a:rPr lang="en-US" sz="2400" b="1" dirty="0"/>
              <a:t>shortest path</a:t>
            </a:r>
            <a:r>
              <a:rPr lang="en-US" sz="2400" dirty="0"/>
              <a:t> between two nodes.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Example (Barbara → Jill):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Node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nodeIndex.get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("name", "Barbara").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getSingle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();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Node jill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nodeIndex.get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("name", "Jill").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getSingle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();</a:t>
            </a:r>
          </a:p>
          <a:p>
            <a:pPr lvl="1"/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PathFinder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&lt;Path&gt; finder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GraphAlgoFactory.allPaths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Traversal.expanderForTypes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(FRIEND,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Direction.OUTGOING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),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   MAX_DEPTH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);</a:t>
            </a:r>
          </a:p>
          <a:p>
            <a:pPr lvl="1"/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Iterable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&lt;Path&gt; paths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finder.findAllPaths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, jill);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Used in </a:t>
            </a:r>
            <a:r>
              <a:rPr lang="en-US" sz="2400" b="1" dirty="0"/>
              <a:t>social networks</a:t>
            </a:r>
            <a:r>
              <a:rPr lang="en-US" sz="2400" dirty="0"/>
              <a:t> to show how users are connected.</a:t>
            </a:r>
          </a:p>
        </p:txBody>
      </p:sp>
    </p:spTree>
    <p:extLst>
      <p:ext uri="{BB962C8B-B14F-4D97-AF65-F5344CB8AC3E}">
        <p14:creationId xmlns:p14="http://schemas.microsoft.com/office/powerpoint/2010/main" val="307101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BD75F-A3C6-7B2D-34BD-235723945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F8E91D5-1ADF-47CE-18CF-E598E2918A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AF70107-5D94-6EA0-7184-596BE70E5E59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52C7FF-AC0A-C919-AB98-B3370A613434}"/>
              </a:ext>
            </a:extLst>
          </p:cNvPr>
          <p:cNvSpPr txBox="1"/>
          <p:nvPr/>
        </p:nvSpPr>
        <p:spPr>
          <a:xfrm>
            <a:off x="544707" y="1029438"/>
            <a:ext cx="111025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Finding the Shortest Path</a:t>
            </a: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To get the </a:t>
            </a:r>
            <a:r>
              <a:rPr lang="en-US" sz="2400" b="1" dirty="0"/>
              <a:t>shortest path</a:t>
            </a:r>
            <a:r>
              <a:rPr lang="en-US" sz="2400" dirty="0"/>
              <a:t> between two nodes:</a:t>
            </a:r>
          </a:p>
          <a:p>
            <a:pPr lvl="1"/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PathFinder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&lt;Path&gt; finder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GraphAlgoFactory.shortestPath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  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Traversal.expanderForTypes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(FRIEND,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Direction.OUTGOING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), MAX_DEPTH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);</a:t>
            </a:r>
          </a:p>
          <a:p>
            <a:pPr lvl="1"/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Iterable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&lt;Path&gt; paths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finder.findAllPaths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, jill);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Can also use algorithms like </a:t>
            </a:r>
            <a:r>
              <a:rPr lang="en-US" sz="2400" b="1" dirty="0"/>
              <a:t>Dijkstra’s Algorithm</a:t>
            </a:r>
            <a:r>
              <a:rPr lang="en-US" sz="2400" dirty="0"/>
              <a:t> for shortest or cheapest paths.</a:t>
            </a:r>
          </a:p>
        </p:txBody>
      </p:sp>
    </p:spTree>
    <p:extLst>
      <p:ext uri="{BB962C8B-B14F-4D97-AF65-F5344CB8AC3E}">
        <p14:creationId xmlns:p14="http://schemas.microsoft.com/office/powerpoint/2010/main" val="28007030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D132-6B62-8E28-6FD7-0263BAEA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FE16B1C-2BB2-3BC2-C32F-798EE17E45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6B40168-E3FB-D5AC-BB9D-5A26B114DAB5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79CE2-EB00-038F-E08C-49708DB19AF4}"/>
              </a:ext>
            </a:extLst>
          </p:cNvPr>
          <p:cNvSpPr txBox="1"/>
          <p:nvPr/>
        </p:nvSpPr>
        <p:spPr>
          <a:xfrm>
            <a:off x="544707" y="1029438"/>
            <a:ext cx="111025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Introduction to Cypher Query Language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Cypher</a:t>
            </a:r>
            <a:r>
              <a:rPr lang="en-US" sz="2400" dirty="0"/>
              <a:t> is Neo4j’s </a:t>
            </a:r>
            <a:r>
              <a:rPr lang="en-US" sz="2400" b="1" dirty="0"/>
              <a:t>declarative query language</a:t>
            </a:r>
            <a:r>
              <a:rPr lang="en-US" sz="2400" dirty="0"/>
              <a:t> for graphs.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Common structure: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START   (beginning node)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MATCH   (relationship pattern)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WHERE   (filter conditions)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RETURN  (what to return)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ORDER BY, SKIP, LIMIT (optional)</a:t>
            </a:r>
          </a:p>
          <a:p>
            <a:pPr lvl="1"/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query </a:t>
            </a:r>
            <a:r>
              <a:rPr lang="en-US" sz="2400" b="1" dirty="0"/>
              <a:t>starts from a node</a:t>
            </a:r>
            <a:r>
              <a:rPr lang="en-US" sz="2400" dirty="0"/>
              <a:t> (found by ID or index).</a:t>
            </a:r>
          </a:p>
        </p:txBody>
      </p:sp>
    </p:spTree>
    <p:extLst>
      <p:ext uri="{BB962C8B-B14F-4D97-AF65-F5344CB8AC3E}">
        <p14:creationId xmlns:p14="http://schemas.microsoft.com/office/powerpoint/2010/main" val="15985224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C879-31CE-0693-4E8E-9B68013CE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F24F0D-A568-C841-065D-CFC075CCB6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1B51450-FF3D-F703-D104-C0AB90E32B59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B7FED-02B3-ACB0-B0E7-CC476D32BB6F}"/>
              </a:ext>
            </a:extLst>
          </p:cNvPr>
          <p:cNvSpPr txBox="1"/>
          <p:nvPr/>
        </p:nvSpPr>
        <p:spPr>
          <a:xfrm>
            <a:off x="544707" y="1029438"/>
            <a:ext cx="111025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Basic Cypher Query Example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Find all nodes connected to Barbara: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START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node:nodeIndex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(name="Barbara")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MATCH 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)--(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connected_node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RETURN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connected_node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Finds both </a:t>
            </a:r>
            <a:r>
              <a:rPr lang="en-US" sz="2400" b="1" dirty="0"/>
              <a:t>incoming and outgoing relationships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2256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26884-5F82-50F9-02A0-AE3723BBE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3A4E08-F0D0-A2AE-3D28-10718B4983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6ADC2B3-3149-3E0F-B517-3F2DB38701D8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FFD60-1FB2-2382-C12B-142525C61434}"/>
              </a:ext>
            </a:extLst>
          </p:cNvPr>
          <p:cNvSpPr txBox="1"/>
          <p:nvPr/>
        </p:nvSpPr>
        <p:spPr>
          <a:xfrm>
            <a:off x="544707" y="1029438"/>
            <a:ext cx="111025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Direction-Specific Queries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Incoming relationships:</a:t>
            </a:r>
            <a:endParaRPr lang="en-US" sz="2400" dirty="0"/>
          </a:p>
          <a:p>
            <a:pPr lvl="1"/>
            <a:r>
              <a:rPr lang="en-US" sz="2400" dirty="0"/>
              <a:t>		MATCH (</a:t>
            </a:r>
            <a:r>
              <a:rPr lang="en-US" sz="2400" dirty="0" err="1"/>
              <a:t>barbara</a:t>
            </a:r>
            <a:r>
              <a:rPr lang="en-US" sz="2400" dirty="0"/>
              <a:t>)&lt;--(</a:t>
            </a:r>
            <a:r>
              <a:rPr lang="en-US" sz="2400" dirty="0" err="1"/>
              <a:t>connected_node</a:t>
            </a:r>
            <a:r>
              <a:rPr lang="en-US" sz="2400" dirty="0"/>
              <a:t>)</a:t>
            </a:r>
          </a:p>
          <a:p>
            <a:pPr lvl="1"/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Outgoing relationships:</a:t>
            </a:r>
            <a:endParaRPr lang="en-US" sz="2400" dirty="0"/>
          </a:p>
          <a:p>
            <a:pPr lvl="1"/>
            <a:r>
              <a:rPr lang="en-US" sz="2400" dirty="0"/>
              <a:t>		MATCH (</a:t>
            </a:r>
            <a:r>
              <a:rPr lang="en-US" sz="2400" dirty="0" err="1"/>
              <a:t>barbara</a:t>
            </a:r>
            <a:r>
              <a:rPr lang="en-US" sz="2400" dirty="0"/>
              <a:t>)--&gt;(</a:t>
            </a:r>
            <a:r>
              <a:rPr lang="en-US" sz="2400" dirty="0" err="1"/>
              <a:t>connected_node</a:t>
            </a:r>
            <a:r>
              <a:rPr lang="en-US" sz="2400" dirty="0"/>
              <a:t>)</a:t>
            </a:r>
          </a:p>
          <a:p>
            <a:pPr lvl="1"/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Can filter by </a:t>
            </a:r>
            <a:r>
              <a:rPr lang="en-US" sz="2400" b="1" dirty="0"/>
              <a:t>relationship type</a:t>
            </a:r>
            <a:r>
              <a:rPr lang="en-US" sz="2400" dirty="0"/>
              <a:t> using :RELATIONSHIP_TYPE.</a:t>
            </a:r>
          </a:p>
        </p:txBody>
      </p:sp>
    </p:spTree>
    <p:extLst>
      <p:ext uri="{BB962C8B-B14F-4D97-AF65-F5344CB8AC3E}">
        <p14:creationId xmlns:p14="http://schemas.microsoft.com/office/powerpoint/2010/main" val="13808077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70F31-8DEA-C640-0DE0-7B1295AD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611196-0F30-C742-9A61-95AD02796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45174E4-DF0A-C5CE-5E97-0B94AADC5BFF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9F985-2209-5D97-CBF7-74D55473B863}"/>
              </a:ext>
            </a:extLst>
          </p:cNvPr>
          <p:cNvSpPr txBox="1"/>
          <p:nvPr/>
        </p:nvSpPr>
        <p:spPr>
          <a:xfrm>
            <a:off x="544707" y="1029438"/>
            <a:ext cx="111025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Relationship Type Example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Find Barbara’s friends: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START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node:nodeIndex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(name="Barbara")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MATCH 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)-[:FRIEND]-&gt;(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friend_node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RETURN friend_node.name,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friend_node.location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Finds all outgoing FRIEND relationships </a:t>
            </a:r>
            <a:r>
              <a:rPr lang="en-US" sz="2400" b="1" dirty="0"/>
              <a:t>one level deep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74125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16C89-7BA7-DBA5-B33F-6B62E1594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023961-EC8B-61B4-4872-167F5D24C8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0CDA818-BDA9-CFC3-44FD-40DCCA28FC4C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A2148B-DEA5-3EEA-C51C-E06F99A8664A}"/>
              </a:ext>
            </a:extLst>
          </p:cNvPr>
          <p:cNvSpPr txBox="1"/>
          <p:nvPr/>
        </p:nvSpPr>
        <p:spPr>
          <a:xfrm>
            <a:off x="544707" y="1029438"/>
            <a:ext cx="111025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Multi-Level and Depth Queries</a:t>
            </a: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To find friends within </a:t>
            </a:r>
            <a:r>
              <a:rPr lang="en-US" sz="2400" b="1" dirty="0"/>
              <a:t>up to 3 levels deep</a:t>
            </a:r>
            <a:r>
              <a:rPr lang="en-US" sz="2400" dirty="0"/>
              <a:t>: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START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node:nodeIndex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(name="Barbara")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MATCH path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-[:FRIEND*1..3]-&gt;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end_node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RETURN barbara.name, end_node.name, length(path)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Returns all friends of Barbara within </a:t>
            </a:r>
            <a:r>
              <a:rPr lang="en-US" sz="2400" b="1" dirty="0"/>
              <a:t>three levels</a:t>
            </a:r>
            <a:r>
              <a:rPr lang="en-US" sz="2400" dirty="0"/>
              <a:t> and their </a:t>
            </a:r>
            <a:r>
              <a:rPr lang="en-US" sz="2400" b="1" dirty="0"/>
              <a:t>path lengths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5985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0B257-AB10-4B25-65A6-A21D8A1C6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383F5C-6D18-FD41-22EF-F6EF34F1FF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FAF6F70-0CEE-A21A-0D15-B3E7D4A46628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4131C-0F4D-99D3-9B3C-8469A4C36046}"/>
              </a:ext>
            </a:extLst>
          </p:cNvPr>
          <p:cNvSpPr txBox="1"/>
          <p:nvPr/>
        </p:nvSpPr>
        <p:spPr>
          <a:xfrm>
            <a:off x="544707" y="1029438"/>
            <a:ext cx="111025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Query by Relationship Property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You can query based on </a:t>
            </a:r>
            <a:r>
              <a:rPr lang="en-US" sz="2400" b="1" dirty="0"/>
              <a:t>relationship properties</a:t>
            </a:r>
            <a:r>
              <a:rPr lang="en-US" sz="2400" dirty="0"/>
              <a:t> too.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START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node:nodeIndex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(name="Barbara")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MATCH 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barbara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)-[relation]-&gt;(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related_node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WHERE type(relation) = 'FRIEND' AND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relation.share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RETURN related_node.name,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relation.since</a:t>
            </a:r>
            <a:endParaRPr lang="en-US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Filters based on relationship </a:t>
            </a:r>
            <a:r>
              <a:rPr lang="en-US" sz="2400" b="1" dirty="0"/>
              <a:t>type and attributes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363189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F4A2-A9B6-651E-D850-8897C6959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545047-4011-008C-EE9C-BEF449DD4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iv. Query Features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75EF73A-FD7B-2490-8440-2683126C1C1D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504FEC-C2D1-9946-30FD-6A1031E12D60}"/>
              </a:ext>
            </a:extLst>
          </p:cNvPr>
          <p:cNvSpPr txBox="1"/>
          <p:nvPr/>
        </p:nvSpPr>
        <p:spPr>
          <a:xfrm>
            <a:off x="544707" y="1029438"/>
            <a:ext cx="111025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Neo4j allows: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Indexing nodes and relationships</a:t>
            </a:r>
            <a:r>
              <a:rPr lang="en-US" sz="2400" dirty="0"/>
              <a:t> for quick search.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Traversing graphs</a:t>
            </a:r>
            <a:r>
              <a:rPr lang="en-US" sz="2400" dirty="0"/>
              <a:t> at any depth.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Finding all or shortest paths</a:t>
            </a:r>
            <a:r>
              <a:rPr lang="en-US" sz="2400" dirty="0"/>
              <a:t> between nodes.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Querying with Cypher</a:t>
            </a:r>
            <a:r>
              <a:rPr lang="en-US" sz="2400" dirty="0"/>
              <a:t> for flexible graph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Ideal for </a:t>
            </a:r>
            <a:r>
              <a:rPr lang="en-US" sz="2400" b="1" dirty="0"/>
              <a:t>social networks</a:t>
            </a:r>
            <a:r>
              <a:rPr lang="en-US" sz="2400" dirty="0"/>
              <a:t>, </a:t>
            </a:r>
            <a:r>
              <a:rPr lang="en-US" sz="2400" b="1" dirty="0"/>
              <a:t>recommendation engines</a:t>
            </a:r>
            <a:r>
              <a:rPr lang="en-US" sz="2400" dirty="0"/>
              <a:t>, and </a:t>
            </a:r>
            <a:r>
              <a:rPr lang="en-US" sz="2400" b="1" dirty="0"/>
              <a:t>network analysis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3510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21EEF-5001-C31C-7DF4-2C1C5C48B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EA16A6-4E38-E21C-F22D-E3408C0252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V</a:t>
            </a:r>
            <a:r>
              <a:rPr lang="en-US" sz="3200" b="1" dirty="0" smtClean="0"/>
              <a:t>. Scaling </a:t>
            </a:r>
            <a:r>
              <a:rPr lang="en-US" sz="3200" b="1" dirty="0"/>
              <a:t>in Graph Databases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92CC5B3-2653-CA2B-EE7A-4B9394BD76EE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784C4-7CFF-76FB-9263-E853AB692754}"/>
              </a:ext>
            </a:extLst>
          </p:cNvPr>
          <p:cNvSpPr txBox="1"/>
          <p:nvPr/>
        </p:nvSpPr>
        <p:spPr>
          <a:xfrm>
            <a:off x="544707" y="1029438"/>
            <a:ext cx="111025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Vertical Scaling:</a:t>
            </a:r>
            <a:r>
              <a:rPr lang="en-US" sz="2400" dirty="0"/>
              <a:t> More RAM/CPU for deeper traversals.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Horizontal Scaling:</a:t>
            </a:r>
            <a:r>
              <a:rPr lang="en-US" sz="2400" dirty="0"/>
              <a:t> Harder due to relationship dependencies.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Distributed Graphs:</a:t>
            </a:r>
            <a:r>
              <a:rPr lang="en-US" sz="2400" dirty="0"/>
              <a:t> Partition large graphs into smaller subgraphs.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Caching and indexing improve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1326332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DBB03-1A7C-1F9D-C368-EA124B422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64D9E9-89A1-65A8-ED5F-6E3CE0761C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2285" y="102233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Scaling in Graph Databases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3B8B929-F6FD-8D40-A74C-9F053F1407E5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5D65F6-952D-2E91-825F-930EC8F4E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432" y="946988"/>
            <a:ext cx="6917636" cy="45095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612851-77C6-AAE2-BB85-F2A07D726A47}"/>
              </a:ext>
            </a:extLst>
          </p:cNvPr>
          <p:cNvSpPr txBox="1"/>
          <p:nvPr/>
        </p:nvSpPr>
        <p:spPr>
          <a:xfrm>
            <a:off x="82933" y="817599"/>
            <a:ext cx="49079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diagram shows how an </a:t>
            </a:r>
            <a:r>
              <a:rPr lang="en-US" b="1" dirty="0"/>
              <a:t>application connects and manages regional networks</a:t>
            </a:r>
            <a:r>
              <a:rPr lang="en-US" dirty="0"/>
              <a:t> in North America and Asia.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region has its 				own nodes (cities) 				&amp; relationships (business roles) connecting them.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90709F-707B-88E1-271A-4ED485926003}"/>
              </a:ext>
            </a:extLst>
          </p:cNvPr>
          <p:cNvSpPr txBox="1"/>
          <p:nvPr/>
        </p:nvSpPr>
        <p:spPr>
          <a:xfrm>
            <a:off x="82932" y="2993414"/>
            <a:ext cx="51085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Application oversees both </a:t>
            </a:r>
            <a:r>
              <a:rPr lang="en-US" b="1" dirty="0"/>
              <a:t>regional networks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region operates </a:t>
            </a:r>
            <a:r>
              <a:rPr lang="en-US" b="1" dirty="0"/>
              <a:t>independently</a:t>
            </a:r>
            <a:r>
              <a:rPr lang="en-US" dirty="0"/>
              <a:t> but follows similar relationship structures — like distributors, suppliers, and providers.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demonstrates how </a:t>
            </a:r>
            <a:r>
              <a:rPr lang="en-US" b="1" dirty="0"/>
              <a:t>graph databases can model real-world connected data</a:t>
            </a:r>
            <a:r>
              <a:rPr lang="en-US" dirty="0"/>
              <a:t>, such as global supply chains.</a:t>
            </a:r>
          </a:p>
        </p:txBody>
      </p:sp>
    </p:spTree>
    <p:extLst>
      <p:ext uri="{BB962C8B-B14F-4D97-AF65-F5344CB8AC3E}">
        <p14:creationId xmlns:p14="http://schemas.microsoft.com/office/powerpoint/2010/main" val="34855480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8AAF-8829-260B-EC97-66391592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3FB1B5-CA87-2836-BA31-59E1112520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3. Suitable Use Cases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F6902C6-2CD3-0613-9921-196A09BD5140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EEC4E3-331C-D54B-ECC5-4611EFB47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98256"/>
              </p:ext>
            </p:extLst>
          </p:nvPr>
        </p:nvGraphicFramePr>
        <p:xfrm>
          <a:off x="1717083" y="845191"/>
          <a:ext cx="8667750" cy="4387758"/>
        </p:xfrm>
        <a:graphic>
          <a:graphicData uri="http://schemas.openxmlformats.org/drawingml/2006/table">
            <a:tbl>
              <a:tblPr/>
              <a:tblGrid>
                <a:gridCol w="2889250">
                  <a:extLst>
                    <a:ext uri="{9D8B030D-6E8A-4147-A177-3AD203B41FA5}">
                      <a16:colId xmlns:a16="http://schemas.microsoft.com/office/drawing/2014/main" val="902085705"/>
                    </a:ext>
                  </a:extLst>
                </a:gridCol>
                <a:gridCol w="2889250">
                  <a:extLst>
                    <a:ext uri="{9D8B030D-6E8A-4147-A177-3AD203B41FA5}">
                      <a16:colId xmlns:a16="http://schemas.microsoft.com/office/drawing/2014/main" val="3555038768"/>
                    </a:ext>
                  </a:extLst>
                </a:gridCol>
                <a:gridCol w="2889250">
                  <a:extLst>
                    <a:ext uri="{9D8B030D-6E8A-4147-A177-3AD203B41FA5}">
                      <a16:colId xmlns:a16="http://schemas.microsoft.com/office/drawing/2014/main" val="1819149965"/>
                    </a:ext>
                  </a:extLst>
                </a:gridCol>
              </a:tblGrid>
              <a:tr h="417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Use Case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Description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Example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663510"/>
                  </a:ext>
                </a:extLst>
              </a:tr>
              <a:tr h="731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Social Networks</a:t>
                      </a:r>
                      <a:endParaRPr lang="en-US" sz="2000"/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Model people and relationships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Facebook friends graph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742373"/>
                  </a:ext>
                </a:extLst>
              </a:tr>
              <a:tr h="731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Recommendation Engines</a:t>
                      </a:r>
                      <a:endParaRPr lang="en-US" sz="2000"/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Find similarities between users/items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“People also bought…”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525159"/>
                  </a:ext>
                </a:extLst>
              </a:tr>
              <a:tr h="731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Routing &amp; Logistics</a:t>
                      </a:r>
                      <a:endParaRPr lang="en-US" sz="2000" dirty="0"/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Shortest paths, delivery optimization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Uber route matching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67403"/>
                  </a:ext>
                </a:extLst>
              </a:tr>
              <a:tr h="1045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Fraud Detection</a:t>
                      </a:r>
                      <a:endParaRPr lang="en-US" sz="2000"/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Spot hidden connections between accounts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Linked financial fraud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514333"/>
                  </a:ext>
                </a:extLst>
              </a:tr>
              <a:tr h="731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Knowledge Graphs</a:t>
                      </a:r>
                      <a:endParaRPr lang="en-US" sz="2000"/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Semantic search and reasoning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Google Knowledge Graph</a:t>
                      </a:r>
                    </a:p>
                  </a:txBody>
                  <a:tcPr marL="50082" marR="50082" marT="25041" marB="250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443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9541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2C80-31AA-AC0A-8666-72AAFA7DC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9165A1-F7F4-F2F0-ACEB-33900EA6EC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Connected Data Solutions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D97B1E9-232B-F635-A0C4-38663E325BED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9791A-FD36-11CB-5C7B-95600C384A2D}"/>
              </a:ext>
            </a:extLst>
          </p:cNvPr>
          <p:cNvSpPr txBox="1"/>
          <p:nvPr/>
        </p:nvSpPr>
        <p:spPr>
          <a:xfrm>
            <a:off x="1355133" y="981075"/>
            <a:ext cx="939165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dirty="0"/>
              <a:t>Graph databases enable </a:t>
            </a:r>
            <a:r>
              <a:rPr lang="en-US" sz="2200" b="1" dirty="0"/>
              <a:t>connected data</a:t>
            </a:r>
            <a:r>
              <a:rPr lang="en-US" sz="2200" dirty="0"/>
              <a:t> insights across systems: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Integrate social, spatial, and transactional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Enables </a:t>
            </a:r>
            <a:r>
              <a:rPr lang="en-US" sz="2200" b="1" dirty="0"/>
              <a:t>real-time decision-making</a:t>
            </a:r>
            <a:r>
              <a:rPr lang="en-US" sz="2200" dirty="0"/>
              <a:t> through relationships.</a:t>
            </a:r>
          </a:p>
          <a:p>
            <a:pPr>
              <a:buNone/>
            </a:pPr>
            <a:r>
              <a:rPr lang="en-US" sz="2200" b="1" dirty="0"/>
              <a:t>Examples:</a:t>
            </a:r>
          </a:p>
          <a:p>
            <a:pPr>
              <a:buFont typeface="+mj-lt"/>
              <a:buAutoNum type="arabicPeriod"/>
            </a:pPr>
            <a:r>
              <a:rPr lang="en-US" sz="2200" b="1" dirty="0"/>
              <a:t>Routing &amp; Dispatch:</a:t>
            </a:r>
            <a:endParaRPr lang="en-US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sz="2200" dirty="0"/>
              <a:t>Model cities, roads, and traffic for pathfinding.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200" dirty="0"/>
              <a:t>Used in ride-sharing, logistics, delivery tracking.</a:t>
            </a:r>
            <a:br>
              <a:rPr lang="en-US" sz="2200" dirty="0"/>
            </a:br>
            <a:r>
              <a:rPr lang="en-US" sz="2200" i="1" dirty="0"/>
              <a:t>(Visual: city road network graph)</a:t>
            </a:r>
            <a:endParaRPr lang="en-US" sz="2200" dirty="0"/>
          </a:p>
          <a:p>
            <a:pPr>
              <a:buFont typeface="+mj-lt"/>
              <a:buAutoNum type="arabicPeriod"/>
            </a:pPr>
            <a:r>
              <a:rPr lang="en-US" sz="2200" b="1" dirty="0"/>
              <a:t>Recommendation Systems:</a:t>
            </a:r>
            <a:endParaRPr lang="en-US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sz="2200" dirty="0"/>
              <a:t>Link users, preferences, and behaviors.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200" dirty="0"/>
              <a:t>Suggest similar users or products.</a:t>
            </a:r>
            <a:br>
              <a:rPr lang="en-US" sz="2200" dirty="0"/>
            </a:br>
            <a:r>
              <a:rPr lang="en-US" sz="2200" i="1" dirty="0"/>
              <a:t>(Visual: User → “LIKES” → Product → “SIMILAR_TO” → Product)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186862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96668-BEC8-7380-4A0E-DA61BF28B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E787F5-9D25-CDEB-4B4A-DD15C57CD1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243" y="332308"/>
            <a:ext cx="1026743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b="1" dirty="0"/>
              <a:t>4. When Not to Use Graph Databases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18D5481-7728-A8BE-CB6C-06F93B284A3D}"/>
              </a:ext>
            </a:extLst>
          </p:cNvPr>
          <p:cNvSpPr txBox="1"/>
          <p:nvPr/>
        </p:nvSpPr>
        <p:spPr>
          <a:xfrm>
            <a:off x="11933808" y="6508812"/>
            <a:ext cx="17526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38100" marR="0" lvl="0" indent="0" algn="l" defTabSz="914400" rtl="0" eaLnBrk="1" fontAlgn="auto" latinLnBrk="0" hangingPunct="1">
                <a:lnSpc>
                  <a:spcPts val="163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03C78E-53C0-60DF-0719-58C529FB8D16}"/>
              </a:ext>
            </a:extLst>
          </p:cNvPr>
          <p:cNvSpPr txBox="1"/>
          <p:nvPr/>
        </p:nvSpPr>
        <p:spPr>
          <a:xfrm>
            <a:off x="917243" y="1228725"/>
            <a:ext cx="93916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Avoid graph databases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Data is </a:t>
            </a:r>
            <a:r>
              <a:rPr lang="en-US" sz="2400" b="1" dirty="0"/>
              <a:t>not highly connected</a:t>
            </a:r>
            <a:r>
              <a:rPr lang="en-US" sz="2400" dirty="0"/>
              <a:t> (simple tabular data fits better).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Workloads are </a:t>
            </a:r>
            <a:r>
              <a:rPr lang="en-US" sz="2400" b="1" dirty="0"/>
              <a:t>heavy on aggregation or analytics</a:t>
            </a:r>
            <a:r>
              <a:rPr lang="en-US" sz="2400" dirty="0"/>
              <a:t> (use OLAP/columnar DB).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Need </a:t>
            </a:r>
            <a:r>
              <a:rPr lang="en-US" sz="2400" b="1" dirty="0"/>
              <a:t>very high write throughput</a:t>
            </a:r>
            <a:r>
              <a:rPr lang="en-US" sz="2400" dirty="0"/>
              <a:t> (key-value DBs perform better).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Global joins</a:t>
            </a:r>
            <a:r>
              <a:rPr lang="en-US" sz="2400" dirty="0"/>
              <a:t> over distributed graphs become inefficient.</a:t>
            </a:r>
          </a:p>
        </p:txBody>
      </p:sp>
    </p:spTree>
    <p:extLst>
      <p:ext uri="{BB962C8B-B14F-4D97-AF65-F5344CB8AC3E}">
        <p14:creationId xmlns:p14="http://schemas.microsoft.com/office/powerpoint/2010/main" val="11441473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17410" name="Picture 2" descr="Clustering of graphs and search of assemblag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b="17778"/>
          <a:stretch/>
        </p:blipFill>
        <p:spPr bwMode="auto">
          <a:xfrm>
            <a:off x="1571195" y="79641"/>
            <a:ext cx="9134477" cy="5181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D4F69F-5146-49E3-921C-42C19CDF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CSE2024 NoSQL Databases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119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6446</TotalTime>
  <Words>3369</Words>
  <Application>Microsoft Office PowerPoint</Application>
  <PresentationFormat>Widescreen</PresentationFormat>
  <Paragraphs>420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Aptos</vt:lpstr>
      <vt:lpstr>Aptos Display</vt:lpstr>
      <vt:lpstr>Aptos Slab Light</vt:lpstr>
      <vt:lpstr>Arial</vt:lpstr>
      <vt:lpstr>Bookman Old Style</vt:lpstr>
      <vt:lpstr>Caladea</vt:lpstr>
      <vt:lpstr>Calibri</vt:lpstr>
      <vt:lpstr>Carlito</vt:lpstr>
      <vt:lpstr>Courier New</vt:lpstr>
      <vt:lpstr>Wingdings</vt:lpstr>
      <vt:lpstr>Office Theme</vt:lpstr>
      <vt:lpstr>1_Office Theme</vt:lpstr>
      <vt:lpstr>PowerPoint Presentation</vt:lpstr>
      <vt:lpstr>PowerPoint Presentation</vt:lpstr>
      <vt:lpstr>Graph Databases and Connected Data Solutions</vt:lpstr>
      <vt:lpstr>1. What is a Graph Database?</vt:lpstr>
      <vt:lpstr>1. What is a Graph Database?</vt:lpstr>
      <vt:lpstr>1. What is a Graph Database?</vt:lpstr>
      <vt:lpstr>1. What is a Graph Database?</vt:lpstr>
      <vt:lpstr>1. What is a Graph Database?</vt:lpstr>
      <vt:lpstr>1. What is a Graph Database?</vt:lpstr>
      <vt:lpstr>2. Features</vt:lpstr>
      <vt:lpstr>2. Features</vt:lpstr>
      <vt:lpstr>2. Features</vt:lpstr>
      <vt:lpstr>2. Features</vt:lpstr>
      <vt:lpstr>Key Features of Graph Databases</vt:lpstr>
      <vt:lpstr>i. Consistency</vt:lpstr>
      <vt:lpstr>i. Consistency</vt:lpstr>
      <vt:lpstr>i. Consistency</vt:lpstr>
      <vt:lpstr>i. Consistency</vt:lpstr>
      <vt:lpstr>ii. Transactions</vt:lpstr>
      <vt:lpstr>ii. Transactions </vt:lpstr>
      <vt:lpstr>ii. Transactions </vt:lpstr>
      <vt:lpstr>iii. Availability</vt:lpstr>
      <vt:lpstr>iii. Availability</vt:lpstr>
      <vt:lpstr>iii. Availability</vt:lpstr>
      <vt:lpstr>iii. Availability</vt:lpstr>
      <vt:lpstr>iv. Query Features</vt:lpstr>
      <vt:lpstr>iv. Query Features</vt:lpstr>
      <vt:lpstr>iv. Query Features</vt:lpstr>
      <vt:lpstr>iv. Query Features</vt:lpstr>
      <vt:lpstr>iv. Query Features</vt:lpstr>
      <vt:lpstr>iv. Query Features</vt:lpstr>
      <vt:lpstr>iv. Query Features</vt:lpstr>
      <vt:lpstr>iv. Query Features</vt:lpstr>
      <vt:lpstr>iv. Query Features</vt:lpstr>
      <vt:lpstr>iv. Query Features</vt:lpstr>
      <vt:lpstr>iv. Query Features</vt:lpstr>
      <vt:lpstr>iv. Query Features</vt:lpstr>
      <vt:lpstr>iv. Query Features</vt:lpstr>
      <vt:lpstr>iv. Query Features</vt:lpstr>
      <vt:lpstr>iv. Query Features</vt:lpstr>
      <vt:lpstr>iv. Query Features</vt:lpstr>
      <vt:lpstr>V. Scaling in Graph Databases</vt:lpstr>
      <vt:lpstr>Scaling in Graph Databases</vt:lpstr>
      <vt:lpstr>3. Suitable Use Cases</vt:lpstr>
      <vt:lpstr>Connected Data Solutions</vt:lpstr>
      <vt:lpstr>4. When Not to Use Graph Databases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Sudha P</dc:creator>
  <cp:lastModifiedBy>HP</cp:lastModifiedBy>
  <cp:revision>121</cp:revision>
  <dcterms:created xsi:type="dcterms:W3CDTF">2025-11-05T15:59:09Z</dcterms:created>
  <dcterms:modified xsi:type="dcterms:W3CDTF">2025-11-11T10:34:26Z</dcterms:modified>
</cp:coreProperties>
</file>